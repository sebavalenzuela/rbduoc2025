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31.xml" ContentType="application/vnd.ms-office.chartcolorstyle+xml"/>
  <Override PartName="/ppt/charts/colors32.xml" ContentType="application/vnd.ms-office.chartcolorstyle+xml"/>
  <Override PartName="/ppt/charts/colors33.xml" ContentType="application/vnd.ms-office.chartcolorstyle+xml"/>
  <Override PartName="/ppt/charts/colors34.xml" ContentType="application/vnd.ms-office.chartcolorstyle+xml"/>
  <Override PartName="/ppt/charts/colors35.xml" ContentType="application/vnd.ms-office.chartcolorstyle+xml"/>
  <Override PartName="/ppt/charts/colors36.xml" ContentType="application/vnd.ms-office.chartcolorstyle+xml"/>
  <Override PartName="/ppt/charts/colors37.xml" ContentType="application/vnd.ms-office.chartcolorstyle+xml"/>
  <Override PartName="/ppt/charts/colors38.xml" ContentType="application/vnd.ms-office.chartcolorstyle+xml"/>
  <Override PartName="/ppt/charts/colors39.xml" ContentType="application/vnd.ms-office.chartcolorstyle+xml"/>
  <Override PartName="/ppt/charts/colors4.xml" ContentType="application/vnd.ms-office.chartcolorstyle+xml"/>
  <Override PartName="/ppt/charts/colors40.xml" ContentType="application/vnd.ms-office.chartcolorstyle+xml"/>
  <Override PartName="/ppt/charts/colors41.xml" ContentType="application/vnd.ms-office.chartcolorstyle+xml"/>
  <Override PartName="/ppt/charts/colors42.xml" ContentType="application/vnd.ms-office.chartcolorstyle+xml"/>
  <Override PartName="/ppt/charts/colors43.xml" ContentType="application/vnd.ms-office.chartcolorstyle+xml"/>
  <Override PartName="/ppt/charts/colors44.xml" ContentType="application/vnd.ms-office.chartcolorstyle+xml"/>
  <Override PartName="/ppt/charts/colors45.xml" ContentType="application/vnd.ms-office.chartcolorstyle+xml"/>
  <Override PartName="/ppt/charts/colors46.xml" ContentType="application/vnd.ms-office.chartcolorstyle+xml"/>
  <Override PartName="/ppt/charts/colors47.xml" ContentType="application/vnd.ms-office.chartcolorstyle+xml"/>
  <Override PartName="/ppt/charts/colors48.xml" ContentType="application/vnd.ms-office.chartcolorstyle+xml"/>
  <Override PartName="/ppt/charts/colors49.xml" ContentType="application/vnd.ms-office.chartcolorstyle+xml"/>
  <Override PartName="/ppt/charts/colors5.xml" ContentType="application/vnd.ms-office.chartcolorstyle+xml"/>
  <Override PartName="/ppt/charts/colors50.xml" ContentType="application/vnd.ms-office.chartcolorstyle+xml"/>
  <Override PartName="/ppt/charts/colors51.xml" ContentType="application/vnd.ms-office.chartcolorstyle+xml"/>
  <Override PartName="/ppt/charts/colors52.xml" ContentType="application/vnd.ms-office.chartcolorstyle+xml"/>
  <Override PartName="/ppt/charts/colors53.xml" ContentType="application/vnd.ms-office.chartcolorstyle+xml"/>
  <Override PartName="/ppt/charts/colors54.xml" ContentType="application/vnd.ms-office.chartcolorstyle+xml"/>
  <Override PartName="/ppt/charts/colors55.xml" ContentType="application/vnd.ms-office.chartcolorstyle+xml"/>
  <Override PartName="/ppt/charts/colors56.xml" ContentType="application/vnd.ms-office.chartcolorstyle+xml"/>
  <Override PartName="/ppt/charts/colors57.xml" ContentType="application/vnd.ms-office.chartcolorstyle+xml"/>
  <Override PartName="/ppt/charts/colors58.xml" ContentType="application/vnd.ms-office.chartcolorstyle+xml"/>
  <Override PartName="/ppt/charts/colors59.xml" ContentType="application/vnd.ms-office.chartcolorstyle+xml"/>
  <Override PartName="/ppt/charts/colors6.xml" ContentType="application/vnd.ms-office.chartcolorstyle+xml"/>
  <Override PartName="/ppt/charts/colors60.xml" ContentType="application/vnd.ms-office.chartcolorstyle+xml"/>
  <Override PartName="/ppt/charts/colors61.xml" ContentType="application/vnd.ms-office.chartcolorstyle+xml"/>
  <Override PartName="/ppt/charts/colors62.xml" ContentType="application/vnd.ms-office.chartcolorstyle+xml"/>
  <Override PartName="/ppt/charts/colors63.xml" ContentType="application/vnd.ms-office.chartcolorstyle+xml"/>
  <Override PartName="/ppt/charts/colors64.xml" ContentType="application/vnd.ms-office.chartcolorstyle+xml"/>
  <Override PartName="/ppt/charts/colors65.xml" ContentType="application/vnd.ms-office.chartcolorstyle+xml"/>
  <Override PartName="/ppt/charts/colors66.xml" ContentType="application/vnd.ms-office.chartcolorstyle+xml"/>
  <Override PartName="/ppt/charts/colors67.xml" ContentType="application/vnd.ms-office.chartcolorstyle+xml"/>
  <Override PartName="/ppt/charts/colors68.xml" ContentType="application/vnd.ms-office.chartcolorstyle+xml"/>
  <Override PartName="/ppt/charts/colors69.xml" ContentType="application/vnd.ms-office.chartcolorstyle+xml"/>
  <Override PartName="/ppt/charts/colors7.xml" ContentType="application/vnd.ms-office.chartcolorstyle+xml"/>
  <Override PartName="/ppt/charts/colors70.xml" ContentType="application/vnd.ms-office.chartcolorstyle+xml"/>
  <Override PartName="/ppt/charts/colors71.xml" ContentType="application/vnd.ms-office.chartcolorstyle+xml"/>
  <Override PartName="/ppt/charts/colors72.xml" ContentType="application/vnd.ms-office.chartcolorstyle+xml"/>
  <Override PartName="/ppt/charts/colors73.xml" ContentType="application/vnd.ms-office.chartcolorstyle+xml"/>
  <Override PartName="/ppt/charts/colors74.xml" ContentType="application/vnd.ms-office.chartcolorstyle+xml"/>
  <Override PartName="/ppt/charts/colors75.xml" ContentType="application/vnd.ms-office.chartcolorstyle+xml"/>
  <Override PartName="/ppt/charts/colors76.xml" ContentType="application/vnd.ms-office.chartcolorstyle+xml"/>
  <Override PartName="/ppt/charts/colors7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31.xml" ContentType="application/vnd.ms-office.chartstyle+xml"/>
  <Override PartName="/ppt/charts/style32.xml" ContentType="application/vnd.ms-office.chartstyle+xml"/>
  <Override PartName="/ppt/charts/style33.xml" ContentType="application/vnd.ms-office.chartstyle+xml"/>
  <Override PartName="/ppt/charts/style34.xml" ContentType="application/vnd.ms-office.chartstyle+xml"/>
  <Override PartName="/ppt/charts/style35.xml" ContentType="application/vnd.ms-office.chartstyle+xml"/>
  <Override PartName="/ppt/charts/style36.xml" ContentType="application/vnd.ms-office.chartstyle+xml"/>
  <Override PartName="/ppt/charts/style37.xml" ContentType="application/vnd.ms-office.chartstyle+xml"/>
  <Override PartName="/ppt/charts/style38.xml" ContentType="application/vnd.ms-office.chartstyle+xml"/>
  <Override PartName="/ppt/charts/style39.xml" ContentType="application/vnd.ms-office.chartstyle+xml"/>
  <Override PartName="/ppt/charts/style4.xml" ContentType="application/vnd.ms-office.chartstyle+xml"/>
  <Override PartName="/ppt/charts/style40.xml" ContentType="application/vnd.ms-office.chartstyle+xml"/>
  <Override PartName="/ppt/charts/style41.xml" ContentType="application/vnd.ms-office.chartstyle+xml"/>
  <Override PartName="/ppt/charts/style42.xml" ContentType="application/vnd.ms-office.chartstyle+xml"/>
  <Override PartName="/ppt/charts/style43.xml" ContentType="application/vnd.ms-office.chartstyle+xml"/>
  <Override PartName="/ppt/charts/style44.xml" ContentType="application/vnd.ms-office.chartstyle+xml"/>
  <Override PartName="/ppt/charts/style45.xml" ContentType="application/vnd.ms-office.chartstyle+xml"/>
  <Override PartName="/ppt/charts/style46.xml" ContentType="application/vnd.ms-office.chartstyle+xml"/>
  <Override PartName="/ppt/charts/style47.xml" ContentType="application/vnd.ms-office.chartstyle+xml"/>
  <Override PartName="/ppt/charts/style48.xml" ContentType="application/vnd.ms-office.chartstyle+xml"/>
  <Override PartName="/ppt/charts/style49.xml" ContentType="application/vnd.ms-office.chartstyle+xml"/>
  <Override PartName="/ppt/charts/style5.xml" ContentType="application/vnd.ms-office.chartstyle+xml"/>
  <Override PartName="/ppt/charts/style50.xml" ContentType="application/vnd.ms-office.chartstyle+xml"/>
  <Override PartName="/ppt/charts/style51.xml" ContentType="application/vnd.ms-office.chartstyle+xml"/>
  <Override PartName="/ppt/charts/style52.xml" ContentType="application/vnd.ms-office.chartstyle+xml"/>
  <Override PartName="/ppt/charts/style53.xml" ContentType="application/vnd.ms-office.chartstyle+xml"/>
  <Override PartName="/ppt/charts/style54.xml" ContentType="application/vnd.ms-office.chartstyle+xml"/>
  <Override PartName="/ppt/charts/style55.xml" ContentType="application/vnd.ms-office.chartstyle+xml"/>
  <Override PartName="/ppt/charts/style56.xml" ContentType="application/vnd.ms-office.chartstyle+xml"/>
  <Override PartName="/ppt/charts/style57.xml" ContentType="application/vnd.ms-office.chartstyle+xml"/>
  <Override PartName="/ppt/charts/style58.xml" ContentType="application/vnd.ms-office.chartstyle+xml"/>
  <Override PartName="/ppt/charts/style59.xml" ContentType="application/vnd.ms-office.chartstyle+xml"/>
  <Override PartName="/ppt/charts/style6.xml" ContentType="application/vnd.ms-office.chartstyle+xml"/>
  <Override PartName="/ppt/charts/style60.xml" ContentType="application/vnd.ms-office.chartstyle+xml"/>
  <Override PartName="/ppt/charts/style61.xml" ContentType="application/vnd.ms-office.chartstyle+xml"/>
  <Override PartName="/ppt/charts/style62.xml" ContentType="application/vnd.ms-office.chartstyle+xml"/>
  <Override PartName="/ppt/charts/style63.xml" ContentType="application/vnd.ms-office.chartstyle+xml"/>
  <Override PartName="/ppt/charts/style64.xml" ContentType="application/vnd.ms-office.chartstyle+xml"/>
  <Override PartName="/ppt/charts/style65.xml" ContentType="application/vnd.ms-office.chartstyle+xml"/>
  <Override PartName="/ppt/charts/style66.xml" ContentType="application/vnd.ms-office.chartstyle+xml"/>
  <Override PartName="/ppt/charts/style67.xml" ContentType="application/vnd.ms-office.chartstyle+xml"/>
  <Override PartName="/ppt/charts/style68.xml" ContentType="application/vnd.ms-office.chartstyle+xml"/>
  <Override PartName="/ppt/charts/style69.xml" ContentType="application/vnd.ms-office.chartstyle+xml"/>
  <Override PartName="/ppt/charts/style7.xml" ContentType="application/vnd.ms-office.chartstyle+xml"/>
  <Override PartName="/ppt/charts/style70.xml" ContentType="application/vnd.ms-office.chartstyle+xml"/>
  <Override PartName="/ppt/charts/style71.xml" ContentType="application/vnd.ms-office.chartstyle+xml"/>
  <Override PartName="/ppt/charts/style72.xml" ContentType="application/vnd.ms-office.chartstyle+xml"/>
  <Override PartName="/ppt/charts/style73.xml" ContentType="application/vnd.ms-office.chartstyle+xml"/>
  <Override PartName="/ppt/charts/style74.xml" ContentType="application/vnd.ms-office.chartstyle+xml"/>
  <Override PartName="/ppt/charts/style75.xml" ContentType="application/vnd.ms-office.chartstyle+xml"/>
  <Override PartName="/ppt/charts/style76.xml" ContentType="application/vnd.ms-office.chartstyle+xml"/>
  <Override PartName="/ppt/charts/style7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2.svg" ContentType="image/svg+xml"/>
  <Override PartName="/ppt/media/image14.svg" ContentType="image/svg+xml"/>
  <Override PartName="/ppt/media/image16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463" r:id="rId3"/>
    <p:sldId id="413" r:id="rId4"/>
    <p:sldId id="259" r:id="rId5"/>
    <p:sldId id="261" r:id="rId6"/>
    <p:sldId id="264" r:id="rId7"/>
    <p:sldId id="275" r:id="rId8"/>
    <p:sldId id="276" r:id="rId9"/>
    <p:sldId id="464" r:id="rId10"/>
    <p:sldId id="369" r:id="rId11"/>
    <p:sldId id="371" r:id="rId12"/>
    <p:sldId id="370" r:id="rId13"/>
    <p:sldId id="285" r:id="rId14"/>
    <p:sldId id="277" r:id="rId15"/>
    <p:sldId id="416" r:id="rId16"/>
    <p:sldId id="431" r:id="rId17"/>
    <p:sldId id="462" r:id="rId18"/>
    <p:sldId id="279" r:id="rId19"/>
    <p:sldId id="409" r:id="rId20"/>
    <p:sldId id="278" r:id="rId21"/>
    <p:sldId id="280" r:id="rId22"/>
    <p:sldId id="435" r:id="rId23"/>
    <p:sldId id="436" r:id="rId24"/>
    <p:sldId id="418" r:id="rId25"/>
    <p:sldId id="318" r:id="rId26"/>
    <p:sldId id="427" r:id="rId27"/>
    <p:sldId id="419" r:id="rId28"/>
    <p:sldId id="420" r:id="rId29"/>
    <p:sldId id="421" r:id="rId30"/>
    <p:sldId id="422" r:id="rId31"/>
    <p:sldId id="452" r:id="rId32"/>
    <p:sldId id="423" r:id="rId33"/>
    <p:sldId id="325" r:id="rId34"/>
    <p:sldId id="428" r:id="rId35"/>
    <p:sldId id="460" r:id="rId36"/>
    <p:sldId id="438" r:id="rId37"/>
    <p:sldId id="282" r:id="rId38"/>
    <p:sldId id="424" r:id="rId39"/>
    <p:sldId id="283" r:id="rId40"/>
    <p:sldId id="414" r:id="rId41"/>
    <p:sldId id="288" r:id="rId42"/>
    <p:sldId id="290" r:id="rId43"/>
    <p:sldId id="455" r:id="rId44"/>
    <p:sldId id="281" r:id="rId45"/>
    <p:sldId id="439" r:id="rId46"/>
    <p:sldId id="456" r:id="rId47"/>
    <p:sldId id="358" r:id="rId48"/>
    <p:sldId id="374" r:id="rId49"/>
    <p:sldId id="362" r:id="rId50"/>
    <p:sldId id="458" r:id="rId51"/>
    <p:sldId id="465" r:id="rId52"/>
    <p:sldId id="272" r:id="rId53"/>
    <p:sldId id="273" r:id="rId54"/>
    <p:sldId id="426" r:id="rId55"/>
    <p:sldId id="425" r:id="rId56"/>
    <p:sldId id="376" r:id="rId57"/>
    <p:sldId id="377" r:id="rId58"/>
    <p:sldId id="440" r:id="rId59"/>
    <p:sldId id="441" r:id="rId60"/>
    <p:sldId id="442" r:id="rId61"/>
    <p:sldId id="449" r:id="rId62"/>
    <p:sldId id="450" r:id="rId63"/>
    <p:sldId id="451" r:id="rId64"/>
    <p:sldId id="443" r:id="rId65"/>
    <p:sldId id="444" r:id="rId66"/>
    <p:sldId id="339" r:id="rId67"/>
    <p:sldId id="342" r:id="rId68"/>
    <p:sldId id="346" r:id="rId69"/>
    <p:sldId id="448" r:id="rId70"/>
    <p:sldId id="347" r:id="rId71"/>
    <p:sldId id="350" r:id="rId72"/>
    <p:sldId id="351" r:id="rId73"/>
    <p:sldId id="353" r:id="rId74"/>
    <p:sldId id="446" r:id="rId7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7" roundtripDataSignature="AMtx7miPE9wXBn+2MC/JZlwAQYKfkYfi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8C8E"/>
    <a:srgbClr val="00223A"/>
    <a:srgbClr val="F8961E"/>
    <a:srgbClr val="92D050"/>
    <a:srgbClr val="FFC000"/>
    <a:srgbClr val="ED7D31"/>
    <a:srgbClr val="FFFF99"/>
    <a:srgbClr val="55B296"/>
    <a:srgbClr val="E53C3E"/>
    <a:srgbClr val="3A4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751CB-BC3B-D43B-038B-C4F7789A143D}" v="1064" dt="2025-09-29T19:55:58.298"/>
  </p1510:revLst>
</p1510:revInfo>
</file>

<file path=ppt/tableStyles.xml><?xml version="1.0" encoding="utf-8"?>
<a:tblStyleLst xmlns:a="http://schemas.openxmlformats.org/drawingml/2006/main" def="{991015D7-D160-4A9F-BB4E-07FA0D646497}">
  <a:tblStyle styleId="{991015D7-D160-4A9F-BB4E-07FA0D6464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98" autoAdjust="0"/>
    <p:restoredTop sz="93979" autoAdjust="0"/>
  </p:normalViewPr>
  <p:slideViewPr>
    <p:cSldViewPr snapToGrid="0">
      <p:cViewPr varScale="1">
        <p:scale>
          <a:sx n="111" d="100"/>
          <a:sy n="111" d="100"/>
        </p:scale>
        <p:origin x="13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84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137" Type="http://customschemas.google.com/relationships/presentationmetadata" Target="metadata"/><Relationship Id="rId138" Type="http://schemas.openxmlformats.org/officeDocument/2006/relationships/presProps" Target="presProps.xml"/><Relationship Id="rId139" Type="http://schemas.openxmlformats.org/officeDocument/2006/relationships/viewProps" Target="viewProps.xml"/><Relationship Id="rId140" Type="http://schemas.openxmlformats.org/officeDocument/2006/relationships/theme" Target="theme/theme1.xml"/><Relationship Id="rId141" Type="http://schemas.openxmlformats.org/officeDocument/2006/relationships/tableStyles" Target="tableStyles.xml"/><Relationship Id="rId142" Type="http://schemas.microsoft.com/office/2016/11/relationships/changesInfo" Target="changesInfos/changesInfo1.xml"/><Relationship Id="rId1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moralesruiz@ug.uchile.cl" userId="S::urn:spo:guest#pmoralesruiz@ug.uchile.cl::" providerId="AD" clId="Web-{F44751CB-BC3B-D43B-038B-C4F7789A143D}"/>
    <pc:docChg chg="modSld sldOrd">
      <pc:chgData name="pmoralesruiz@ug.uchile.cl" userId="S::urn:spo:guest#pmoralesruiz@ug.uchile.cl::" providerId="AD" clId="Web-{F44751CB-BC3B-D43B-038B-C4F7789A143D}" dt="2025-09-29T19:55:56.142" v="579" actId="20577"/>
      <pc:docMkLst>
        <pc:docMk/>
      </pc:docMkLst>
      <pc:sldChg chg="addSp modSp">
        <pc:chgData name="pmoralesruiz@ug.uchile.cl" userId="S::urn:spo:guest#pmoralesruiz@ug.uchile.cl::" providerId="AD" clId="Web-{F44751CB-BC3B-D43B-038B-C4F7789A143D}" dt="2025-09-29T19:30:34.956" v="19"/>
        <pc:sldMkLst>
          <pc:docMk/>
          <pc:sldMk cId="0" sldId="276"/>
        </pc:sldMkLst>
        <pc:spChg chg="add mod">
          <ac:chgData name="pmoralesruiz@ug.uchile.cl" userId="S::urn:spo:guest#pmoralesruiz@ug.uchile.cl::" providerId="AD" clId="Web-{F44751CB-BC3B-D43B-038B-C4F7789A143D}" dt="2025-09-29T19:30:34.956" v="19"/>
          <ac:spMkLst>
            <pc:docMk/>
            <pc:sldMk cId="0" sldId="276"/>
            <ac:spMk id="2" creationId="{E10BBA97-F9A8-A8B9-0649-333B75BE159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47:20.501" v="451" actId="20577"/>
        <pc:sldMkLst>
          <pc:docMk/>
          <pc:sldMk cId="0" sldId="288"/>
        </pc:sldMkLst>
        <pc:spChg chg="add mod">
          <ac:chgData name="pmoralesruiz@ug.uchile.cl" userId="S::urn:spo:guest#pmoralesruiz@ug.uchile.cl::" providerId="AD" clId="Web-{F44751CB-BC3B-D43B-038B-C4F7789A143D}" dt="2025-09-29T19:47:12.517" v="446" actId="1076"/>
          <ac:spMkLst>
            <pc:docMk/>
            <pc:sldMk cId="0" sldId="288"/>
            <ac:spMk id="2" creationId="{6C63D560-5F7E-79D1-71E2-8846E8A84BCE}"/>
          </ac:spMkLst>
        </pc:spChg>
        <pc:spChg chg="mod">
          <ac:chgData name="pmoralesruiz@ug.uchile.cl" userId="S::urn:spo:guest#pmoralesruiz@ug.uchile.cl::" providerId="AD" clId="Web-{F44751CB-BC3B-D43B-038B-C4F7789A143D}" dt="2025-09-29T19:47:20.501" v="451" actId="20577"/>
          <ac:spMkLst>
            <pc:docMk/>
            <pc:sldMk cId="0" sldId="288"/>
            <ac:spMk id="10" creationId="{00000000-0000-0000-0000-000000000000}"/>
          </ac:spMkLst>
        </pc:spChg>
      </pc:sldChg>
      <pc:sldChg chg="addSp delSp modSp">
        <pc:chgData name="pmoralesruiz@ug.uchile.cl" userId="S::urn:spo:guest#pmoralesruiz@ug.uchile.cl::" providerId="AD" clId="Web-{F44751CB-BC3B-D43B-038B-C4F7789A143D}" dt="2025-09-29T19:45:48.501" v="380" actId="20577"/>
        <pc:sldMkLst>
          <pc:docMk/>
          <pc:sldMk cId="2360770230" sldId="320"/>
        </pc:sldMkLst>
        <pc:spChg chg="add del mod">
          <ac:chgData name="pmoralesruiz@ug.uchile.cl" userId="S::urn:spo:guest#pmoralesruiz@ug.uchile.cl::" providerId="AD" clId="Web-{F44751CB-BC3B-D43B-038B-C4F7789A143D}" dt="2025-09-29T19:45:08.595" v="376"/>
          <ac:spMkLst>
            <pc:docMk/>
            <pc:sldMk cId="2360770230" sldId="320"/>
            <ac:spMk id="3" creationId="{6EAEB634-A22E-B8E5-B970-95FB322137BD}"/>
          </ac:spMkLst>
        </pc:spChg>
        <pc:spChg chg="add mod">
          <ac:chgData name="pmoralesruiz@ug.uchile.cl" userId="S::urn:spo:guest#pmoralesruiz@ug.uchile.cl::" providerId="AD" clId="Web-{F44751CB-BC3B-D43B-038B-C4F7789A143D}" dt="2025-09-29T19:45:48.501" v="380" actId="20577"/>
          <ac:spMkLst>
            <pc:docMk/>
            <pc:sldMk cId="2360770230" sldId="320"/>
            <ac:spMk id="5" creationId="{A8C824A5-4E68-AF01-B39D-8E84DD3EEFDA}"/>
          </ac:spMkLst>
        </pc:spChg>
        <pc:spChg chg="mod">
          <ac:chgData name="pmoralesruiz@ug.uchile.cl" userId="S::urn:spo:guest#pmoralesruiz@ug.uchile.cl::" providerId="AD" clId="Web-{F44751CB-BC3B-D43B-038B-C4F7789A143D}" dt="2025-09-29T19:43:48.580" v="286" actId="20577"/>
          <ac:spMkLst>
            <pc:docMk/>
            <pc:sldMk cId="2360770230" sldId="320"/>
            <ac:spMk id="16" creationId="{0DD7486D-237B-42B2-BCA9-866AB0479A58}"/>
          </ac:spMkLst>
        </pc:spChg>
      </pc:sldChg>
      <pc:sldChg chg="modSp">
        <pc:chgData name="pmoralesruiz@ug.uchile.cl" userId="S::urn:spo:guest#pmoralesruiz@ug.uchile.cl::" providerId="AD" clId="Web-{F44751CB-BC3B-D43B-038B-C4F7789A143D}" dt="2025-09-29T19:54:28.548" v="497" actId="20577"/>
        <pc:sldMkLst>
          <pc:docMk/>
          <pc:sldMk cId="0" sldId="346"/>
        </pc:sldMkLst>
        <pc:spChg chg="mod">
          <ac:chgData name="pmoralesruiz@ug.uchile.cl" userId="S::urn:spo:guest#pmoralesruiz@ug.uchile.cl::" providerId="AD" clId="Web-{F44751CB-BC3B-D43B-038B-C4F7789A143D}" dt="2025-09-29T19:54:28.548" v="497" actId="20577"/>
          <ac:spMkLst>
            <pc:docMk/>
            <pc:sldMk cId="0" sldId="346"/>
            <ac:spMk id="1041" creationId="{00000000-0000-0000-0000-00000000000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53:56.642" v="488"/>
        <pc:sldMkLst>
          <pc:docMk/>
          <pc:sldMk cId="479603681" sldId="403"/>
        </pc:sldMkLst>
        <pc:spChg chg="add mod">
          <ac:chgData name="pmoralesruiz@ug.uchile.cl" userId="S::urn:spo:guest#pmoralesruiz@ug.uchile.cl::" providerId="AD" clId="Web-{F44751CB-BC3B-D43B-038B-C4F7789A143D}" dt="2025-09-29T19:53:56.642" v="488"/>
          <ac:spMkLst>
            <pc:docMk/>
            <pc:sldMk cId="479603681" sldId="403"/>
            <ac:spMk id="3" creationId="{B6FB5695-1728-C720-4FF5-9799E92D87B5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1:52.831" v="39" actId="20577"/>
        <pc:sldMkLst>
          <pc:docMk/>
          <pc:sldMk cId="3006985062" sldId="416"/>
        </pc:sldMkLst>
        <pc:spChg chg="add mod">
          <ac:chgData name="pmoralesruiz@ug.uchile.cl" userId="S::urn:spo:guest#pmoralesruiz@ug.uchile.cl::" providerId="AD" clId="Web-{F44751CB-BC3B-D43B-038B-C4F7789A143D}" dt="2025-09-29T19:31:28.565" v="21" actId="1076"/>
          <ac:spMkLst>
            <pc:docMk/>
            <pc:sldMk cId="3006985062" sldId="416"/>
            <ac:spMk id="3" creationId="{CA4C0EE7-D175-AF7D-E4D6-E685DF194632}"/>
          </ac:spMkLst>
        </pc:spChg>
        <pc:spChg chg="add mod">
          <ac:chgData name="pmoralesruiz@ug.uchile.cl" userId="S::urn:spo:guest#pmoralesruiz@ug.uchile.cl::" providerId="AD" clId="Web-{F44751CB-BC3B-D43B-038B-C4F7789A143D}" dt="2025-09-29T19:31:52.831" v="39" actId="20577"/>
          <ac:spMkLst>
            <pc:docMk/>
            <pc:sldMk cId="3006985062" sldId="416"/>
            <ac:spMk id="4" creationId="{1B3D275E-11A2-7608-1591-00D1CAE8809D}"/>
          </ac:spMkLst>
        </pc:spChg>
      </pc:sldChg>
      <pc:sldChg chg="addSp delSp modSp">
        <pc:chgData name="pmoralesruiz@ug.uchile.cl" userId="S::urn:spo:guest#pmoralesruiz@ug.uchile.cl::" providerId="AD" clId="Web-{F44751CB-BC3B-D43B-038B-C4F7789A143D}" dt="2025-09-29T19:41:53.611" v="284"/>
        <pc:sldMkLst>
          <pc:docMk/>
          <pc:sldMk cId="1012220188" sldId="419"/>
        </pc:sldMkLst>
        <pc:spChg chg="add del mod">
          <ac:chgData name="pmoralesruiz@ug.uchile.cl" userId="S::urn:spo:guest#pmoralesruiz@ug.uchile.cl::" providerId="AD" clId="Web-{F44751CB-BC3B-D43B-038B-C4F7789A143D}" dt="2025-09-29T19:41:53.611" v="284"/>
          <ac:spMkLst>
            <pc:docMk/>
            <pc:sldMk cId="1012220188" sldId="419"/>
            <ac:spMk id="4" creationId="{C3082D89-D0C0-96A5-693D-DF9A15524AD3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9:56.565" v="277" actId="1076"/>
        <pc:sldMkLst>
          <pc:docMk/>
          <pc:sldMk cId="235619057" sldId="427"/>
        </pc:sldMkLst>
        <pc:spChg chg="add mod">
          <ac:chgData name="pmoralesruiz@ug.uchile.cl" userId="S::urn:spo:guest#pmoralesruiz@ug.uchile.cl::" providerId="AD" clId="Web-{F44751CB-BC3B-D43B-038B-C4F7789A143D}" dt="2025-09-29T19:39:56.565" v="277" actId="1076"/>
          <ac:spMkLst>
            <pc:docMk/>
            <pc:sldMk cId="235619057" sldId="427"/>
            <ac:spMk id="3" creationId="{FC6C4110-BC77-F365-BE6F-6511F3962DDA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3:19.596" v="103" actId="20577"/>
        <pc:sldMkLst>
          <pc:docMk/>
          <pc:sldMk cId="391928943" sldId="431"/>
        </pc:sldMkLst>
        <pc:spChg chg="add mod">
          <ac:chgData name="pmoralesruiz@ug.uchile.cl" userId="S::urn:spo:guest#pmoralesruiz@ug.uchile.cl::" providerId="AD" clId="Web-{F44751CB-BC3B-D43B-038B-C4F7789A143D}" dt="2025-09-29T19:33:19.596" v="103" actId="20577"/>
          <ac:spMkLst>
            <pc:docMk/>
            <pc:sldMk cId="391928943" sldId="431"/>
            <ac:spMk id="3" creationId="{C16525DD-1487-9270-0D9C-49B03147F162}"/>
          </ac:spMkLst>
        </pc:spChg>
      </pc:sldChg>
      <pc:sldChg chg="addSp">
        <pc:chgData name="pmoralesruiz@ug.uchile.cl" userId="S::urn:spo:guest#pmoralesruiz@ug.uchile.cl::" providerId="AD" clId="Web-{F44751CB-BC3B-D43B-038B-C4F7789A143D}" dt="2025-09-29T19:33:34.909" v="104"/>
        <pc:sldMkLst>
          <pc:docMk/>
          <pc:sldMk cId="3091702772" sldId="433"/>
        </pc:sldMkLst>
        <pc:spChg chg="add">
          <ac:chgData name="pmoralesruiz@ug.uchile.cl" userId="S::urn:spo:guest#pmoralesruiz@ug.uchile.cl::" providerId="AD" clId="Web-{F44751CB-BC3B-D43B-038B-C4F7789A143D}" dt="2025-09-29T19:33:34.909" v="104"/>
          <ac:spMkLst>
            <pc:docMk/>
            <pc:sldMk cId="3091702772" sldId="433"/>
            <ac:spMk id="3" creationId="{09F731A5-D0D0-0D79-953D-70652C21F9FD}"/>
          </ac:spMkLst>
        </pc:spChg>
      </pc:sldChg>
      <pc:sldChg chg="addSp modSp ord">
        <pc:chgData name="pmoralesruiz@ug.uchile.cl" userId="S::urn:spo:guest#pmoralesruiz@ug.uchile.cl::" providerId="AD" clId="Web-{F44751CB-BC3B-D43B-038B-C4F7789A143D}" dt="2025-09-29T19:52:51.720" v="469" actId="20577"/>
        <pc:sldMkLst>
          <pc:docMk/>
          <pc:sldMk cId="391977841" sldId="435"/>
        </pc:sldMkLst>
        <pc:spChg chg="add mod">
          <ac:chgData name="pmoralesruiz@ug.uchile.cl" userId="S::urn:spo:guest#pmoralesruiz@ug.uchile.cl::" providerId="AD" clId="Web-{F44751CB-BC3B-D43B-038B-C4F7789A143D}" dt="2025-09-29T19:52:51.720" v="469" actId="20577"/>
          <ac:spMkLst>
            <pc:docMk/>
            <pc:sldMk cId="391977841" sldId="435"/>
            <ac:spMk id="3" creationId="{84778075-D042-C787-5FE4-DE07A0445984}"/>
          </ac:spMkLst>
        </pc:spChg>
        <pc:spChg chg="add mod">
          <ac:chgData name="pmoralesruiz@ug.uchile.cl" userId="S::urn:spo:guest#pmoralesruiz@ug.uchile.cl::" providerId="AD" clId="Web-{F44751CB-BC3B-D43B-038B-C4F7789A143D}" dt="2025-09-29T19:52:23.423" v="464" actId="20577"/>
          <ac:spMkLst>
            <pc:docMk/>
            <pc:sldMk cId="391977841" sldId="435"/>
            <ac:spMk id="5" creationId="{04A490B3-5449-7620-0CCB-915C57BEB288}"/>
          </ac:spMkLst>
        </pc:spChg>
        <pc:spChg chg="mod">
          <ac:chgData name="pmoralesruiz@ug.uchile.cl" userId="S::urn:spo:guest#pmoralesruiz@ug.uchile.cl::" providerId="AD" clId="Web-{F44751CB-BC3B-D43B-038B-C4F7789A143D}" dt="2025-09-29T19:52:30.345" v="466" actId="1076"/>
          <ac:spMkLst>
            <pc:docMk/>
            <pc:sldMk cId="391977841" sldId="435"/>
            <ac:spMk id="352" creationId="{00000000-0000-0000-0000-00000000000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44:55.470" v="373"/>
        <pc:sldMkLst>
          <pc:docMk/>
          <pc:sldMk cId="2351128133" sldId="437"/>
        </pc:sldMkLst>
        <pc:spChg chg="add mod">
          <ac:chgData name="pmoralesruiz@ug.uchile.cl" userId="S::urn:spo:guest#pmoralesruiz@ug.uchile.cl::" providerId="AD" clId="Web-{F44751CB-BC3B-D43B-038B-C4F7789A143D}" dt="2025-09-29T19:44:55.470" v="373"/>
          <ac:spMkLst>
            <pc:docMk/>
            <pc:sldMk cId="2351128133" sldId="437"/>
            <ac:spMk id="2" creationId="{2EC0A6D2-294E-1A82-7359-45C1F595CE77}"/>
          </ac:spMkLst>
        </pc:spChg>
        <pc:spChg chg="mod">
          <ac:chgData name="pmoralesruiz@ug.uchile.cl" userId="S::urn:spo:guest#pmoralesruiz@ug.uchile.cl::" providerId="AD" clId="Web-{F44751CB-BC3B-D43B-038B-C4F7789A143D}" dt="2025-09-29T19:44:00.517" v="288" actId="20577"/>
          <ac:spMkLst>
            <pc:docMk/>
            <pc:sldMk cId="2351128133" sldId="437"/>
            <ac:spMk id="16" creationId="{0DD7486D-237B-42B2-BCA9-866AB0479A58}"/>
          </ac:spMkLst>
        </pc:spChg>
        <pc:spChg chg="mod">
          <ac:chgData name="pmoralesruiz@ug.uchile.cl" userId="S::urn:spo:guest#pmoralesruiz@ug.uchile.cl::" providerId="AD" clId="Web-{F44751CB-BC3B-D43B-038B-C4F7789A143D}" dt="2025-09-29T19:44:05.376" v="290" actId="20577"/>
          <ac:spMkLst>
            <pc:docMk/>
            <pc:sldMk cId="2351128133" sldId="437"/>
            <ac:spMk id="20" creationId="{FFACC3AB-CC36-4F63-8B2F-36DA5A2322C4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55:56.142" v="579" actId="20577"/>
        <pc:sldMkLst>
          <pc:docMk/>
          <pc:sldMk cId="1135431551" sldId="446"/>
        </pc:sldMkLst>
        <pc:spChg chg="add mod">
          <ac:chgData name="pmoralesruiz@ug.uchile.cl" userId="S::urn:spo:guest#pmoralesruiz@ug.uchile.cl::" providerId="AD" clId="Web-{F44751CB-BC3B-D43B-038B-C4F7789A143D}" dt="2025-09-29T19:55:56.142" v="579" actId="20577"/>
          <ac:spMkLst>
            <pc:docMk/>
            <pc:sldMk cId="1135431551" sldId="446"/>
            <ac:spMk id="3" creationId="{D2D2A4D6-0F7F-9CB9-86B4-2B52E4F49A74}"/>
          </ac:spMkLst>
        </pc:spChg>
      </pc:sldChg>
      <pc:sldChg chg="addSp delSp modSp">
        <pc:chgData name="pmoralesruiz@ug.uchile.cl" userId="S::urn:spo:guest#pmoralesruiz@ug.uchile.cl::" providerId="AD" clId="Web-{F44751CB-BC3B-D43B-038B-C4F7789A143D}" dt="2025-09-29T19:51:14.704" v="458"/>
        <pc:sldMkLst>
          <pc:docMk/>
          <pc:sldMk cId="806740195" sldId="458"/>
        </pc:sldMkLst>
        <pc:picChg chg="add del mod">
          <ac:chgData name="pmoralesruiz@ug.uchile.cl" userId="S::urn:spo:guest#pmoralesruiz@ug.uchile.cl::" providerId="AD" clId="Web-{F44751CB-BC3B-D43B-038B-C4F7789A143D}" dt="2025-09-29T19:49:46.157" v="453"/>
          <ac:picMkLst>
            <pc:docMk/>
            <pc:sldMk cId="806740195" sldId="458"/>
            <ac:picMk id="2" creationId="{3CA887A3-D19A-1FFF-B830-45968020083E}"/>
          </ac:picMkLst>
        </pc:picChg>
        <pc:picChg chg="add mod">
          <ac:chgData name="pmoralesruiz@ug.uchile.cl" userId="S::urn:spo:guest#pmoralesruiz@ug.uchile.cl::" providerId="AD" clId="Web-{F44751CB-BC3B-D43B-038B-C4F7789A143D}" dt="2025-09-29T19:51:14.704" v="458"/>
          <ac:picMkLst>
            <pc:docMk/>
            <pc:sldMk cId="806740195" sldId="458"/>
            <ac:picMk id="3" creationId="{4EE0938B-A1F5-E213-9763-4E9C39809749}"/>
          </ac:picMkLst>
        </pc:picChg>
        <pc:picChg chg="del">
          <ac:chgData name="pmoralesruiz@ug.uchile.cl" userId="S::urn:spo:guest#pmoralesruiz@ug.uchile.cl::" providerId="AD" clId="Web-{F44751CB-BC3B-D43B-038B-C4F7789A143D}" dt="2025-09-29T19:50:05.845" v="454"/>
          <ac:picMkLst>
            <pc:docMk/>
            <pc:sldMk cId="806740195" sldId="458"/>
            <ac:picMk id="1169" creationId="{00000000-0000-0000-0000-000000000000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package" Target="../embeddings/Microsoft_Excel_Worksheet29.xlsx"/></Relationships>
</file>

<file path=ppt/charts/_rels/chart31.xml.rels><?xml version='1.0' encoding='UTF-8' standalone='yes'?>
<Relationships xmlns="http://schemas.openxmlformats.org/package/2006/relationships"><Relationship Id="rId1" Type="http://schemas.microsoft.com/office/2011/relationships/chartStyle" Target="style31.xml"/><Relationship Id="rId2" Type="http://schemas.microsoft.com/office/2011/relationships/chartColorStyle" Target="colors31.xml"/><Relationship Id="rId3" Type="http://schemas.openxmlformats.org/officeDocument/2006/relationships/package" Target="../embeddings/Microsoft_Excel_Worksheet30.xlsx"/></Relationships>
</file>

<file path=ppt/charts/_rels/chart32.xml.rels><?xml version='1.0' encoding='UTF-8' standalone='yes'?>
<Relationships xmlns="http://schemas.openxmlformats.org/package/2006/relationships"><Relationship Id="rId1" Type="http://schemas.microsoft.com/office/2011/relationships/chartStyle" Target="style32.xml"/><Relationship Id="rId2" Type="http://schemas.microsoft.com/office/2011/relationships/chartColorStyle" Target="colors32.xml"/><Relationship Id="rId3" Type="http://schemas.openxmlformats.org/officeDocument/2006/relationships/package" Target="../embeddings/Microsoft_Excel_Worksheet31.xlsx"/></Relationships>
</file>

<file path=ppt/charts/_rels/chart33.xml.rels><?xml version='1.0' encoding='UTF-8' standalone='yes'?>
<Relationships xmlns="http://schemas.openxmlformats.org/package/2006/relationships"><Relationship Id="rId1" Type="http://schemas.microsoft.com/office/2011/relationships/chartStyle" Target="style33.xml"/><Relationship Id="rId2" Type="http://schemas.microsoft.com/office/2011/relationships/chartColorStyle" Target="colors33.xml"/><Relationship Id="rId3" Type="http://schemas.openxmlformats.org/officeDocument/2006/relationships/package" Target="../embeddings/Microsoft_Excel_Worksheet32.xlsx"/></Relationships>
</file>

<file path=ppt/charts/_rels/chart34.xml.rels><?xml version='1.0' encoding='UTF-8' standalone='yes'?>
<Relationships xmlns="http://schemas.openxmlformats.org/package/2006/relationships"><Relationship Id="rId1" Type="http://schemas.microsoft.com/office/2011/relationships/chartStyle" Target="style34.xml"/><Relationship Id="rId2" Type="http://schemas.microsoft.com/office/2011/relationships/chartColorStyle" Target="colors34.xml"/><Relationship Id="rId3" Type="http://schemas.openxmlformats.org/officeDocument/2006/relationships/package" Target="../embeddings/Microsoft_Excel_Worksheet33.xlsx"/></Relationships>
</file>

<file path=ppt/charts/_rels/chart35.xml.rels><?xml version='1.0' encoding='UTF-8' standalone='yes'?>
<Relationships xmlns="http://schemas.openxmlformats.org/package/2006/relationships"><Relationship Id="rId1" Type="http://schemas.microsoft.com/office/2011/relationships/chartStyle" Target="style35.xml"/><Relationship Id="rId2" Type="http://schemas.microsoft.com/office/2011/relationships/chartColorStyle" Target="colors35.xml"/><Relationship Id="rId3" Type="http://schemas.openxmlformats.org/officeDocument/2006/relationships/package" Target="../embeddings/Microsoft_Excel_Worksheet34.xlsx"/></Relationships>
</file>

<file path=ppt/charts/_rels/chart36.xml.rels><?xml version='1.0' encoding='UTF-8' standalone='yes'?>
<Relationships xmlns="http://schemas.openxmlformats.org/package/2006/relationships"><Relationship Id="rId1" Type="http://schemas.microsoft.com/office/2011/relationships/chartStyle" Target="style36.xml"/><Relationship Id="rId2" Type="http://schemas.microsoft.com/office/2011/relationships/chartColorStyle" Target="colors36.xml"/><Relationship Id="rId3" Type="http://schemas.openxmlformats.org/officeDocument/2006/relationships/package" Target="../embeddings/Microsoft_Excel_Worksheet35.xlsx"/></Relationships>
</file>

<file path=ppt/charts/_rels/chart37.xml.rels><?xml version='1.0' encoding='UTF-8' standalone='yes'?>
<Relationships xmlns="http://schemas.openxmlformats.org/package/2006/relationships"><Relationship Id="rId1" Type="http://schemas.microsoft.com/office/2011/relationships/chartStyle" Target="style37.xml"/><Relationship Id="rId2" Type="http://schemas.microsoft.com/office/2011/relationships/chartColorStyle" Target="colors37.xml"/><Relationship Id="rId3" Type="http://schemas.openxmlformats.org/officeDocument/2006/relationships/package" Target="../embeddings/Microsoft_Excel_Worksheet36.xlsx"/></Relationships>
</file>

<file path=ppt/charts/_rels/chart38.xml.rels><?xml version='1.0' encoding='UTF-8' standalone='yes'?>
<Relationships xmlns="http://schemas.openxmlformats.org/package/2006/relationships"><Relationship Id="rId1" Type="http://schemas.microsoft.com/office/2011/relationships/chartStyle" Target="style38.xml"/><Relationship Id="rId2" Type="http://schemas.microsoft.com/office/2011/relationships/chartColorStyle" Target="colors38.xml"/><Relationship Id="rId3" Type="http://schemas.openxmlformats.org/officeDocument/2006/relationships/package" Target="../embeddings/Microsoft_Excel_Worksheet37.xlsx"/></Relationships>
</file>

<file path=ppt/charts/_rels/chart39.xml.rels><?xml version='1.0' encoding='UTF-8' standalone='yes'?>
<Relationships xmlns="http://schemas.openxmlformats.org/package/2006/relationships"><Relationship Id="rId1" Type="http://schemas.microsoft.com/office/2011/relationships/chartStyle" Target="style39.xml"/><Relationship Id="rId2" Type="http://schemas.microsoft.com/office/2011/relationships/chartColorStyle" Target="colors39.xml"/><Relationship Id="rId3" Type="http://schemas.openxmlformats.org/officeDocument/2006/relationships/package" Target="../embeddings/Microsoft_Excel_Worksheet38.xlsx"/></Relationships>
</file>

<file path=ppt/charts/_rels/chart40.xml.rels><?xml version='1.0' encoding='UTF-8' standalone='yes'?>
<Relationships xmlns="http://schemas.openxmlformats.org/package/2006/relationships"><Relationship Id="rId1" Type="http://schemas.microsoft.com/office/2011/relationships/chartStyle" Target="style40.xml"/><Relationship Id="rId2" Type="http://schemas.microsoft.com/office/2011/relationships/chartColorStyle" Target="colors40.xml"/><Relationship Id="rId3" Type="http://schemas.openxmlformats.org/officeDocument/2006/relationships/package" Target="../embeddings/Microsoft_Excel_Worksheet39.xlsx"/></Relationships>
</file>

<file path=ppt/charts/_rels/chart41.xml.rels><?xml version='1.0' encoding='UTF-8' standalone='yes'?>
<Relationships xmlns="http://schemas.openxmlformats.org/package/2006/relationships"><Relationship Id="rId1" Type="http://schemas.microsoft.com/office/2011/relationships/chartStyle" Target="style41.xml"/><Relationship Id="rId2" Type="http://schemas.microsoft.com/office/2011/relationships/chartColorStyle" Target="colors41.xml"/><Relationship Id="rId3" Type="http://schemas.openxmlformats.org/officeDocument/2006/relationships/package" Target="../embeddings/Microsoft_Excel_Worksheet40.xlsx"/></Relationships>
</file>

<file path=ppt/charts/_rels/chart42.xml.rels><?xml version='1.0' encoding='UTF-8' standalone='yes'?>
<Relationships xmlns="http://schemas.openxmlformats.org/package/2006/relationships"><Relationship Id="rId1" Type="http://schemas.microsoft.com/office/2011/relationships/chartStyle" Target="style42.xml"/><Relationship Id="rId2" Type="http://schemas.microsoft.com/office/2011/relationships/chartColorStyle" Target="colors42.xml"/><Relationship Id="rId3" Type="http://schemas.openxmlformats.org/officeDocument/2006/relationships/package" Target="../embeddings/Microsoft_Excel_Worksheet41.xlsx"/></Relationships>
</file>

<file path=ppt/charts/_rels/chart43.xml.rels><?xml version='1.0' encoding='UTF-8' standalone='yes'?>
<Relationships xmlns="http://schemas.openxmlformats.org/package/2006/relationships"><Relationship Id="rId1" Type="http://schemas.microsoft.com/office/2011/relationships/chartStyle" Target="style43.xml"/><Relationship Id="rId2" Type="http://schemas.microsoft.com/office/2011/relationships/chartColorStyle" Target="colors43.xml"/><Relationship Id="rId3" Type="http://schemas.openxmlformats.org/officeDocument/2006/relationships/package" Target="../embeddings/Microsoft_Excel_Worksheet42.xlsx"/></Relationships>
</file>

<file path=ppt/charts/_rels/chart44.xml.rels><?xml version='1.0' encoding='UTF-8' standalone='yes'?>
<Relationships xmlns="http://schemas.openxmlformats.org/package/2006/relationships"><Relationship Id="rId1" Type="http://schemas.microsoft.com/office/2011/relationships/chartStyle" Target="style44.xml"/><Relationship Id="rId2" Type="http://schemas.microsoft.com/office/2011/relationships/chartColorStyle" Target="colors44.xml"/><Relationship Id="rId3" Type="http://schemas.openxmlformats.org/officeDocument/2006/relationships/package" Target="../embeddings/Microsoft_Excel_Worksheet43.xlsx"/></Relationships>
</file>

<file path=ppt/charts/_rels/chart45.xml.rels><?xml version='1.0' encoding='UTF-8' standalone='yes'?>
<Relationships xmlns="http://schemas.openxmlformats.org/package/2006/relationships"><Relationship Id="rId1" Type="http://schemas.microsoft.com/office/2011/relationships/chartStyle" Target="style45.xml"/><Relationship Id="rId2" Type="http://schemas.microsoft.com/office/2011/relationships/chartColorStyle" Target="colors45.xml"/><Relationship Id="rId3" Type="http://schemas.openxmlformats.org/officeDocument/2006/relationships/package" Target="../embeddings/Microsoft_Excel_Worksheet44.xlsx"/></Relationships>
</file>

<file path=ppt/charts/_rels/chart46.xml.rels><?xml version='1.0' encoding='UTF-8' standalone='yes'?>
<Relationships xmlns="http://schemas.openxmlformats.org/package/2006/relationships"><Relationship Id="rId1" Type="http://schemas.microsoft.com/office/2011/relationships/chartStyle" Target="style46.xml"/><Relationship Id="rId2" Type="http://schemas.microsoft.com/office/2011/relationships/chartColorStyle" Target="colors46.xml"/><Relationship Id="rId3" Type="http://schemas.openxmlformats.org/officeDocument/2006/relationships/package" Target="../embeddings/Microsoft_Excel_Worksheet45.xlsx"/></Relationships>
</file>

<file path=ppt/charts/_rels/chart47.xml.rels><?xml version='1.0' encoding='UTF-8' standalone='yes'?>
<Relationships xmlns="http://schemas.openxmlformats.org/package/2006/relationships"><Relationship Id="rId1" Type="http://schemas.microsoft.com/office/2011/relationships/chartStyle" Target="style47.xml"/><Relationship Id="rId2" Type="http://schemas.microsoft.com/office/2011/relationships/chartColorStyle" Target="colors47.xml"/><Relationship Id="rId3" Type="http://schemas.openxmlformats.org/officeDocument/2006/relationships/package" Target="../embeddings/Microsoft_Excel_Worksheet46.xlsx"/></Relationships>
</file>

<file path=ppt/charts/_rels/chart48.xml.rels><?xml version='1.0' encoding='UTF-8' standalone='yes'?>
<Relationships xmlns="http://schemas.openxmlformats.org/package/2006/relationships"><Relationship Id="rId1" Type="http://schemas.microsoft.com/office/2011/relationships/chartStyle" Target="style48.xml"/><Relationship Id="rId2" Type="http://schemas.microsoft.com/office/2011/relationships/chartColorStyle" Target="colors48.xml"/><Relationship Id="rId3" Type="http://schemas.openxmlformats.org/officeDocument/2006/relationships/package" Target="../embeddings/Microsoft_Excel_Worksheet47.xlsx"/></Relationships>
</file>

<file path=ppt/charts/_rels/chart49.xml.rels><?xml version='1.0' encoding='UTF-8' standalone='yes'?>
<Relationships xmlns="http://schemas.openxmlformats.org/package/2006/relationships"><Relationship Id="rId1" Type="http://schemas.microsoft.com/office/2011/relationships/chartStyle" Target="style49.xml"/><Relationship Id="rId2" Type="http://schemas.microsoft.com/office/2011/relationships/chartColorStyle" Target="colors49.xml"/><Relationship Id="rId3" Type="http://schemas.openxmlformats.org/officeDocument/2006/relationships/package" Target="../embeddings/Microsoft_Excel_Worksheet48.xlsx"/></Relationships>
</file>

<file path=ppt/charts/_rels/chart50.xml.rels><?xml version='1.0' encoding='UTF-8' standalone='yes'?>
<Relationships xmlns="http://schemas.openxmlformats.org/package/2006/relationships"><Relationship Id="rId1" Type="http://schemas.microsoft.com/office/2011/relationships/chartStyle" Target="style50.xml"/><Relationship Id="rId2" Type="http://schemas.microsoft.com/office/2011/relationships/chartColorStyle" Target="colors50.xml"/><Relationship Id="rId3" Type="http://schemas.openxmlformats.org/officeDocument/2006/relationships/package" Target="../embeddings/Microsoft_Excel_Worksheet49.xlsx"/></Relationships>
</file>

<file path=ppt/charts/_rels/chart51.xml.rels><?xml version='1.0' encoding='UTF-8' standalone='yes'?>
<Relationships xmlns="http://schemas.openxmlformats.org/package/2006/relationships"><Relationship Id="rId1" Type="http://schemas.microsoft.com/office/2011/relationships/chartStyle" Target="style51.xml"/><Relationship Id="rId2" Type="http://schemas.microsoft.com/office/2011/relationships/chartColorStyle" Target="colors51.xml"/><Relationship Id="rId3" Type="http://schemas.openxmlformats.org/officeDocument/2006/relationships/package" Target="../embeddings/Microsoft_Excel_Worksheet50.xlsx"/></Relationships>
</file>

<file path=ppt/charts/_rels/chart52.xml.rels><?xml version='1.0' encoding='UTF-8' standalone='yes'?>
<Relationships xmlns="http://schemas.openxmlformats.org/package/2006/relationships"><Relationship Id="rId1" Type="http://schemas.microsoft.com/office/2011/relationships/chartStyle" Target="style52.xml"/><Relationship Id="rId2" Type="http://schemas.microsoft.com/office/2011/relationships/chartColorStyle" Target="colors52.xml"/><Relationship Id="rId3" Type="http://schemas.openxmlformats.org/officeDocument/2006/relationships/package" Target="../embeddings/Microsoft_Excel_Worksheet51.xlsx"/></Relationships>
</file>

<file path=ppt/charts/_rels/chart53.xml.rels><?xml version='1.0' encoding='UTF-8' standalone='yes'?>
<Relationships xmlns="http://schemas.openxmlformats.org/package/2006/relationships"><Relationship Id="rId1" Type="http://schemas.microsoft.com/office/2011/relationships/chartStyle" Target="style53.xml"/><Relationship Id="rId2" Type="http://schemas.microsoft.com/office/2011/relationships/chartColorStyle" Target="colors53.xml"/><Relationship Id="rId3" Type="http://schemas.openxmlformats.org/officeDocument/2006/relationships/package" Target="../embeddings/Microsoft_Excel_Worksheet52.xlsx"/></Relationships>
</file>

<file path=ppt/charts/_rels/chart54.xml.rels><?xml version='1.0' encoding='UTF-8' standalone='yes'?>
<Relationships xmlns="http://schemas.openxmlformats.org/package/2006/relationships"><Relationship Id="rId1" Type="http://schemas.microsoft.com/office/2011/relationships/chartStyle" Target="style54.xml"/><Relationship Id="rId2" Type="http://schemas.microsoft.com/office/2011/relationships/chartColorStyle" Target="colors54.xml"/><Relationship Id="rId3" Type="http://schemas.openxmlformats.org/officeDocument/2006/relationships/package" Target="../embeddings/Microsoft_Excel_Worksheet53.xlsx"/></Relationships>
</file>

<file path=ppt/charts/_rels/chart55.xml.rels><?xml version='1.0' encoding='UTF-8' standalone='yes'?>
<Relationships xmlns="http://schemas.openxmlformats.org/package/2006/relationships"><Relationship Id="rId1" Type="http://schemas.microsoft.com/office/2011/relationships/chartStyle" Target="style55.xml"/><Relationship Id="rId2" Type="http://schemas.microsoft.com/office/2011/relationships/chartColorStyle" Target="colors55.xml"/><Relationship Id="rId3" Type="http://schemas.openxmlformats.org/officeDocument/2006/relationships/package" Target="../embeddings/Microsoft_Excel_Worksheet54.xlsx"/></Relationships>
</file>

<file path=ppt/charts/_rels/chart56.xml.rels><?xml version='1.0' encoding='UTF-8' standalone='yes'?>
<Relationships xmlns="http://schemas.openxmlformats.org/package/2006/relationships"><Relationship Id="rId1" Type="http://schemas.microsoft.com/office/2011/relationships/chartStyle" Target="style56.xml"/><Relationship Id="rId2" Type="http://schemas.microsoft.com/office/2011/relationships/chartColorStyle" Target="colors56.xml"/><Relationship Id="rId3" Type="http://schemas.openxmlformats.org/officeDocument/2006/relationships/package" Target="../embeddings/Microsoft_Excel_Worksheet55.xlsx"/></Relationships>
</file>

<file path=ppt/charts/_rels/chart57.xml.rels><?xml version='1.0' encoding='UTF-8' standalone='yes'?>
<Relationships xmlns="http://schemas.openxmlformats.org/package/2006/relationships"><Relationship Id="rId1" Type="http://schemas.microsoft.com/office/2011/relationships/chartStyle" Target="style57.xml"/><Relationship Id="rId2" Type="http://schemas.microsoft.com/office/2011/relationships/chartColorStyle" Target="colors57.xml"/><Relationship Id="rId3" Type="http://schemas.openxmlformats.org/officeDocument/2006/relationships/package" Target="../embeddings/Microsoft_Excel_Worksheet56.xlsx"/></Relationships>
</file>

<file path=ppt/charts/_rels/chart58.xml.rels><?xml version='1.0' encoding='UTF-8' standalone='yes'?>
<Relationships xmlns="http://schemas.openxmlformats.org/package/2006/relationships"><Relationship Id="rId1" Type="http://schemas.microsoft.com/office/2011/relationships/chartStyle" Target="style58.xml"/><Relationship Id="rId2" Type="http://schemas.microsoft.com/office/2011/relationships/chartColorStyle" Target="colors58.xml"/><Relationship Id="rId3" Type="http://schemas.openxmlformats.org/officeDocument/2006/relationships/package" Target="../embeddings/Microsoft_Excel_Worksheet57.xlsx"/></Relationships>
</file>

<file path=ppt/charts/_rels/chart59.xml.rels><?xml version='1.0' encoding='UTF-8' standalone='yes'?>
<Relationships xmlns="http://schemas.openxmlformats.org/package/2006/relationships"><Relationship Id="rId1" Type="http://schemas.microsoft.com/office/2011/relationships/chartStyle" Target="style59.xml"/><Relationship Id="rId2" Type="http://schemas.microsoft.com/office/2011/relationships/chartColorStyle" Target="colors59.xml"/><Relationship Id="rId3" Type="http://schemas.openxmlformats.org/officeDocument/2006/relationships/package" Target="../embeddings/Microsoft_Excel_Worksheet58.xlsx"/></Relationships>
</file>

<file path=ppt/charts/_rels/chart60.xml.rels><?xml version='1.0' encoding='UTF-8' standalone='yes'?>
<Relationships xmlns="http://schemas.openxmlformats.org/package/2006/relationships"><Relationship Id="rId1" Type="http://schemas.microsoft.com/office/2011/relationships/chartStyle" Target="style60.xml"/><Relationship Id="rId2" Type="http://schemas.microsoft.com/office/2011/relationships/chartColorStyle" Target="colors60.xml"/><Relationship Id="rId3" Type="http://schemas.openxmlformats.org/officeDocument/2006/relationships/package" Target="../embeddings/Microsoft_Excel_Worksheet59.xlsx"/></Relationships>
</file>

<file path=ppt/charts/_rels/chart61.xml.rels><?xml version='1.0' encoding='UTF-8' standalone='yes'?>
<Relationships xmlns="http://schemas.openxmlformats.org/package/2006/relationships"><Relationship Id="rId1" Type="http://schemas.microsoft.com/office/2011/relationships/chartStyle" Target="style61.xml"/><Relationship Id="rId2" Type="http://schemas.microsoft.com/office/2011/relationships/chartColorStyle" Target="colors61.xml"/><Relationship Id="rId3" Type="http://schemas.openxmlformats.org/officeDocument/2006/relationships/package" Target="../embeddings/Microsoft_Excel_Worksheet60.xlsx"/></Relationships>
</file>

<file path=ppt/charts/_rels/chart62.xml.rels><?xml version='1.0' encoding='UTF-8' standalone='yes'?>
<Relationships xmlns="http://schemas.openxmlformats.org/package/2006/relationships"><Relationship Id="rId1" Type="http://schemas.microsoft.com/office/2011/relationships/chartStyle" Target="style62.xml"/><Relationship Id="rId2" Type="http://schemas.microsoft.com/office/2011/relationships/chartColorStyle" Target="colors62.xml"/><Relationship Id="rId3" Type="http://schemas.openxmlformats.org/officeDocument/2006/relationships/package" Target="../embeddings/Microsoft_Excel_Worksheet61.xlsx"/></Relationships>
</file>

<file path=ppt/charts/_rels/chart63.xml.rels><?xml version='1.0' encoding='UTF-8' standalone='yes'?>
<Relationships xmlns="http://schemas.openxmlformats.org/package/2006/relationships"><Relationship Id="rId1" Type="http://schemas.microsoft.com/office/2011/relationships/chartStyle" Target="style63.xml"/><Relationship Id="rId2" Type="http://schemas.microsoft.com/office/2011/relationships/chartColorStyle" Target="colors63.xml"/><Relationship Id="rId3" Type="http://schemas.openxmlformats.org/officeDocument/2006/relationships/package" Target="../embeddings/Microsoft_Excel_Worksheet62.xlsx"/></Relationships>
</file>

<file path=ppt/charts/_rels/chart64.xml.rels><?xml version='1.0' encoding='UTF-8' standalone='yes'?>
<Relationships xmlns="http://schemas.openxmlformats.org/package/2006/relationships"><Relationship Id="rId1" Type="http://schemas.microsoft.com/office/2011/relationships/chartStyle" Target="style64.xml"/><Relationship Id="rId2" Type="http://schemas.microsoft.com/office/2011/relationships/chartColorStyle" Target="colors64.xml"/><Relationship Id="rId3" Type="http://schemas.openxmlformats.org/officeDocument/2006/relationships/package" Target="../embeddings/Microsoft_Excel_Worksheet63.xlsx"/></Relationships>
</file>

<file path=ppt/charts/_rels/chart65.xml.rels><?xml version='1.0' encoding='UTF-8' standalone='yes'?>
<Relationships xmlns="http://schemas.openxmlformats.org/package/2006/relationships"><Relationship Id="rId1" Type="http://schemas.microsoft.com/office/2011/relationships/chartStyle" Target="style65.xml"/><Relationship Id="rId2" Type="http://schemas.microsoft.com/office/2011/relationships/chartColorStyle" Target="colors65.xml"/><Relationship Id="rId3" Type="http://schemas.openxmlformats.org/officeDocument/2006/relationships/package" Target="../embeddings/Microsoft_Excel_Worksheet64.xlsx"/></Relationships>
</file>

<file path=ppt/charts/_rels/chart66.xml.rels><?xml version='1.0' encoding='UTF-8' standalone='yes'?>
<Relationships xmlns="http://schemas.openxmlformats.org/package/2006/relationships"><Relationship Id="rId1" Type="http://schemas.microsoft.com/office/2011/relationships/chartStyle" Target="style66.xml"/><Relationship Id="rId2" Type="http://schemas.microsoft.com/office/2011/relationships/chartColorStyle" Target="colors66.xml"/><Relationship Id="rId3" Type="http://schemas.openxmlformats.org/officeDocument/2006/relationships/package" Target="../embeddings/Microsoft_Excel_Worksheet65.xlsx"/></Relationships>
</file>

<file path=ppt/charts/_rels/chart67.xml.rels><?xml version='1.0' encoding='UTF-8' standalone='yes'?>
<Relationships xmlns="http://schemas.openxmlformats.org/package/2006/relationships"><Relationship Id="rId1" Type="http://schemas.microsoft.com/office/2011/relationships/chartStyle" Target="style67.xml"/><Relationship Id="rId2" Type="http://schemas.microsoft.com/office/2011/relationships/chartColorStyle" Target="colors67.xml"/><Relationship Id="rId3" Type="http://schemas.openxmlformats.org/officeDocument/2006/relationships/package" Target="../embeddings/Microsoft_Excel_Worksheet66.xlsx"/></Relationships>
</file>

<file path=ppt/charts/_rels/chart68.xml.rels><?xml version='1.0' encoding='UTF-8' standalone='yes'?>
<Relationships xmlns="http://schemas.openxmlformats.org/package/2006/relationships"><Relationship Id="rId1" Type="http://schemas.microsoft.com/office/2011/relationships/chartStyle" Target="style68.xml"/><Relationship Id="rId2" Type="http://schemas.microsoft.com/office/2011/relationships/chartColorStyle" Target="colors68.xml"/><Relationship Id="rId3" Type="http://schemas.openxmlformats.org/officeDocument/2006/relationships/package" Target="../embeddings/Microsoft_Excel_Worksheet67.xlsx"/></Relationships>
</file>

<file path=ppt/charts/_rels/chart69.xml.rels><?xml version='1.0' encoding='UTF-8' standalone='yes'?>
<Relationships xmlns="http://schemas.openxmlformats.org/package/2006/relationships"><Relationship Id="rId1" Type="http://schemas.microsoft.com/office/2011/relationships/chartStyle" Target="style69.xml"/><Relationship Id="rId2" Type="http://schemas.microsoft.com/office/2011/relationships/chartColorStyle" Target="colors69.xml"/><Relationship Id="rId3" Type="http://schemas.openxmlformats.org/officeDocument/2006/relationships/package" Target="../embeddings/Microsoft_Excel_Worksheet68.xlsx"/></Relationships>
</file>

<file path=ppt/charts/_rels/chart70.xml.rels><?xml version='1.0' encoding='UTF-8' standalone='yes'?>
<Relationships xmlns="http://schemas.openxmlformats.org/package/2006/relationships"><Relationship Id="rId1" Type="http://schemas.microsoft.com/office/2011/relationships/chartStyle" Target="style70.xml"/><Relationship Id="rId2" Type="http://schemas.microsoft.com/office/2011/relationships/chartColorStyle" Target="colors70.xml"/><Relationship Id="rId3" Type="http://schemas.openxmlformats.org/officeDocument/2006/relationships/package" Target="../embeddings/Microsoft_Excel_Worksheet69.xlsx"/></Relationships>
</file>

<file path=ppt/charts/_rels/chart71.xml.rels><?xml version='1.0' encoding='UTF-8' standalone='yes'?>
<Relationships xmlns="http://schemas.openxmlformats.org/package/2006/relationships"><Relationship Id="rId1" Type="http://schemas.microsoft.com/office/2011/relationships/chartStyle" Target="style71.xml"/><Relationship Id="rId2" Type="http://schemas.microsoft.com/office/2011/relationships/chartColorStyle" Target="colors71.xml"/><Relationship Id="rId3" Type="http://schemas.openxmlformats.org/officeDocument/2006/relationships/package" Target="../embeddings/Microsoft_Excel_Worksheet70.xlsx"/></Relationships>
</file>

<file path=ppt/charts/_rels/chart72.xml.rels><?xml version='1.0' encoding='UTF-8' standalone='yes'?>
<Relationships xmlns="http://schemas.openxmlformats.org/package/2006/relationships"><Relationship Id="rId1" Type="http://schemas.microsoft.com/office/2011/relationships/chartStyle" Target="style72.xml"/><Relationship Id="rId2" Type="http://schemas.microsoft.com/office/2011/relationships/chartColorStyle" Target="colors72.xml"/><Relationship Id="rId3" Type="http://schemas.openxmlformats.org/officeDocument/2006/relationships/package" Target="../embeddings/Microsoft_Excel_Worksheet71.xlsx"/></Relationships>
</file>

<file path=ppt/charts/_rels/chart73.xml.rels><?xml version='1.0' encoding='UTF-8' standalone='yes'?>
<Relationships xmlns="http://schemas.openxmlformats.org/package/2006/relationships"><Relationship Id="rId1" Type="http://schemas.microsoft.com/office/2011/relationships/chartStyle" Target="style73.xml"/><Relationship Id="rId2" Type="http://schemas.microsoft.com/office/2011/relationships/chartColorStyle" Target="colors73.xml"/><Relationship Id="rId3" Type="http://schemas.openxmlformats.org/officeDocument/2006/relationships/package" Target="../embeddings/Microsoft_Excel_Worksheet72.xlsx"/></Relationships>
</file>

<file path=ppt/charts/_rels/chart74.xml.rels><?xml version='1.0' encoding='UTF-8' standalone='yes'?>
<Relationships xmlns="http://schemas.openxmlformats.org/package/2006/relationships"><Relationship Id="rId1" Type="http://schemas.microsoft.com/office/2011/relationships/chartStyle" Target="style74.xml"/><Relationship Id="rId2" Type="http://schemas.microsoft.com/office/2011/relationships/chartColorStyle" Target="colors74.xml"/><Relationship Id="rId3" Type="http://schemas.openxmlformats.org/officeDocument/2006/relationships/package" Target="../embeddings/Microsoft_Excel_Worksheet73.xlsx"/></Relationships>
</file>

<file path=ppt/charts/_rels/chart75.xml.rels><?xml version='1.0' encoding='UTF-8' standalone='yes'?>
<Relationships xmlns="http://schemas.openxmlformats.org/package/2006/relationships"><Relationship Id="rId1" Type="http://schemas.microsoft.com/office/2011/relationships/chartStyle" Target="style75.xml"/><Relationship Id="rId2" Type="http://schemas.microsoft.com/office/2011/relationships/chartColorStyle" Target="colors75.xml"/><Relationship Id="rId3" Type="http://schemas.openxmlformats.org/officeDocument/2006/relationships/package" Target="../embeddings/Microsoft_Excel_Worksheet74.xlsx"/></Relationships>
</file>

<file path=ppt/charts/_rels/chart76.xml.rels><?xml version='1.0' encoding='UTF-8' standalone='yes'?>
<Relationships xmlns="http://schemas.openxmlformats.org/package/2006/relationships"><Relationship Id="rId1" Type="http://schemas.microsoft.com/office/2011/relationships/chartStyle" Target="style76.xml"/><Relationship Id="rId2" Type="http://schemas.microsoft.com/office/2011/relationships/chartColorStyle" Target="colors76.xml"/><Relationship Id="rId3" Type="http://schemas.openxmlformats.org/officeDocument/2006/relationships/package" Target="../embeddings/Microsoft_Excel_Worksheet75.xlsx"/></Relationships>
</file>

<file path=ppt/charts/_rels/chart77.xml.rels><?xml version='1.0' encoding='UTF-8' standalone='yes'?>
<Relationships xmlns="http://schemas.openxmlformats.org/package/2006/relationships"><Relationship Id="rId1" Type="http://schemas.microsoft.com/office/2011/relationships/chartStyle" Target="style77.xml"/><Relationship Id="rId2" Type="http://schemas.microsoft.com/office/2011/relationships/chartColorStyle" Target="colors77.xml"/><Relationship Id="rId3" Type="http://schemas.openxmlformats.org/officeDocument/2006/relationships/package" Target="../embeddings/Microsoft_Excel_Worksheet7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Sexo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E3A-4C7D-A204-E84331F9C94D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E3A-4C7D-A204-E84331F9C94D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Masculino</c:v>
                </c:pt>
                <c:pt idx="1">
                  <c:v>Femenino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0.52</c:v>
                </c:pt>
                <c:pt idx="1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3A-4C7D-A204-E84331F9C9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Jornada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6F-494C-8179-25AFB7FDEBB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6F-494C-8179-25AFB7FDEBBE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Diurno</c:v>
                </c:pt>
                <c:pt idx="1">
                  <c:v>Vespertino</c:v>
                </c:pt>
                <c:pt idx="2">
                  <c:v>A distancia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0.76</c:v>
                </c:pt>
                <c:pt idx="1">
                  <c:v>0.23</c:v>
                </c:pt>
                <c:pt idx="2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6F-494C-8179-25AFB7FDEB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Tipo de alumno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9804100723760052"/>
          <c:y val="0.1662291116218764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7E-4323-9B09-A4AFCD3C5E8B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7E-4323-9B09-A4AFCD3C5E8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77E-4323-9B09-A4AFCD3C5E8B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Continuidad</c:v>
                </c:pt>
                <c:pt idx="1">
                  <c:v>Inicio</c:v>
                </c:pt>
                <c:pt idx="2">
                  <c:v>Admisión Especial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</c:v>
                </c:pt>
                <c:pt idx="1">
                  <c:v>0.48</c:v>
                </c:pt>
                <c:pt idx="2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7E-4323-9B09-A4AFCD3C5E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s-CL" sz="2000" b="0" dirty="0">
                <a:effectLst/>
              </a:rPr>
              <a:t>Escuelas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72C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Administración y Negocios</c:v>
                </c:pt>
                <c:pt idx="1">
                  <c:v>Ingeniería, Medio Ambiente y Recursos Naturales</c:v>
                </c:pt>
                <c:pt idx="2">
                  <c:v>Informática y Telecomunicaciones</c:v>
                </c:pt>
                <c:pt idx="3">
                  <c:v>Salud y Bienestar</c:v>
                </c:pt>
                <c:pt idx="4">
                  <c:v>Construcción</c:v>
                </c:pt>
                <c:pt idx="5">
                  <c:v>Diseño</c:v>
                </c:pt>
                <c:pt idx="6">
                  <c:v>Comunicación</c:v>
                </c:pt>
                <c:pt idx="7">
                  <c:v>Turismo y Hospitalidad</c:v>
                </c:pt>
                <c:pt idx="8">
                  <c:v>Gastronomía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0.26</c:v>
                </c:pt>
                <c:pt idx="1">
                  <c:v>0.19</c:v>
                </c:pt>
                <c:pt idx="2">
                  <c:v>0.16</c:v>
                </c:pt>
                <c:pt idx="3">
                  <c:v>0.11</c:v>
                </c:pt>
                <c:pt idx="4">
                  <c:v>0.07</c:v>
                </c:pt>
                <c:pt idx="5">
                  <c:v>0.06</c:v>
                </c:pt>
                <c:pt idx="6">
                  <c:v>0.06</c:v>
                </c:pt>
                <c:pt idx="7">
                  <c:v>0.05</c:v>
                </c:pt>
                <c:pt idx="8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8C-4BEA-B37D-8CA8E97BE8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>
          <a:latin typeface="+mj-lt"/>
        </a:defRPr>
      </a:pPr>
      <a:endParaRPr lang="es-C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Campus y Sedes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72C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Puente Alto</c:v>
                </c:pt>
                <c:pt idx="1">
                  <c:v>Valparaíso</c:v>
                </c:pt>
                <c:pt idx="2">
                  <c:v>Concepción</c:v>
                </c:pt>
                <c:pt idx="3">
                  <c:v>Padre Alonso De Ovalle</c:v>
                </c:pt>
                <c:pt idx="4">
                  <c:v>Maipú</c:v>
                </c:pt>
                <c:pt idx="5">
                  <c:v>San Bernardo</c:v>
                </c:pt>
                <c:pt idx="6">
                  <c:v>Viña Del Mar</c:v>
                </c:pt>
                <c:pt idx="7">
                  <c:v>San Joaquín</c:v>
                </c:pt>
                <c:pt idx="8">
                  <c:v>Antonio Varas</c:v>
                </c:pt>
                <c:pt idx="9">
                  <c:v>Puerto Montt</c:v>
                </c:pt>
                <c:pt idx="10">
                  <c:v>Plaza Norte</c:v>
                </c:pt>
                <c:pt idx="11">
                  <c:v>San Carlos De Apoquindo</c:v>
                </c:pt>
                <c:pt idx="12">
                  <c:v>Melipilla</c:v>
                </c:pt>
                <c:pt idx="13">
                  <c:v>Alameda</c:v>
                </c:pt>
                <c:pt idx="14">
                  <c:v>Plaza Vespucio</c:v>
                </c:pt>
                <c:pt idx="15">
                  <c:v>Plaza Oeste</c:v>
                </c:pt>
                <c:pt idx="16">
                  <c:v>Campus Villarrica</c:v>
                </c:pt>
                <c:pt idx="17">
                  <c:v>Campus Arauco</c:v>
                </c:pt>
                <c:pt idx="18">
                  <c:v>Nacimiento</c:v>
                </c:pt>
                <c:pt idx="19">
                  <c:v>Online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0.09</c:v>
                </c:pt>
                <c:pt idx="1">
                  <c:v>0.08</c:v>
                </c:pt>
                <c:pt idx="2">
                  <c:v>0.07</c:v>
                </c:pt>
                <c:pt idx="3">
                  <c:v>0.07</c:v>
                </c:pt>
                <c:pt idx="4">
                  <c:v>0.07</c:v>
                </c:pt>
                <c:pt idx="5">
                  <c:v>0.07</c:v>
                </c:pt>
                <c:pt idx="6">
                  <c:v>0.06</c:v>
                </c:pt>
                <c:pt idx="7">
                  <c:v>0.06</c:v>
                </c:pt>
                <c:pt idx="8">
                  <c:v>0.06</c:v>
                </c:pt>
                <c:pt idx="9">
                  <c:v>0.05</c:v>
                </c:pt>
                <c:pt idx="10">
                  <c:v>0.05</c:v>
                </c:pt>
                <c:pt idx="11">
                  <c:v>0.05</c:v>
                </c:pt>
                <c:pt idx="12">
                  <c:v>0.05</c:v>
                </c:pt>
                <c:pt idx="13">
                  <c:v>0.05</c:v>
                </c:pt>
                <c:pt idx="14">
                  <c:v>0.04</c:v>
                </c:pt>
                <c:pt idx="15">
                  <c:v>0.03</c:v>
                </c:pt>
                <c:pt idx="16">
                  <c:v>0.02</c:v>
                </c:pt>
                <c:pt idx="17">
                  <c:v>0.02</c:v>
                </c:pt>
                <c:pt idx="18">
                  <c:v>0.01</c:v>
                </c:pt>
                <c:pt idx="19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97-44AE-A7F4-269D5B6FB4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Sheet1!$A$2:$A$26</c:f>
              <c:strCache>
                <c:ptCount val="25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 </c:v>
                </c:pt>
                <c:pt idx="4">
                  <c:v>A distancia</c:v>
                </c:pt>
                <c:pt idx="5">
                  <c:v>Diurno</c:v>
                </c:pt>
                <c:pt idx="6">
                  <c:v>Vespertino</c:v>
                </c:pt>
                <c:pt idx="7">
                  <c:v> </c:v>
                </c:pt>
                <c:pt idx="8">
                  <c:v> </c:v>
                </c:pt>
                <c:pt idx="9">
                  <c:v>Admisión Especial</c:v>
                </c:pt>
                <c:pt idx="10">
                  <c:v>Continuidad</c:v>
                </c:pt>
                <c:pt idx="11">
                  <c:v>Inicio</c:v>
                </c:pt>
                <c:pt idx="12">
                  <c:v> </c:v>
                </c:pt>
                <c:pt idx="13">
                  <c:v> </c:v>
                </c:pt>
                <c:pt idx="14">
                  <c:v>Administración y Negocios</c:v>
                </c:pt>
                <c:pt idx="15">
                  <c:v>Comunicación</c:v>
                </c:pt>
                <c:pt idx="16">
                  <c:v>Construcción</c:v>
                </c:pt>
                <c:pt idx="17">
                  <c:v>Diseño</c:v>
                </c:pt>
                <c:pt idx="18">
                  <c:v>Gastronomía</c:v>
                </c:pt>
                <c:pt idx="19">
                  <c:v>Informática y Telecomunicaciones</c:v>
                </c:pt>
                <c:pt idx="20">
                  <c:v>Ingeniería, Medio Ambiente y Recursos Naturales</c:v>
                </c:pt>
                <c:pt idx="21">
                  <c:v>Salud y Bienestar</c:v>
                </c:pt>
                <c:pt idx="22">
                  <c:v>Turismo y Hospitalidad</c:v>
                </c:pt>
                <c:pt idx="23">
                  <c:v> </c:v>
                </c:pt>
                <c:pt idx="24">
                  <c:v> 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0.44308317257753377</c:v>
                </c:pt>
                <c:pt idx="1">
                  <c:v>0.4042048660084626</c:v>
                </c:pt>
                <c:pt idx="4">
                  <c:v>0.38446969696969696</c:v>
                </c:pt>
                <c:pt idx="5">
                  <c:v>0.42929618013294635</c:v>
                </c:pt>
                <c:pt idx="6">
                  <c:v>0.40370943459350955</c:v>
                </c:pt>
                <c:pt idx="9">
                  <c:v>0.43154761904761907</c:v>
                </c:pt>
                <c:pt idx="10">
                  <c:v>0.4268109355334918</c:v>
                </c:pt>
                <c:pt idx="11">
                  <c:v>0.4192908926144087</c:v>
                </c:pt>
                <c:pt idx="14">
                  <c:v>0.40665472581978507</c:v>
                </c:pt>
                <c:pt idx="15">
                  <c:v>0.4574396782841823</c:v>
                </c:pt>
                <c:pt idx="16">
                  <c:v>0.3937381404174573</c:v>
                </c:pt>
                <c:pt idx="17">
                  <c:v>0.4866676942046856</c:v>
                </c:pt>
                <c:pt idx="18">
                  <c:v>0.43016098484848486</c:v>
                </c:pt>
                <c:pt idx="19">
                  <c:v>0.4436381492797905</c:v>
                </c:pt>
                <c:pt idx="20">
                  <c:v>0.402317880794702</c:v>
                </c:pt>
                <c:pt idx="21">
                  <c:v>0.42992912371134023</c:v>
                </c:pt>
                <c:pt idx="22">
                  <c:v>0.4341704718417047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CB-48F1-B16D-CC858EED68F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0.3984375</c:v>
                </c:pt>
                <c:pt idx="1">
                  <c:v>0.4517261001517451</c:v>
                </c:pt>
                <c:pt idx="2">
                  <c:v>0.4007899628252788</c:v>
                </c:pt>
                <c:pt idx="3">
                  <c:v>0.3736111111111111</c:v>
                </c:pt>
                <c:pt idx="4">
                  <c:v>0.41804358237547895</c:v>
                </c:pt>
                <c:pt idx="5">
                  <c:v>0.4205264672036824</c:v>
                </c:pt>
                <c:pt idx="6">
                  <c:v>0.4132928475033738</c:v>
                </c:pt>
                <c:pt idx="7">
                  <c:v>0.38643973214285715</c:v>
                </c:pt>
                <c:pt idx="8">
                  <c:v>0.38446969696969696</c:v>
                </c:pt>
                <c:pt idx="9">
                  <c:v>0.4365511133603239</c:v>
                </c:pt>
                <c:pt idx="10">
                  <c:v>0.4073783359497645</c:v>
                </c:pt>
                <c:pt idx="11">
                  <c:v>0.44809850374064836</c:v>
                </c:pt>
                <c:pt idx="12">
                  <c:v>0.4439019097222222</c:v>
                </c:pt>
                <c:pt idx="13">
                  <c:v>0.4325643776824034</c:v>
                </c:pt>
                <c:pt idx="14">
                  <c:v>0.39390822784810126</c:v>
                </c:pt>
                <c:pt idx="15">
                  <c:v>0.4186835106382979</c:v>
                </c:pt>
                <c:pt idx="16">
                  <c:v>0.45944148936170215</c:v>
                </c:pt>
                <c:pt idx="17">
                  <c:v>0.4286563614744352</c:v>
                </c:pt>
                <c:pt idx="18">
                  <c:v>0.42165841584158414</c:v>
                </c:pt>
                <c:pt idx="19">
                  <c:v>0.441904617253949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C-422B-932E-773831900C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Femenino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numFmt formatCode="0%" sourceLinked="0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Experiencias de discriminación en Duoc UC</c:v>
                </c:pt>
                <c:pt idx="1">
                  <c:v>Espacios de clase no adecuados en Duoc UC</c:v>
                </c:pt>
                <c:pt idx="2">
                  <c:v>Recursos de la universidad poco actualizados</c:v>
                </c:pt>
                <c:pt idx="3">
                  <c:v>Problemas en la relación con profesores</c:v>
                </c:pt>
                <c:pt idx="4">
                  <c:v>Panorama político internacional o cambios en el mundo (seguridad mundial, preocupación financiera)</c:v>
                </c:pt>
                <c:pt idx="5">
                  <c:v>Problemas de inseguridad al entrar y salir de la sede (delincuencia)</c:v>
                </c:pt>
                <c:pt idx="6">
                  <c:v>Crisis climática y desastres naturales</c:v>
                </c:pt>
                <c:pt idx="7">
                  <c:v>Problemas de inseguridad en tu barrio</c:v>
                </c:pt>
                <c:pt idx="8">
                  <c:v>Panorama político y social del país</c:v>
                </c:pt>
                <c:pt idx="9">
                  <c:v>Carga académica exigente</c:v>
                </c:pt>
                <c:pt idx="10">
                  <c:v>Problemas en la relación con compañeros</c:v>
                </c:pt>
                <c:pt idx="11">
                  <c:v>Problemas de salud de un ser querido</c:v>
                </c:pt>
                <c:pt idx="12">
                  <c:v>Dificultades de transporte y desplazamiento</c:v>
                </c:pt>
                <c:pt idx="13">
                  <c:v>Duelos/pérdidas</c:v>
                </c:pt>
                <c:pt idx="14">
                  <c:v>Dificultad para compatibilizar trabajo y estudios</c:v>
                </c:pt>
                <c:pt idx="15">
                  <c:v>Aislamiento</c:v>
                </c:pt>
                <c:pt idx="16">
                  <c:v>Problemas en relación sentimental</c:v>
                </c:pt>
                <c:pt idx="17">
                  <c:v>Problemas de salud personales</c:v>
                </c:pt>
                <c:pt idx="18">
                  <c:v>Problemas en relaciones familiares</c:v>
                </c:pt>
                <c:pt idx="19">
                  <c:v>Futuro laboral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0.03118409159385357</c:v>
                </c:pt>
                <c:pt idx="1">
                  <c:v>0.03419704730340464</c:v>
                </c:pt>
                <c:pt idx="2">
                  <c:v>0.050918951491413074</c:v>
                </c:pt>
                <c:pt idx="3">
                  <c:v>0.06417595661343778</c:v>
                </c:pt>
                <c:pt idx="4">
                  <c:v>0.1321181078638144</c:v>
                </c:pt>
                <c:pt idx="5">
                  <c:v>0.14462187405845134</c:v>
                </c:pt>
                <c:pt idx="6">
                  <c:v>0.153510093401627</c:v>
                </c:pt>
                <c:pt idx="7">
                  <c:v>0.1667670985236517</c:v>
                </c:pt>
                <c:pt idx="8">
                  <c:v>0.1681229285929497</c:v>
                </c:pt>
                <c:pt idx="9">
                  <c:v>0.1816812292859295</c:v>
                </c:pt>
                <c:pt idx="10">
                  <c:v>0.20171738475444412</c:v>
                </c:pt>
                <c:pt idx="11">
                  <c:v>0.23335341970473034</c:v>
                </c:pt>
                <c:pt idx="12">
                  <c:v>0.2374209099126243</c:v>
                </c:pt>
                <c:pt idx="13">
                  <c:v>0.26453751129858394</c:v>
                </c:pt>
                <c:pt idx="14">
                  <c:v>0.2865320879783067</c:v>
                </c:pt>
                <c:pt idx="15">
                  <c:v>0.3385055739680627</c:v>
                </c:pt>
                <c:pt idx="16">
                  <c:v>0.411268454353721</c:v>
                </c:pt>
                <c:pt idx="17">
                  <c:v>0.4114191021391986</c:v>
                </c:pt>
                <c:pt idx="18">
                  <c:v>0.492919554082555</c:v>
                </c:pt>
                <c:pt idx="19">
                  <c:v>0.49894546550165714</c:v>
                </c:pt>
                <c:pt idx="20">
                  <c:v>0.5361554685146128</c:v>
                </c:pt>
                <c:pt idx="21">
                  <c:v>0.5524254293461887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0-4F67-B5F6-64488193F4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Masculino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numFmt formatCode="0%" sourceLinked="0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Experiencias de discriminación en Duoc UC</c:v>
                </c:pt>
                <c:pt idx="1">
                  <c:v>Espacios de clase no adecuados en Duoc UC</c:v>
                </c:pt>
                <c:pt idx="2">
                  <c:v>Recursos de la universidad poco actualizados</c:v>
                </c:pt>
                <c:pt idx="3">
                  <c:v>Problemas en la relación con profesores</c:v>
                </c:pt>
                <c:pt idx="4">
                  <c:v>Panorama político internacional o cambios en el mundo (seguridad mundial, preocupación financiera)</c:v>
                </c:pt>
                <c:pt idx="5">
                  <c:v>Problemas de inseguridad al entrar y salir de la sede (delincuencia)</c:v>
                </c:pt>
                <c:pt idx="6">
                  <c:v>Crisis climática y desastres naturales</c:v>
                </c:pt>
                <c:pt idx="7">
                  <c:v>Problemas de inseguridad en tu barrio</c:v>
                </c:pt>
                <c:pt idx="8">
                  <c:v>Panorama político y social del país</c:v>
                </c:pt>
                <c:pt idx="9">
                  <c:v>Carga académica exigente</c:v>
                </c:pt>
                <c:pt idx="10">
                  <c:v>Problemas en la relación con compañeros</c:v>
                </c:pt>
                <c:pt idx="11">
                  <c:v>Problemas de salud de un ser querido</c:v>
                </c:pt>
                <c:pt idx="12">
                  <c:v>Dificultades de transporte y desplazamiento</c:v>
                </c:pt>
                <c:pt idx="13">
                  <c:v>Duelos/pérdidas</c:v>
                </c:pt>
                <c:pt idx="14">
                  <c:v>Dificultad para compatibilizar trabajo y estudios</c:v>
                </c:pt>
                <c:pt idx="15">
                  <c:v>Aislamiento</c:v>
                </c:pt>
                <c:pt idx="16">
                  <c:v>Problemas en relación sentimental</c:v>
                </c:pt>
                <c:pt idx="17">
                  <c:v>Problemas de salud personales</c:v>
                </c:pt>
                <c:pt idx="18">
                  <c:v>Problemas en relaciones familiares</c:v>
                </c:pt>
                <c:pt idx="19">
                  <c:v>Futuro laboral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0.028391167192429023</c:v>
                </c:pt>
                <c:pt idx="1">
                  <c:v>0.043590478921709204</c:v>
                </c:pt>
                <c:pt idx="2">
                  <c:v>0.0694006309148265</c:v>
                </c:pt>
                <c:pt idx="3">
                  <c:v>0.06811012331517063</c:v>
                </c:pt>
                <c:pt idx="4">
                  <c:v>0.1426727846286206</c:v>
                </c:pt>
                <c:pt idx="5">
                  <c:v>0.10209349010610841</c:v>
                </c:pt>
                <c:pt idx="6">
                  <c:v>0.12302839116719243</c:v>
                </c:pt>
                <c:pt idx="7">
                  <c:v>0.1312016059650129</c:v>
                </c:pt>
                <c:pt idx="8">
                  <c:v>0.18568970461714943</c:v>
                </c:pt>
                <c:pt idx="9">
                  <c:v>0.15199311729280185</c:v>
                </c:pt>
                <c:pt idx="10">
                  <c:v>0.16231717809004875</c:v>
                </c:pt>
                <c:pt idx="11">
                  <c:v>0.20217952394608546</c:v>
                </c:pt>
                <c:pt idx="12">
                  <c:v>0.2266991683395469</c:v>
                </c:pt>
                <c:pt idx="13">
                  <c:v>0.2043303699455119</c:v>
                </c:pt>
                <c:pt idx="14">
                  <c:v>0.2751648981932894</c:v>
                </c:pt>
                <c:pt idx="15">
                  <c:v>0.32836248924577</c:v>
                </c:pt>
                <c:pt idx="16">
                  <c:v>0.3903068540292515</c:v>
                </c:pt>
                <c:pt idx="17">
                  <c:v>0.2823343848580442</c:v>
                </c:pt>
                <c:pt idx="18">
                  <c:v>0.34126756524232865</c:v>
                </c:pt>
                <c:pt idx="19">
                  <c:v>0.4635790077430456</c:v>
                </c:pt>
                <c:pt idx="20">
                  <c:v>0.45081732147978204</c:v>
                </c:pt>
                <c:pt idx="21">
                  <c:v>0.420848867221107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0-4F67-B5F6-64488193F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858015"/>
        <c:axId val="1429862591"/>
      </c:barChart>
      <c:catAx>
        <c:axId val="1429858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429862591"/>
        <c:crosses val="autoZero"/>
        <c:auto val="1"/>
        <c:lblAlgn val="ctr"/>
        <c:lblOffset val="100"/>
        <c:noMultiLvlLbl val="0"/>
      </c:catAx>
      <c:valAx>
        <c:axId val="142986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42985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distancia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numFmt formatCode="0%" sourceLinked="0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Espacios de clase no adecuados en Duoc UC</c:v>
                </c:pt>
                <c:pt idx="1">
                  <c:v>Experiencias de discriminación en Duoc UC</c:v>
                </c:pt>
                <c:pt idx="2">
                  <c:v>Problemas en la relación con profesores</c:v>
                </c:pt>
                <c:pt idx="3">
                  <c:v>Problemas de inseguridad al entrar y salir de la sede (delincuencia)</c:v>
                </c:pt>
                <c:pt idx="4">
                  <c:v>Recursos de la universidad poco actualizados</c:v>
                </c:pt>
                <c:pt idx="5">
                  <c:v>Dificultades de transporte y desplazamiento</c:v>
                </c:pt>
                <c:pt idx="6">
                  <c:v>Carga académica exigente</c:v>
                </c:pt>
                <c:pt idx="7">
                  <c:v>Problemas en la relación con compañeros</c:v>
                </c:pt>
                <c:pt idx="8">
                  <c:v>Crisis climática y desastres naturales</c:v>
                </c:pt>
                <c:pt idx="9">
                  <c:v>Problemas de inseguridad en tu barrio</c:v>
                </c:pt>
                <c:pt idx="10">
                  <c:v>Panorama político internacional o cambios en el mundo (seguridad mundial, preocupación financiera)</c:v>
                </c:pt>
                <c:pt idx="11">
                  <c:v>Problemas de salud de un ser querido</c:v>
                </c:pt>
                <c:pt idx="12">
                  <c:v>Duelos/pérdidas</c:v>
                </c:pt>
                <c:pt idx="13">
                  <c:v>Panorama político y social del país</c:v>
                </c:pt>
                <c:pt idx="14">
                  <c:v>Dificultad para compatibilizar trabajo y estudios</c:v>
                </c:pt>
                <c:pt idx="15">
                  <c:v>Problemas en relación sentimental</c:v>
                </c:pt>
                <c:pt idx="16">
                  <c:v>Problemas de salud personales</c:v>
                </c:pt>
                <c:pt idx="17">
                  <c:v>Problemas en relaciones familiares</c:v>
                </c:pt>
                <c:pt idx="18">
                  <c:v>Aislamiento</c:v>
                </c:pt>
                <c:pt idx="19">
                  <c:v>Problemas de autoestima</c:v>
                </c:pt>
                <c:pt idx="20">
                  <c:v>Futuro laboral</c:v>
                </c:pt>
                <c:pt idx="21">
                  <c:v>Situación económica compleja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0.0</c:v>
                </c:pt>
                <c:pt idx="1">
                  <c:v>0.012269938650306749</c:v>
                </c:pt>
                <c:pt idx="2">
                  <c:v>0.018404907975460124</c:v>
                </c:pt>
                <c:pt idx="3">
                  <c:v>0.04294478527607362</c:v>
                </c:pt>
                <c:pt idx="4">
                  <c:v>0.04294478527607362</c:v>
                </c:pt>
                <c:pt idx="5">
                  <c:v>0.09815950920245399</c:v>
                </c:pt>
                <c:pt idx="6">
                  <c:v>0.09815950920245399</c:v>
                </c:pt>
                <c:pt idx="7">
                  <c:v>0.11042944785276074</c:v>
                </c:pt>
                <c:pt idx="8">
                  <c:v>0.1411042944785276</c:v>
                </c:pt>
                <c:pt idx="9">
                  <c:v>0.22699386503067484</c:v>
                </c:pt>
                <c:pt idx="10">
                  <c:v>0.25153374233128833</c:v>
                </c:pt>
                <c:pt idx="11">
                  <c:v>0.2822085889570552</c:v>
                </c:pt>
                <c:pt idx="12">
                  <c:v>0.2822085889570552</c:v>
                </c:pt>
                <c:pt idx="13">
                  <c:v>0.2822085889570552</c:v>
                </c:pt>
                <c:pt idx="14">
                  <c:v>0.31901840490797545</c:v>
                </c:pt>
                <c:pt idx="15">
                  <c:v>0.3619631901840491</c:v>
                </c:pt>
                <c:pt idx="16">
                  <c:v>0.36809815950920244</c:v>
                </c:pt>
                <c:pt idx="17">
                  <c:v>0.37423312883435583</c:v>
                </c:pt>
                <c:pt idx="18">
                  <c:v>0.37423312883435583</c:v>
                </c:pt>
                <c:pt idx="19">
                  <c:v>0.44171779141104295</c:v>
                </c:pt>
                <c:pt idx="20">
                  <c:v>0.5705521472392638</c:v>
                </c:pt>
                <c:pt idx="21">
                  <c:v>0.5766871165644172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0-4F67-B5F6-64488193F4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Diurno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numFmt formatCode="0%" sourceLinked="0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Espacios de clase no adecuados en Duoc UC</c:v>
                </c:pt>
                <c:pt idx="1">
                  <c:v>Experiencias de discriminación en Duoc UC</c:v>
                </c:pt>
                <c:pt idx="2">
                  <c:v>Problemas en la relación con profesores</c:v>
                </c:pt>
                <c:pt idx="3">
                  <c:v>Problemas de inseguridad al entrar y salir de la sede (delincuencia)</c:v>
                </c:pt>
                <c:pt idx="4">
                  <c:v>Recursos de la universidad poco actualizados</c:v>
                </c:pt>
                <c:pt idx="5">
                  <c:v>Dificultades de transporte y desplazamiento</c:v>
                </c:pt>
                <c:pt idx="6">
                  <c:v>Carga académica exigente</c:v>
                </c:pt>
                <c:pt idx="7">
                  <c:v>Problemas en la relación con compañeros</c:v>
                </c:pt>
                <c:pt idx="8">
                  <c:v>Crisis climática y desastres naturales</c:v>
                </c:pt>
                <c:pt idx="9">
                  <c:v>Problemas de inseguridad en tu barrio</c:v>
                </c:pt>
                <c:pt idx="10">
                  <c:v>Panorama político internacional o cambios en el mundo (seguridad mundial, preocupación financiera)</c:v>
                </c:pt>
                <c:pt idx="11">
                  <c:v>Problemas de salud de un ser querido</c:v>
                </c:pt>
                <c:pt idx="12">
                  <c:v>Duelos/pérdidas</c:v>
                </c:pt>
                <c:pt idx="13">
                  <c:v>Panorama político y social del país</c:v>
                </c:pt>
                <c:pt idx="14">
                  <c:v>Dificultad para compatibilizar trabajo y estudios</c:v>
                </c:pt>
                <c:pt idx="15">
                  <c:v>Problemas en relación sentimental</c:v>
                </c:pt>
                <c:pt idx="16">
                  <c:v>Problemas de salud personales</c:v>
                </c:pt>
                <c:pt idx="17">
                  <c:v>Problemas en relaciones familiares</c:v>
                </c:pt>
                <c:pt idx="18">
                  <c:v>Aislamiento</c:v>
                </c:pt>
                <c:pt idx="19">
                  <c:v>Problemas de autoestima</c:v>
                </c:pt>
                <c:pt idx="20">
                  <c:v>Futuro laboral</c:v>
                </c:pt>
                <c:pt idx="21">
                  <c:v>Situación económica compleja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0.03676261043032203</c:v>
                </c:pt>
                <c:pt idx="1">
                  <c:v>0.029923055001424906</c:v>
                </c:pt>
                <c:pt idx="2">
                  <c:v>0.06963047401918876</c:v>
                </c:pt>
                <c:pt idx="3">
                  <c:v>0.11465754725942813</c:v>
                </c:pt>
                <c:pt idx="4">
                  <c:v>0.057186282891612046</c:v>
                </c:pt>
                <c:pt idx="5">
                  <c:v>0.2309299895506792</c:v>
                </c:pt>
                <c:pt idx="6">
                  <c:v>0.1671891327063741</c:v>
                </c:pt>
                <c:pt idx="7">
                  <c:v>0.18951268167569107</c:v>
                </c:pt>
                <c:pt idx="8">
                  <c:v>0.1433456825306355</c:v>
                </c:pt>
                <c:pt idx="9">
                  <c:v>0.1394509356891802</c:v>
                </c:pt>
                <c:pt idx="10">
                  <c:v>0.13698109622874513</c:v>
                </c:pt>
                <c:pt idx="11">
                  <c:v>0.21354611950223235</c:v>
                </c:pt>
                <c:pt idx="12">
                  <c:v>0.23358981666191697</c:v>
                </c:pt>
                <c:pt idx="13">
                  <c:v>0.17573857699249548</c:v>
                </c:pt>
                <c:pt idx="14">
                  <c:v>0.24793388429752067</c:v>
                </c:pt>
                <c:pt idx="15">
                  <c:v>0.4084734492258003</c:v>
                </c:pt>
                <c:pt idx="16">
                  <c:v>0.3424527405718628</c:v>
                </c:pt>
                <c:pt idx="17">
                  <c:v>0.4194927329723568</c:v>
                </c:pt>
                <c:pt idx="18">
                  <c:v>0.34283271587346825</c:v>
                </c:pt>
                <c:pt idx="19">
                  <c:v>0.5067920585161965</c:v>
                </c:pt>
                <c:pt idx="20">
                  <c:v>0.4862733922295051</c:v>
                </c:pt>
                <c:pt idx="21">
                  <c:v>0.4664196827206232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0-4F67-B5F6-64488193F4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Vespertino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Espacios de clase no adecuados en Duoc UC</c:v>
                </c:pt>
                <c:pt idx="1">
                  <c:v>Experiencias de discriminación en Duoc UC</c:v>
                </c:pt>
                <c:pt idx="2">
                  <c:v>Problemas en la relación con profesores</c:v>
                </c:pt>
                <c:pt idx="3">
                  <c:v>Problemas de inseguridad al entrar y salir de la sede (delincuencia)</c:v>
                </c:pt>
                <c:pt idx="4">
                  <c:v>Recursos de la universidad poco actualizados</c:v>
                </c:pt>
                <c:pt idx="5">
                  <c:v>Dificultades de transporte y desplazamiento</c:v>
                </c:pt>
                <c:pt idx="6">
                  <c:v>Carga académica exigente</c:v>
                </c:pt>
                <c:pt idx="7">
                  <c:v>Problemas en la relación con compañeros</c:v>
                </c:pt>
                <c:pt idx="8">
                  <c:v>Crisis climática y desastres naturales</c:v>
                </c:pt>
                <c:pt idx="9">
                  <c:v>Problemas de inseguridad en tu barrio</c:v>
                </c:pt>
                <c:pt idx="10">
                  <c:v>Panorama político internacional o cambios en el mundo (seguridad mundial, preocupación financiera)</c:v>
                </c:pt>
                <c:pt idx="11">
                  <c:v>Problemas de salud de un ser querido</c:v>
                </c:pt>
                <c:pt idx="12">
                  <c:v>Duelos/pérdidas</c:v>
                </c:pt>
                <c:pt idx="13">
                  <c:v>Panorama político y social del país</c:v>
                </c:pt>
                <c:pt idx="14">
                  <c:v>Dificultad para compatibilizar trabajo y estudios</c:v>
                </c:pt>
                <c:pt idx="15">
                  <c:v>Problemas en relación sentimental</c:v>
                </c:pt>
                <c:pt idx="16">
                  <c:v>Problemas de salud personales</c:v>
                </c:pt>
                <c:pt idx="17">
                  <c:v>Problemas en relaciones familiares</c:v>
                </c:pt>
                <c:pt idx="18">
                  <c:v>Aislamiento</c:v>
                </c:pt>
                <c:pt idx="19">
                  <c:v>Problemas de autoestima</c:v>
                </c:pt>
                <c:pt idx="20">
                  <c:v>Futuro laboral</c:v>
                </c:pt>
                <c:pt idx="21">
                  <c:v>Situación económica compleja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0.049863387978142076</c:v>
                </c:pt>
                <c:pt idx="1">
                  <c:v>0.030054644808743168</c:v>
                </c:pt>
                <c:pt idx="2">
                  <c:v>0.05669398907103825</c:v>
                </c:pt>
                <c:pt idx="3">
                  <c:v>0.15710382513661203</c:v>
                </c:pt>
                <c:pt idx="4">
                  <c:v>0.07342896174863388</c:v>
                </c:pt>
                <c:pt idx="5">
                  <c:v>0.24316939890710382</c:v>
                </c:pt>
                <c:pt idx="6">
                  <c:v>0.1680327868852459</c:v>
                </c:pt>
                <c:pt idx="7">
                  <c:v>0.15744535519125682</c:v>
                </c:pt>
                <c:pt idx="8">
                  <c:v>0.11816939890710383</c:v>
                </c:pt>
                <c:pt idx="9">
                  <c:v>0.17759562841530055</c:v>
                </c:pt>
                <c:pt idx="10">
                  <c:v>0.13319672131147542</c:v>
                </c:pt>
                <c:pt idx="11">
                  <c:v>0.22814207650273224</c:v>
                </c:pt>
                <c:pt idx="12">
                  <c:v>0.23189890710382513</c:v>
                </c:pt>
                <c:pt idx="13">
                  <c:v>0.1765710382513661</c:v>
                </c:pt>
                <c:pt idx="14">
                  <c:v>0.39617486338797814</c:v>
                </c:pt>
                <c:pt idx="15">
                  <c:v>0.3739754098360656</c:v>
                </c:pt>
                <c:pt idx="16">
                  <c:v>0.3551912568306011</c:v>
                </c:pt>
                <c:pt idx="17">
                  <c:v>0.4023224043715847</c:v>
                </c:pt>
                <c:pt idx="18">
                  <c:v>0.29713114754098363</c:v>
                </c:pt>
                <c:pt idx="19">
                  <c:v>0.4098360655737705</c:v>
                </c:pt>
                <c:pt idx="20">
                  <c:v>0.4566256830601093</c:v>
                </c:pt>
                <c:pt idx="21">
                  <c:v>0.5819672131147541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E-4059-BEAA-7E126A6649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858015"/>
        <c:axId val="1429862591"/>
      </c:barChart>
      <c:catAx>
        <c:axId val="1429858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429862591"/>
        <c:crosses val="autoZero"/>
        <c:auto val="1"/>
        <c:lblAlgn val="ctr"/>
        <c:lblOffset val="100"/>
        <c:noMultiLvlLbl val="0"/>
      </c:catAx>
      <c:valAx>
        <c:axId val="142986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42985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razones explican que la carga académica </a:t>
            </a:r>
          </a:p>
          <a:p>
            <a:pPr>
              <a:defRPr sz="1600">
                <a:latin typeface="Calibri Light" panose="020F0302020204030204" pitchFamily="34" charset="0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te resulte exigente?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0.1935626102292769</c:v>
                </c:pt>
                <c:pt idx="1">
                  <c:v>0.48148148148148145</c:v>
                </c:pt>
                <c:pt idx="2">
                  <c:v>0.61331569664903</c:v>
                </c:pt>
                <c:pt idx="3">
                  <c:v>0.49382716049382713</c:v>
                </c:pt>
                <c:pt idx="4">
                  <c:v>0.3844797178130511</c:v>
                </c:pt>
                <c:pt idx="5">
                  <c:v>0.3029100529100529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3-4A2B-87BC-A89F99D0E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Inicio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0.1681503461918892</c:v>
                </c:pt>
                <c:pt idx="1">
                  <c:v>0.4856577645895153</c:v>
                </c:pt>
                <c:pt idx="2">
                  <c:v>0.6449060336300693</c:v>
                </c:pt>
                <c:pt idx="3">
                  <c:v>0.5489614243323442</c:v>
                </c:pt>
                <c:pt idx="4">
                  <c:v>0.3590504451038576</c:v>
                </c:pt>
                <c:pt idx="5">
                  <c:v>0.2789317507418398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3-4A2B-87BC-A89F99D0E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Continuidad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0.2141138732959102</c:v>
                </c:pt>
                <c:pt idx="1">
                  <c:v>0.4787489975942261</c:v>
                </c:pt>
                <c:pt idx="2">
                  <c:v>0.5886126704089816</c:v>
                </c:pt>
                <c:pt idx="3">
                  <c:v>0.4498797113071371</c:v>
                </c:pt>
                <c:pt idx="4">
                  <c:v>0.4057738572574178</c:v>
                </c:pt>
                <c:pt idx="5">
                  <c:v>0.32076984763432237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0-452D-8DBF-0EDCDE9501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Admisión especial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</c:v>
                </c:pt>
                <c:pt idx="1">
                  <c:v>0.4</c:v>
                </c:pt>
                <c:pt idx="2">
                  <c:v>0.5</c:v>
                </c:pt>
                <c:pt idx="3">
                  <c:v>0.4</c:v>
                </c:pt>
                <c:pt idx="4">
                  <c:v>0.3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F-4BB7-B3BC-20A7CF2829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situaciones presentan un problema que te afecte actualmente? (marca todas las que apliquen)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00223A">
                <a:alpha val="74902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FF-4693-967B-B77EDD10012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2FF-4693-967B-B77EDD10012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2FF-4693-967B-B77EDD10012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2FF-4693-967B-B77EDD10012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2FF-4693-967B-B77EDD10012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2FF-4693-967B-B77EDD10012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2FF-4693-967B-B77EDD100121}"/>
              </c:ext>
            </c:extLst>
          </c:dPt>
          <c:dPt>
            <c:idx val="14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E04-4ABE-8F43-686DF35E780A}"/>
              </c:ext>
            </c:extLst>
          </c:dPt>
          <c:dPt>
            <c:idx val="15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E04-4ABE-8F43-686DF35E780A}"/>
              </c:ext>
            </c:extLst>
          </c:dPt>
          <c:dPt>
            <c:idx val="16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E04-4ABE-8F43-686DF35E780A}"/>
              </c:ext>
            </c:extLst>
          </c:dPt>
          <c:dPt>
            <c:idx val="17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4-4ABE-8F43-686DF35E780A}"/>
              </c:ext>
            </c:extLst>
          </c:dPt>
          <c:dPt>
            <c:idx val="18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E04-4ABE-8F43-686DF35E780A}"/>
              </c:ext>
            </c:extLst>
          </c:dPt>
          <c:dPt>
            <c:idx val="19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4-4ABE-8F43-686DF35E780A}"/>
              </c:ext>
            </c:extLst>
          </c:dPt>
          <c:dPt>
            <c:idx val="20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E04-4ABE-8F43-686DF35E780A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Problemas de salud personales</c:v>
                </c:pt>
                <c:pt idx="1">
                  <c:v>Futuro laboral</c:v>
                </c:pt>
                <c:pt idx="2">
                  <c:v>Problemas en relaciones familiares</c:v>
                </c:pt>
                <c:pt idx="3">
                  <c:v>Situación económica compleja</c:v>
                </c:pt>
                <c:pt idx="4">
                  <c:v>Problemas de autoestima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0.28</c:v>
                </c:pt>
                <c:pt idx="1">
                  <c:v>0.31</c:v>
                </c:pt>
                <c:pt idx="2">
                  <c:v>0.34</c:v>
                </c:pt>
                <c:pt idx="3">
                  <c:v>0.4</c:v>
                </c:pt>
                <c:pt idx="4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D8-49D9-A8E1-E35B4B824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situaciones presentan un problema que te afecte actualmente? (marca todas las que apliquen)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223A">
                <a:alpha val="74902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E4C-4D5F-ACDA-088BECD01F3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E4C-4D5F-ACDA-088BECD01F3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9E4C-4D5F-ACDA-088BECD01F3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E4C-4D5F-ACDA-088BECD01F3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E4C-4D5F-ACDA-088BECD01F3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E4C-4D5F-ACDA-088BECD01F3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9E4C-4D5F-ACDA-088BECD01F37}"/>
              </c:ext>
            </c:extLst>
          </c:dPt>
          <c:dPt>
            <c:idx val="14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E4C-4D5F-ACDA-088BECD01F37}"/>
              </c:ext>
            </c:extLst>
          </c:dPt>
          <c:dPt>
            <c:idx val="15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9E4C-4D5F-ACDA-088BECD01F37}"/>
              </c:ext>
            </c:extLst>
          </c:dPt>
          <c:dPt>
            <c:idx val="16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9E4C-4D5F-ACDA-088BECD01F37}"/>
              </c:ext>
            </c:extLst>
          </c:dPt>
          <c:dPt>
            <c:idx val="17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E4C-4D5F-ACDA-088BECD01F37}"/>
              </c:ext>
            </c:extLst>
          </c:dPt>
          <c:dPt>
            <c:idx val="18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E4C-4D5F-ACDA-088BECD01F37}"/>
              </c:ext>
            </c:extLst>
          </c:dPt>
          <c:dPt>
            <c:idx val="19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E4C-4D5F-ACDA-088BECD01F37}"/>
              </c:ext>
            </c:extLst>
          </c:dPt>
          <c:dPt>
            <c:idx val="20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9E4C-4D5F-ACDA-088BECD01F37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Problemas en relación sentimental</c:v>
                </c:pt>
                <c:pt idx="1">
                  <c:v>Problemas en relaciones familiares</c:v>
                </c:pt>
                <c:pt idx="2">
                  <c:v>Futuro laboral</c:v>
                </c:pt>
                <c:pt idx="3">
                  <c:v>Problemas de autoestima</c:v>
                </c:pt>
                <c:pt idx="4">
                  <c:v>Situación económica compleja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0.40049933911000146</c:v>
                </c:pt>
                <c:pt idx="1">
                  <c:v>0.4152592157438684</c:v>
                </c:pt>
                <c:pt idx="2">
                  <c:v>0.4809076222646497</c:v>
                </c:pt>
                <c:pt idx="3">
                  <c:v>0.485166691144074</c:v>
                </c:pt>
                <c:pt idx="4">
                  <c:v>0.49258334557203703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E4C-4D5F-ACDA-088BECD01F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7181850106691046"/>
          <c:y val="9.5580515670835253E-2"/>
          <c:w val="0.37281891897910296"/>
          <c:h val="0.6495638432542881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595959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Me rindo a intentar ocuparme del problema.</c:v>
                </c:pt>
                <c:pt idx="1">
                  <c:v>Me digo a mí mismo 'esto no es real'.</c:v>
                </c:pt>
                <c:pt idx="2">
                  <c:v>Intento verlo con otros ojos, para hacer que parezca más positivo.</c:v>
                </c:pt>
                <c:pt idx="3">
                  <c:v>Me hago cargo de solucionar el problema tomando acciones concretas.</c:v>
                </c:pt>
                <c:pt idx="4">
                  <c:v>Aprendo a vivir con ello.</c:v>
                </c:pt>
                <c:pt idx="5">
                  <c:v>Pienso detenidamente escenarios de cómo solucionarlo.</c:v>
                </c:pt>
                <c:pt idx="6">
                  <c:v>Busco distraerme haciendo otras cosas agradables para mí.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0.061076760669582265</c:v>
                </c:pt>
                <c:pt idx="1">
                  <c:v>0.09169054441260745</c:v>
                </c:pt>
                <c:pt idx="2">
                  <c:v>0.19386216256974814</c:v>
                </c:pt>
                <c:pt idx="3">
                  <c:v>0.21897149751168754</c:v>
                </c:pt>
                <c:pt idx="4">
                  <c:v>0.2424973608807118</c:v>
                </c:pt>
                <c:pt idx="5">
                  <c:v>0.24264816769717992</c:v>
                </c:pt>
                <c:pt idx="6">
                  <c:v>0.2511687528276278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F6-44F1-89B2-5684F8CF25BD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0"/>
        <c:majorTickMark val="none"/>
        <c:minorTickMark val="none"/>
        <c:tickLblPos val="nextTo"/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¿Con qué frecuencia dejas para después tareas que te parecen desagradables?</a:t>
            </a:r>
            <a:endParaRPr lang="es-CL" sz="14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7E-466C-8388-09CC44045D5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 menudo + Muy a menudo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0.3468033775633293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7E-466C-8388-09CC44045D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0"/>
        <c:majorTickMark val="none"/>
        <c:minorTickMark val="none"/>
        <c:tickLblPos val="nextTo"/>
        <c:crossAx val="1168497199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EA-4A29-A563-86A5ECC015FB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No</c:v>
                </c:pt>
                <c:pt idx="1">
                  <c:v>Sí</c:v>
                </c:pt>
                <c:pt idx="2">
                  <c:v>Prefiero no responder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0.7331037796284433</c:v>
                </c:pt>
                <c:pt idx="1">
                  <c:v>0.20499679692504805</c:v>
                </c:pt>
                <c:pt idx="2">
                  <c:v>0.06189942344650865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2ED-4C51-BC82-04D8E4E389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2ED-4C51-BC82-04D8E4E3896D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Sí, en tratamiento médico regular</c:v>
                </c:pt>
                <c:pt idx="1">
                  <c:v>No, pero la condición está diagnosticada</c:v>
                </c:pt>
                <c:pt idx="2">
                  <c:v>No estoy seguro/a</c:v>
                </c:pt>
                <c:pt idx="3">
                  <c:v>Prefiero no responder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0.5651153695737192</c:v>
                </c:pt>
                <c:pt idx="1">
                  <c:v>0.3496284708642941</c:v>
                </c:pt>
                <c:pt idx="2">
                  <c:v>0.050840829096597574</c:v>
                </c:pt>
                <c:pt idx="3">
                  <c:v>0.03441533046538913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83811310153025"/>
          <c:y val="5.6494222131277895E-2"/>
          <c:w val="0.63097649562716396"/>
          <c:h val="0.883551284631903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Malestar en áreas no profundizadas</c:v>
                </c:pt>
                <c:pt idx="1">
                  <c:v>Uso problemático marihuana</c:v>
                </c:pt>
                <c:pt idx="2">
                  <c:v>Uso problemático alcohol</c:v>
                </c:pt>
                <c:pt idx="3">
                  <c:v>Trastornos de personalidad</c:v>
                </c:pt>
                <c:pt idx="4">
                  <c:v>Ansiedad</c:v>
                </c:pt>
                <c:pt idx="5">
                  <c:v>Depresión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0.955</c:v>
                </c:pt>
                <c:pt idx="1">
                  <c:v>0.133</c:v>
                </c:pt>
                <c:pt idx="2">
                  <c:v>0.276</c:v>
                </c:pt>
                <c:pt idx="3">
                  <c:v>0.467</c:v>
                </c:pt>
                <c:pt idx="4">
                  <c:v>0.442</c:v>
                </c:pt>
                <c:pt idx="5">
                  <c:v>0.29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DD-44CE-B899-3B6D1EAEE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39916351"/>
        <c:axId val="1139913855"/>
      </c:barChart>
      <c:catAx>
        <c:axId val="1139916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139913855"/>
        <c:crosses val="autoZero"/>
        <c:auto val="1"/>
        <c:lblAlgn val="ctr"/>
        <c:lblOffset val="100"/>
        <c:noMultiLvlLbl val="0"/>
      </c:catAx>
      <c:valAx>
        <c:axId val="1139913855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139916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depresión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 </c:v>
                </c:pt>
                <c:pt idx="4">
                  <c:v>A distancia</c:v>
                </c:pt>
                <c:pt idx="5">
                  <c:v>Diurno</c:v>
                </c:pt>
                <c:pt idx="6">
                  <c:v>Vespertino</c:v>
                </c:pt>
                <c:pt idx="7">
                  <c:v> </c:v>
                </c:pt>
                <c:pt idx="8">
                  <c:v> </c:v>
                </c:pt>
                <c:pt idx="9">
                  <c:v>Admisión Especial</c:v>
                </c:pt>
                <c:pt idx="10">
                  <c:v>Continuidad</c:v>
                </c:pt>
                <c:pt idx="11">
                  <c:v>Inicio</c:v>
                </c:pt>
                <c:pt idx="12">
                  <c:v> </c:v>
                </c:pt>
                <c:pt idx="13">
                  <c:v>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0.46322498406628426</c:v>
                </c:pt>
                <c:pt idx="1">
                  <c:v>0.35462873674059786</c:v>
                </c:pt>
                <c:pt idx="4">
                  <c:v>0.32967032967032966</c:v>
                </c:pt>
                <c:pt idx="5">
                  <c:v>0.4189713731198447</c:v>
                </c:pt>
                <c:pt idx="6">
                  <c:v>0.37184115523465705</c:v>
                </c:pt>
                <c:pt idx="9">
                  <c:v>0.375</c:v>
                </c:pt>
                <c:pt idx="10">
                  <c:v>0.42191420719321304</c:v>
                </c:pt>
                <c:pt idx="11">
                  <c:v>0.3920779220779221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2E-4E42-93C1-E1F389557D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depresión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0.36375321336760924</c:v>
                </c:pt>
                <c:pt idx="1">
                  <c:v>0.45760743321718933</c:v>
                </c:pt>
                <c:pt idx="2">
                  <c:v>0.3081967213114754</c:v>
                </c:pt>
                <c:pt idx="3">
                  <c:v>0.28955223880597014</c:v>
                </c:pt>
                <c:pt idx="4">
                  <c:v>0.4028595458368377</c:v>
                </c:pt>
                <c:pt idx="5">
                  <c:v>0.40509915014164305</c:v>
                </c:pt>
                <c:pt idx="6">
                  <c:v>0.3805970149253731</c:v>
                </c:pt>
                <c:pt idx="7">
                  <c:v>0.30042918454935624</c:v>
                </c:pt>
                <c:pt idx="8">
                  <c:v>0.32967032967032966</c:v>
                </c:pt>
                <c:pt idx="9">
                  <c:v>0.4420226678291194</c:v>
                </c:pt>
                <c:pt idx="10">
                  <c:v>0.39113428943937417</c:v>
                </c:pt>
                <c:pt idx="11">
                  <c:v>0.45454545454545453</c:v>
                </c:pt>
                <c:pt idx="12">
                  <c:v>0.439209726443769</c:v>
                </c:pt>
                <c:pt idx="13">
                  <c:v>0.4165477888730385</c:v>
                </c:pt>
                <c:pt idx="14">
                  <c:v>0.35944700460829493</c:v>
                </c:pt>
                <c:pt idx="15">
                  <c:v>0.37352674524025387</c:v>
                </c:pt>
                <c:pt idx="16">
                  <c:v>0.4749679075738126</c:v>
                </c:pt>
                <c:pt idx="17">
                  <c:v>0.4073705179282869</c:v>
                </c:pt>
                <c:pt idx="18">
                  <c:v>0.4334442595673877</c:v>
                </c:pt>
                <c:pt idx="19">
                  <c:v>0.448938321536906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04-499B-B668-74910BF93AB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ansiedad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 </c:v>
                </c:pt>
                <c:pt idx="4">
                  <c:v>A distancia</c:v>
                </c:pt>
                <c:pt idx="5">
                  <c:v>Diurno</c:v>
                </c:pt>
                <c:pt idx="6">
                  <c:v>Vespertino</c:v>
                </c:pt>
                <c:pt idx="7">
                  <c:v> </c:v>
                </c:pt>
                <c:pt idx="8">
                  <c:v> </c:v>
                </c:pt>
                <c:pt idx="9">
                  <c:v>Admisión Especial</c:v>
                </c:pt>
                <c:pt idx="10">
                  <c:v>Continuidad</c:v>
                </c:pt>
                <c:pt idx="11">
                  <c:v>Inicio</c:v>
                </c:pt>
                <c:pt idx="12">
                  <c:v> </c:v>
                </c:pt>
                <c:pt idx="13">
                  <c:v>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0.37692797960484387</c:v>
                </c:pt>
                <c:pt idx="1">
                  <c:v>0.2528929604628737</c:v>
                </c:pt>
                <c:pt idx="4">
                  <c:v>0.3241758241758242</c:v>
                </c:pt>
                <c:pt idx="5">
                  <c:v>0.31845382500404334</c:v>
                </c:pt>
                <c:pt idx="6">
                  <c:v>0.2949180783115801</c:v>
                </c:pt>
                <c:pt idx="9">
                  <c:v>0.2625</c:v>
                </c:pt>
                <c:pt idx="10">
                  <c:v>0.32548691599952206</c:v>
                </c:pt>
                <c:pt idx="11">
                  <c:v>0.3005194805194805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5B-4254-B72D-39B3489FE63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ansiedad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0.2699228791773779</c:v>
                </c:pt>
                <c:pt idx="1">
                  <c:v>0.3681765389082462</c:v>
                </c:pt>
                <c:pt idx="2">
                  <c:v>0.2262295081967213</c:v>
                </c:pt>
                <c:pt idx="3">
                  <c:v>0.2298507462686567</c:v>
                </c:pt>
                <c:pt idx="4">
                  <c:v>0.2960470984020185</c:v>
                </c:pt>
                <c:pt idx="5">
                  <c:v>0.3295561850802644</c:v>
                </c:pt>
                <c:pt idx="6">
                  <c:v>0.2947761194029851</c:v>
                </c:pt>
                <c:pt idx="7">
                  <c:v>0.22746781115879827</c:v>
                </c:pt>
                <c:pt idx="8">
                  <c:v>0.3241758241758242</c:v>
                </c:pt>
                <c:pt idx="9">
                  <c:v>0.3269398430688753</c:v>
                </c:pt>
                <c:pt idx="10">
                  <c:v>0.2711864406779661</c:v>
                </c:pt>
                <c:pt idx="11">
                  <c:v>0.34710743801652894</c:v>
                </c:pt>
                <c:pt idx="12">
                  <c:v>0.34802431610942247</c:v>
                </c:pt>
                <c:pt idx="13">
                  <c:v>0.3209700427960057</c:v>
                </c:pt>
                <c:pt idx="14">
                  <c:v>0.2707373271889401</c:v>
                </c:pt>
                <c:pt idx="15">
                  <c:v>0.29827742520398914</c:v>
                </c:pt>
                <c:pt idx="16">
                  <c:v>0.40949935815147626</c:v>
                </c:pt>
                <c:pt idx="17">
                  <c:v>0.29382470119521914</c:v>
                </c:pt>
                <c:pt idx="18">
                  <c:v>0.32196339434276205</c:v>
                </c:pt>
                <c:pt idx="19">
                  <c:v>0.3447927199191102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0B-407A-8C20-EE2251E211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personalidad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 </c:v>
                </c:pt>
                <c:pt idx="4">
                  <c:v>A distancia</c:v>
                </c:pt>
                <c:pt idx="5">
                  <c:v>Diurno</c:v>
                </c:pt>
                <c:pt idx="6">
                  <c:v>Vespertino</c:v>
                </c:pt>
                <c:pt idx="7">
                  <c:v> </c:v>
                </c:pt>
                <c:pt idx="8">
                  <c:v> </c:v>
                </c:pt>
                <c:pt idx="9">
                  <c:v>Admisión Especial</c:v>
                </c:pt>
                <c:pt idx="10">
                  <c:v>Continuidad</c:v>
                </c:pt>
                <c:pt idx="11">
                  <c:v>Inicio</c:v>
                </c:pt>
                <c:pt idx="12">
                  <c:v> </c:v>
                </c:pt>
                <c:pt idx="13">
                  <c:v>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0.060038240917782024</c:v>
                </c:pt>
                <c:pt idx="1">
                  <c:v>0.037729026036644166</c:v>
                </c:pt>
                <c:pt idx="4">
                  <c:v>0.005494505494505495</c:v>
                </c:pt>
                <c:pt idx="5">
                  <c:v>0.05232087983179686</c:v>
                </c:pt>
                <c:pt idx="6">
                  <c:v>0.03776728686475979</c:v>
                </c:pt>
                <c:pt idx="9">
                  <c:v>0.0625</c:v>
                </c:pt>
                <c:pt idx="10">
                  <c:v>0.05102162743458</c:v>
                </c:pt>
                <c:pt idx="11">
                  <c:v>0.045714285714285714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29-44D9-9B13-349A905948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Malestar clínico en trastornos de personalidad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 </c:v>
                </c:pt>
                <c:pt idx="4">
                  <c:v>A distancia</c:v>
                </c:pt>
                <c:pt idx="5">
                  <c:v>Diurno</c:v>
                </c:pt>
                <c:pt idx="6">
                  <c:v>Vespertino</c:v>
                </c:pt>
                <c:pt idx="7">
                  <c:v> </c:v>
                </c:pt>
                <c:pt idx="8">
                  <c:v> </c:v>
                </c:pt>
                <c:pt idx="9">
                  <c:v>Admisión Especial</c:v>
                </c:pt>
                <c:pt idx="10">
                  <c:v>Continuidad</c:v>
                </c:pt>
                <c:pt idx="11">
                  <c:v>Inicio</c:v>
                </c:pt>
                <c:pt idx="12">
                  <c:v> </c:v>
                </c:pt>
                <c:pt idx="13">
                  <c:v> 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</c:numCache>
            </c:numRef>
          </c:val>
          <c:extLst>
            <c:ext xmlns:c16="http://schemas.microsoft.com/office/drawing/2014/chart" uri="{C3380CC4-5D6E-409C-BE32-E72D297353CC}">
              <c16:uniqueId val="{00000000-4729-44D9-9B13-349A905948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personalidad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0.04498714652956298</c:v>
                </c:pt>
                <c:pt idx="1">
                  <c:v>0.05574912891986063</c:v>
                </c:pt>
                <c:pt idx="2">
                  <c:v>0.07868852459016394</c:v>
                </c:pt>
                <c:pt idx="3">
                  <c:v>0.03582089552238806</c:v>
                </c:pt>
                <c:pt idx="4">
                  <c:v>0.04373423044575273</c:v>
                </c:pt>
                <c:pt idx="5">
                  <c:v>0.0453257790368272</c:v>
                </c:pt>
                <c:pt idx="6">
                  <c:v>0.036069651741293535</c:v>
                </c:pt>
                <c:pt idx="7">
                  <c:v>0.03862660944206009</c:v>
                </c:pt>
                <c:pt idx="8">
                  <c:v>0.005494505494505495</c:v>
                </c:pt>
                <c:pt idx="9">
                  <c:v>0.05318221447253706</c:v>
                </c:pt>
                <c:pt idx="10">
                  <c:v>0.048239895697522815</c:v>
                </c:pt>
                <c:pt idx="11">
                  <c:v>0.05785123966942149</c:v>
                </c:pt>
                <c:pt idx="12">
                  <c:v>0.05015197568389058</c:v>
                </c:pt>
                <c:pt idx="13">
                  <c:v>0.05706134094151213</c:v>
                </c:pt>
                <c:pt idx="14">
                  <c:v>0.04032258064516129</c:v>
                </c:pt>
                <c:pt idx="15">
                  <c:v>0.0371713508612874</c:v>
                </c:pt>
                <c:pt idx="16">
                  <c:v>0.06546854942233633</c:v>
                </c:pt>
                <c:pt idx="17">
                  <c:v>0.035856573705179286</c:v>
                </c:pt>
                <c:pt idx="18">
                  <c:v>0.054076539101497505</c:v>
                </c:pt>
                <c:pt idx="19">
                  <c:v>0.05965621840242669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88-49D4-A093-841FE5087A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Malestar clínico en trastornos de personalidad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</c:numCache>
            </c:numRef>
          </c:val>
          <c:extLst>
            <c:ext xmlns:c16="http://schemas.microsoft.com/office/drawing/2014/chart" uri="{C3380CC4-5D6E-409C-BE32-E72D297353CC}">
              <c16:uniqueId val="{00000000-8788-49D4-A093-841FE5087A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marihuana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 </c:v>
                </c:pt>
                <c:pt idx="4">
                  <c:v>A distancia</c:v>
                </c:pt>
                <c:pt idx="5">
                  <c:v>Diurno</c:v>
                </c:pt>
                <c:pt idx="6">
                  <c:v>Vespertino</c:v>
                </c:pt>
                <c:pt idx="7">
                  <c:v> </c:v>
                </c:pt>
                <c:pt idx="8">
                  <c:v> </c:v>
                </c:pt>
                <c:pt idx="9">
                  <c:v>Admisión Especial</c:v>
                </c:pt>
                <c:pt idx="10">
                  <c:v>Continuidad</c:v>
                </c:pt>
                <c:pt idx="11">
                  <c:v>Inicio</c:v>
                </c:pt>
                <c:pt idx="12">
                  <c:v> </c:v>
                </c:pt>
                <c:pt idx="13">
                  <c:v>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0.09509241555130657</c:v>
                </c:pt>
                <c:pt idx="1">
                  <c:v>0.1374156219864995</c:v>
                </c:pt>
                <c:pt idx="4">
                  <c:v>0.038461538461538464</c:v>
                </c:pt>
                <c:pt idx="5">
                  <c:v>0.1175804625586285</c:v>
                </c:pt>
                <c:pt idx="6">
                  <c:v>0.11802277145237434</c:v>
                </c:pt>
                <c:pt idx="9">
                  <c:v>0.15</c:v>
                </c:pt>
                <c:pt idx="10">
                  <c:v>0.12187836061656111</c:v>
                </c:pt>
                <c:pt idx="11">
                  <c:v>0.11090909090909092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5-4001-94E5-151DB6C206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Malestar clínico en uso problematica por marihuana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 </c:v>
                </c:pt>
                <c:pt idx="4">
                  <c:v>A distancia</c:v>
                </c:pt>
                <c:pt idx="5">
                  <c:v>Diurno</c:v>
                </c:pt>
                <c:pt idx="6">
                  <c:v>Vespertino</c:v>
                </c:pt>
                <c:pt idx="7">
                  <c:v> </c:v>
                </c:pt>
                <c:pt idx="8">
                  <c:v> </c:v>
                </c:pt>
                <c:pt idx="9">
                  <c:v>Admisión Especial</c:v>
                </c:pt>
                <c:pt idx="10">
                  <c:v>Continuidad</c:v>
                </c:pt>
                <c:pt idx="11">
                  <c:v>Inicio</c:v>
                </c:pt>
                <c:pt idx="12">
                  <c:v> </c:v>
                </c:pt>
                <c:pt idx="13">
                  <c:v> 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</c:numCache>
            </c:numRef>
          </c:val>
          <c:extLst>
            <c:ext xmlns:c16="http://schemas.microsoft.com/office/drawing/2014/chart" uri="{C3380CC4-5D6E-409C-BE32-E72D297353CC}">
              <c16:uniqueId val="{00000000-D1B5-4001-94E5-151DB6C206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marihuana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0.11053984575835475</c:v>
                </c:pt>
                <c:pt idx="1">
                  <c:v>0.1718931475029036</c:v>
                </c:pt>
                <c:pt idx="2">
                  <c:v>0.15081967213114755</c:v>
                </c:pt>
                <c:pt idx="3">
                  <c:v>0.11044776119402985</c:v>
                </c:pt>
                <c:pt idx="4">
                  <c:v>0.12447434819175777</c:v>
                </c:pt>
                <c:pt idx="5">
                  <c:v>0.12275731822474033</c:v>
                </c:pt>
                <c:pt idx="6">
                  <c:v>0.10074626865671642</c:v>
                </c:pt>
                <c:pt idx="7">
                  <c:v>0.055793991416309016</c:v>
                </c:pt>
                <c:pt idx="8">
                  <c:v>0.038461538461538464</c:v>
                </c:pt>
                <c:pt idx="9">
                  <c:v>0.12554489973844812</c:v>
                </c:pt>
                <c:pt idx="10">
                  <c:v>0.14471968709256844</c:v>
                </c:pt>
                <c:pt idx="11">
                  <c:v>0.08677685950413223</c:v>
                </c:pt>
                <c:pt idx="12">
                  <c:v>0.09574468085106383</c:v>
                </c:pt>
                <c:pt idx="13">
                  <c:v>0.11982881597717546</c:v>
                </c:pt>
                <c:pt idx="14">
                  <c:v>0.12096774193548387</c:v>
                </c:pt>
                <c:pt idx="15">
                  <c:v>0.0815956482320943</c:v>
                </c:pt>
                <c:pt idx="16">
                  <c:v>0.1527599486521181</c:v>
                </c:pt>
                <c:pt idx="17">
                  <c:v>0.08565737051792828</c:v>
                </c:pt>
                <c:pt idx="18">
                  <c:v>0.13810316139767054</c:v>
                </c:pt>
                <c:pt idx="19">
                  <c:v>0.09706774519716886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E5-46F0-BF73-8BC6E06B4D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Malestar clínico en uso problematica por marihuana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</c:numCache>
            </c:numRef>
          </c:val>
          <c:extLst>
            <c:ext xmlns:c16="http://schemas.microsoft.com/office/drawing/2014/chart" uri="{C3380CC4-5D6E-409C-BE32-E72D297353CC}">
              <c16:uniqueId val="{00000000-B6E5-46F0-BF73-8BC6E06B4D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alcohol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 </c:v>
                </c:pt>
                <c:pt idx="4">
                  <c:v>A distancia</c:v>
                </c:pt>
                <c:pt idx="5">
                  <c:v>Diurno</c:v>
                </c:pt>
                <c:pt idx="6">
                  <c:v>Vespertino</c:v>
                </c:pt>
                <c:pt idx="7">
                  <c:v> </c:v>
                </c:pt>
                <c:pt idx="8">
                  <c:v> </c:v>
                </c:pt>
                <c:pt idx="9">
                  <c:v>Admisión Especial</c:v>
                </c:pt>
                <c:pt idx="10">
                  <c:v>Continuidad</c:v>
                </c:pt>
                <c:pt idx="11">
                  <c:v>Inicio</c:v>
                </c:pt>
                <c:pt idx="12">
                  <c:v> </c:v>
                </c:pt>
                <c:pt idx="13">
                  <c:v>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0.0295729764181007</c:v>
                </c:pt>
                <c:pt idx="1">
                  <c:v>0.05797974927675988</c:v>
                </c:pt>
                <c:pt idx="4">
                  <c:v>0.01098901098901099</c:v>
                </c:pt>
                <c:pt idx="5">
                  <c:v>0.04488112566715187</c:v>
                </c:pt>
                <c:pt idx="6">
                  <c:v>0.04332129963898917</c:v>
                </c:pt>
                <c:pt idx="9">
                  <c:v>0.0375</c:v>
                </c:pt>
                <c:pt idx="10">
                  <c:v>0.045644640936790534</c:v>
                </c:pt>
                <c:pt idx="11">
                  <c:v>0.0425974025974026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4-4C52-9F64-81B4188B4A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Malestar clínico en uso problematica de alcohol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 </c:v>
                </c:pt>
                <c:pt idx="4">
                  <c:v>A distancia</c:v>
                </c:pt>
                <c:pt idx="5">
                  <c:v>Diurno</c:v>
                </c:pt>
                <c:pt idx="6">
                  <c:v>Vespertino</c:v>
                </c:pt>
                <c:pt idx="7">
                  <c:v> </c:v>
                </c:pt>
                <c:pt idx="8">
                  <c:v> </c:v>
                </c:pt>
                <c:pt idx="9">
                  <c:v>Admisión Especial</c:v>
                </c:pt>
                <c:pt idx="10">
                  <c:v>Continuidad</c:v>
                </c:pt>
                <c:pt idx="11">
                  <c:v>Inicio</c:v>
                </c:pt>
                <c:pt idx="12">
                  <c:v> </c:v>
                </c:pt>
                <c:pt idx="13">
                  <c:v> 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</c:numCache>
            </c:numRef>
          </c:val>
          <c:extLst>
            <c:ext xmlns:c16="http://schemas.microsoft.com/office/drawing/2014/chart" uri="{C3380CC4-5D6E-409C-BE32-E72D297353CC}">
              <c16:uniqueId val="{00000000-8114-4C52-9F64-81B4188B4A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alcohol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0.04498714652956298</c:v>
                </c:pt>
                <c:pt idx="1">
                  <c:v>0.09175377468060394</c:v>
                </c:pt>
                <c:pt idx="2">
                  <c:v>0.08196721311475409</c:v>
                </c:pt>
                <c:pt idx="3">
                  <c:v>0.014925373134328358</c:v>
                </c:pt>
                <c:pt idx="4">
                  <c:v>0.04625735912531539</c:v>
                </c:pt>
                <c:pt idx="5">
                  <c:v>0.03871576959395656</c:v>
                </c:pt>
                <c:pt idx="6">
                  <c:v>0.046019900497512436</c:v>
                </c:pt>
                <c:pt idx="7">
                  <c:v>0.02145922746781116</c:v>
                </c:pt>
                <c:pt idx="8">
                  <c:v>0.01098901098901099</c:v>
                </c:pt>
                <c:pt idx="9">
                  <c:v>0.04097646033129904</c:v>
                </c:pt>
                <c:pt idx="10">
                  <c:v>0.07301173402868318</c:v>
                </c:pt>
                <c:pt idx="11">
                  <c:v>0.026859504132231406</c:v>
                </c:pt>
                <c:pt idx="12">
                  <c:v>0.0182370820668693</c:v>
                </c:pt>
                <c:pt idx="13">
                  <c:v>0.0449358059914408</c:v>
                </c:pt>
                <c:pt idx="14">
                  <c:v>0.04262672811059908</c:v>
                </c:pt>
                <c:pt idx="15">
                  <c:v>0.028105167724388033</c:v>
                </c:pt>
                <c:pt idx="16">
                  <c:v>0.07830551989730423</c:v>
                </c:pt>
                <c:pt idx="17">
                  <c:v>0.0249003984063745</c:v>
                </c:pt>
                <c:pt idx="18">
                  <c:v>0.05574043261231281</c:v>
                </c:pt>
                <c:pt idx="19">
                  <c:v>0.017189079878665317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92-484C-B378-D643C89DCC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Malestar clínico en uso problematica de alcohol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</c:numCache>
            </c:numRef>
          </c:val>
          <c:extLst>
            <c:ext xmlns:c16="http://schemas.microsoft.com/office/drawing/2014/chart" uri="{C3380CC4-5D6E-409C-BE32-E72D297353CC}">
              <c16:uniqueId val="{00000000-B692-484C-B378-D643C89DCC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ideación suicida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</c:numCache>
            </c:numRef>
          </c:val>
          <c:extLst>
            <c:ext xmlns:c16="http://schemas.microsoft.com/office/drawing/2014/chart" uri="{C3380CC4-5D6E-409C-BE32-E72D297353CC}">
              <c16:uniqueId val="{00000000-607F-4244-A036-D829C6D500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Malestar clínico en suicidio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0.2969151670951157</c:v>
                </c:pt>
                <c:pt idx="1">
                  <c:v>0.33681765389082463</c:v>
                </c:pt>
                <c:pt idx="2">
                  <c:v>0.2786885245901639</c:v>
                </c:pt>
                <c:pt idx="3">
                  <c:v>0.2417910447761194</c:v>
                </c:pt>
                <c:pt idx="4">
                  <c:v>0.3355761143818335</c:v>
                </c:pt>
                <c:pt idx="5">
                  <c:v>0.3323890462700661</c:v>
                </c:pt>
                <c:pt idx="6">
                  <c:v>0.31716417910447764</c:v>
                </c:pt>
                <c:pt idx="7">
                  <c:v>0.296137339055794</c:v>
                </c:pt>
                <c:pt idx="8">
                  <c:v>0.25824175824175827</c:v>
                </c:pt>
                <c:pt idx="9">
                  <c:v>0.36355710549258935</c:v>
                </c:pt>
                <c:pt idx="10">
                  <c:v>0.33376792698826596</c:v>
                </c:pt>
                <c:pt idx="11">
                  <c:v>0.34710743801652894</c:v>
                </c:pt>
                <c:pt idx="12">
                  <c:v>0.35106382978723405</c:v>
                </c:pt>
                <c:pt idx="13">
                  <c:v>0.32667617689015693</c:v>
                </c:pt>
                <c:pt idx="14">
                  <c:v>0.32027649769585254</c:v>
                </c:pt>
                <c:pt idx="15">
                  <c:v>0.29827742520398914</c:v>
                </c:pt>
                <c:pt idx="16">
                  <c:v>0.40051347881899874</c:v>
                </c:pt>
                <c:pt idx="17">
                  <c:v>0.32669322709163345</c:v>
                </c:pt>
                <c:pt idx="18">
                  <c:v>0.35524126455906824</c:v>
                </c:pt>
                <c:pt idx="19">
                  <c:v>0.3468149646107179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7F-4244-A036-D829C6D500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70000000000000007"/>
        </c:scaling>
        <c:delete val="1"/>
        <c:axPos val="l"/>
        <c:numFmt formatCode="0%" sourceLinked="0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ideación suicida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 </c:v>
                </c:pt>
                <c:pt idx="4">
                  <c:v>A distancia</c:v>
                </c:pt>
                <c:pt idx="5">
                  <c:v>Diurno</c:v>
                </c:pt>
                <c:pt idx="6">
                  <c:v>Vespertino</c:v>
                </c:pt>
                <c:pt idx="7">
                  <c:v> </c:v>
                </c:pt>
                <c:pt idx="8">
                  <c:v> </c:v>
                </c:pt>
                <c:pt idx="9">
                  <c:v>Admisión Especial</c:v>
                </c:pt>
                <c:pt idx="10">
                  <c:v>Continuidad</c:v>
                </c:pt>
                <c:pt idx="11">
                  <c:v>Inicio</c:v>
                </c:pt>
                <c:pt idx="12">
                  <c:v> </c:v>
                </c:pt>
                <c:pt idx="13">
                  <c:v>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</c:numCache>
            </c:numRef>
          </c:val>
          <c:extLst>
            <c:ext xmlns:c16="http://schemas.microsoft.com/office/drawing/2014/chart" uri="{C3380CC4-5D6E-409C-BE32-E72D297353CC}">
              <c16:uniqueId val="{00000000-63B5-48D2-A2DA-018007FC96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Malestar clínico en suicidio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 </c:v>
                </c:pt>
                <c:pt idx="4">
                  <c:v>A distancia</c:v>
                </c:pt>
                <c:pt idx="5">
                  <c:v>Diurno</c:v>
                </c:pt>
                <c:pt idx="6">
                  <c:v>Vespertino</c:v>
                </c:pt>
                <c:pt idx="7">
                  <c:v> </c:v>
                </c:pt>
                <c:pt idx="8">
                  <c:v> </c:v>
                </c:pt>
                <c:pt idx="9">
                  <c:v>Admisión Especial</c:v>
                </c:pt>
                <c:pt idx="10">
                  <c:v>Continuidad</c:v>
                </c:pt>
                <c:pt idx="11">
                  <c:v>Inicio</c:v>
                </c:pt>
                <c:pt idx="12">
                  <c:v> </c:v>
                </c:pt>
                <c:pt idx="13">
                  <c:v> 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0.35717017208413004</c:v>
                </c:pt>
                <c:pt idx="1">
                  <c:v>0.3074975891996143</c:v>
                </c:pt>
                <c:pt idx="4">
                  <c:v>0.25824175824175827</c:v>
                </c:pt>
                <c:pt idx="5">
                  <c:v>0.3499110464175966</c:v>
                </c:pt>
                <c:pt idx="6">
                  <c:v>0.2727020272146626</c:v>
                </c:pt>
                <c:pt idx="9">
                  <c:v>0.275</c:v>
                </c:pt>
                <c:pt idx="10">
                  <c:v>0.3393475923049349</c:v>
                </c:pt>
                <c:pt idx="11">
                  <c:v>0.3238961038961039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B5-48D2-A2DA-018007FC96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8-4450-9627-F44119B2DC5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8-4450-9627-F44119B2DC5A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Sí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</c:v>
                </c:pt>
                <c:pt idx="1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A8-4450-9627-F44119B2D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94-407E-A310-D2856421DBE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94-407E-A310-D2856421DBE6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Sí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0.33</c:v>
                </c:pt>
                <c:pt idx="1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94-407E-A310-D2856421D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8-4450-9627-F44119B2DC5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8-4450-9627-F44119B2DC5A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Sí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A8-4450-9627-F44119B2D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Ideación pasiva (i3)</c:v>
                </c:pt>
                <c:pt idx="1">
                  <c:v>Ideación pasiva (i4)</c:v>
                </c:pt>
                <c:pt idx="2">
                  <c:v>Ideación pasiva (i5)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0.28</c:v>
                </c:pt>
                <c:pt idx="1">
                  <c:v>0.35</c:v>
                </c:pt>
                <c:pt idx="2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45-4FA5-B234-845B1F50F8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Sí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Ideación pasiva (i3)</c:v>
                </c:pt>
                <c:pt idx="1">
                  <c:v>Ideación pasiva (i4)</c:v>
                </c:pt>
                <c:pt idx="2">
                  <c:v>Ideación pasiva (i5)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0.72</c:v>
                </c:pt>
                <c:pt idx="1">
                  <c:v>0.65</c:v>
                </c:pt>
                <c:pt idx="2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45-4FA5-B234-845B1F50F89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70564719"/>
        <c:axId val="1771217823"/>
      </c:barChart>
      <c:catAx>
        <c:axId val="1770564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771217823"/>
        <c:crosses val="autoZero"/>
        <c:auto val="1"/>
        <c:lblAlgn val="ctr"/>
        <c:lblOffset val="100"/>
        <c:noMultiLvlLbl val="0"/>
      </c:catAx>
      <c:valAx>
        <c:axId val="177121782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7056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AC-47D9-80D0-B6E43C10738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AC-47D9-80D0-B6E43C1073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0AC-47D9-80D0-B6E43C107386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Sí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0.84</c:v>
                </c:pt>
                <c:pt idx="1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AC-47D9-80D0-B6E43C107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Sí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0.61</c:v>
                </c:pt>
                <c:pt idx="1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Sí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0.56</c:v>
                </c:pt>
                <c:pt idx="1">
                  <c:v>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Dentro de Duoc UC</c:v>
                </c:pt>
                <c:pt idx="1">
                  <c:v>Fuera de Duoc UC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0.18</c:v>
                </c:pt>
                <c:pt idx="1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21-4616-B0FC-616CC97A5B66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Ambos</c:v>
                </c:pt>
                <c:pt idx="1">
                  <c:v>Médico/psiquiátrico</c:v>
                </c:pt>
                <c:pt idx="2">
                  <c:v>Psicólogico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0.33</c:v>
                </c:pt>
                <c:pt idx="1">
                  <c:v>0.15</c:v>
                </c:pt>
                <c:pt idx="2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Si crees haber necesitado apoyo o tratamiento en salud mental pero no has accedido a él, ¿qué tan importantes fueron las siguientes razones para no buscar ayuda?* (Importante + Muy importante)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AFB-4D12-9DE7-7B8A9AF6AB9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FAFB-4D12-9DE7-7B8A9AF6AB9A}"/>
              </c:ext>
            </c:extLst>
          </c:dPt>
          <c:dPt>
            <c:idx val="7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AFB-4D12-9DE7-7B8A9AF6AB9A}"/>
              </c:ext>
            </c:extLst>
          </c:dPt>
          <c:dPt>
            <c:idx val="8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7FF-46DC-AA1D-CCCF1222E391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Preferiste hablarlo con amigos/as o parientes.</c:v>
                </c:pt>
                <c:pt idx="1">
                  <c:v>No estabas seguro/a de que los tratamientos disponibles fueran muy eficaces.</c:v>
                </c:pt>
                <c:pt idx="2">
                  <c:v>Dificultad para conseguir una cita</c:v>
                </c:pt>
                <c:pt idx="3">
                  <c:v>Te daba demasiada vergüenza.</c:v>
                </c:pt>
                <c:pt idx="4">
                  <c:v>Temías que pudiese perjudicar tu carrera académica.</c:v>
                </c:pt>
                <c:pt idx="5">
                  <c:v>Tuviste problemas de tiempo, desplazamientos o de horario.</c:v>
                </c:pt>
                <c:pt idx="6">
                  <c:v>Querías afrontar el problema por tu cuenta.</c:v>
                </c:pt>
                <c:pt idx="7">
                  <c:v>No estabas seguro de a dónde ir o a quién consultar.</c:v>
                </c:pt>
                <c:pt idx="8">
                  <c:v>Costaba demasiado dinero.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0.23510861948142958</c:v>
                </c:pt>
                <c:pt idx="1">
                  <c:v>0.2575332866152768</c:v>
                </c:pt>
                <c:pt idx="2">
                  <c:v>0.25998598458304134</c:v>
                </c:pt>
                <c:pt idx="3">
                  <c:v>0.30658724597056763</c:v>
                </c:pt>
                <c:pt idx="4">
                  <c:v>0.3265592151366503</c:v>
                </c:pt>
                <c:pt idx="5">
                  <c:v>0.46442341395022785</c:v>
                </c:pt>
                <c:pt idx="6">
                  <c:v>0.4866853538892782</c:v>
                </c:pt>
                <c:pt idx="7">
                  <c:v>0.5416958654519972</c:v>
                </c:pt>
                <c:pt idx="8">
                  <c:v>0.6211005958640028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7-43BC-9E2C-F8AC3E6A728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  <c:max val="1"/>
        </c:scaling>
        <c:delete val="1"/>
        <c:axPos val="b"/>
        <c:numFmt formatCode="0%" sourceLinked="0"/>
        <c:majorTickMark val="none"/>
        <c:minorTickMark val="none"/>
        <c:tickLblPos val="nextTo"/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ideación suicida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</c:numCache>
            </c:numRef>
          </c:val>
          <c:extLst>
            <c:ext xmlns:c16="http://schemas.microsoft.com/office/drawing/2014/chart" uri="{C3380CC4-5D6E-409C-BE32-E72D297353CC}">
              <c16:uniqueId val="{00000000-57D2-49DB-81BA-194213ECDD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Nivel Bienestar (Promedio)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Nacimiento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  <c:pt idx="20">
                  <c:v> 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4.53</c:v>
                </c:pt>
                <c:pt idx="1">
                  <c:v>4.33</c:v>
                </c:pt>
                <c:pt idx="2">
                  <c:v>4.59</c:v>
                </c:pt>
                <c:pt idx="3">
                  <c:v>4.62</c:v>
                </c:pt>
                <c:pt idx="4">
                  <c:v>4.36</c:v>
                </c:pt>
                <c:pt idx="5">
                  <c:v>4.35</c:v>
                </c:pt>
                <c:pt idx="6">
                  <c:v>4.44</c:v>
                </c:pt>
                <c:pt idx="7">
                  <c:v>4.6</c:v>
                </c:pt>
                <c:pt idx="8">
                  <c:v>4.39</c:v>
                </c:pt>
                <c:pt idx="9">
                  <c:v>4.22</c:v>
                </c:pt>
                <c:pt idx="10">
                  <c:v>4.59</c:v>
                </c:pt>
                <c:pt idx="11">
                  <c:v>4.21</c:v>
                </c:pt>
                <c:pt idx="12">
                  <c:v>4.31</c:v>
                </c:pt>
                <c:pt idx="13">
                  <c:v>4.39</c:v>
                </c:pt>
                <c:pt idx="14">
                  <c:v>4.52</c:v>
                </c:pt>
                <c:pt idx="15">
                  <c:v>4.38</c:v>
                </c:pt>
                <c:pt idx="16">
                  <c:v>4.35</c:v>
                </c:pt>
                <c:pt idx="17">
                  <c:v>4.32</c:v>
                </c:pt>
                <c:pt idx="18">
                  <c:v>4.4</c:v>
                </c:pt>
                <c:pt idx="19">
                  <c:v>4.25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D2-49DB-81BA-194213ECDD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.0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ideación suicida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A distancia</c:v>
                </c:pt>
                <c:pt idx="4">
                  <c:v>Diurno</c:v>
                </c:pt>
                <c:pt idx="5">
                  <c:v>Vespertino</c:v>
                </c:pt>
                <c:pt idx="6">
                  <c:v> </c:v>
                </c:pt>
                <c:pt idx="7">
                  <c:v>Admisión Especial</c:v>
                </c:pt>
                <c:pt idx="8">
                  <c:v>Continuidad</c:v>
                </c:pt>
                <c:pt idx="9">
                  <c:v>Inicio</c:v>
                </c:pt>
                <c:pt idx="10">
                  <c:v> </c:v>
                </c:pt>
                <c:pt idx="11">
                  <c:v>Administración y Negocios</c:v>
                </c:pt>
                <c:pt idx="12">
                  <c:v>Comunicación</c:v>
                </c:pt>
                <c:pt idx="13">
                  <c:v>Construcción</c:v>
                </c:pt>
                <c:pt idx="14">
                  <c:v>Diseño</c:v>
                </c:pt>
                <c:pt idx="15">
                  <c:v>Gastronomía</c:v>
                </c:pt>
                <c:pt idx="16">
                  <c:v>Informática y Telecomunicaciones</c:v>
                </c:pt>
                <c:pt idx="17">
                  <c:v>Ingeniería, Medio Ambiente y Recursos Naturales</c:v>
                </c:pt>
                <c:pt idx="18">
                  <c:v>Salud y Bienestar</c:v>
                </c:pt>
                <c:pt idx="19">
                  <c:v>Turismo y Hospitalidad</c:v>
                </c:pt>
                <c:pt idx="20">
                  <c:v> 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</c:numCache>
            </c:numRef>
          </c:val>
          <c:extLst>
            <c:ext xmlns:c16="http://schemas.microsoft.com/office/drawing/2014/chart" uri="{C3380CC4-5D6E-409C-BE32-E72D297353CC}">
              <c16:uniqueId val="{00000000-DD90-4690-B858-EC10BFB34D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Nivel Bienestar (Promedio)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Femenino</c:v>
                </c:pt>
                <c:pt idx="1">
                  <c:v>Masculino</c:v>
                </c:pt>
                <c:pt idx="2">
                  <c:v> </c:v>
                </c:pt>
                <c:pt idx="3">
                  <c:v>A distancia</c:v>
                </c:pt>
                <c:pt idx="4">
                  <c:v>Diurno</c:v>
                </c:pt>
                <c:pt idx="5">
                  <c:v>Vespertino</c:v>
                </c:pt>
                <c:pt idx="6">
                  <c:v> </c:v>
                </c:pt>
                <c:pt idx="7">
                  <c:v>Admisión Especial</c:v>
                </c:pt>
                <c:pt idx="8">
                  <c:v>Continuidad</c:v>
                </c:pt>
                <c:pt idx="9">
                  <c:v>Inicio</c:v>
                </c:pt>
                <c:pt idx="10">
                  <c:v> </c:v>
                </c:pt>
                <c:pt idx="11">
                  <c:v>Administración y Negocios</c:v>
                </c:pt>
                <c:pt idx="12">
                  <c:v>Comunicación</c:v>
                </c:pt>
                <c:pt idx="13">
                  <c:v>Construcción</c:v>
                </c:pt>
                <c:pt idx="14">
                  <c:v>Diseño</c:v>
                </c:pt>
                <c:pt idx="15">
                  <c:v>Gastronomía</c:v>
                </c:pt>
                <c:pt idx="16">
                  <c:v>Informática y Telecomunicaciones</c:v>
                </c:pt>
                <c:pt idx="17">
                  <c:v>Ingeniería, Medio Ambiente y Recursos Naturales</c:v>
                </c:pt>
                <c:pt idx="18">
                  <c:v>Salud y Bienestar</c:v>
                </c:pt>
                <c:pt idx="19">
                  <c:v>Turismo y Hospitalidad</c:v>
                </c:pt>
                <c:pt idx="20">
                  <c:v> 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4.28</c:v>
                </c:pt>
                <c:pt idx="1">
                  <c:v>4.48</c:v>
                </c:pt>
                <c:pt idx="3">
                  <c:v>4.39</c:v>
                </c:pt>
                <c:pt idx="4">
                  <c:v>4.36</c:v>
                </c:pt>
                <c:pt idx="5">
                  <c:v>4.46</c:v>
                </c:pt>
                <c:pt idx="7">
                  <c:v>4.33</c:v>
                </c:pt>
                <c:pt idx="8">
                  <c:v>4.35</c:v>
                </c:pt>
                <c:pt idx="9">
                  <c:v>4.41</c:v>
                </c:pt>
                <c:pt idx="11">
                  <c:v>4.49</c:v>
                </c:pt>
                <c:pt idx="12">
                  <c:v>4.24</c:v>
                </c:pt>
                <c:pt idx="13">
                  <c:v>4.59</c:v>
                </c:pt>
                <c:pt idx="14">
                  <c:v>4.0</c:v>
                </c:pt>
                <c:pt idx="15">
                  <c:v>4.25</c:v>
                </c:pt>
                <c:pt idx="16">
                  <c:v>4.2</c:v>
                </c:pt>
                <c:pt idx="17">
                  <c:v>4.51</c:v>
                </c:pt>
                <c:pt idx="18">
                  <c:v>4.35</c:v>
                </c:pt>
                <c:pt idx="19">
                  <c:v>4.29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90-4690-B858-EC10BFB34D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.0" sourceLinked="0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</c:v>
                </c:pt>
                <c:pt idx="1">
                  <c:v>E</c:v>
                </c:pt>
                <c:pt idx="2">
                  <c:v>R</c:v>
                </c:pt>
                <c:pt idx="3">
                  <c:v>M</c:v>
                </c:pt>
                <c:pt idx="4">
                  <c:v>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3.94</c:v>
                </c:pt>
                <c:pt idx="1">
                  <c:v>4.56</c:v>
                </c:pt>
                <c:pt idx="2">
                  <c:v>4.02</c:v>
                </c:pt>
                <c:pt idx="3">
                  <c:v>4.03</c:v>
                </c:pt>
                <c:pt idx="4">
                  <c:v>4.15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8-4D31-A3EF-70FFE360D9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</c:v>
                </c:pt>
                <c:pt idx="1">
                  <c:v>E</c:v>
                </c:pt>
                <c:pt idx="2">
                  <c:v>R</c:v>
                </c:pt>
                <c:pt idx="3">
                  <c:v>M</c:v>
                </c:pt>
                <c:pt idx="4">
                  <c:v>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4.29</c:v>
                </c:pt>
                <c:pt idx="1">
                  <c:v>4.64</c:v>
                </c:pt>
                <c:pt idx="2">
                  <c:v>4.32</c:v>
                </c:pt>
                <c:pt idx="3">
                  <c:v>4.34</c:v>
                </c:pt>
                <c:pt idx="4">
                  <c:v>4.32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8-4D31-A3EF-70FFE360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2697903"/>
        <c:axId val="932698319"/>
      </c:barChart>
      <c:catAx>
        <c:axId val="9326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32698319"/>
        <c:crosses val="autoZero"/>
        <c:auto val="1"/>
        <c:lblAlgn val="ctr"/>
        <c:lblOffset val="100"/>
        <c:noMultiLvlLbl val="0"/>
      </c:catAx>
      <c:valAx>
        <c:axId val="932698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crossAx val="93269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33579762717293"/>
          <c:y val="0.94622929684249979"/>
          <c:w val="0.17932823920496768"/>
          <c:h val="5.3770703157500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</c:v>
                </c:pt>
                <c:pt idx="1">
                  <c:v>H</c:v>
                </c:pt>
                <c:pt idx="2">
                  <c:v>Lon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4.106</c:v>
                </c:pt>
                <c:pt idx="1">
                  <c:v>4.085</c:v>
                </c:pt>
                <c:pt idx="2">
                  <c:v>4.021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8-4D31-A3EF-70FFE360D9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</c:v>
                </c:pt>
                <c:pt idx="1">
                  <c:v>H</c:v>
                </c:pt>
                <c:pt idx="2">
                  <c:v>Lon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3.836</c:v>
                </c:pt>
                <c:pt idx="1">
                  <c:v>4.325</c:v>
                </c:pt>
                <c:pt idx="2">
                  <c:v>3.667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8-4D31-A3EF-70FFE360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2697903"/>
        <c:axId val="932698319"/>
      </c:barChart>
      <c:catAx>
        <c:axId val="9326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32698319"/>
        <c:crosses val="autoZero"/>
        <c:auto val="1"/>
        <c:lblAlgn val="ctr"/>
        <c:lblOffset val="100"/>
        <c:noMultiLvlLbl val="0"/>
      </c:catAx>
      <c:valAx>
        <c:axId val="932698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crossAx val="93269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33579762717293"/>
          <c:y val="0.94622929684249979"/>
          <c:w val="0.17932823920496768"/>
          <c:h val="5.3770703157500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Durante el último año, ¿cuán satisfecho/a te has sentido con el apoyo que has recibido por parte de…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Muy insatisfecho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Administrativos/as</c:v>
                </c:pt>
                <c:pt idx="1">
                  <c:v>Amistades dentro de Duoc UC</c:v>
                </c:pt>
                <c:pt idx="2">
                  <c:v>Amistades fuera de Duoc UC</c:v>
                </c:pt>
                <c:pt idx="3">
                  <c:v>Autoridades de Duoc UC</c:v>
                </c:pt>
                <c:pt idx="4">
                  <c:v>Familia</c:v>
                </c:pt>
                <c:pt idx="5">
                  <c:v>Profesores/as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</c:v>
                </c:pt>
                <c:pt idx="1">
                  <c:v>0.05</c:v>
                </c:pt>
                <c:pt idx="2">
                  <c:v>0.06</c:v>
                </c:pt>
                <c:pt idx="3">
                  <c:v>0.08</c:v>
                </c:pt>
                <c:pt idx="4">
                  <c:v>0.05</c:v>
                </c:pt>
                <c:pt idx="5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BF-4212-9B4D-168CAC2258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Insatisfecho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Administrativos/as</c:v>
                </c:pt>
                <c:pt idx="1">
                  <c:v>Amistades dentro de Duoc UC</c:v>
                </c:pt>
                <c:pt idx="2">
                  <c:v>Amistades fuera de Duoc UC</c:v>
                </c:pt>
                <c:pt idx="3">
                  <c:v>Autoridades de Duoc UC</c:v>
                </c:pt>
                <c:pt idx="4">
                  <c:v>Familia</c:v>
                </c:pt>
                <c:pt idx="5">
                  <c:v>Profesores/as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0.08</c:v>
                </c:pt>
                <c:pt idx="1">
                  <c:v>0.05</c:v>
                </c:pt>
                <c:pt idx="2">
                  <c:v>0.06</c:v>
                </c:pt>
                <c:pt idx="3">
                  <c:v>0.07</c:v>
                </c:pt>
                <c:pt idx="4">
                  <c:v>0.06</c:v>
                </c:pt>
                <c:pt idx="5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BF-4212-9B4D-168CAC2258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Ni satisfecho ni insatisfecho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Administrativos/as</c:v>
                </c:pt>
                <c:pt idx="1">
                  <c:v>Amistades dentro de Duoc UC</c:v>
                </c:pt>
                <c:pt idx="2">
                  <c:v>Amistades fuera de Duoc UC</c:v>
                </c:pt>
                <c:pt idx="3">
                  <c:v>Autoridades de Duoc UC</c:v>
                </c:pt>
                <c:pt idx="4">
                  <c:v>Familia</c:v>
                </c:pt>
                <c:pt idx="5">
                  <c:v>Profesores/as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0.42</c:v>
                </c:pt>
                <c:pt idx="1">
                  <c:v>0.24</c:v>
                </c:pt>
                <c:pt idx="2">
                  <c:v>0.23</c:v>
                </c:pt>
                <c:pt idx="3">
                  <c:v>0.45</c:v>
                </c:pt>
                <c:pt idx="4">
                  <c:v>0.19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BF-4212-9B4D-168CAC2258B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Satisfecho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Administrativos/as</c:v>
                </c:pt>
                <c:pt idx="1">
                  <c:v>Amistades dentro de Duoc UC</c:v>
                </c:pt>
                <c:pt idx="2">
                  <c:v>Amistades fuera de Duoc UC</c:v>
                </c:pt>
                <c:pt idx="3">
                  <c:v>Autoridades de Duoc UC</c:v>
                </c:pt>
                <c:pt idx="4">
                  <c:v>Familia</c:v>
                </c:pt>
                <c:pt idx="5">
                  <c:v>Profesores/as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0.28</c:v>
                </c:pt>
                <c:pt idx="1">
                  <c:v>0.36</c:v>
                </c:pt>
                <c:pt idx="2">
                  <c:v>0.31</c:v>
                </c:pt>
                <c:pt idx="3">
                  <c:v>0.26</c:v>
                </c:pt>
                <c:pt idx="4">
                  <c:v>0.33</c:v>
                </c:pt>
                <c:pt idx="5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BF-4212-9B4D-168CAC2258B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Muy satisfecho</c:v>
                </c:pt>
              </c:strCache>
            </c:strRef>
          </c:tx>
          <c:spPr>
            <a:solidFill>
              <a:srgbClr val="43AA8B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Administrativos/as</c:v>
                </c:pt>
                <c:pt idx="1">
                  <c:v>Amistades dentro de Duoc UC</c:v>
                </c:pt>
                <c:pt idx="2">
                  <c:v>Amistades fuera de Duoc UC</c:v>
                </c:pt>
                <c:pt idx="3">
                  <c:v>Autoridades de Duoc UC</c:v>
                </c:pt>
                <c:pt idx="4">
                  <c:v>Familia</c:v>
                </c:pt>
                <c:pt idx="5">
                  <c:v>Profesores/as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0.14</c:v>
                </c:pt>
                <c:pt idx="1">
                  <c:v>0.3</c:v>
                </c:pt>
                <c:pt idx="2">
                  <c:v>0.34</c:v>
                </c:pt>
                <c:pt idx="3">
                  <c:v>0.14</c:v>
                </c:pt>
                <c:pt idx="4">
                  <c:v>0.37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BF-4212-9B4D-168CAC2258B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63522976889398519"/>
          <c:y val="8.7589237262095474E-3"/>
          <c:w val="0.34693910847549336"/>
          <c:h val="0.85236668634009305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 negativas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Cuando hablo de esta actividad, siento una emoción tan profunda que quiero compartirla.</c:v>
                </c:pt>
                <c:pt idx="2">
                  <c:v>En cada paso, sé exactamente lo que tengo que hacer.</c:v>
                </c:pt>
                <c:pt idx="3">
                  <c:v>Esta actividad me produce una sensación de bienestar.</c:v>
                </c:pt>
                <c:pt idx="4">
                  <c:v>Estoy profundamente concentrado/a en lo que estoy haciendo.</c:v>
                </c:pt>
                <c:pt idx="5">
                  <c:v>Estoy totalmente absorto/a en lo que estoy haciendo.</c:v>
                </c:pt>
                <c:pt idx="6">
                  <c:v>Me siento completamente en control de mis acciones.</c:v>
                </c:pt>
                <c:pt idx="7">
                  <c:v>No me importa lo que los demás puedan pensar de mí.</c:v>
                </c:pt>
                <c:pt idx="8">
                  <c:v>No me preocupa el juicio de los demás.</c:v>
                </c:pt>
                <c:pt idx="9">
                  <c:v>No me preocupa lo que los demás puedan pensar de mí.</c:v>
                </c:pt>
                <c:pt idx="10">
                  <c:v>Suelo perder la noción del tiempo.</c:v>
                </c:pt>
                <c:pt idx="11">
                  <c:v>Tengo la sensación de que estoy viviendo una experiencia muy emocionante.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0.05</c:v>
                </c:pt>
                <c:pt idx="1">
                  <c:v>0.18</c:v>
                </c:pt>
                <c:pt idx="2">
                  <c:v>0.08</c:v>
                </c:pt>
                <c:pt idx="3">
                  <c:v>0.12</c:v>
                </c:pt>
                <c:pt idx="4">
                  <c:v>0.08</c:v>
                </c:pt>
                <c:pt idx="5">
                  <c:v>0.07</c:v>
                </c:pt>
                <c:pt idx="6">
                  <c:v>0.05</c:v>
                </c:pt>
                <c:pt idx="7">
                  <c:v>0.15</c:v>
                </c:pt>
                <c:pt idx="8">
                  <c:v>0.15</c:v>
                </c:pt>
                <c:pt idx="9">
                  <c:v>0.15</c:v>
                </c:pt>
                <c:pt idx="10">
                  <c:v>0.19</c:v>
                </c:pt>
                <c:pt idx="11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39-4A59-BD93-ACABDE7B54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 neutras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2090799788292679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39-4A59-BD93-ACABDE7B54A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Cuando hablo de esta actividad, siento una emoción tan profunda que quiero compartirla.</c:v>
                </c:pt>
                <c:pt idx="2">
                  <c:v>En cada paso, sé exactamente lo que tengo que hacer.</c:v>
                </c:pt>
                <c:pt idx="3">
                  <c:v>Esta actividad me produce una sensación de bienestar.</c:v>
                </c:pt>
                <c:pt idx="4">
                  <c:v>Estoy profundamente concentrado/a en lo que estoy haciendo.</c:v>
                </c:pt>
                <c:pt idx="5">
                  <c:v>Estoy totalmente absorto/a en lo que estoy haciendo.</c:v>
                </c:pt>
                <c:pt idx="6">
                  <c:v>Me siento completamente en control de mis acciones.</c:v>
                </c:pt>
                <c:pt idx="7">
                  <c:v>No me importa lo que los demás puedan pensar de mí.</c:v>
                </c:pt>
                <c:pt idx="8">
                  <c:v>No me preocupa el juicio de los demás.</c:v>
                </c:pt>
                <c:pt idx="9">
                  <c:v>No me preocupa lo que los demás puedan pensar de mí.</c:v>
                </c:pt>
                <c:pt idx="10">
                  <c:v>Suelo perder la noción del tiempo.</c:v>
                </c:pt>
                <c:pt idx="11">
                  <c:v>Tengo la sensación de que estoy viviendo una experiencia muy emocionante.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0.47</c:v>
                </c:pt>
                <c:pt idx="1">
                  <c:v>0.53</c:v>
                </c:pt>
                <c:pt idx="2">
                  <c:v>0.58</c:v>
                </c:pt>
                <c:pt idx="3">
                  <c:v>0.55</c:v>
                </c:pt>
                <c:pt idx="4">
                  <c:v>0.54</c:v>
                </c:pt>
                <c:pt idx="5">
                  <c:v>0.6</c:v>
                </c:pt>
                <c:pt idx="6">
                  <c:v>0.44</c:v>
                </c:pt>
                <c:pt idx="7">
                  <c:v>0.43</c:v>
                </c:pt>
                <c:pt idx="8">
                  <c:v>0.46</c:v>
                </c:pt>
                <c:pt idx="9">
                  <c:v>0.43</c:v>
                </c:pt>
                <c:pt idx="10">
                  <c:v>0.46</c:v>
                </c:pt>
                <c:pt idx="11">
                  <c:v>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39-4A59-BD93-ACABDE7B54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 positivas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Cuando hablo de esta actividad, siento una emoción tan profunda que quiero compartirla.</c:v>
                </c:pt>
                <c:pt idx="2">
                  <c:v>En cada paso, sé exactamente lo que tengo que hacer.</c:v>
                </c:pt>
                <c:pt idx="3">
                  <c:v>Esta actividad me produce una sensación de bienestar.</c:v>
                </c:pt>
                <c:pt idx="4">
                  <c:v>Estoy profundamente concentrado/a en lo que estoy haciendo.</c:v>
                </c:pt>
                <c:pt idx="5">
                  <c:v>Estoy totalmente absorto/a en lo que estoy haciendo.</c:v>
                </c:pt>
                <c:pt idx="6">
                  <c:v>Me siento completamente en control de mis acciones.</c:v>
                </c:pt>
                <c:pt idx="7">
                  <c:v>No me importa lo que los demás puedan pensar de mí.</c:v>
                </c:pt>
                <c:pt idx="8">
                  <c:v>No me preocupa el juicio de los demás.</c:v>
                </c:pt>
                <c:pt idx="9">
                  <c:v>No me preocupa lo que los demás puedan pensar de mí.</c:v>
                </c:pt>
                <c:pt idx="10">
                  <c:v>Suelo perder la noción del tiempo.</c:v>
                </c:pt>
                <c:pt idx="11">
                  <c:v>Tengo la sensación de que estoy viviendo una experiencia muy emocionante.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0.48</c:v>
                </c:pt>
                <c:pt idx="1">
                  <c:v>0.28</c:v>
                </c:pt>
                <c:pt idx="2">
                  <c:v>0.35</c:v>
                </c:pt>
                <c:pt idx="3">
                  <c:v>0.33</c:v>
                </c:pt>
                <c:pt idx="4">
                  <c:v>0.38</c:v>
                </c:pt>
                <c:pt idx="5">
                  <c:v>0.33</c:v>
                </c:pt>
                <c:pt idx="6">
                  <c:v>0.51</c:v>
                </c:pt>
                <c:pt idx="7">
                  <c:v>0.42</c:v>
                </c:pt>
                <c:pt idx="8">
                  <c:v>0.39</c:v>
                </c:pt>
                <c:pt idx="9">
                  <c:v>0.42</c:v>
                </c:pt>
                <c:pt idx="10">
                  <c:v>0.35</c:v>
                </c:pt>
                <c:pt idx="11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39-4A59-BD93-ACABDE7B54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348736048"/>
        <c:axId val="171021936"/>
      </c:barChart>
      <c:catAx>
        <c:axId val="348736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chemeClr val="tx2">
                    <a:lumMod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ctr"/>
        <c:lblOffset val="100"/>
        <c:noMultiLvlLbl val="0"/>
      </c:catAx>
      <c:valAx>
        <c:axId val="17102193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Típicamente, ¿con qué frecuencia realizas ejercicio o actividad física durante al menos 30 minutos?</a:t>
            </a:r>
            <a:endParaRPr lang="es-CL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3B7-4F7D-BBC4-5086159EAB57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3B7-4F7D-BBC4-5086159EAB5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3B7-4F7D-BBC4-5086159EAB5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3B7-4F7D-BBC4-5086159EAB57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Dos veces por semana</c:v>
                </c:pt>
                <c:pt idx="1">
                  <c:v>Nunca</c:v>
                </c:pt>
                <c:pt idx="2">
                  <c:v>Tres o más veces por semana</c:v>
                </c:pt>
                <c:pt idx="3">
                  <c:v>Una vez por semana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0.19</c:v>
                </c:pt>
                <c:pt idx="1">
                  <c:v>0.32</c:v>
                </c:pt>
                <c:pt idx="2">
                  <c:v>0.26</c:v>
                </c:pt>
                <c:pt idx="3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3B7-4F7D-BBC4-5086159EA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46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800" b="0" i="0" u="none" strike="noStrike" baseline="0" dirty="0">
                <a:effectLst/>
              </a:rPr>
              <a:t>En una semana habitual, con qué frecuencia:</a:t>
            </a:r>
            <a:endParaRPr lang="es-CL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Ningún día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86-48AD-9110-AB5F9FC58C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Algunos días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86-48AD-9110-AB5F9FC58C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 mayoría de los días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86-48AD-9110-AB5F9FC58C8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Todos los días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86-48AD-9110-AB5F9FC58C8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Ningún día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</c:v>
                </c:pt>
                <c:pt idx="1">
                  <c:v>0.16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0-4C34-8869-54A49A9EFC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Algunos días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</c:v>
                </c:pt>
                <c:pt idx="1">
                  <c:v>0.48</c:v>
                </c:pt>
                <c:pt idx="2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C0-4C34-8869-54A49A9EFC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 mayoría de los días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0.23</c:v>
                </c:pt>
                <c:pt idx="1">
                  <c:v>0.25</c:v>
                </c:pt>
                <c:pt idx="2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C0-4C34-8869-54A49A9EFCA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Todos los días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0.05</c:v>
                </c:pt>
                <c:pt idx="1">
                  <c:v>0.11</c:v>
                </c:pt>
                <c:pt idx="2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6C0-4C34-8869-54A49A9EFC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En un día habitual, ¿cuántos vasos de agua, té o juegos no azucarados ingieres?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 de ingesta de bebidas azucaradas (vasos/semana)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Ninguno</c:v>
                </c:pt>
                <c:pt idx="1">
                  <c:v>Entre 1 y 3</c:v>
                </c:pt>
                <c:pt idx="2">
                  <c:v>Entre 4 y 8</c:v>
                </c:pt>
                <c:pt idx="3">
                  <c:v>Entre 9 y 12</c:v>
                </c:pt>
                <c:pt idx="4">
                  <c:v>Más de 12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0.0522</c:v>
                </c:pt>
                <c:pt idx="1">
                  <c:v>0.3662</c:v>
                </c:pt>
                <c:pt idx="2">
                  <c:v>0.3778</c:v>
                </c:pt>
                <c:pt idx="3">
                  <c:v>0.1419</c:v>
                </c:pt>
                <c:pt idx="4">
                  <c:v>0.0619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3B-407A-ACC9-436A3ACF92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8497199"/>
        <c:axId val="1168496367"/>
      </c:barChart>
      <c:catAx>
        <c:axId val="1168497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Durante las últimas dos semanas, ¿con qué frecuencia has fumado cigarrillos, puros o pipas, o usado rapé o tabaco para mascar?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 de F¿fumar cigarrillos, puros o pipas, o usar rapé (tabaco de ingesta nasal) o tabaco para mascar.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Nada</c:v>
                </c:pt>
                <c:pt idx="1">
                  <c:v>Muy poco</c:v>
                </c:pt>
                <c:pt idx="2">
                  <c:v>Levemente</c:v>
                </c:pt>
                <c:pt idx="3">
                  <c:v>Moderadamente</c:v>
                </c:pt>
                <c:pt idx="4">
                  <c:v>Severamente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0.6677</c:v>
                </c:pt>
                <c:pt idx="1">
                  <c:v>0.1075</c:v>
                </c:pt>
                <c:pt idx="2">
                  <c:v>0.0898</c:v>
                </c:pt>
                <c:pt idx="3">
                  <c:v>0.0494</c:v>
                </c:pt>
                <c:pt idx="4">
                  <c:v>0.0857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49-411B-8080-77E3FB9FA8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8497199"/>
        <c:axId val="1168496367"/>
      </c:barChart>
      <c:catAx>
        <c:axId val="1168497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A27-4FBD-B015-90E80FB2EA7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Reserva de hora psicológica</c:v>
                </c:pt>
                <c:pt idx="1">
                  <c:v>Inscripción en charlas de salud mental</c:v>
                </c:pt>
                <c:pt idx="2">
                  <c:v>Contenidos en salud mental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A8-48EF-B7C4-459A9335C2F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A8-48EF-B7C4-459A9335C2F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A8-48EF-B7C4-459A9335C2F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4A8-48EF-B7C4-459A9335C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BA-46E6-83E3-4EED6412BEEC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BA-46E6-83E3-4EED6412BE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BA-46E6-83E3-4EED6412B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2A8-43CD-8471-ACB30C339F59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2A8-43CD-8471-ACB30C339F5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2A8-43CD-8471-ACB30C339F5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Mucho / Bastante</c:v>
                </c:pt>
                <c:pt idx="1">
                  <c:v>Algo</c:v>
                </c:pt>
                <c:pt idx="2">
                  <c:v>Poco / Nada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2A8-43CD-8471-ACB30C339F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F8961E"/>
            </a:solidFill>
            <a:ln w="19050">
              <a:solidFill>
                <a:srgbClr val="F8961E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Pt>
            <c:idx val="2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64D-4A87-8D3A-6B57251F2291}"/>
              </c:ext>
            </c:extLst>
          </c:dPt>
          <c:dPt>
            <c:idx val="3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64D-4A87-8D3A-6B57251F2291}"/>
              </c:ext>
            </c:extLst>
          </c:dPt>
          <c:dPt>
            <c:idx val="4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64D-4A87-8D3A-6B57251F22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0</c:v>
                </c:pt>
                <c:pt idx="1">
                  <c:v>Entre 1 y 3</c:v>
                </c:pt>
                <c:pt idx="2">
                  <c:v>Entre 4 y 6</c:v>
                </c:pt>
                <c:pt idx="3">
                  <c:v>Entre 7 y 9</c:v>
                </c:pt>
                <c:pt idx="4">
                  <c:v>10 o más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0.14581308622443201</c:v>
                </c:pt>
                <c:pt idx="1">
                  <c:v>0.1</c:v>
                </c:pt>
                <c:pt idx="2">
                  <c:v>0.2</c:v>
                </c:pt>
                <c:pt idx="3">
                  <c:v>0.2</c:v>
                </c:pt>
                <c:pt idx="4">
                  <c:v>0.35418691377556799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721395472"/>
        <c:axId val="1721401296"/>
      </c:barChart>
      <c:catAx>
        <c:axId val="1721395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21401296"/>
        <c:crossesAt val="0"/>
        <c:auto val="1"/>
        <c:lblAlgn val="ctr"/>
        <c:lblOffset val="100"/>
        <c:noMultiLvlLbl val="0"/>
      </c:catAx>
      <c:valAx>
        <c:axId val="1721401296"/>
        <c:scaling>
          <c:orientation val="minMax"/>
          <c:max val="0.30000000000000004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172139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D3-4286-BAA3-0777F2FDFF11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F26-498F-AC27-E91068B6FEC9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F26-498F-AC27-E91068B6FEC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8E-4E6B-A275-AFE965DF1784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8E-4E6B-A275-AFE965DF17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8E-4E6B-A275-AFE965DF17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8E-4E6B-A275-AFE965DF1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8E-4E6B-A275-AFE965DF1784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8E-4E6B-A275-AFE965DF17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8E-4E6B-A275-AFE965DF17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8E-4E6B-A275-AFE965DF1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939-4F2A-95CB-0F8DDB7132DB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939-4F2A-95CB-0F8DDB7132DB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939-4F2A-95CB-0F8DDB7132DB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939-4F2A-95CB-0F8DDB7132DB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939-4F2A-95CB-0F8DDB7132DB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9939-4F2A-95CB-0F8DDB7132D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Poco tiempo</c:v>
                </c:pt>
                <c:pt idx="1">
                  <c:v>No creo ser bueno/a</c:v>
                </c:pt>
                <c:pt idx="2">
                  <c:v>Es para profesionales</c:v>
                </c:pt>
                <c:pt idx="3">
                  <c:v>No es importante</c:v>
                </c:pt>
                <c:pt idx="4">
                  <c:v>Falta información</c:v>
                </c:pt>
                <c:pt idx="5">
                  <c:v>Otra razón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939-4F2A-95CB-0F8DDB7132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BA-46E6-83E3-4EED6412BEEC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BA-46E6-83E3-4EED6412BE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BA-46E6-83E3-4EED6412B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B0-4353-887C-C9753F839E53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DB0-4353-887C-C9753F839E53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DB0-4353-887C-C9753F839E53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DB0-4353-887C-C9753F839E53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DB0-4353-887C-C9753F839E53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DB0-4353-887C-C9753F839E5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Sí</c:v>
                </c:pt>
                <c:pt idx="1">
                  <c:v>No</c:v>
                </c:pt>
                <c:pt idx="2">
                  <c:v>No lo recuerdo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0.3</c:v>
                </c:pt>
                <c:pt idx="1">
                  <c:v>0.1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DB0-4353-887C-C9753F839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29-42DF-8843-B4B247B6A00A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29-42DF-8843-B4B247B6A00A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29-42DF-8843-B4B247B6A00A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A29-42DF-8843-B4B247B6A00A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A29-42DF-8843-B4B247B6A0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29-42DF-8843-B4B247B6A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2F6-4377-80DE-CCB974E0DAB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2F6-4377-80DE-CCB974E0DA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2F6-4377-80DE-CCB974E0DA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F6-4377-80DE-CCB974E0DA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204-4B8C-BC80-5AE178D3274D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204-4B8C-BC80-5AE178D3274D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204-4B8C-BC80-5AE178D3274D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204-4B8C-BC80-5AE178D3274D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204-4B8C-BC80-5AE178D327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Poco</c:v>
                </c:pt>
                <c:pt idx="2">
                  <c:v>Algo</c:v>
                </c:pt>
                <c:pt idx="3">
                  <c:v>Bastante</c:v>
                </c:pt>
                <c:pt idx="4">
                  <c:v>Mucho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04-4B8C-BC80-5AE178D32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AE9-480B-8A33-449EDF440EB2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AE9-480B-8A33-449EDF440EB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AE9-480B-8A33-449EDF440EB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E9-480B-8A33-449EDF440E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8B31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Hoja1!$B$2:$B$6</c:f>
              <c:strCache>
                <c:ptCount val="5"/>
                <c:pt idx="0">
                  <c:v>Sí, de algún familiar</c:v>
                </c:pt>
                <c:pt idx="1">
                  <c:v>Sí, de su padre/madre</c:v>
                </c:pt>
                <c:pt idx="2">
                  <c:v>Sí, una institución de cuidados (sala cuna, jardín, guardería, escuela, etc.)</c:v>
                </c:pt>
                <c:pt idx="3">
                  <c:v>Sí, pago para servicios de cuidado en casa (servicio doméstico, enfermera, etc.)</c:v>
                </c:pt>
                <c:pt idx="4">
                  <c:v>No cuento con apoyo</c:v>
                </c:pt>
              </c:strCache>
            </c:strRef>
          </c:cat>
          <c:val>
            <c:numRef>
              <c:f>Hoja1!$C$2:$C$6</c:f>
              <c:numCache>
                <c:formatCode>0%</c:formatCode>
                <c:ptCount val="5"/>
                <c:pt idx="0">
                  <c:v>0.40291852452371302</c:v>
                </c:pt>
                <c:pt idx="1">
                  <c:v>0.28820429671665992</c:v>
                </c:pt>
                <c:pt idx="2">
                  <c:v>9.0393190109444674E-2</c:v>
                </c:pt>
                <c:pt idx="3">
                  <c:v>2.3510336441021483E-2</c:v>
                </c:pt>
                <c:pt idx="4">
                  <c:v>0.19497365220916094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8C-4BEA-B37D-8CA8E97BE8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¿Tienes a alguna persona a tu cuidado?</a:t>
            </a:r>
            <a:endParaRPr 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No, ninguna.</c:v>
                </c:pt>
                <c:pt idx="1">
                  <c:v>Sí, hijo/a(s).</c:v>
                </c:pt>
                <c:pt idx="2">
                  <c:v>Sí, hermano/a ó sobrino/a.</c:v>
                </c:pt>
                <c:pt idx="3">
                  <c:v>Sí, adulto/a mayor.</c:v>
                </c:pt>
                <c:pt idx="4">
                  <c:v>Sí, persona enferma o con alguna discapacidad.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0.72121143632048823</c:v>
                </c:pt>
                <c:pt idx="1">
                  <c:v>0.17312690699514069</c:v>
                </c:pt>
                <c:pt idx="2">
                  <c:v>4.9610125437902587E-2</c:v>
                </c:pt>
                <c:pt idx="3">
                  <c:v>3.4806192790145782E-2</c:v>
                </c:pt>
                <c:pt idx="4">
                  <c:v>2.1245338456322749E-2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DB-48C4-AAF6-D226B4BCE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 de estas situaciones refleja de mejor forma tu trabajo actual?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Trabajo de jornada completa todos los días</c:v>
                </c:pt>
                <c:pt idx="1">
                  <c:v>Media jornada todos los días</c:v>
                </c:pt>
                <c:pt idx="2">
                  <c:v>Trabajo solo algunos días a la semana</c:v>
                </c:pt>
                <c:pt idx="3">
                  <c:v>Solo fines de semana</c:v>
                </c:pt>
                <c:pt idx="4">
                  <c:v>No trabajo ningún día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0.16770256526161148</c:v>
                </c:pt>
                <c:pt idx="1">
                  <c:v>5.3678381738049494E-2</c:v>
                </c:pt>
                <c:pt idx="2">
                  <c:v>0.15640185331675896</c:v>
                </c:pt>
                <c:pt idx="3">
                  <c:v>0.15459373940558255</c:v>
                </c:pt>
                <c:pt idx="4">
                  <c:v>0.4676234602779975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A-4BAA-AB20-E40A7BF1A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De acuerdo a las condiciones que tienes para desarrollar tus actividades académicas, ¿Cuán de acuerdo estás con las siguientes afirmaciones? 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en desacuerdo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Necesito apoyo y/o capacitación para utilizar las plataformas o herramientas tecnológicas requeridas en mi carrera (softwares, plataforma estudiantil, programas, etc.)</c:v>
                </c:pt>
                <c:pt idx="1">
                  <c:v>En Duoc UC, cuento con un espacio adecuado para estudiar o hacer mis trabajos</c:v>
                </c:pt>
                <c:pt idx="2">
                  <c:v>En mi casa, cuento con un espacio adecuado para estudiar o hacer mis trabajos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0.21403548423550683</c:v>
                </c:pt>
                <c:pt idx="1">
                  <c:v>8.4190303989151311E-2</c:v>
                </c:pt>
                <c:pt idx="2">
                  <c:v>7.2437563566504687E-2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C8-4668-84B5-748FA07A9DC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En desacuerdo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Necesito apoyo y/o capacitación para utilizar las plataformas o herramientas tecnológicas requeridas en mi carrera (softwares, plataforma estudiantil, programas, etc.)</c:v>
                </c:pt>
                <c:pt idx="1">
                  <c:v>En Duoc UC, cuento con un espacio adecuado para estudiar o hacer mis trabajos</c:v>
                </c:pt>
                <c:pt idx="2">
                  <c:v>En mi casa, cuento con un espacio adecuado para estudiar o hacer mis trabajos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0.36975929483557463</c:v>
                </c:pt>
                <c:pt idx="1">
                  <c:v>0.22443213922477115</c:v>
                </c:pt>
                <c:pt idx="2">
                  <c:v>0.16340829472256752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C8-4668-84B5-748FA07A9DC8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De acuerdo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Necesito apoyo y/o capacitación para utilizar las plataformas o herramientas tecnológicas requeridas en mi carrera (softwares, plataforma estudiantil, programas, etc.)</c:v>
                </c:pt>
                <c:pt idx="1">
                  <c:v>En Duoc UC, cuento con un espacio adecuado para estudiar o hacer mis trabajos</c:v>
                </c:pt>
                <c:pt idx="2">
                  <c:v>En mi casa, cuento con un espacio adecuado para estudiar o hacer mis trabajos</c:v>
                </c:pt>
              </c:strCache>
            </c:strRef>
          </c:cat>
          <c:val>
            <c:numRef>
              <c:f>Hoja1!$D$2:$D$4</c:f>
              <c:numCache>
                <c:formatCode>0%</c:formatCode>
                <c:ptCount val="3"/>
                <c:pt idx="0">
                  <c:v>0.30794440049723132</c:v>
                </c:pt>
                <c:pt idx="1">
                  <c:v>0.50265566730704037</c:v>
                </c:pt>
                <c:pt idx="2">
                  <c:v>0.51090518702678267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C8-4668-84B5-748FA07A9DC8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Muy de acuerdo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Necesito apoyo y/o capacitación para utilizar las plataformas o herramientas tecnológicas requeridas en mi carrera (softwares, plataforma estudiantil, programas, etc.)</c:v>
                </c:pt>
                <c:pt idx="1">
                  <c:v>En Duoc UC, cuento con un espacio adecuado para estudiar o hacer mis trabajos</c:v>
                </c:pt>
                <c:pt idx="2">
                  <c:v>En mi casa, cuento con un espacio adecuado para estudiar o hacer mis trabajos</c:v>
                </c:pt>
              </c:strCache>
            </c:strRef>
          </c:cat>
          <c:val>
            <c:numRef>
              <c:f>Hoja1!$E$2:$E$4</c:f>
              <c:numCache>
                <c:formatCode>0%</c:formatCode>
                <c:ptCount val="3"/>
                <c:pt idx="0">
                  <c:v>0.10826082043168719</c:v>
                </c:pt>
                <c:pt idx="1">
                  <c:v>0.18872188947903717</c:v>
                </c:pt>
                <c:pt idx="2">
                  <c:v>0.2532489546841451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C8-4668-84B5-748FA07A9DC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¿Espacios que más utilizas en tu sede de Duoc UC?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Áreas verdes</c:v>
                </c:pt>
                <c:pt idx="1">
                  <c:v>Otros espacios cercanos externos</c:v>
                </c:pt>
                <c:pt idx="2">
                  <c:v>Punto estudiantil</c:v>
                </c:pt>
                <c:pt idx="3">
                  <c:v>Biblioteca</c:v>
                </c:pt>
                <c:pt idx="4">
                  <c:v>Casino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0.16770256526161148</c:v>
                </c:pt>
                <c:pt idx="1">
                  <c:v>5.3678381738049494E-2</c:v>
                </c:pt>
                <c:pt idx="2">
                  <c:v>0.15640185331675896</c:v>
                </c:pt>
                <c:pt idx="3">
                  <c:v>0.15459373940558255</c:v>
                </c:pt>
                <c:pt idx="4">
                  <c:v>0.4676234602779975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A-4BAA-AB20-E40A7BF1A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¿Espacios que más utilizas en tu sede de Duoc UC?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Hoja1!$A$2:$A$5</c:f>
              <c:strCache>
                <c:ptCount val="4"/>
                <c:pt idx="0">
                  <c:v>Portal VIVO Duoc</c:v>
                </c:pt>
                <c:pt idx="1">
                  <c:v>AVA</c:v>
                </c:pt>
                <c:pt idx="2">
                  <c:v>Portal de acceso a clases</c:v>
                </c:pt>
                <c:pt idx="3">
                  <c:v>No utilizo los espacios Duoc UC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6.7702565261611003E-2</c:v>
                </c:pt>
                <c:pt idx="1">
                  <c:v>5.3678381738049494E-2</c:v>
                </c:pt>
                <c:pt idx="2">
                  <c:v>5.6401853316759003E-2</c:v>
                </c:pt>
                <c:pt idx="3">
                  <c:v>0.66762346027799802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CD-4592-85F3-89A7F47A3D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992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608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88" name="Google Shape;28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98" name="Google Shape;29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7904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8057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7254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0039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6100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33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0640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36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27" name="Google Shape;32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59382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48265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19017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405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3" name="Google Shape;51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57439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0" name="Google Shape;540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17221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99530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45694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4985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5" name="Google Shape;605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5181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86890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33318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39444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72262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70" name="Google Shape;37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14890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12607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69655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70141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47620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660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2760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7849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85204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938734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890707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9745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82489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981689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25978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340182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31872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66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7" name="Google Shape;977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67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8" name="Google Shape;1028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68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52873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4" name="Google Shape;1044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70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6" name="Google Shape;1066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67" name="Google Shape;1067;p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71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7" name="Google Shape;1077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72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9" name="Google Shape;1089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90" name="Google Shape;1090;p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73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7" name="Google Shape;1077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98634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1"/>
          <p:cNvSpPr/>
          <p:nvPr/>
        </p:nvSpPr>
        <p:spPr>
          <a:xfrm>
            <a:off x="336644" y="1265614"/>
            <a:ext cx="11518711" cy="3944202"/>
          </a:xfrm>
          <a:prstGeom prst="rect">
            <a:avLst/>
          </a:prstGeom>
          <a:solidFill>
            <a:srgbClr val="002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19;p111" descr="Tesorería General de la República (Chile) - Wikipedia, la enciclopedia libre"/>
          <p:cNvSpPr/>
          <p:nvPr/>
        </p:nvSpPr>
        <p:spPr>
          <a:xfrm flipH="1">
            <a:off x="460375" y="-180665"/>
            <a:ext cx="341002" cy="34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11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0977" y="368941"/>
            <a:ext cx="1714378" cy="42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2D9C4BF-0687-46AD-B39A-6837DF05B3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365" y="95795"/>
            <a:ext cx="2904565" cy="96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  <a:defRPr sz="3400" b="1" cap="small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2"/>
          <p:cNvSpPr txBox="1">
            <a:spLocks noGrp="1"/>
          </p:cNvSpPr>
          <p:nvPr>
            <p:ph type="body" idx="1"/>
          </p:nvPr>
        </p:nvSpPr>
        <p:spPr>
          <a:xfrm>
            <a:off x="491319" y="1825625"/>
            <a:ext cx="112501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112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1319" y="6492874"/>
            <a:ext cx="808563" cy="1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4655F7-05A0-442D-A5FC-983F51D08A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28165" y="6410387"/>
            <a:ext cx="1156447" cy="386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3"/>
          <p:cNvSpPr/>
          <p:nvPr/>
        </p:nvSpPr>
        <p:spPr>
          <a:xfrm>
            <a:off x="341193" y="2006221"/>
            <a:ext cx="11518711" cy="2879678"/>
          </a:xfrm>
          <a:prstGeom prst="rect">
            <a:avLst/>
          </a:prstGeom>
          <a:solidFill>
            <a:srgbClr val="002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" name="Google Shape;25;p112" descr="Logotipo&#10;&#10;Descripción generada automáticamente">
            <a:extLst>
              <a:ext uri="{FF2B5EF4-FFF2-40B4-BE49-F238E27FC236}">
                <a16:creationId xmlns:a16="http://schemas.microsoft.com/office/drawing/2014/main" id="{F7800445-CEF5-4F97-A48B-9608A8DFD04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1319" y="6378858"/>
            <a:ext cx="926601" cy="22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54E2D06-B1BD-4EB9-A44D-B8D10B152C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81238" y="6230240"/>
            <a:ext cx="1572495" cy="5252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5"/>
          <p:cNvSpPr txBox="1">
            <a:spLocks noGrp="1"/>
          </p:cNvSpPr>
          <p:nvPr>
            <p:ph type="ctrTitle"/>
          </p:nvPr>
        </p:nvSpPr>
        <p:spPr>
          <a:xfrm>
            <a:off x="1523999" y="219233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5"/>
          <p:cNvSpPr/>
          <p:nvPr/>
        </p:nvSpPr>
        <p:spPr>
          <a:xfrm>
            <a:off x="336644" y="2543175"/>
            <a:ext cx="11518711" cy="1685926"/>
          </a:xfrm>
          <a:prstGeom prst="rect">
            <a:avLst/>
          </a:prstGeom>
          <a:solidFill>
            <a:srgbClr val="F8B3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8" name="Google Shape;38;p115" descr="Tesorería General de la República (Chile) - Wikipedia, la enciclopedia libre"/>
          <p:cNvSpPr/>
          <p:nvPr/>
        </p:nvSpPr>
        <p:spPr>
          <a:xfrm flipH="1">
            <a:off x="460375" y="-180665"/>
            <a:ext cx="341002" cy="34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115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0977" y="368941"/>
            <a:ext cx="1714378" cy="42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CC69DE7-6545-4CBA-9723-11EC6CE393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365" y="95795"/>
            <a:ext cx="2904565" cy="96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31" name="Google Shape;31;p1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3542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15.png"/><Relationship Id="rId8" Type="http://schemas.openxmlformats.org/officeDocument/2006/relationships/image" Target="../media/image1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8.xml"/><Relationship Id="rId4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9.xml"/><Relationship Id="rId4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0.xml"/><Relationship Id="rId4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11.xml"/><Relationship Id="rId4" Type="http://schemas.openxmlformats.org/officeDocument/2006/relationships/image" Target="../media/image36.png"/><Relationship Id="rId5" Type="http://schemas.openxmlformats.org/officeDocument/2006/relationships/chart" Target="../charts/chart12.xml"/><Relationship Id="rId6" Type="http://schemas.openxmlformats.org/officeDocument/2006/relationships/chart" Target="../charts/char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14.xml"/><Relationship Id="rId4" Type="http://schemas.openxmlformats.org/officeDocument/2006/relationships/image" Target="../media/image35.png"/><Relationship Id="rId5" Type="http://schemas.openxmlformats.org/officeDocument/2006/relationships/chart" Target="../charts/char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27.xml"/><Relationship Id="rId4" Type="http://schemas.openxmlformats.org/officeDocument/2006/relationships/chart" Target="../charts/chart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29.xml"/><Relationship Id="rId4" Type="http://schemas.openxmlformats.org/officeDocument/2006/relationships/chart" Target="../charts/chart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31.xml"/><Relationship Id="rId4" Type="http://schemas.openxmlformats.org/officeDocument/2006/relationships/chart" Target="../charts/chart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33.xml"/><Relationship Id="rId4" Type="http://schemas.openxmlformats.org/officeDocument/2006/relationships/chart" Target="../charts/chart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35.xml"/><Relationship Id="rId4" Type="http://schemas.openxmlformats.org/officeDocument/2006/relationships/chart" Target="../charts/chart36.xml"/><Relationship Id="rId5" Type="http://schemas.openxmlformats.org/officeDocument/2006/relationships/chart" Target="../charts/chart3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chart" Target="../charts/chart38.xml"/><Relationship Id="rId4" Type="http://schemas.openxmlformats.org/officeDocument/2006/relationships/chart" Target="../charts/chart39.xml"/><Relationship Id="rId5" Type="http://schemas.openxmlformats.org/officeDocument/2006/relationships/image" Target="../media/image3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chart" Target="../charts/chart40.xml"/><Relationship Id="rId4" Type="http://schemas.openxmlformats.org/officeDocument/2006/relationships/chart" Target="../charts/chart41.xml"/><Relationship Id="rId5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chart" Target="../charts/chart42.xml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chart" Target="../charts/chart43.xml"/><Relationship Id="rId4" Type="http://schemas.openxmlformats.org/officeDocument/2006/relationships/chart" Target="../charts/chart4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Relationship Id="rId4" Type="http://schemas.openxmlformats.org/officeDocument/2006/relationships/chart" Target="../charts/chart4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0.png"/><Relationship Id="rId4" Type="http://schemas.openxmlformats.org/officeDocument/2006/relationships/chart" Target="../charts/chart4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chart" Target="../charts/chart47.xml"/><Relationship Id="rId4" Type="http://schemas.openxmlformats.org/officeDocument/2006/relationships/image" Target="../media/image4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0.png"/><Relationship Id="rId4" Type="http://schemas.openxmlformats.org/officeDocument/2006/relationships/chart" Target="../charts/chart4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2.png"/><Relationship Id="rId4" Type="http://schemas.openxmlformats.org/officeDocument/2006/relationships/chart" Target="../charts/chart4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chart" Target="../charts/chart50.xml"/><Relationship Id="rId4" Type="http://schemas.openxmlformats.org/officeDocument/2006/relationships/image" Target="../media/image43.png"/><Relationship Id="rId5" Type="http://schemas.openxmlformats.org/officeDocument/2006/relationships/chart" Target="../charts/chart5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chart" Target="../charts/chart52.xml"/><Relationship Id="rId4" Type="http://schemas.openxmlformats.org/officeDocument/2006/relationships/image" Target="../media/image4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chart" Target="../charts/chart53.xml"/><Relationship Id="rId4" Type="http://schemas.openxmlformats.org/officeDocument/2006/relationships/image" Target="../media/image4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chart" Target="../charts/chart54.xml"/><Relationship Id="rId4" Type="http://schemas.openxmlformats.org/officeDocument/2006/relationships/chart" Target="../charts/chart55.xml"/><Relationship Id="rId5" Type="http://schemas.openxmlformats.org/officeDocument/2006/relationships/image" Target="../media/image49.png"/><Relationship Id="rId6" Type="http://schemas.openxmlformats.org/officeDocument/2006/relationships/image" Target="../media/image50.svg"/><Relationship Id="rId7" Type="http://schemas.openxmlformats.org/officeDocument/2006/relationships/chart" Target="../charts/chart5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7.xml"/><Relationship Id="rId3" Type="http://schemas.openxmlformats.org/officeDocument/2006/relationships/chart" Target="../charts/chart58.xml"/><Relationship Id="rId4" Type="http://schemas.openxmlformats.org/officeDocument/2006/relationships/image" Target="../media/image51.png"/><Relationship Id="rId5" Type="http://schemas.openxmlformats.org/officeDocument/2006/relationships/image" Target="../media/image52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chart" Target="../charts/chart59.xml"/><Relationship Id="rId4" Type="http://schemas.openxmlformats.org/officeDocument/2006/relationships/chart" Target="../charts/chart60.xml"/><Relationship Id="rId5" Type="http://schemas.openxmlformats.org/officeDocument/2006/relationships/chart" Target="../charts/chart61.xml"/><Relationship Id="rId6" Type="http://schemas.openxmlformats.org/officeDocument/2006/relationships/image" Target="../media/image51.png"/><Relationship Id="rId7" Type="http://schemas.openxmlformats.org/officeDocument/2006/relationships/image" Target="../media/image52.sv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chart" Target="../charts/chart62.xml"/><Relationship Id="rId4" Type="http://schemas.openxmlformats.org/officeDocument/2006/relationships/image" Target="../media/image51.png"/><Relationship Id="rId5" Type="http://schemas.openxmlformats.org/officeDocument/2006/relationships/image" Target="../media/image52.svg"/><Relationship Id="rId6" Type="http://schemas.openxmlformats.org/officeDocument/2006/relationships/chart" Target="../charts/chart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4.xml"/><Relationship Id="rId3" Type="http://schemas.openxmlformats.org/officeDocument/2006/relationships/image" Target="../media/image51.png"/><Relationship Id="rId4" Type="http://schemas.openxmlformats.org/officeDocument/2006/relationships/image" Target="../media/image52.svg"/><Relationship Id="rId5" Type="http://schemas.openxmlformats.org/officeDocument/2006/relationships/chart" Target="../charts/chart6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chart" Target="../charts/chart66.xml"/><Relationship Id="rId4" Type="http://schemas.openxmlformats.org/officeDocument/2006/relationships/image" Target="../media/image53.png"/><Relationship Id="rId5" Type="http://schemas.openxmlformats.org/officeDocument/2006/relationships/image" Target="../media/image54.svg"/><Relationship Id="rId6" Type="http://schemas.openxmlformats.org/officeDocument/2006/relationships/chart" Target="../charts/chart67.xml"/><Relationship Id="rId7" Type="http://schemas.openxmlformats.org/officeDocument/2006/relationships/chart" Target="../charts/chart6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chart" Target="../charts/chart69.xml"/><Relationship Id="rId4" Type="http://schemas.openxmlformats.org/officeDocument/2006/relationships/image" Target="../media/image55.png"/><Relationship Id="rId5" Type="http://schemas.openxmlformats.org/officeDocument/2006/relationships/image" Target="../media/image56.svg"/><Relationship Id="rId6" Type="http://schemas.openxmlformats.org/officeDocument/2006/relationships/chart" Target="../charts/chart70.xml"/><Relationship Id="rId7" Type="http://schemas.openxmlformats.org/officeDocument/2006/relationships/chart" Target="../charts/chart7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chart" Target="../charts/chart72.xml"/><Relationship Id="rId4" Type="http://schemas.openxmlformats.org/officeDocument/2006/relationships/chart" Target="../charts/chart7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chart" Target="../charts/chart7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chart" Target="../charts/chart7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chart" Target="../charts/chart76.xml"/><Relationship Id="rId4" Type="http://schemas.openxmlformats.org/officeDocument/2006/relationships/chart" Target="../charts/char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336645" y="2377934"/>
            <a:ext cx="11518709" cy="210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s-CL" sz="5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Radiografía del Bienestar y la Salud Mental 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2025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Duoc UC</a:t>
            </a:r>
            <a:endParaRPr sz="4400" dirty="0"/>
          </a:p>
        </p:txBody>
      </p:sp>
      <p:sp>
        <p:nvSpPr>
          <p:cNvPr id="50" name="Google Shape;50;p1" descr="Francisco Urdinez @ PUC Chile - Portfolio de curso de master China-Am.Latina"/>
          <p:cNvSpPr/>
          <p:nvPr/>
        </p:nvSpPr>
        <p:spPr>
          <a:xfrm>
            <a:off x="155574" y="-144463"/>
            <a:ext cx="1836779" cy="1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 descr="Francisco Urdinez @ PUC Chile - Portfolio de curso de master China-Am.Latin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E343CB-8787-4608-975F-885D0F5E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5116057"/>
            <a:ext cx="2008093" cy="11282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5435ED-B307-42EA-9874-9FCE3BFE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38" y="5116056"/>
            <a:ext cx="1922034" cy="1128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D393B4-F575-4F80-BEE5-ADDE360B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27" y="5107231"/>
            <a:ext cx="1824526" cy="1137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9009F9-0C94-40D2-AFFE-9A5B3B21D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773" y="5116054"/>
            <a:ext cx="2014813" cy="1128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562DBC-C7EE-421E-915C-CB124164B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24" y="5116055"/>
            <a:ext cx="2033630" cy="1128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B5CE52-3FF0-47FC-BB74-A93CAF11E4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26"/>
          <a:stretch/>
        </p:blipFill>
        <p:spPr>
          <a:xfrm>
            <a:off x="9923929" y="5096181"/>
            <a:ext cx="1931425" cy="11426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491319" y="15628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Estructura de la presentación</a:t>
            </a:r>
            <a:endParaRPr dirty="0">
              <a:solidFill>
                <a:srgbClr val="E30613"/>
              </a:solidFill>
            </a:endParaRPr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1D625237-B128-4B8B-9FB7-5B83A2FE3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885846"/>
              </p:ext>
            </p:extLst>
          </p:nvPr>
        </p:nvGraphicFramePr>
        <p:xfrm>
          <a:off x="489884" y="1523074"/>
          <a:ext cx="7966362" cy="37084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532009">
                  <a:extLst>
                    <a:ext uri="{9D8B030D-6E8A-4147-A177-3AD203B41FA5}">
                      <a16:colId xmlns:a16="http://schemas.microsoft.com/office/drawing/2014/main" val="2167040499"/>
                    </a:ext>
                  </a:extLst>
                </a:gridCol>
                <a:gridCol w="1434353">
                  <a:extLst>
                    <a:ext uri="{9D8B030D-6E8A-4147-A177-3AD203B41FA5}">
                      <a16:colId xmlns:a16="http://schemas.microsoft.com/office/drawing/2014/main" val="798159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Tema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Lámina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Introducción al estudio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58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Principales hallazgos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10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</a:t>
                      </a: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eje riegos de salud mental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5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</a:t>
                      </a: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eje bienestar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49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experiencia emocional e insights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4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inferenciales 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11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eje iniciativas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600" b="0" i="0" u="none" strike="noStrike" cap="none" dirty="0">
                        <a:solidFill>
                          <a:srgbClr val="3F3F3F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727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Síntesis y conclusiones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600" b="0" i="0" u="none" strike="noStrike" cap="none" dirty="0">
                        <a:solidFill>
                          <a:srgbClr val="3F3F3F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60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Anexos: otros datos de interés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600" b="0" i="0" u="none" strike="noStrike" cap="none" dirty="0">
                        <a:solidFill>
                          <a:srgbClr val="3F3F3F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153354"/>
                  </a:ext>
                </a:extLst>
              </a:tr>
            </a:tbl>
          </a:graphicData>
        </a:graphic>
      </p:graphicFrame>
      <p:pic>
        <p:nvPicPr>
          <p:cNvPr id="6" name="Gráfico 5" descr="Corazón con pulso con relleno sólido">
            <a:extLst>
              <a:ext uri="{FF2B5EF4-FFF2-40B4-BE49-F238E27FC236}">
                <a16:creationId xmlns:a16="http://schemas.microsoft.com/office/drawing/2014/main" id="{2A98E4D6-A245-40EF-911C-78CB010AB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6227" y="1523074"/>
            <a:ext cx="914400" cy="914400"/>
          </a:xfrm>
          <a:prstGeom prst="rect">
            <a:avLst/>
          </a:prstGeom>
        </p:spPr>
      </p:pic>
      <p:pic>
        <p:nvPicPr>
          <p:cNvPr id="9" name="Gráfico 8" descr="Cabeza con engranajes con relleno sólido">
            <a:extLst>
              <a:ext uri="{FF2B5EF4-FFF2-40B4-BE49-F238E27FC236}">
                <a16:creationId xmlns:a16="http://schemas.microsoft.com/office/drawing/2014/main" id="{3A2789FA-E0C8-41E1-A2BB-EEAF69177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6227" y="2920074"/>
            <a:ext cx="914400" cy="914400"/>
          </a:xfrm>
          <a:prstGeom prst="rect">
            <a:avLst/>
          </a:prstGeom>
        </p:spPr>
      </p:pic>
      <p:pic>
        <p:nvPicPr>
          <p:cNvPr id="13" name="Gráfico 12" descr="Cerebro con relleno sólido">
            <a:extLst>
              <a:ext uri="{FF2B5EF4-FFF2-40B4-BE49-F238E27FC236}">
                <a16:creationId xmlns:a16="http://schemas.microsoft.com/office/drawing/2014/main" id="{83EDAE06-759D-4EDD-81D6-5B9486D7A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9900" y="43170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3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Introducción al estudio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50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491319" y="15628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Propósito</a:t>
            </a:r>
            <a:endParaRPr dirty="0">
              <a:solidFill>
                <a:srgbClr val="E30613"/>
              </a:solidFill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91319" y="1358019"/>
            <a:ext cx="11233956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Noto Sans Symbols"/>
              <a:buChar char="✔"/>
            </a:pP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El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propósito de este estudio 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fue conocer la opinión de alumnas y alumnos pertenecientes a Duoc UC, en dimensiones relativas a su bienestar emocional y salud mental, de modo de diseñar una estrategia articulada para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reforzar, ampliar y focalizar 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apoyos que Duoc UC entrega a sus estudiantes. 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marR="0" lvl="0" indent="-107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endParaRPr sz="1000" dirty="0">
              <a:solidFill>
                <a:srgbClr val="3F3F3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285750" lvl="0" indent="-285750" algn="just">
              <a:lnSpc>
                <a:spcPct val="150000"/>
              </a:lnSpc>
              <a:buClr>
                <a:srgbClr val="3F3F3F"/>
              </a:buClr>
              <a:buSzPts val="1600"/>
              <a:buFont typeface="Noto Sans Symbols"/>
              <a:buChar char="✔"/>
            </a:pPr>
            <a:r>
              <a:rPr lang="es-ES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 el fin de que los resultados del estudio puedan ser utilizados para informar una arquitectura básica de intervención, los </a:t>
            </a:r>
            <a:r>
              <a:rPr lang="es-ES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hallazgos se presentarán…</a:t>
            </a:r>
            <a:endParaRPr lang="es-E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275DAC-21B3-40F5-9C39-9C87B7DBBE12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Ficha técnica</a:t>
            </a:r>
            <a:endParaRPr dirty="0"/>
          </a:p>
        </p:txBody>
      </p:sp>
      <p:sp>
        <p:nvSpPr>
          <p:cNvPr id="90" name="Google Shape;90;p6"/>
          <p:cNvSpPr txBox="1">
            <a:spLocks noGrp="1"/>
          </p:cNvSpPr>
          <p:nvPr>
            <p:ph type="body" idx="1"/>
          </p:nvPr>
        </p:nvSpPr>
        <p:spPr>
          <a:xfrm>
            <a:off x="491319" y="1270002"/>
            <a:ext cx="11250112" cy="490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Estudio de carácter censal. Toda la población de estudiantes fue invitada a participar. </a:t>
            </a:r>
            <a:endParaRPr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Universo total: 94.402 estudiantes.</a:t>
            </a:r>
            <a:endParaRPr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Estudiantes que ingresaron a la plataforma: 19.632</a:t>
            </a:r>
            <a:endParaRPr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Estudiantes con respuestas parciales: 12.231</a:t>
            </a:r>
            <a:endParaRPr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Estudiantes con respuestas completas que se consideraron como casos válidos para análisis: 8.849 (corresponden a un 9% del universo total de estudiantes).</a:t>
            </a:r>
            <a:endParaRPr dirty="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Trabajo de campo: encuestas aplicadas entre 29 de septiembre y el 13 de octubre, modalidad online.</a:t>
            </a:r>
            <a:endParaRPr dirty="0">
              <a:solidFill>
                <a:srgbClr val="3F3F3F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Todas las evaluaciones se realizaron mediante </a:t>
            </a:r>
            <a:r>
              <a:rPr lang="es-CL" dirty="0" err="1">
                <a:solidFill>
                  <a:srgbClr val="3F3F3F"/>
                </a:solidFill>
              </a:rPr>
              <a:t>auto-reportes</a:t>
            </a:r>
            <a:r>
              <a:rPr lang="es-CL" dirty="0">
                <a:solidFill>
                  <a:srgbClr val="3F3F3F"/>
                </a:solidFill>
              </a:rPr>
              <a:t>. Se prefirieron instrumentos con propiedades psicométricas conocidas para la población chilena. </a:t>
            </a:r>
            <a:endParaRPr dirty="0">
              <a:solidFill>
                <a:srgbClr val="3F3F3F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La estructura de medición de trastornos mentales fue adaptativa y personalizada.</a:t>
            </a:r>
            <a:endParaRPr dirty="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B99EFC-346B-44E8-8D1B-0EA4EA7775A1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Batería de evaluación</a:t>
            </a:r>
            <a:endParaRPr dirty="0"/>
          </a:p>
        </p:txBody>
      </p:sp>
      <p:graphicFrame>
        <p:nvGraphicFramePr>
          <p:cNvPr id="171" name="Google Shape;171;p7"/>
          <p:cNvGraphicFramePr/>
          <p:nvPr>
            <p:extLst>
              <p:ext uri="{D42A27DB-BD31-4B8C-83A1-F6EECF244321}">
                <p14:modId xmlns:p14="http://schemas.microsoft.com/office/powerpoint/2010/main" val="3246087290"/>
              </p:ext>
            </p:extLst>
          </p:nvPr>
        </p:nvGraphicFramePr>
        <p:xfrm>
          <a:off x="491319" y="1320256"/>
          <a:ext cx="10998851" cy="4856530"/>
        </p:xfrm>
        <a:graphic>
          <a:graphicData uri="http://schemas.openxmlformats.org/drawingml/2006/table">
            <a:tbl>
              <a:tblPr firstRow="1" bandRow="1">
                <a:noFill/>
                <a:tableStyleId>{991015D7-D160-4A9F-BB4E-07FA0D646497}</a:tableStyleId>
              </a:tblPr>
              <a:tblGrid>
                <a:gridCol w="27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smal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</a:t>
                      </a:r>
                      <a:endParaRPr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small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¿Qué evalúa?</a:t>
                      </a:r>
                      <a:endParaRPr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riesgos</a:t>
                      </a: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de salud mental</a:t>
                      </a:r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DSM-5	</a:t>
                      </a:r>
                      <a:r>
                        <a:rPr lang="es-CL" sz="140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(S</a:t>
                      </a: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creening de síntomas)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ED-15	(Screening de síntomas asociados a trastornos de conducta alimentaria)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PSS4 	(</a:t>
                      </a:r>
                      <a:r>
                        <a:rPr lang="es-MX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</a:t>
                      </a: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strés percibido</a:t>
                      </a: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ED-15 	(Trastornos de conducta alimentaria)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PHQ9	(Profundización en depresión)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GAD7	(Profundización en ansiedad)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LPFS-BF 2.0	(Profundización en trastornos en el funcionamiento de la personalidad)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CAST	(Profundización en consumo de marihuana)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CUPIT	(Profundización en consumo de marihuana)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AUDIT	(Profundización en consumo de alcohol)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C-SSRS	(Profundización en ideación suicida)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Otros	Estresores / Exigencia carga académica / Estrategias de afrontamiento / Procrastinación</a:t>
                      </a:r>
                      <a:endParaRPr lang="es-CL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recursos</a:t>
                      </a: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de salud mental</a:t>
                      </a:r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PERMA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Apoyo percibido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Flow </a:t>
                      </a:r>
                      <a:r>
                        <a:rPr lang="es-CL" sz="1400" u="none" strike="noStrike" cap="none" dirty="0" err="1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states</a:t>
                      </a:r>
                      <a:endParaRPr lang="es-CL" sz="1400" u="none" strike="noStrike" cap="none" dirty="0">
                        <a:solidFill>
                          <a:srgbClr val="3A434C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Calibri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Estilo de vida saludable (Actividad física, Alimentación, Ingesta de líquidos)</a:t>
                      </a:r>
                      <a:endParaRPr lang="es-CL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9822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variables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contextuales</a:t>
                      </a:r>
                      <a:endParaRPr sz="1600" b="1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Personas al cuidado / Situación de empleo / Condiciones para la actividad académica / Necesidad y acceso de tratamiento en salud mental / Lugar, tipo y barreras de acceso a tratamiento / Condición de salud física crónica </a:t>
                      </a:r>
                      <a:endParaRPr lang="es-MX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iniciativas</a:t>
                      </a: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APP Vivo / Embajadores de la Salud Mental / Atenciones psicológicas / Bienestar Integral en Movimiento</a:t>
                      </a:r>
                      <a:endParaRPr sz="1400" u="none" strike="noStrike" cap="none" dirty="0">
                        <a:solidFill>
                          <a:srgbClr val="3A434C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Caracterización de participantes</a:t>
            </a:r>
            <a:br>
              <a:rPr lang="es-CL" dirty="0"/>
            </a:br>
            <a:endParaRPr sz="1400" dirty="0"/>
          </a:p>
        </p:txBody>
      </p:sp>
      <p:graphicFrame>
        <p:nvGraphicFramePr>
          <p:cNvPr id="291" name="gender_pie_chart"/>
          <p:cNvGraphicFramePr/>
          <p:nvPr>
            <p:extLst>
              <p:ext uri="{D42A27DB-BD31-4B8C-83A1-F6EECF244321}">
                <p14:modId xmlns:p14="http://schemas.microsoft.com/office/powerpoint/2010/main" val="1840723605"/>
              </p:ext>
            </p:extLst>
          </p:nvPr>
        </p:nvGraphicFramePr>
        <p:xfrm>
          <a:off x="804568" y="2363337"/>
          <a:ext cx="3025342" cy="2552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2" name="student_day_pie_chart"/>
          <p:cNvGraphicFramePr/>
          <p:nvPr>
            <p:extLst>
              <p:ext uri="{D42A27DB-BD31-4B8C-83A1-F6EECF244321}">
                <p14:modId xmlns:p14="http://schemas.microsoft.com/office/powerpoint/2010/main" val="1811007523"/>
              </p:ext>
            </p:extLst>
          </p:nvPr>
        </p:nvGraphicFramePr>
        <p:xfrm>
          <a:off x="4692496" y="2363338"/>
          <a:ext cx="2807007" cy="2552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3" name="student_type_pie_chart"/>
          <p:cNvGraphicFramePr/>
          <p:nvPr>
            <p:extLst>
              <p:ext uri="{D42A27DB-BD31-4B8C-83A1-F6EECF244321}">
                <p14:modId xmlns:p14="http://schemas.microsoft.com/office/powerpoint/2010/main" val="3237093768"/>
              </p:ext>
            </p:extLst>
          </p:nvPr>
        </p:nvGraphicFramePr>
        <p:xfrm>
          <a:off x="8362089" y="2134373"/>
          <a:ext cx="2807007" cy="3010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total_participantes">
            <a:extLst>
              <a:ext uri="{FF2B5EF4-FFF2-40B4-BE49-F238E27FC236}">
                <a16:creationId xmlns:a16="http://schemas.microsoft.com/office/drawing/2014/main" id="{FD6594E2-3B12-FB73-4BD3-7B79F0E7FDB7}"/>
              </a:ext>
            </a:extLst>
          </p:cNvPr>
          <p:cNvSpPr txBox="1"/>
          <p:nvPr/>
        </p:nvSpPr>
        <p:spPr>
          <a:xfrm>
            <a:off x="491319" y="890042"/>
            <a:ext cx="2631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solidFill>
                  <a:srgbClr val="3A434C"/>
                </a:solidFill>
                <a:latin typeface="Calibri Light"/>
              </a:rPr>
              <a:t>CASOS VÁLIDOS (N=18,442)</a:t>
            </a:r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1" name="escuelas_bar_chart"/>
          <p:cNvGraphicFramePr/>
          <p:nvPr>
            <p:extLst>
              <p:ext uri="{D42A27DB-BD31-4B8C-83A1-F6EECF244321}">
                <p14:modId xmlns:p14="http://schemas.microsoft.com/office/powerpoint/2010/main" val="2439517272"/>
              </p:ext>
            </p:extLst>
          </p:nvPr>
        </p:nvGraphicFramePr>
        <p:xfrm>
          <a:off x="1858210" y="1416783"/>
          <a:ext cx="8628929" cy="2495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2" name="sedes_bar_chart"/>
          <p:cNvGraphicFramePr/>
          <p:nvPr>
            <p:extLst>
              <p:ext uri="{D42A27DB-BD31-4B8C-83A1-F6EECF244321}">
                <p14:modId xmlns:p14="http://schemas.microsoft.com/office/powerpoint/2010/main" val="1126109642"/>
              </p:ext>
            </p:extLst>
          </p:nvPr>
        </p:nvGraphicFramePr>
        <p:xfrm>
          <a:off x="1165225" y="4100597"/>
          <a:ext cx="10291476" cy="2193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Google Shape;290;p18">
            <a:extLst>
              <a:ext uri="{FF2B5EF4-FFF2-40B4-BE49-F238E27FC236}">
                <a16:creationId xmlns:a16="http://schemas.microsoft.com/office/drawing/2014/main" id="{A0121B43-BDE4-4EA8-B1D2-962DBEEA7B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Caracterización de participantes</a:t>
            </a:r>
            <a:br>
              <a:rPr lang="es-CL" dirty="0"/>
            </a:br>
            <a:endParaRPr sz="1400" dirty="0"/>
          </a:p>
        </p:txBody>
      </p:sp>
      <p:sp>
        <p:nvSpPr>
          <p:cNvPr id="2" name="total_participantes_2">
            <a:extLst>
              <a:ext uri="{FF2B5EF4-FFF2-40B4-BE49-F238E27FC236}">
                <a16:creationId xmlns:a16="http://schemas.microsoft.com/office/drawing/2014/main" id="{E58931B8-8BCA-499E-1D4B-D021B6210CFF}"/>
              </a:ext>
            </a:extLst>
          </p:cNvPr>
          <p:cNvSpPr txBox="1"/>
          <p:nvPr/>
        </p:nvSpPr>
        <p:spPr>
          <a:xfrm>
            <a:off x="491319" y="890042"/>
            <a:ext cx="2631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solidFill>
                  <a:srgbClr val="3A434C"/>
                </a:solidFill>
                <a:latin typeface="Calibri Light"/>
              </a:rPr>
              <a:t>CASOS VÁLIDOS (N=18,442)</a:t>
            </a:r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Principales hallazgos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00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B29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796604" y="4882487"/>
            <a:ext cx="32276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657432" y="4882950"/>
            <a:ext cx="33070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83862" y="4861615"/>
            <a:ext cx="3054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Principales hallazgos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391729" y="1789881"/>
            <a:ext cx="2372779" cy="9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208329" y="1783754"/>
            <a:ext cx="2449103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00A3E5-955F-3CC1-516C-1D3434FCA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8" y="1872869"/>
            <a:ext cx="779581" cy="7343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FC49A5-F79E-0434-8679-358EF8735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463" y="4122545"/>
            <a:ext cx="637397" cy="6186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684C97-F342-C05A-2748-1D45C222A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781" y="4001975"/>
            <a:ext cx="777311" cy="8063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F8DF50-0CFD-D43A-64C4-7BA055DC1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226" y="1872869"/>
            <a:ext cx="1268787" cy="7343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ADE7885-19BF-06E8-3FC0-ABD542D94A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971013" y="4001975"/>
            <a:ext cx="878845" cy="85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4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3C3E"/>
          </a:solidFill>
          <a:ln w="12700" cap="flat" cmpd="sng">
            <a:solidFill>
              <a:srgbClr val="E53C3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584049" y="5436109"/>
            <a:ext cx="30545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7576018" y="3080785"/>
            <a:ext cx="349416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2124373" y="3053024"/>
            <a:ext cx="358456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8669221" y="5436109"/>
            <a:ext cx="30798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610332" y="5445362"/>
            <a:ext cx="30545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491319" y="410031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Principales desafíos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35" name="Google Shape;23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0046" y="3137487"/>
            <a:ext cx="718480" cy="725031"/>
          </a:xfrm>
          <a:prstGeom prst="rect">
            <a:avLst/>
          </a:prstGeom>
          <a:solidFill>
            <a:srgbClr val="E63C3F"/>
          </a:solidFill>
          <a:ln>
            <a:noFill/>
          </a:ln>
        </p:spPr>
      </p:pic>
      <p:pic>
        <p:nvPicPr>
          <p:cNvPr id="236" name="Google Shape;23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2372" y="3116273"/>
            <a:ext cx="852488" cy="76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14" y="4637287"/>
            <a:ext cx="868598" cy="798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48004" y="4504482"/>
            <a:ext cx="895991" cy="931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59084" y="4477122"/>
            <a:ext cx="700087" cy="95898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2"/>
          <p:cNvSpPr/>
          <p:nvPr/>
        </p:nvSpPr>
        <p:spPr>
          <a:xfrm>
            <a:off x="1689135" y="1427402"/>
            <a:ext cx="358456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962837" y="1449927"/>
            <a:ext cx="339712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2EA514-1EFC-8FB3-D077-5355F553DA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151" y="1476719"/>
            <a:ext cx="650863" cy="6934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824FBDE-A207-EA14-4924-512208C054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8004" y="1381810"/>
            <a:ext cx="440826" cy="97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-3977" y="7883"/>
            <a:ext cx="12192000" cy="6858000"/>
          </a:xfrm>
          <a:prstGeom prst="rect">
            <a:avLst/>
          </a:prstGeom>
          <a:solidFill>
            <a:srgbClr val="F8B31C"/>
          </a:solidFill>
          <a:ln w="12700" cap="flat" cmpd="sng">
            <a:solidFill>
              <a:srgbClr val="FFB8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84049" y="5194369"/>
            <a:ext cx="27592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301800" y="2483663"/>
            <a:ext cx="367159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8669221" y="5194369"/>
            <a:ext cx="30798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610332" y="5203622"/>
            <a:ext cx="30545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14" name="Google Shape;21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4215" y="1486234"/>
            <a:ext cx="675617" cy="724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6109" y="4200044"/>
            <a:ext cx="851831" cy="90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75190" y="4192381"/>
            <a:ext cx="667875" cy="8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Comparación 2022 - 2025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-80884" y="2482991"/>
            <a:ext cx="4089115" cy="9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049127" y="2510321"/>
            <a:ext cx="4320000" cy="9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140FE8-4822-276E-E4F7-BE6F4199A6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9929" y="4397688"/>
            <a:ext cx="708930" cy="7382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CF86B05-7DCA-4AD9-8478-76AE5247EF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4767" y="1458665"/>
            <a:ext cx="722884" cy="7793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D80746A-2954-0CAA-20F7-E8EE6F2B90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9876" y="1486234"/>
            <a:ext cx="535394" cy="86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7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>
            <a:spLocks noGrp="1"/>
          </p:cNvSpPr>
          <p:nvPr>
            <p:ph type="ctrTitle"/>
          </p:nvPr>
        </p:nvSpPr>
        <p:spPr>
          <a:xfrm>
            <a:off x="1523999" y="219233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CL" cap="small" dirty="0"/>
              <a:t>Resultados descriptivos</a:t>
            </a:r>
            <a:endParaRPr cap="smal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estrés y afrontamiento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nada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Nivel de estrés percibido</a:t>
            </a:r>
            <a:endParaRPr dirty="0"/>
          </a:p>
        </p:txBody>
      </p:sp>
      <p:graphicFrame>
        <p:nvGraphicFramePr>
          <p:cNvPr id="428" name="nivel_estres_categorias"/>
          <p:cNvGraphicFramePr/>
          <p:nvPr>
            <p:extLst>
              <p:ext uri="{D42A27DB-BD31-4B8C-83A1-F6EECF244321}">
                <p14:modId xmlns:p14="http://schemas.microsoft.com/office/powerpoint/2010/main" val="2905219155"/>
              </p:ext>
            </p:extLst>
          </p:nvPr>
        </p:nvGraphicFramePr>
        <p:xfrm>
          <a:off x="4132613" y="796926"/>
          <a:ext cx="8059387" cy="2814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29" name="nivel_estres_sedes"/>
          <p:cNvGraphicFramePr/>
          <p:nvPr>
            <p:extLst>
              <p:ext uri="{D42A27DB-BD31-4B8C-83A1-F6EECF244321}">
                <p14:modId xmlns:p14="http://schemas.microsoft.com/office/powerpoint/2010/main" val="3792720342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437;p33">
            <a:extLst>
              <a:ext uri="{FF2B5EF4-FFF2-40B4-BE49-F238E27FC236}">
                <a16:creationId xmlns:a16="http://schemas.microsoft.com/office/drawing/2014/main" id="{0BFC570E-2A22-DF4E-8EBD-0FE30D76288A}"/>
              </a:ext>
            </a:extLst>
          </p:cNvPr>
          <p:cNvSpPr txBox="1"/>
          <p:nvPr/>
        </p:nvSpPr>
        <p:spPr>
          <a:xfrm>
            <a:off x="541698" y="4659417"/>
            <a:ext cx="287250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 el promedio de </a:t>
            </a:r>
            <a:r>
              <a:rPr lang="es-ES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estrés percibido</a:t>
            </a:r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para los estudiantes que participaron en el estudio (considerando un 100% como un nivel de estrés extremo e intolerable).</a:t>
            </a:r>
            <a:endParaRPr lang="es-MX"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nada">
            <a:extLst>
              <a:ext uri="{FF2B5EF4-FFF2-40B4-BE49-F238E27FC236}">
                <a16:creationId xmlns:a16="http://schemas.microsoft.com/office/drawing/2014/main" id="{8F98F07F-704E-4675-B717-3F5937AE6D80}"/>
              </a:ext>
            </a:extLst>
          </p:cNvPr>
          <p:cNvSpPr/>
          <p:nvPr/>
        </p:nvSpPr>
        <p:spPr>
          <a:xfrm>
            <a:off x="547568" y="1413773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</a:p>
        </p:txBody>
      </p:sp>
      <p:sp>
        <p:nvSpPr>
          <p:cNvPr id="11" name="nivel_estres_promedio_2025">
            <a:extLst>
              <a:ext uri="{FF2B5EF4-FFF2-40B4-BE49-F238E27FC236}">
                <a16:creationId xmlns:a16="http://schemas.microsoft.com/office/drawing/2014/main" id="{E1C77E2B-5B74-4EFF-879C-02D40C622499}"/>
              </a:ext>
            </a:extLst>
          </p:cNvPr>
          <p:cNvSpPr/>
          <p:nvPr/>
        </p:nvSpPr>
        <p:spPr>
          <a:xfrm>
            <a:off x="1254201" y="2106829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00223A"/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42%</a:t>
            </a:r>
          </a:p>
        </p:txBody>
      </p:sp>
      <p:sp>
        <p:nvSpPr>
          <p:cNvPr id="2" name="nivel_estres_promedio_2022">
            <a:extLst>
              <a:ext uri="{FF2B5EF4-FFF2-40B4-BE49-F238E27FC236}">
                <a16:creationId xmlns:a16="http://schemas.microsoft.com/office/drawing/2014/main" id="{47E56322-8BBA-B4A3-9149-EB21D1FABE89}"/>
              </a:ext>
            </a:extLst>
          </p:cNvPr>
          <p:cNvSpPr txBox="1"/>
          <p:nvPr/>
        </p:nvSpPr>
        <p:spPr>
          <a:xfrm>
            <a:off x="699796" y="1511556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Calibri Light"/>
              </a:rPr>
              <a:t>53%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0698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14316" y="396587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</a:t>
            </a:r>
            <a:br>
              <a:rPr lang="es-CL" dirty="0"/>
            </a:br>
            <a:r>
              <a:rPr lang="es-ES" sz="2200" b="0" dirty="0"/>
              <a:t>¿Cuáles de las siguientes situaciones presentan un problema que te afecte actualmente? </a:t>
            </a:r>
            <a:br>
              <a:rPr lang="es-ES" sz="2200" b="0" dirty="0"/>
            </a:br>
            <a:r>
              <a:rPr lang="es-ES" sz="2200" i="1" dirty="0"/>
              <a:t>Resultados por Sexo</a:t>
            </a:r>
            <a:br>
              <a:rPr lang="es-ES" sz="2200" b="0" dirty="0"/>
            </a:br>
            <a:endParaRPr sz="2200" b="0" dirty="0"/>
          </a:p>
        </p:txBody>
      </p:sp>
      <p:graphicFrame>
        <p:nvGraphicFramePr>
          <p:cNvPr id="4" name="estresores_por_genero">
            <a:extLst>
              <a:ext uri="{FF2B5EF4-FFF2-40B4-BE49-F238E27FC236}">
                <a16:creationId xmlns:a16="http://schemas.microsoft.com/office/drawing/2014/main" id="{8103CFB3-65F2-4BDB-99D2-9B8B1658FE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150310"/>
              </p:ext>
            </p:extLst>
          </p:nvPr>
        </p:nvGraphicFramePr>
        <p:xfrm>
          <a:off x="1116106" y="1380199"/>
          <a:ext cx="9959788" cy="53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oogle Shape;316;p21">
            <a:extLst>
              <a:ext uri="{FF2B5EF4-FFF2-40B4-BE49-F238E27FC236}">
                <a16:creationId xmlns:a16="http://schemas.microsoft.com/office/drawing/2014/main" id="{A1290AF1-4DD3-4575-9164-E1B6CD0704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92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14316" y="396587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</a:t>
            </a:r>
            <a:br>
              <a:rPr lang="es-CL" dirty="0"/>
            </a:br>
            <a:r>
              <a:rPr lang="es-ES" sz="2200" b="0" dirty="0"/>
              <a:t>¿Cuáles de las siguientes situaciones presentan un problema que te afecte actualmente? </a:t>
            </a:r>
            <a:br>
              <a:rPr lang="es-ES" sz="2200" b="0" dirty="0"/>
            </a:br>
            <a:r>
              <a:rPr lang="es-ES" sz="2200" i="1" dirty="0"/>
              <a:t>Resultados por Jornada</a:t>
            </a:r>
            <a:br>
              <a:rPr lang="es-ES" sz="2200" b="0" dirty="0"/>
            </a:br>
            <a:endParaRPr sz="2200" b="0" dirty="0"/>
          </a:p>
        </p:txBody>
      </p:sp>
      <p:graphicFrame>
        <p:nvGraphicFramePr>
          <p:cNvPr id="4" name="estresores_por_jornada">
            <a:extLst>
              <a:ext uri="{FF2B5EF4-FFF2-40B4-BE49-F238E27FC236}">
                <a16:creationId xmlns:a16="http://schemas.microsoft.com/office/drawing/2014/main" id="{8103CFB3-65F2-4BDB-99D2-9B8B1658FE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0021436"/>
              </p:ext>
            </p:extLst>
          </p:nvPr>
        </p:nvGraphicFramePr>
        <p:xfrm>
          <a:off x="1116106" y="1380199"/>
          <a:ext cx="9959788" cy="53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oogle Shape;316;p21">
            <a:extLst>
              <a:ext uri="{FF2B5EF4-FFF2-40B4-BE49-F238E27FC236}">
                <a16:creationId xmlns:a16="http://schemas.microsoft.com/office/drawing/2014/main" id="{A1290AF1-4DD3-4575-9164-E1B6CD0704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35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Estresores – Exigencia carga académica</a:t>
            </a:r>
            <a:br>
              <a:rPr lang="es-CL" dirty="0"/>
            </a:br>
            <a:r>
              <a:rPr lang="es-CL" sz="2000" b="0" dirty="0"/>
              <a:t>Entre quienes reportaron como estresor “Carga académica exigente”</a:t>
            </a:r>
            <a:endParaRPr sz="2900" b="0" dirty="0"/>
          </a:p>
        </p:txBody>
      </p:sp>
      <p:graphicFrame>
        <p:nvGraphicFramePr>
          <p:cNvPr id="322" name="exigencia_academica"/>
          <p:cNvGraphicFramePr/>
          <p:nvPr>
            <p:extLst>
              <p:ext uri="{D42A27DB-BD31-4B8C-83A1-F6EECF244321}">
                <p14:modId xmlns:p14="http://schemas.microsoft.com/office/powerpoint/2010/main" val="2296239787"/>
              </p:ext>
            </p:extLst>
          </p:nvPr>
        </p:nvGraphicFramePr>
        <p:xfrm>
          <a:off x="2174875" y="1762125"/>
          <a:ext cx="8128000" cy="4185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3" name="Google Shape;32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3601" y="119748"/>
            <a:ext cx="714159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nota_exigencia">
            <a:extLst>
              <a:ext uri="{FF2B5EF4-FFF2-40B4-BE49-F238E27FC236}">
                <a16:creationId xmlns:a16="http://schemas.microsoft.com/office/drawing/2014/main" id="{043A6CF9-AD15-3764-DD0C-9D4C1DB95FF9}"/>
              </a:ext>
            </a:extLst>
          </p:cNvPr>
          <p:cNvSpPr txBox="1"/>
          <p:nvPr/>
        </p:nvSpPr>
        <p:spPr>
          <a:xfrm>
            <a:off x="2331940" y="6481232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sz="1200" b="0">
                <a:solidFill>
                  <a:srgbClr val="525252"/>
                </a:solidFill>
                <a:latin typeface="Calibri Light"/>
              </a:rPr>
              <a:t>Nota: esta pregunta incluye un total de 2264 respuestas.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491317" y="56543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 – Exigencia carga académica</a:t>
            </a:r>
            <a:br>
              <a:rPr lang="es-CL" dirty="0"/>
            </a:br>
            <a:r>
              <a:rPr lang="es-ES" sz="2000" b="0" i="1" dirty="0"/>
              <a:t>¿Cuáles de las siguientes razones explican que la carga académica te resulte exigente?</a:t>
            </a:r>
            <a:br>
              <a:rPr lang="es-ES" sz="2000" b="0" i="1" dirty="0"/>
            </a:br>
            <a:r>
              <a:rPr lang="es-CL" sz="2000" b="0" dirty="0"/>
              <a:t>Entre quienes reportaron como estresor “Carga académica exigente”</a:t>
            </a:r>
            <a:br>
              <a:rPr lang="es-CL" sz="2000" b="0" dirty="0"/>
            </a:br>
            <a:r>
              <a:rPr lang="es-ES" sz="2000" i="1" dirty="0"/>
              <a:t>Resultados por tipo de alumno</a:t>
            </a:r>
            <a:br>
              <a:rPr lang="es-ES" sz="2000" b="0" dirty="0"/>
            </a:br>
            <a:endParaRPr sz="2900" b="0" dirty="0"/>
          </a:p>
        </p:txBody>
      </p:sp>
      <p:graphicFrame>
        <p:nvGraphicFramePr>
          <p:cNvPr id="322" name="exigencia_academica_inicio"/>
          <p:cNvGraphicFramePr/>
          <p:nvPr>
            <p:extLst>
              <p:ext uri="{D42A27DB-BD31-4B8C-83A1-F6EECF244321}">
                <p14:modId xmlns:p14="http://schemas.microsoft.com/office/powerpoint/2010/main" val="2046050906"/>
              </p:ext>
            </p:extLst>
          </p:nvPr>
        </p:nvGraphicFramePr>
        <p:xfrm>
          <a:off x="323679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3" name="Google Shape;32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3601" y="119748"/>
            <a:ext cx="714159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exigencia_academica_continuidad"/>
          <p:cNvGraphicFramePr/>
          <p:nvPr>
            <p:extLst>
              <p:ext uri="{D42A27DB-BD31-4B8C-83A1-F6EECF244321}">
                <p14:modId xmlns:p14="http://schemas.microsoft.com/office/powerpoint/2010/main" val="389852781"/>
              </p:ext>
            </p:extLst>
          </p:nvPr>
        </p:nvGraphicFramePr>
        <p:xfrm>
          <a:off x="4407782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exigencia_academica_admision_especial"/>
          <p:cNvGraphicFramePr/>
          <p:nvPr>
            <p:extLst>
              <p:ext uri="{D42A27DB-BD31-4B8C-83A1-F6EECF244321}">
                <p14:modId xmlns:p14="http://schemas.microsoft.com/office/powerpoint/2010/main" val="3853227668"/>
              </p:ext>
            </p:extLst>
          </p:nvPr>
        </p:nvGraphicFramePr>
        <p:xfrm>
          <a:off x="8202108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7377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Estresores 2022 - 2025</a:t>
            </a:r>
            <a:endParaRPr dirty="0"/>
          </a:p>
        </p:txBody>
      </p:sp>
      <p:graphicFrame>
        <p:nvGraphicFramePr>
          <p:cNvPr id="315" name="estresores_top5_2022"/>
          <p:cNvGraphicFramePr/>
          <p:nvPr>
            <p:extLst>
              <p:ext uri="{D42A27DB-BD31-4B8C-83A1-F6EECF244321}">
                <p14:modId xmlns:p14="http://schemas.microsoft.com/office/powerpoint/2010/main" val="1727685633"/>
              </p:ext>
            </p:extLst>
          </p:nvPr>
        </p:nvGraphicFramePr>
        <p:xfrm>
          <a:off x="2533127" y="1390650"/>
          <a:ext cx="9597481" cy="2108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16" name="Google Shape;31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27;p32">
            <a:extLst>
              <a:ext uri="{FF2B5EF4-FFF2-40B4-BE49-F238E27FC236}">
                <a16:creationId xmlns:a16="http://schemas.microsoft.com/office/drawing/2014/main" id="{65A6203E-2A5D-4C3D-B26F-5319B49B28AB}"/>
              </a:ext>
            </a:extLst>
          </p:cNvPr>
          <p:cNvSpPr/>
          <p:nvPr/>
        </p:nvSpPr>
        <p:spPr>
          <a:xfrm>
            <a:off x="394097" y="1834804"/>
            <a:ext cx="2160000" cy="863601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2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7" name="Google Shape;427;p32">
            <a:extLst>
              <a:ext uri="{FF2B5EF4-FFF2-40B4-BE49-F238E27FC236}">
                <a16:creationId xmlns:a16="http://schemas.microsoft.com/office/drawing/2014/main" id="{7AEECA03-7141-449B-8B7C-8C9A8AFFCBEF}"/>
              </a:ext>
            </a:extLst>
          </p:cNvPr>
          <p:cNvSpPr/>
          <p:nvPr/>
        </p:nvSpPr>
        <p:spPr>
          <a:xfrm>
            <a:off x="394097" y="4401138"/>
            <a:ext cx="2160000" cy="863601"/>
          </a:xfrm>
          <a:prstGeom prst="roundRect">
            <a:avLst>
              <a:gd name="adj" fmla="val 16667"/>
            </a:avLst>
          </a:prstGeom>
          <a:solidFill>
            <a:srgbClr val="00223A"/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2025</a:t>
            </a:r>
            <a:endParaRPr sz="2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" name="estresores_top5_2025">
            <a:extLst>
              <a:ext uri="{FF2B5EF4-FFF2-40B4-BE49-F238E27FC236}">
                <a16:creationId xmlns:a16="http://schemas.microsoft.com/office/drawing/2014/main" id="{62EC4AD2-3B7D-90FC-D213-96859FBC34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8110466"/>
              </p:ext>
            </p:extLst>
          </p:nvPr>
        </p:nvGraphicFramePr>
        <p:xfrm>
          <a:off x="2533126" y="3943133"/>
          <a:ext cx="9597481" cy="2108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afrontamiento_estres"/>
          <p:cNvGraphicFramePr/>
          <p:nvPr>
            <p:extLst>
              <p:ext uri="{D42A27DB-BD31-4B8C-83A1-F6EECF244321}">
                <p14:modId xmlns:p14="http://schemas.microsoft.com/office/powerpoint/2010/main" val="2530827904"/>
              </p:ext>
            </p:extLst>
          </p:nvPr>
        </p:nvGraphicFramePr>
        <p:xfrm>
          <a:off x="1171575" y="1797227"/>
          <a:ext cx="6572248" cy="4015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0" name="Google Shape;330;p2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2800"/>
              <a:buFont typeface="Calibri"/>
              <a:buNone/>
            </a:pPr>
            <a:r>
              <a:rPr lang="es-CL" sz="2800" dirty="0"/>
              <a:t>Estrategias de afrontamiento  </a:t>
            </a:r>
            <a:endParaRPr dirty="0"/>
          </a:p>
        </p:txBody>
      </p:sp>
      <p:sp>
        <p:nvSpPr>
          <p:cNvPr id="332" name="Google Shape;332;p23"/>
          <p:cNvSpPr txBox="1"/>
          <p:nvPr/>
        </p:nvSpPr>
        <p:spPr>
          <a:xfrm>
            <a:off x="866775" y="1150938"/>
            <a:ext cx="984885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Respecto a las situaciones que señalaste que representaban un problema para ti, y selecciona qué has hecho al respecto:</a:t>
            </a:r>
            <a:endParaRPr sz="18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8284260" y="4307321"/>
            <a:ext cx="415688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3A434C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Procrastinación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336" name="procrastinacion"/>
          <p:cNvGraphicFramePr/>
          <p:nvPr>
            <p:extLst>
              <p:ext uri="{D42A27DB-BD31-4B8C-83A1-F6EECF244321}">
                <p14:modId xmlns:p14="http://schemas.microsoft.com/office/powerpoint/2010/main" val="994849556"/>
              </p:ext>
            </p:extLst>
          </p:nvPr>
        </p:nvGraphicFramePr>
        <p:xfrm>
          <a:off x="7266589" y="5211223"/>
          <a:ext cx="5542497" cy="1444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37" name="Google Shape;337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91887" y="210455"/>
            <a:ext cx="579947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Condición de salud crónica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193447" y="1711886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¿Tienes actualmente alguna condición </a:t>
            </a:r>
            <a:r>
              <a:rPr lang="es-MX" sz="1600" dirty="0">
                <a:solidFill>
                  <a:schemeClr val="accent3">
                    <a:lumMod val="50000"/>
                  </a:schemeClr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médica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de </a:t>
            </a:r>
            <a:r>
              <a:rPr lang="es-MX" sz="1600" b="1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larga duración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, diagnosticada por un profesional de salud?</a:t>
            </a:r>
          </a:p>
          <a:p>
            <a:pPr algn="ctr"/>
            <a:endParaRPr lang="es-MX"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</p:txBody>
      </p:sp>
      <p:graphicFrame>
        <p:nvGraphicFramePr>
          <p:cNvPr id="353" name="salud_cronica1"/>
          <p:cNvGraphicFramePr/>
          <p:nvPr>
            <p:extLst>
              <p:ext uri="{D42A27DB-BD31-4B8C-83A1-F6EECF244321}">
                <p14:modId xmlns:p14="http://schemas.microsoft.com/office/powerpoint/2010/main" val="3519222684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53527" y="1711886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¿Te encuentras actualmente en tratamiento médico o bajo control por esta(s) condición(es)?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salud_cronica2"/>
          <p:cNvGraphicFramePr/>
          <p:nvPr>
            <p:extLst>
              <p:ext uri="{D42A27DB-BD31-4B8C-83A1-F6EECF244321}">
                <p14:modId xmlns:p14="http://schemas.microsoft.com/office/powerpoint/2010/main" val="3529957238"/>
              </p:ext>
            </p:extLst>
          </p:nvPr>
        </p:nvGraphicFramePr>
        <p:xfrm>
          <a:off x="6053527" y="2305760"/>
          <a:ext cx="5843091" cy="3899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ntidad_salfis1">
            <a:extLst>
              <a:ext uri="{FF2B5EF4-FFF2-40B4-BE49-F238E27FC236}">
                <a16:creationId xmlns:a16="http://schemas.microsoft.com/office/drawing/2014/main" id="{04A490B3-5449-7620-0CCB-915C57BEB288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200" b="0">
                <a:solidFill>
                  <a:srgbClr val="525252"/>
                </a:solidFill>
                <a:latin typeface="Calibri Light"/>
              </a:rPr>
              <a:t>Nota: esta pregunta incluye un total de 12488 respuestas.</a:t>
            </a:r>
          </a:p>
        </p:txBody>
      </p:sp>
    </p:spTree>
    <p:extLst>
      <p:ext uri="{BB962C8B-B14F-4D97-AF65-F5344CB8AC3E}">
        <p14:creationId xmlns:p14="http://schemas.microsoft.com/office/powerpoint/2010/main" val="39197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tamizaje en salud mental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51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rupo_verde"/>
          <p:cNvSpPr/>
          <p:nvPr/>
        </p:nvSpPr>
        <p:spPr>
          <a:xfrm>
            <a:off x="1000207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3%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03" name="Google Shape;403;p30"/>
          <p:cNvSpPr txBox="1"/>
          <p:nvPr/>
        </p:nvSpPr>
        <p:spPr>
          <a:xfrm>
            <a:off x="910207" y="3381335"/>
            <a:ext cx="234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promoción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(Sin malestar clínico)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Salud mental</a:t>
            </a:r>
            <a:endParaRPr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D964248-D28D-3787-5950-E0B0AC662034}"/>
              </a:ext>
            </a:extLst>
          </p:cNvPr>
          <p:cNvCxnSpPr>
            <a:cxnSpLocks/>
          </p:cNvCxnSpPr>
          <p:nvPr/>
        </p:nvCxnSpPr>
        <p:spPr>
          <a:xfrm>
            <a:off x="4034018" y="902523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rupo_amarillo">
            <a:extLst>
              <a:ext uri="{FF2B5EF4-FFF2-40B4-BE49-F238E27FC236}">
                <a16:creationId xmlns:a16="http://schemas.microsoft.com/office/drawing/2014/main" id="{AB53DA2D-3C68-47E8-9690-479DEB943059}"/>
              </a:ext>
            </a:extLst>
          </p:cNvPr>
          <p:cNvSpPr/>
          <p:nvPr/>
        </p:nvSpPr>
        <p:spPr>
          <a:xfrm>
            <a:off x="4986175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40%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403;p30">
            <a:extLst>
              <a:ext uri="{FF2B5EF4-FFF2-40B4-BE49-F238E27FC236}">
                <a16:creationId xmlns:a16="http://schemas.microsoft.com/office/drawing/2014/main" id="{3CADC61E-B837-4622-B1A8-A9CA0F188F3D}"/>
              </a:ext>
            </a:extLst>
          </p:cNvPr>
          <p:cNvSpPr txBox="1"/>
          <p:nvPr/>
        </p:nvSpPr>
        <p:spPr>
          <a:xfrm>
            <a:off x="4542365" y="3381335"/>
            <a:ext cx="304761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subumbral)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4" name="grupo_rojo">
            <a:extLst>
              <a:ext uri="{FF2B5EF4-FFF2-40B4-BE49-F238E27FC236}">
                <a16:creationId xmlns:a16="http://schemas.microsoft.com/office/drawing/2014/main" id="{A19FAF1E-0939-450A-BBB7-A13B0053E6E9}"/>
              </a:ext>
            </a:extLst>
          </p:cNvPr>
          <p:cNvSpPr/>
          <p:nvPr/>
        </p:nvSpPr>
        <p:spPr>
          <a:xfrm>
            <a:off x="8972143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57%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403;p30">
            <a:extLst>
              <a:ext uri="{FF2B5EF4-FFF2-40B4-BE49-F238E27FC236}">
                <a16:creationId xmlns:a16="http://schemas.microsoft.com/office/drawing/2014/main" id="{C1D92253-5D76-44AD-8A9F-32F07363DA4F}"/>
              </a:ext>
            </a:extLst>
          </p:cNvPr>
          <p:cNvSpPr txBox="1"/>
          <p:nvPr/>
        </p:nvSpPr>
        <p:spPr>
          <a:xfrm>
            <a:off x="8884851" y="3384440"/>
            <a:ext cx="234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manejo clínico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clínico)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FC82B94-E2E9-4995-A9B7-10744F0F0732}"/>
              </a:ext>
            </a:extLst>
          </p:cNvPr>
          <p:cNvCxnSpPr>
            <a:cxnSpLocks/>
          </p:cNvCxnSpPr>
          <p:nvPr/>
        </p:nvCxnSpPr>
        <p:spPr>
          <a:xfrm>
            <a:off x="8157783" y="823121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73;p4">
            <a:extLst>
              <a:ext uri="{FF2B5EF4-FFF2-40B4-BE49-F238E27FC236}">
                <a16:creationId xmlns:a16="http://schemas.microsoft.com/office/drawing/2014/main" id="{77C2DFC7-3377-4B6C-9E33-41F089C0521F}"/>
              </a:ext>
            </a:extLst>
          </p:cNvPr>
          <p:cNvSpPr txBox="1"/>
          <p:nvPr/>
        </p:nvSpPr>
        <p:spPr>
          <a:xfrm>
            <a:off x="640207" y="4419077"/>
            <a:ext cx="2880000" cy="1600398"/>
          </a:xfrm>
          <a:prstGeom prst="rect">
            <a:avLst/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0233B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con hábitos saludables que protegen su salud mental e incrementan su bienestar.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74;p4">
            <a:extLst>
              <a:ext uri="{FF2B5EF4-FFF2-40B4-BE49-F238E27FC236}">
                <a16:creationId xmlns:a16="http://schemas.microsoft.com/office/drawing/2014/main" id="{F2D37AC4-D137-4709-BDD7-709B29A578BF}"/>
              </a:ext>
            </a:extLst>
          </p:cNvPr>
          <p:cNvSpPr txBox="1"/>
          <p:nvPr/>
        </p:nvSpPr>
        <p:spPr>
          <a:xfrm>
            <a:off x="4656000" y="4419077"/>
            <a:ext cx="2880000" cy="1600398"/>
          </a:xfrm>
          <a:prstGeom prst="rect">
            <a:avLst/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0233B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que están en riesgo de desarrollar enfermedades mentales, a quienes ofrecer herramientas y/o tratamiento temprano para evitar niveles mayores de malestar.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75;p4">
            <a:extLst>
              <a:ext uri="{FF2B5EF4-FFF2-40B4-BE49-F238E27FC236}">
                <a16:creationId xmlns:a16="http://schemas.microsoft.com/office/drawing/2014/main" id="{67B75A04-E16B-4D29-B0AB-D56411377E48}"/>
              </a:ext>
            </a:extLst>
          </p:cNvPr>
          <p:cNvSpPr txBox="1"/>
          <p:nvPr/>
        </p:nvSpPr>
        <p:spPr>
          <a:xfrm>
            <a:off x="8612143" y="4419077"/>
            <a:ext cx="2880000" cy="1600398"/>
          </a:xfrm>
          <a:prstGeom prst="rect">
            <a:avLst/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bg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con trastornos mentales consolidados, a quienes derivar a tratamientos específicos.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400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655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Factor carga de enfermedad</a:t>
            </a:r>
            <a:endParaRPr dirty="0"/>
          </a:p>
        </p:txBody>
      </p:sp>
      <p:sp>
        <p:nvSpPr>
          <p:cNvPr id="709" name="Google Shape;709;p61"/>
          <p:cNvSpPr txBox="1"/>
          <p:nvPr/>
        </p:nvSpPr>
        <p:spPr>
          <a:xfrm>
            <a:off x="1370550" y="5264728"/>
            <a:ext cx="290365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</p:txBody>
      </p:sp>
      <p:sp>
        <p:nvSpPr>
          <p:cNvPr id="7" name="Google Shape;709;p61">
            <a:extLst>
              <a:ext uri="{FF2B5EF4-FFF2-40B4-BE49-F238E27FC236}">
                <a16:creationId xmlns:a16="http://schemas.microsoft.com/office/drawing/2014/main" id="{CFBB7022-5025-4774-9097-87E08A9ED1BC}"/>
              </a:ext>
            </a:extLst>
          </p:cNvPr>
          <p:cNvSpPr txBox="1"/>
          <p:nvPr/>
        </p:nvSpPr>
        <p:spPr>
          <a:xfrm>
            <a:off x="7144266" y="5264728"/>
            <a:ext cx="307743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manejo clínico</a:t>
            </a: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278DEE9B-EF82-4385-BBD8-F835392E6A43}"/>
              </a:ext>
            </a:extLst>
          </p:cNvPr>
          <p:cNvSpPr/>
          <p:nvPr/>
        </p:nvSpPr>
        <p:spPr>
          <a:xfrm>
            <a:off x="1370550" y="18404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99F33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427;p32">
            <a:extLst>
              <a:ext uri="{FF2B5EF4-FFF2-40B4-BE49-F238E27FC236}">
                <a16:creationId xmlns:a16="http://schemas.microsoft.com/office/drawing/2014/main" id="{E4BBEDEC-DACD-4977-AEA8-4A383D6E5C04}"/>
              </a:ext>
            </a:extLst>
          </p:cNvPr>
          <p:cNvSpPr/>
          <p:nvPr/>
        </p:nvSpPr>
        <p:spPr>
          <a:xfrm>
            <a:off x="7144265" y="18404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>
                <a:alpha val="74902"/>
              </a:srgbClr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factor_carga_enfermedad_amarillo">
            <a:extLst>
              <a:ext uri="{FF2B5EF4-FFF2-40B4-BE49-F238E27FC236}">
                <a16:creationId xmlns:a16="http://schemas.microsoft.com/office/drawing/2014/main" id="{7B5B5C0D-75DE-4F83-AEF3-2FEEC3539725}"/>
              </a:ext>
            </a:extLst>
          </p:cNvPr>
          <p:cNvSpPr/>
          <p:nvPr/>
        </p:nvSpPr>
        <p:spPr>
          <a:xfrm>
            <a:off x="2114204" y="250579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22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4" name="factor_carga_enfermedad_rojo">
            <a:extLst>
              <a:ext uri="{FF2B5EF4-FFF2-40B4-BE49-F238E27FC236}">
                <a16:creationId xmlns:a16="http://schemas.microsoft.com/office/drawing/2014/main" id="{62BF6CA2-8D08-4657-9F6A-94C1E608C434}"/>
              </a:ext>
            </a:extLst>
          </p:cNvPr>
          <p:cNvSpPr/>
          <p:nvPr/>
        </p:nvSpPr>
        <p:spPr>
          <a:xfrm>
            <a:off x="7848618" y="2505790"/>
            <a:ext cx="2373086" cy="1585231"/>
          </a:xfrm>
          <a:prstGeom prst="roundRect">
            <a:avLst>
              <a:gd name="adj" fmla="val 16667"/>
            </a:avLst>
          </a:prstGeom>
          <a:solidFill>
            <a:srgbClr val="E63C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41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" name="factor_carga_enfermedad_amarillo_2022">
            <a:extLst>
              <a:ext uri="{FF2B5EF4-FFF2-40B4-BE49-F238E27FC236}">
                <a16:creationId xmlns:a16="http://schemas.microsoft.com/office/drawing/2014/main" id="{2C72AC1A-68C3-36FA-97E8-6DCA24396F2E}"/>
              </a:ext>
            </a:extLst>
          </p:cNvPr>
          <p:cNvSpPr txBox="1"/>
          <p:nvPr/>
        </p:nvSpPr>
        <p:spPr>
          <a:xfrm>
            <a:off x="1548882" y="1920034"/>
            <a:ext cx="69979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Calibri Light"/>
              </a:rPr>
              <a:t>16</a:t>
            </a:r>
          </a:p>
        </p:txBody>
      </p:sp>
      <p:sp>
        <p:nvSpPr>
          <p:cNvPr id="4" name="factor_carga_enfermedad_rojo_2022">
            <a:extLst>
              <a:ext uri="{FF2B5EF4-FFF2-40B4-BE49-F238E27FC236}">
                <a16:creationId xmlns:a16="http://schemas.microsoft.com/office/drawing/2014/main" id="{5B4F7694-51C4-91D6-1CEE-ED331D1E5867}"/>
              </a:ext>
            </a:extLst>
          </p:cNvPr>
          <p:cNvSpPr txBox="1"/>
          <p:nvPr/>
        </p:nvSpPr>
        <p:spPr>
          <a:xfrm>
            <a:off x="7305355" y="1920034"/>
            <a:ext cx="69979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Calibri Light"/>
              </a:rPr>
              <a:t>38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CL" dirty="0"/>
              <a:t>Patologías recurrentes grupo prevención indicada</a:t>
            </a:r>
            <a:endParaRPr dirty="0"/>
          </a:p>
        </p:txBody>
      </p:sp>
      <p:sp>
        <p:nvSpPr>
          <p:cNvPr id="9" name="grupo_amarillo2">
            <a:extLst>
              <a:ext uri="{FF2B5EF4-FFF2-40B4-BE49-F238E27FC236}">
                <a16:creationId xmlns:a16="http://schemas.microsoft.com/office/drawing/2014/main" id="{AB53DA2D-3C68-47E8-9690-479DEB943059}"/>
              </a:ext>
            </a:extLst>
          </p:cNvPr>
          <p:cNvSpPr/>
          <p:nvPr/>
        </p:nvSpPr>
        <p:spPr>
          <a:xfrm>
            <a:off x="924236" y="1968864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40%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403;p30">
            <a:extLst>
              <a:ext uri="{FF2B5EF4-FFF2-40B4-BE49-F238E27FC236}">
                <a16:creationId xmlns:a16="http://schemas.microsoft.com/office/drawing/2014/main" id="{3CADC61E-B837-4622-B1A8-A9CA0F188F3D}"/>
              </a:ext>
            </a:extLst>
          </p:cNvPr>
          <p:cNvSpPr txBox="1"/>
          <p:nvPr/>
        </p:nvSpPr>
        <p:spPr>
          <a:xfrm>
            <a:off x="924236" y="3815351"/>
            <a:ext cx="2160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subumbral)</a:t>
            </a:r>
          </a:p>
        </p:txBody>
      </p:sp>
      <p:graphicFrame>
        <p:nvGraphicFramePr>
          <p:cNvPr id="6" name="porcentaje_grupo_amarillo_por_condicion">
            <a:extLst>
              <a:ext uri="{FF2B5EF4-FFF2-40B4-BE49-F238E27FC236}">
                <a16:creationId xmlns:a16="http://schemas.microsoft.com/office/drawing/2014/main" id="{175773B8-ED6B-42F3-9707-57AEF3B275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5469587"/>
              </p:ext>
            </p:extLst>
          </p:nvPr>
        </p:nvGraphicFramePr>
        <p:xfrm>
          <a:off x="5305097" y="1771330"/>
          <a:ext cx="4947590" cy="3596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561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Episodio depresión – Grupo manejo clínico</a:t>
            </a:r>
            <a:endParaRPr dirty="0"/>
          </a:p>
        </p:txBody>
      </p:sp>
      <p:sp>
        <p:nvSpPr>
          <p:cNvPr id="516" name="depresion_manejo_clinico_global"/>
          <p:cNvSpPr/>
          <p:nvPr/>
        </p:nvSpPr>
        <p:spPr>
          <a:xfrm>
            <a:off x="671559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41%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CBBB57DB-71A5-D147-88A9-C6E8887B06FF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epresion_femenino">
            <a:extLst>
              <a:ext uri="{FF2B5EF4-FFF2-40B4-BE49-F238E27FC236}">
                <a16:creationId xmlns:a16="http://schemas.microsoft.com/office/drawing/2014/main" id="{C4376D5B-F88D-4949-8EC2-E9886A08F7F6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5252"/>
                </a:solidFill>
                <a:latin typeface="Calibri Light"/>
              </a:rPr>
              <a:t>Los datos presentados por sexo, jornada, tipo de alumno y sede, corresponden al porcentaje de prevalencia para cada categoría. Por ejemplo, el 46% de las mujeres que participaron del estudio presentan síntomas clínicos de depresión.</a:t>
            </a:r>
          </a:p>
        </p:txBody>
      </p:sp>
      <p:graphicFrame>
        <p:nvGraphicFramePr>
          <p:cNvPr id="15" name="depresion_manejo_clinico">
            <a:extLst>
              <a:ext uri="{FF2B5EF4-FFF2-40B4-BE49-F238E27FC236}">
                <a16:creationId xmlns:a16="http://schemas.microsoft.com/office/drawing/2014/main" id="{3E291FAC-2870-66F8-18A0-85A22E7FB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293067"/>
              </p:ext>
            </p:extLst>
          </p:nvPr>
        </p:nvGraphicFramePr>
        <p:xfrm>
          <a:off x="3670149" y="1802244"/>
          <a:ext cx="8059387" cy="2188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517;p43"/>
          <p:cNvSpPr txBox="1"/>
          <p:nvPr/>
        </p:nvSpPr>
        <p:spPr>
          <a:xfrm>
            <a:off x="70571" y="4662679"/>
            <a:ext cx="276098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depresión.</a:t>
            </a:r>
          </a:p>
        </p:txBody>
      </p:sp>
      <p:sp>
        <p:nvSpPr>
          <p:cNvPr id="10" name="Google Shape;427;p32">
            <a:extLst>
              <a:ext uri="{FF2B5EF4-FFF2-40B4-BE49-F238E27FC236}">
                <a16:creationId xmlns:a16="http://schemas.microsoft.com/office/drawing/2014/main" id="{52FB3E6A-36DC-49F0-ADC1-9B11C595FF4C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depresion_manejo_clinico_sede">
            <a:extLst>
              <a:ext uri="{FF2B5EF4-FFF2-40B4-BE49-F238E27FC236}">
                <a16:creationId xmlns:a16="http://schemas.microsoft.com/office/drawing/2014/main" id="{DE06A805-CA0B-0EFB-85BF-BA202146AC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3013068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depresion_2022">
            <a:extLst>
              <a:ext uri="{FF2B5EF4-FFF2-40B4-BE49-F238E27FC236}">
                <a16:creationId xmlns:a16="http://schemas.microsoft.com/office/drawing/2014/main" id="{4FD20774-ADC7-AC60-30DC-313F86FD11D6}"/>
              </a:ext>
            </a:extLst>
          </p:cNvPr>
          <p:cNvSpPr txBox="1"/>
          <p:nvPr/>
        </p:nvSpPr>
        <p:spPr>
          <a:xfrm>
            <a:off x="194338" y="2142589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Calibri Light"/>
              </a:rPr>
              <a:t>49%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1222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5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Trastorno de ansiedad generalizada – Grupo manejo clínico</a:t>
            </a:r>
            <a:endParaRPr dirty="0"/>
          </a:p>
        </p:txBody>
      </p:sp>
      <p:sp>
        <p:nvSpPr>
          <p:cNvPr id="11" name="ansiedad_femenino">
            <a:extLst>
              <a:ext uri="{FF2B5EF4-FFF2-40B4-BE49-F238E27FC236}">
                <a16:creationId xmlns:a16="http://schemas.microsoft.com/office/drawing/2014/main" id="{403575CC-2FD9-0129-47F0-02351CE8710B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5252"/>
                </a:solidFill>
                <a:latin typeface="Calibri Light"/>
              </a:rPr>
              <a:t>Los datos presentados por sexo, jornada, tipo de alumno y sede, corresponden al porcentaje de prevalencia para cada categoría. Por ejemplo, el 38% de las mujeres que participaron del estudio presentan síntomas clínicos de ansiedad generalizada.</a:t>
            </a:r>
          </a:p>
        </p:txBody>
      </p:sp>
      <p:graphicFrame>
        <p:nvGraphicFramePr>
          <p:cNvPr id="12" name="ansiedad_manejo_clinico">
            <a:extLst>
              <a:ext uri="{FF2B5EF4-FFF2-40B4-BE49-F238E27FC236}">
                <a16:creationId xmlns:a16="http://schemas.microsoft.com/office/drawing/2014/main" id="{B04CB13E-D1DF-4E02-B884-5DAB2CC89A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2386254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4306887-2985-AD1C-9793-5C0B29A40D0A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nsiedad_manejo_clinico_global">
            <a:extLst>
              <a:ext uri="{FF2B5EF4-FFF2-40B4-BE49-F238E27FC236}">
                <a16:creationId xmlns:a16="http://schemas.microsoft.com/office/drawing/2014/main" id="{FAE4E925-CD5B-46FD-8FD8-E56C2E8E82E0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31%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517;p43">
            <a:extLst>
              <a:ext uri="{FF2B5EF4-FFF2-40B4-BE49-F238E27FC236}">
                <a16:creationId xmlns:a16="http://schemas.microsoft.com/office/drawing/2014/main" id="{2C60A221-C930-4D48-B68D-439E8C79D62E}"/>
              </a:ext>
            </a:extLst>
          </p:cNvPr>
          <p:cNvSpPr txBox="1"/>
          <p:nvPr/>
        </p:nvSpPr>
        <p:spPr>
          <a:xfrm>
            <a:off x="70571" y="4662679"/>
            <a:ext cx="27520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ansiedad generalizada.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D99100AD-C0D2-4999-AA70-713EEB13DC75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ansiedad_manejo_clinico_sede">
            <a:extLst>
              <a:ext uri="{FF2B5EF4-FFF2-40B4-BE49-F238E27FC236}">
                <a16:creationId xmlns:a16="http://schemas.microsoft.com/office/drawing/2014/main" id="{D80AAFB2-F153-D4D7-7243-320A9C2629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9537026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ansiedad_2022">
            <a:extLst>
              <a:ext uri="{FF2B5EF4-FFF2-40B4-BE49-F238E27FC236}">
                <a16:creationId xmlns:a16="http://schemas.microsoft.com/office/drawing/2014/main" id="{C853C437-C7C0-F24D-C02D-4129C285258E}"/>
              </a:ext>
            </a:extLst>
          </p:cNvPr>
          <p:cNvSpPr txBox="1"/>
          <p:nvPr/>
        </p:nvSpPr>
        <p:spPr>
          <a:xfrm>
            <a:off x="194338" y="2142589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Calibri Light"/>
              </a:rPr>
              <a:t>41%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5825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Trastorno de la personalidad – Grupo manejo clínico</a:t>
            </a:r>
            <a:endParaRPr dirty="0"/>
          </a:p>
        </p:txBody>
      </p:sp>
      <p:sp>
        <p:nvSpPr>
          <p:cNvPr id="11" name="personalidad_femenino">
            <a:extLst>
              <a:ext uri="{FF2B5EF4-FFF2-40B4-BE49-F238E27FC236}">
                <a16:creationId xmlns:a16="http://schemas.microsoft.com/office/drawing/2014/main" id="{A4AA13EC-DF90-A411-4B29-48ED2E1E8DC1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5252"/>
                </a:solidFill>
                <a:latin typeface="Calibri Light"/>
              </a:rPr>
              <a:t>Los datos presentados por sexo, jornada, tipo de alumno y sede, corresponden al porcentaje de prevalencia para cada categoría. Por ejemplo, el 6% de las mujeres que participaron del estudio presentan síntomas clínicos de trastorno de la personalidad.</a:t>
            </a:r>
          </a:p>
        </p:txBody>
      </p:sp>
      <p:graphicFrame>
        <p:nvGraphicFramePr>
          <p:cNvPr id="12" name="personalidad_manejo_clinico">
            <a:extLst>
              <a:ext uri="{FF2B5EF4-FFF2-40B4-BE49-F238E27FC236}">
                <a16:creationId xmlns:a16="http://schemas.microsoft.com/office/drawing/2014/main" id="{F7CD735D-2DF8-D68D-3553-D6EE70A3B6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3755231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1167CF5-7E7C-DB3C-EACE-4527276F9ACD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ersonalidad_manejo_clinico_global">
            <a:extLst>
              <a:ext uri="{FF2B5EF4-FFF2-40B4-BE49-F238E27FC236}">
                <a16:creationId xmlns:a16="http://schemas.microsoft.com/office/drawing/2014/main" id="{4A15B02A-EADD-4CFD-A16E-8F2F687FDCE6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AAF2B077-D465-4664-A199-9628C809AD07}"/>
              </a:ext>
            </a:extLst>
          </p:cNvPr>
          <p:cNvSpPr txBox="1"/>
          <p:nvPr/>
        </p:nvSpPr>
        <p:spPr>
          <a:xfrm>
            <a:off x="70571" y="4662679"/>
            <a:ext cx="275202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trastorno de la personalidad.</a:t>
            </a:r>
          </a:p>
        </p:txBody>
      </p:sp>
      <p:sp>
        <p:nvSpPr>
          <p:cNvPr id="14" name="Google Shape;427;p32">
            <a:extLst>
              <a:ext uri="{FF2B5EF4-FFF2-40B4-BE49-F238E27FC236}">
                <a16:creationId xmlns:a16="http://schemas.microsoft.com/office/drawing/2014/main" id="{030BA3F9-B700-4141-897C-07AF8F13467F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personalidad_manejo_clinico_sede">
            <a:extLst>
              <a:ext uri="{FF2B5EF4-FFF2-40B4-BE49-F238E27FC236}">
                <a16:creationId xmlns:a16="http://schemas.microsoft.com/office/drawing/2014/main" id="{6241263E-26F4-7EF6-3560-4584B2882E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4949707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personalidad_2022">
            <a:extLst>
              <a:ext uri="{FF2B5EF4-FFF2-40B4-BE49-F238E27FC236}">
                <a16:creationId xmlns:a16="http://schemas.microsoft.com/office/drawing/2014/main" id="{ED01071E-8634-4830-DA5F-5985A6978DE9}"/>
              </a:ext>
            </a:extLst>
          </p:cNvPr>
          <p:cNvSpPr txBox="1"/>
          <p:nvPr/>
        </p:nvSpPr>
        <p:spPr>
          <a:xfrm>
            <a:off x="194338" y="2142589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Calibri Light"/>
              </a:rPr>
              <a:t>4%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7814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marihuana – Grupo manejo clínico</a:t>
            </a:r>
            <a:endParaRPr dirty="0"/>
          </a:p>
        </p:txBody>
      </p:sp>
      <p:sp>
        <p:nvSpPr>
          <p:cNvPr id="11" name="marihuana_femenino">
            <a:extLst>
              <a:ext uri="{FF2B5EF4-FFF2-40B4-BE49-F238E27FC236}">
                <a16:creationId xmlns:a16="http://schemas.microsoft.com/office/drawing/2014/main" id="{D5EE1FC8-4C9F-9588-BEAA-C9DBDE333AA9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5252"/>
                </a:solidFill>
                <a:latin typeface="Calibri Light"/>
              </a:rPr>
              <a:t>Los datos presentados por sexo, jornada, tipo de alumno y sede, corresponden al porcentaje de prevalencia para cada categoría. Por ejemplo, el 10% de las mujeres que participaron del estudio presentan síntomas clínicos de consumo problemático de marihuana.</a:t>
            </a:r>
          </a:p>
        </p:txBody>
      </p:sp>
      <p:graphicFrame>
        <p:nvGraphicFramePr>
          <p:cNvPr id="12" name="marihuana_manejo_clinico">
            <a:extLst>
              <a:ext uri="{FF2B5EF4-FFF2-40B4-BE49-F238E27FC236}">
                <a16:creationId xmlns:a16="http://schemas.microsoft.com/office/drawing/2014/main" id="{287C095F-BA3B-8676-D0FD-DF67FC9FB4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7534391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8445420-BD48-4385-0EB7-9F2240401967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ihuana_manejo_clinico_global">
            <a:extLst>
              <a:ext uri="{FF2B5EF4-FFF2-40B4-BE49-F238E27FC236}">
                <a16:creationId xmlns:a16="http://schemas.microsoft.com/office/drawing/2014/main" id="{6AAD2FCA-01A4-42F3-AD03-3CC5BA51A249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12%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27419DD5-BAD0-4F44-86FB-0BACCAD1132E}"/>
              </a:ext>
            </a:extLst>
          </p:cNvPr>
          <p:cNvSpPr txBox="1"/>
          <p:nvPr/>
        </p:nvSpPr>
        <p:spPr>
          <a:xfrm>
            <a:off x="70571" y="4662679"/>
            <a:ext cx="275202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uso problemático de marihuana.</a:t>
            </a:r>
          </a:p>
        </p:txBody>
      </p:sp>
      <p:sp>
        <p:nvSpPr>
          <p:cNvPr id="15" name="Google Shape;427;p32">
            <a:extLst>
              <a:ext uri="{FF2B5EF4-FFF2-40B4-BE49-F238E27FC236}">
                <a16:creationId xmlns:a16="http://schemas.microsoft.com/office/drawing/2014/main" id="{47B7E482-5A25-4776-939A-DB4D1F21BAC1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SENDA 2025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marihuana_manejo_clinico_sede">
            <a:extLst>
              <a:ext uri="{FF2B5EF4-FFF2-40B4-BE49-F238E27FC236}">
                <a16:creationId xmlns:a16="http://schemas.microsoft.com/office/drawing/2014/main" id="{F89F952C-3CC9-9940-0617-02635B18A9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9945051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776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marihuana – Grupo manejo clínico</a:t>
            </a:r>
            <a:endParaRPr dirty="0"/>
          </a:p>
        </p:txBody>
      </p:sp>
      <p:sp>
        <p:nvSpPr>
          <p:cNvPr id="16" name="cupit_marihuana_porcentaje">
            <a:extLst>
              <a:ext uri="{FF2B5EF4-FFF2-40B4-BE49-F238E27FC236}">
                <a16:creationId xmlns:a16="http://schemas.microsoft.com/office/drawing/2014/main" id="{6AAD2FCA-01A4-42F3-AD03-3CC5BA51A249}"/>
              </a:ext>
            </a:extLst>
          </p:cNvPr>
          <p:cNvSpPr/>
          <p:nvPr/>
        </p:nvSpPr>
        <p:spPr>
          <a:xfrm>
            <a:off x="5016000" y="277136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9%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27419DD5-BAD0-4F44-86FB-0BACCAD1132E}"/>
              </a:ext>
            </a:extLst>
          </p:cNvPr>
          <p:cNvSpPr txBox="1"/>
          <p:nvPr/>
        </p:nvSpPr>
        <p:spPr>
          <a:xfrm>
            <a:off x="4423974" y="4617855"/>
            <a:ext cx="27520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Porcentaje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uso problemático</a:t>
            </a: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a la pregunta “</a:t>
            </a:r>
            <a:r>
              <a:rPr lang="es-MX" sz="1600" i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¿Cuántos días has consumido marihuana en los últimos 12 meses?”</a:t>
            </a:r>
          </a:p>
        </p:txBody>
      </p:sp>
      <p:sp>
        <p:nvSpPr>
          <p:cNvPr id="6" name="Google Shape;427;p32">
            <a:extLst>
              <a:ext uri="{FF2B5EF4-FFF2-40B4-BE49-F238E27FC236}">
                <a16:creationId xmlns:a16="http://schemas.microsoft.com/office/drawing/2014/main" id="{9E2487C7-8E98-46E2-AFBB-59DE13BF8AD2}"/>
              </a:ext>
            </a:extLst>
          </p:cNvPr>
          <p:cNvSpPr/>
          <p:nvPr/>
        </p:nvSpPr>
        <p:spPr>
          <a:xfrm>
            <a:off x="4423974" y="1973742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marihuana_2022">
            <a:extLst>
              <a:ext uri="{FF2B5EF4-FFF2-40B4-BE49-F238E27FC236}">
                <a16:creationId xmlns:a16="http://schemas.microsoft.com/office/drawing/2014/main" id="{B8422F38-FB3D-3105-55CC-38B7279A1576}"/>
              </a:ext>
            </a:extLst>
          </p:cNvPr>
          <p:cNvSpPr txBox="1"/>
          <p:nvPr/>
        </p:nvSpPr>
        <p:spPr>
          <a:xfrm>
            <a:off x="4547741" y="2064778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Calibri Light"/>
              </a:rPr>
              <a:t>10%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5908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0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alcohol – Grupo manejo clínico</a:t>
            </a:r>
            <a:endParaRPr dirty="0"/>
          </a:p>
        </p:txBody>
      </p:sp>
      <p:graphicFrame>
        <p:nvGraphicFramePr>
          <p:cNvPr id="12" name="alcohol_manejo_clinico">
            <a:extLst>
              <a:ext uri="{FF2B5EF4-FFF2-40B4-BE49-F238E27FC236}">
                <a16:creationId xmlns:a16="http://schemas.microsoft.com/office/drawing/2014/main" id="{D796B308-03C5-AE1C-2D66-6C45FE9F8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9092776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D2BC845-CDD7-EA3A-4D1D-DB1A113B34E2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lcohol_femenino">
            <a:extLst>
              <a:ext uri="{FF2B5EF4-FFF2-40B4-BE49-F238E27FC236}">
                <a16:creationId xmlns:a16="http://schemas.microsoft.com/office/drawing/2014/main" id="{F293E2A6-C6F6-E567-0F79-1BC23E493A50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5252"/>
                </a:solidFill>
                <a:latin typeface="Calibri Light"/>
              </a:rPr>
              <a:t>Los datos presentados por sexo, jornada, tipo de alumno y sede, corresponden al porcentaje de prevalencia para cada categoría. Por ejemplo, el 3% de las mujeres que participaron del estudio presentan síntomas clínicos de consumo problemático de alcohol.</a:t>
            </a:r>
          </a:p>
        </p:txBody>
      </p:sp>
      <p:sp>
        <p:nvSpPr>
          <p:cNvPr id="11" name="alcohol_manejo_clinico_global">
            <a:extLst>
              <a:ext uri="{FF2B5EF4-FFF2-40B4-BE49-F238E27FC236}">
                <a16:creationId xmlns:a16="http://schemas.microsoft.com/office/drawing/2014/main" id="{8468DAE6-FCF5-483D-96C6-E50F9934653F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4%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517;p43">
            <a:extLst>
              <a:ext uri="{FF2B5EF4-FFF2-40B4-BE49-F238E27FC236}">
                <a16:creationId xmlns:a16="http://schemas.microsoft.com/office/drawing/2014/main" id="{5E47208B-1A02-43B7-917E-B6EE6D7C6A64}"/>
              </a:ext>
            </a:extLst>
          </p:cNvPr>
          <p:cNvSpPr txBox="1"/>
          <p:nvPr/>
        </p:nvSpPr>
        <p:spPr>
          <a:xfrm>
            <a:off x="70571" y="4662679"/>
            <a:ext cx="275202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consumo problemático de alcohol.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89F61867-C384-48B7-A889-7BD5A17C9828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alcohol_manejo_clinico_sede">
            <a:extLst>
              <a:ext uri="{FF2B5EF4-FFF2-40B4-BE49-F238E27FC236}">
                <a16:creationId xmlns:a16="http://schemas.microsoft.com/office/drawing/2014/main" id="{B01047FB-43DE-E2BF-31F1-DD4BF2B4F2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216247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alcohol_2022">
            <a:extLst>
              <a:ext uri="{FF2B5EF4-FFF2-40B4-BE49-F238E27FC236}">
                <a16:creationId xmlns:a16="http://schemas.microsoft.com/office/drawing/2014/main" id="{06C6C2F5-69FA-9E6B-51AB-7059E0302640}"/>
              </a:ext>
            </a:extLst>
          </p:cNvPr>
          <p:cNvSpPr txBox="1"/>
          <p:nvPr/>
        </p:nvSpPr>
        <p:spPr>
          <a:xfrm>
            <a:off x="194338" y="2142589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Calibri Light"/>
              </a:rPr>
              <a:t>2%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5881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endParaRPr dirty="0"/>
          </a:p>
        </p:txBody>
      </p:sp>
      <p:graphicFrame>
        <p:nvGraphicFramePr>
          <p:cNvPr id="10" name="suicidio_manejo_clinico_sede">
            <a:extLst>
              <a:ext uri="{FF2B5EF4-FFF2-40B4-BE49-F238E27FC236}">
                <a16:creationId xmlns:a16="http://schemas.microsoft.com/office/drawing/2014/main" id="{CD8FBB64-7F94-B9A3-C3E7-546AA8E5FE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2817837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uicidio_femenino">
            <a:extLst>
              <a:ext uri="{FF2B5EF4-FFF2-40B4-BE49-F238E27FC236}">
                <a16:creationId xmlns:a16="http://schemas.microsoft.com/office/drawing/2014/main" id="{5DB4E260-3D29-A0B2-8D2D-BD2DFABCFABC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5252"/>
                </a:solidFill>
                <a:latin typeface="Calibri Light"/>
              </a:rPr>
              <a:t>Los datos presentados por sexo, jornada, tipo de alumno y sede, corresponden al porcentaje de prevalencia para cada categoría. Por ejemplo, el 36% de las mujeres que participaron del estudio presentan sospecha de  ideación suicida.</a:t>
            </a:r>
          </a:p>
        </p:txBody>
      </p:sp>
      <p:graphicFrame>
        <p:nvGraphicFramePr>
          <p:cNvPr id="13" name="suicidio_manejo_clinico">
            <a:extLst>
              <a:ext uri="{FF2B5EF4-FFF2-40B4-BE49-F238E27FC236}">
                <a16:creationId xmlns:a16="http://schemas.microsoft.com/office/drawing/2014/main" id="{81869CB5-73A7-DF84-909A-1813CC7BEA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8207190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7B810F-C4EB-D7EA-5F30-CBDBF088C9C1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deacion_suicida_manejo_clinico_global">
            <a:extLst>
              <a:ext uri="{FF2B5EF4-FFF2-40B4-BE49-F238E27FC236}">
                <a16:creationId xmlns:a16="http://schemas.microsoft.com/office/drawing/2014/main" id="{12AB57C7-F7DA-4221-BADE-83670CEE61B7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43%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517;p43">
            <a:extLst>
              <a:ext uri="{FF2B5EF4-FFF2-40B4-BE49-F238E27FC236}">
                <a16:creationId xmlns:a16="http://schemas.microsoft.com/office/drawing/2014/main" id="{343DADBB-CAEF-4CEC-9C41-586E2F79E8E1}"/>
              </a:ext>
            </a:extLst>
          </p:cNvPr>
          <p:cNvSpPr txBox="1"/>
          <p:nvPr/>
        </p:nvSpPr>
        <p:spPr>
          <a:xfrm>
            <a:off x="70571" y="4662679"/>
            <a:ext cx="275202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ideación suicida.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CE4D427B-C854-412F-847E-7DC359AAE967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suicidio_2022">
            <a:extLst>
              <a:ext uri="{FF2B5EF4-FFF2-40B4-BE49-F238E27FC236}">
                <a16:creationId xmlns:a16="http://schemas.microsoft.com/office/drawing/2014/main" id="{39128688-D021-4407-26D5-AF29CA2BEA59}"/>
              </a:ext>
            </a:extLst>
          </p:cNvPr>
          <p:cNvSpPr txBox="1"/>
          <p:nvPr/>
        </p:nvSpPr>
        <p:spPr>
          <a:xfrm>
            <a:off x="194338" y="2142589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Calibri Light"/>
              </a:rPr>
              <a:t>47%</a:t>
            </a:r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endParaRPr dirty="0"/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26B51B7-1C22-48BA-9610-950AB69B0192}"/>
              </a:ext>
            </a:extLst>
          </p:cNvPr>
          <p:cNvSpPr txBox="1"/>
          <p:nvPr/>
        </p:nvSpPr>
        <p:spPr>
          <a:xfrm>
            <a:off x="203473" y="1701860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¿Se te han ocurrido pensamientos de que sería mejor estar muerto/a o de hacerte daño de alguna manera?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ideacion_suicida_1_pie_chart">
            <a:extLst>
              <a:ext uri="{FF2B5EF4-FFF2-40B4-BE49-F238E27FC236}">
                <a16:creationId xmlns:a16="http://schemas.microsoft.com/office/drawing/2014/main" id="{7E792B05-8C97-42DA-A3B2-18772792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5488034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Google Shape;354;p25">
            <a:extLst>
              <a:ext uri="{FF2B5EF4-FFF2-40B4-BE49-F238E27FC236}">
                <a16:creationId xmlns:a16="http://schemas.microsoft.com/office/drawing/2014/main" id="{0A5FACBF-8CFB-4AFD-868E-DD4F809A0D5D}"/>
              </a:ext>
            </a:extLst>
          </p:cNvPr>
          <p:cNvSpPr txBox="1"/>
          <p:nvPr/>
        </p:nvSpPr>
        <p:spPr>
          <a:xfrm>
            <a:off x="6022685" y="2715408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deseado estar muerto/a o poder dormir y no despertar? (i1)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6" name="ideacion_suicida_2_pie_chart">
            <a:extLst>
              <a:ext uri="{FF2B5EF4-FFF2-40B4-BE49-F238E27FC236}">
                <a16:creationId xmlns:a16="http://schemas.microsoft.com/office/drawing/2014/main" id="{4B9F7D73-BE70-43F4-A9F7-4B70B1ED42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3241571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356;p25">
            <a:extLst>
              <a:ext uri="{FF2B5EF4-FFF2-40B4-BE49-F238E27FC236}">
                <a16:creationId xmlns:a16="http://schemas.microsoft.com/office/drawing/2014/main" id="{32929CF0-35EC-4BA8-9267-A7C6D83372E9}"/>
              </a:ext>
            </a:extLst>
          </p:cNvPr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57;p25">
            <a:extLst>
              <a:ext uri="{FF2B5EF4-FFF2-40B4-BE49-F238E27FC236}">
                <a16:creationId xmlns:a16="http://schemas.microsoft.com/office/drawing/2014/main" id="{E2A3606E-CAF5-4A94-A4A4-6C19F21D87D0}"/>
              </a:ext>
            </a:extLst>
          </p:cNvPr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352;p25">
            <a:extLst>
              <a:ext uri="{FF2B5EF4-FFF2-40B4-BE49-F238E27FC236}">
                <a16:creationId xmlns:a16="http://schemas.microsoft.com/office/drawing/2014/main" id="{866AC697-A7E5-4C46-9845-DCD8666FDE72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a quienes se les despliega instrumento de profundización, contestan obligatoriamente i1, i2 e i6.</a:t>
            </a:r>
          </a:p>
        </p:txBody>
      </p:sp>
    </p:spTree>
    <p:extLst>
      <p:ext uri="{BB962C8B-B14F-4D97-AF65-F5344CB8AC3E}">
        <p14:creationId xmlns:p14="http://schemas.microsoft.com/office/powerpoint/2010/main" val="61627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endParaRPr dirty="0"/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26B51B7-1C22-48BA-9610-950AB69B0192}"/>
              </a:ext>
            </a:extLst>
          </p:cNvPr>
          <p:cNvSpPr txBox="1"/>
          <p:nvPr/>
        </p:nvSpPr>
        <p:spPr>
          <a:xfrm>
            <a:off x="-182011" y="1361403"/>
            <a:ext cx="43864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tenido realmente la idea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suicidarte? (i2)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ideacion_suicida_3_pie_chart">
            <a:extLst>
              <a:ext uri="{FF2B5EF4-FFF2-40B4-BE49-F238E27FC236}">
                <a16:creationId xmlns:a16="http://schemas.microsoft.com/office/drawing/2014/main" id="{7E792B05-8C97-42DA-A3B2-18772792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7379809"/>
              </p:ext>
            </p:extLst>
          </p:nvPr>
        </p:nvGraphicFramePr>
        <p:xfrm>
          <a:off x="-1039907" y="1872529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Google Shape;356;p25">
            <a:extLst>
              <a:ext uri="{FF2B5EF4-FFF2-40B4-BE49-F238E27FC236}">
                <a16:creationId xmlns:a16="http://schemas.microsoft.com/office/drawing/2014/main" id="{32929CF0-35EC-4BA8-9267-A7C6D83372E9}"/>
              </a:ext>
            </a:extLst>
          </p:cNvPr>
          <p:cNvSpPr/>
          <p:nvPr/>
        </p:nvSpPr>
        <p:spPr>
          <a:xfrm>
            <a:off x="3474409" y="281762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57;p25">
            <a:extLst>
              <a:ext uri="{FF2B5EF4-FFF2-40B4-BE49-F238E27FC236}">
                <a16:creationId xmlns:a16="http://schemas.microsoft.com/office/drawing/2014/main" id="{E2A3606E-CAF5-4A94-A4A4-6C19F21D87D0}"/>
              </a:ext>
            </a:extLst>
          </p:cNvPr>
          <p:cNvSpPr txBox="1"/>
          <p:nvPr/>
        </p:nvSpPr>
        <p:spPr>
          <a:xfrm>
            <a:off x="2886277" y="3573526"/>
            <a:ext cx="31595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9" name="ideacion_suicida_4_bar_chart">
            <a:extLst>
              <a:ext uri="{FF2B5EF4-FFF2-40B4-BE49-F238E27FC236}">
                <a16:creationId xmlns:a16="http://schemas.microsoft.com/office/drawing/2014/main" id="{026100B7-BCF2-4798-8F7B-0F35B259D6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2995202"/>
              </p:ext>
            </p:extLst>
          </p:nvPr>
        </p:nvGraphicFramePr>
        <p:xfrm>
          <a:off x="6346822" y="1333717"/>
          <a:ext cx="5548086" cy="3222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Google Shape;352;p25">
            <a:extLst>
              <a:ext uri="{FF2B5EF4-FFF2-40B4-BE49-F238E27FC236}">
                <a16:creationId xmlns:a16="http://schemas.microsoft.com/office/drawing/2014/main" id="{9E05397D-284D-4B8B-984E-159DDDDA70F9}"/>
              </a:ext>
            </a:extLst>
          </p:cNvPr>
          <p:cNvSpPr txBox="1"/>
          <p:nvPr/>
        </p:nvSpPr>
        <p:spPr>
          <a:xfrm>
            <a:off x="3474409" y="5508691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¿Alguna vez has hecho algo, comenzado a hacer algo o te has preparado para hacer algo para terminar tu vida? (i6)</a:t>
            </a:r>
            <a:endParaRPr lang="es-MX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1" name="ideacion_suicida_5_pie_chart">
            <a:extLst>
              <a:ext uri="{FF2B5EF4-FFF2-40B4-BE49-F238E27FC236}">
                <a16:creationId xmlns:a16="http://schemas.microsoft.com/office/drawing/2014/main" id="{A0DFB884-61B2-4090-806B-51B9E01CE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3976324"/>
              </p:ext>
            </p:extLst>
          </p:nvPr>
        </p:nvGraphicFramePr>
        <p:xfrm>
          <a:off x="7920846" y="4753194"/>
          <a:ext cx="3643625" cy="2104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Google Shape;352;p25">
            <a:extLst>
              <a:ext uri="{FF2B5EF4-FFF2-40B4-BE49-F238E27FC236}">
                <a16:creationId xmlns:a16="http://schemas.microsoft.com/office/drawing/2014/main" id="{C0EADD7D-E426-4F32-956A-5B89C71EE333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a quienes se les despliega instrumento de profundización, contestan obligatoriamente i1, i2 e i6.</a:t>
            </a:r>
          </a:p>
        </p:txBody>
      </p:sp>
    </p:spTree>
    <p:extLst>
      <p:ext uri="{BB962C8B-B14F-4D97-AF65-F5344CB8AC3E}">
        <p14:creationId xmlns:p14="http://schemas.microsoft.com/office/powerpoint/2010/main" val="245215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búsqueda de ayuda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46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necesidad y acceso a tratamiento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701860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 los últimos dos meses, ¿has necesitado algún tipo de apoyo o tratamiento en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nectto_pie_chart"/>
          <p:cNvGraphicFramePr/>
          <p:nvPr>
            <p:extLst>
              <p:ext uri="{D42A27DB-BD31-4B8C-83A1-F6EECF244321}">
                <p14:modId xmlns:p14="http://schemas.microsoft.com/office/powerpoint/2010/main" val="3522761521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Pudiste acceder al tratamiento que necesitabas</a:t>
            </a: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? 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acctto_pie_chart"/>
          <p:cNvGraphicFramePr/>
          <p:nvPr>
            <p:extLst>
              <p:ext uri="{D42A27DB-BD31-4B8C-83A1-F6EECF244321}">
                <p14:modId xmlns:p14="http://schemas.microsoft.com/office/powerpoint/2010/main" val="1905505387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necesidad y acceso a tratamiento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701860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¿Dónde accediste al tratamiento? 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lugtto_pie_chart"/>
          <p:cNvGraphicFramePr/>
          <p:nvPr>
            <p:extLst>
              <p:ext uri="{D42A27DB-BD31-4B8C-83A1-F6EECF244321}">
                <p14:modId xmlns:p14="http://schemas.microsoft.com/office/powerpoint/2010/main" val="53984066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tipo de tratamiento obtuviste?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tiptto_pie_chart"/>
          <p:cNvGraphicFramePr/>
          <p:nvPr>
            <p:extLst>
              <p:ext uri="{D42A27DB-BD31-4B8C-83A1-F6EECF244321}">
                <p14:modId xmlns:p14="http://schemas.microsoft.com/office/powerpoint/2010/main" val="2922636718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741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barreras de acceso a tratamiento</a:t>
            </a:r>
            <a:endParaRPr sz="3200">
              <a:solidFill>
                <a:srgbClr val="0070C0"/>
              </a:solidFill>
            </a:endParaRPr>
          </a:p>
        </p:txBody>
      </p:sp>
      <p:graphicFrame>
        <p:nvGraphicFramePr>
          <p:cNvPr id="373" name="barreras_acceso_tratamiento"/>
          <p:cNvGraphicFramePr/>
          <p:nvPr>
            <p:extLst>
              <p:ext uri="{D42A27DB-BD31-4B8C-83A1-F6EECF244321}">
                <p14:modId xmlns:p14="http://schemas.microsoft.com/office/powerpoint/2010/main" val="2357693527"/>
              </p:ext>
            </p:extLst>
          </p:nvPr>
        </p:nvGraphicFramePr>
        <p:xfrm>
          <a:off x="491319" y="1338944"/>
          <a:ext cx="11225724" cy="4457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4" name="Google Shape;374;p26"/>
          <p:cNvSpPr txBox="1"/>
          <p:nvPr/>
        </p:nvSpPr>
        <p:spPr>
          <a:xfrm>
            <a:off x="2058452" y="6504523"/>
            <a:ext cx="850502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*Entre aquellos que mencionaron no haber tenido acceso a algún apoyo o tratamiento de salud mental.</a:t>
            </a:r>
            <a:endParaRPr dirty="0"/>
          </a:p>
        </p:txBody>
      </p:sp>
      <p:pic>
        <p:nvPicPr>
          <p:cNvPr id="375" name="Google Shape;37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733269E-93A7-E828-46C8-5215B9D79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334" y="5864487"/>
            <a:ext cx="3371850" cy="36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bienestar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78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Nivel de bienestar</a:t>
            </a:r>
            <a:endParaRPr dirty="0"/>
          </a:p>
        </p:txBody>
      </p:sp>
      <p:graphicFrame>
        <p:nvGraphicFramePr>
          <p:cNvPr id="416" name="nivel_bienestar_sede"/>
          <p:cNvGraphicFramePr/>
          <p:nvPr>
            <p:extLst>
              <p:ext uri="{D42A27DB-BD31-4B8C-83A1-F6EECF244321}">
                <p14:modId xmlns:p14="http://schemas.microsoft.com/office/powerpoint/2010/main" val="22320101"/>
              </p:ext>
            </p:extLst>
          </p:nvPr>
        </p:nvGraphicFramePr>
        <p:xfrm>
          <a:off x="3537857" y="3663937"/>
          <a:ext cx="8298165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" name="nivel_bienestar"/>
          <p:cNvGraphicFramePr/>
          <p:nvPr>
            <p:extLst>
              <p:ext uri="{D42A27DB-BD31-4B8C-83A1-F6EECF244321}">
                <p14:modId xmlns:p14="http://schemas.microsoft.com/office/powerpoint/2010/main" val="1468821402"/>
              </p:ext>
            </p:extLst>
          </p:nvPr>
        </p:nvGraphicFramePr>
        <p:xfrm>
          <a:off x="3708022" y="819066"/>
          <a:ext cx="8128000" cy="291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Google Shape;418;p31"/>
          <p:cNvSpPr txBox="1"/>
          <p:nvPr/>
        </p:nvSpPr>
        <p:spPr>
          <a:xfrm>
            <a:off x="321370" y="4690834"/>
            <a:ext cx="272440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Es el </a:t>
            </a:r>
            <a:r>
              <a:rPr lang="es-CL" sz="1600" b="1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nivel de bienestar</a:t>
            </a:r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 para los estudiantes que participaron </a:t>
            </a:r>
            <a:r>
              <a:rPr lang="es-CL" sz="160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en el estudio (de un máximo de </a:t>
            </a:r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7 puntos)  .</a:t>
            </a:r>
            <a:endParaRPr lang="es-CL" sz="1600" dirty="0">
              <a:solidFill>
                <a:schemeClr val="dk1"/>
              </a:solidFill>
              <a:latin typeface="Calibri Light"/>
              <a:ea typeface="Calibri"/>
              <a:cs typeface="Calibri Light"/>
            </a:endParaRP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842259C6-A8AD-4051-AF5D-227E700CD252}"/>
              </a:ext>
            </a:extLst>
          </p:cNvPr>
          <p:cNvSpPr/>
          <p:nvPr/>
        </p:nvSpPr>
        <p:spPr>
          <a:xfrm>
            <a:off x="321370" y="138235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55B296">
              <a:alpha val="74902"/>
            </a:srgbClr>
          </a:solidFill>
          <a:ln>
            <a:solidFill>
              <a:srgbClr val="55B296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nivel_bienestar_global">
            <a:extLst>
              <a:ext uri="{FF2B5EF4-FFF2-40B4-BE49-F238E27FC236}">
                <a16:creationId xmlns:a16="http://schemas.microsoft.com/office/drawing/2014/main" id="{C4A0C148-5530-45DA-B12D-9F270320538C}"/>
              </a:ext>
            </a:extLst>
          </p:cNvPr>
          <p:cNvSpPr/>
          <p:nvPr/>
        </p:nvSpPr>
        <p:spPr>
          <a:xfrm>
            <a:off x="885772" y="2121677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4.4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bienestar_global_2022">
            <a:extLst>
              <a:ext uri="{FF2B5EF4-FFF2-40B4-BE49-F238E27FC236}">
                <a16:creationId xmlns:a16="http://schemas.microsoft.com/office/drawing/2014/main" id="{2417B27F-F5F2-B22B-26A1-1129BC8CEE84}"/>
              </a:ext>
            </a:extLst>
          </p:cNvPr>
          <p:cNvSpPr txBox="1"/>
          <p:nvPr/>
        </p:nvSpPr>
        <p:spPr>
          <a:xfrm>
            <a:off x="445137" y="1475826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Calibri Light"/>
              </a:rPr>
              <a:t>4.1</a:t>
            </a:r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 err="1"/>
              <a:t>Perma</a:t>
            </a:r>
            <a:endParaRPr dirty="0"/>
          </a:p>
        </p:txBody>
      </p:sp>
      <p:sp>
        <p:nvSpPr>
          <p:cNvPr id="438" name="Google Shape;438;p33"/>
          <p:cNvSpPr txBox="1"/>
          <p:nvPr/>
        </p:nvSpPr>
        <p:spPr>
          <a:xfrm>
            <a:off x="658805" y="2403619"/>
            <a:ext cx="44906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 = Positive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emotion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(Emoción positiva)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Engagement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(Entusiasmo)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Relationships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(Relaciones)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Meaning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(Significado)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Accomplishment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(Logro)</a:t>
            </a:r>
          </a:p>
        </p:txBody>
      </p:sp>
      <p:pic>
        <p:nvPicPr>
          <p:cNvPr id="5" name="Google Shape;344;p24">
            <a:extLst>
              <a:ext uri="{FF2B5EF4-FFF2-40B4-BE49-F238E27FC236}">
                <a16:creationId xmlns:a16="http://schemas.microsoft.com/office/drawing/2014/main" id="{C5A4A206-492B-4093-A96C-B421A5A9FA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perma_2022_2025_chart">
            <a:extLst>
              <a:ext uri="{FF2B5EF4-FFF2-40B4-BE49-F238E27FC236}">
                <a16:creationId xmlns:a16="http://schemas.microsoft.com/office/drawing/2014/main" id="{11CED9D8-F5B6-42A2-AEE8-EB8C32855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5728143"/>
              </p:ext>
            </p:extLst>
          </p:nvPr>
        </p:nvGraphicFramePr>
        <p:xfrm>
          <a:off x="5149405" y="1365898"/>
          <a:ext cx="6040811" cy="429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 err="1"/>
              <a:t>Perma</a:t>
            </a:r>
            <a:endParaRPr dirty="0"/>
          </a:p>
        </p:txBody>
      </p:sp>
      <p:sp>
        <p:nvSpPr>
          <p:cNvPr id="438" name="Google Shape;438;p33"/>
          <p:cNvSpPr txBox="1"/>
          <p:nvPr/>
        </p:nvSpPr>
        <p:spPr>
          <a:xfrm>
            <a:off x="658805" y="2403619"/>
            <a:ext cx="4490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 = Negative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emotion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(Emoción negativa)</a:t>
            </a:r>
            <a:endParaRPr lang="es-CL" sz="18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Health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(Salud)</a:t>
            </a:r>
            <a:endParaRPr lang="es-CL" sz="18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Loneliness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(Soledad)</a:t>
            </a:r>
          </a:p>
        </p:txBody>
      </p:sp>
      <p:pic>
        <p:nvPicPr>
          <p:cNvPr id="5" name="Google Shape;344;p24">
            <a:extLst>
              <a:ext uri="{FF2B5EF4-FFF2-40B4-BE49-F238E27FC236}">
                <a16:creationId xmlns:a16="http://schemas.microsoft.com/office/drawing/2014/main" id="{C5A4A206-492B-4093-A96C-B421A5A9FA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nhl_2022_2025_chart">
            <a:extLst>
              <a:ext uri="{FF2B5EF4-FFF2-40B4-BE49-F238E27FC236}">
                <a16:creationId xmlns:a16="http://schemas.microsoft.com/office/drawing/2014/main" id="{11CED9D8-F5B6-42A2-AEE8-EB8C32855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2469420"/>
              </p:ext>
            </p:extLst>
          </p:nvPr>
        </p:nvGraphicFramePr>
        <p:xfrm>
          <a:off x="5149405" y="1365898"/>
          <a:ext cx="6040811" cy="429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7497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Apoyo percibido</a:t>
            </a:r>
            <a:endParaRPr/>
          </a:p>
        </p:txBody>
      </p:sp>
      <p:graphicFrame>
        <p:nvGraphicFramePr>
          <p:cNvPr id="343" name="apoyo_percibido"/>
          <p:cNvGraphicFramePr/>
          <p:nvPr>
            <p:extLst>
              <p:ext uri="{D42A27DB-BD31-4B8C-83A1-F6EECF244321}">
                <p14:modId xmlns:p14="http://schemas.microsoft.com/office/powerpoint/2010/main" val="846906284"/>
              </p:ext>
            </p:extLst>
          </p:nvPr>
        </p:nvGraphicFramePr>
        <p:xfrm>
          <a:off x="981247" y="1547253"/>
          <a:ext cx="10659431" cy="4406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44" name="Google Shape;34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Flow </a:t>
            </a:r>
            <a:r>
              <a:rPr lang="es-CL" dirty="0" err="1"/>
              <a:t>states</a:t>
            </a:r>
            <a:r>
              <a:rPr lang="es-CL" dirty="0"/>
              <a:t> – Estados de inmersión</a:t>
            </a:r>
            <a:endParaRPr dirty="0"/>
          </a:p>
        </p:txBody>
      </p:sp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AFAAC6B-B4AE-4649-881A-F216154540BE}"/>
              </a:ext>
            </a:extLst>
          </p:cNvPr>
          <p:cNvSpPr/>
          <p:nvPr/>
        </p:nvSpPr>
        <p:spPr>
          <a:xfrm>
            <a:off x="3842551" y="4957200"/>
            <a:ext cx="45796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buClr>
                <a:srgbClr val="3F3F3F"/>
              </a:buClr>
              <a:buSzPts val="1600"/>
            </a:pPr>
            <a:r>
              <a:rPr lang="es-MX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Apreciación positiva total de estados de inmersión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DE6B7A8-6B45-4F4D-A905-E693E5A21E61}"/>
              </a:ext>
            </a:extLst>
          </p:cNvPr>
          <p:cNvSpPr/>
          <p:nvPr/>
        </p:nvSpPr>
        <p:spPr>
          <a:xfrm>
            <a:off x="4888800" y="2084400"/>
            <a:ext cx="2520000" cy="2520000"/>
          </a:xfrm>
          <a:prstGeom prst="ellipse">
            <a:avLst/>
          </a:prstGeom>
          <a:noFill/>
          <a:ln w="57150">
            <a:solidFill>
              <a:srgbClr val="27B6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CL" sz="6600" b="1" dirty="0">
              <a:solidFill>
                <a:schemeClr val="tx1"/>
              </a:solidFill>
            </a:endParaRPr>
          </a:p>
        </p:txBody>
      </p:sp>
      <p:pic>
        <p:nvPicPr>
          <p:cNvPr id="7" name="Picture 4" descr="https://o.remove.bg/downloads/a2fe74ba-119e-4176-840d-2e2a91317f11/image-removebg-preview.png">
            <a:extLst>
              <a:ext uri="{FF2B5EF4-FFF2-40B4-BE49-F238E27FC236}">
                <a16:creationId xmlns:a16="http://schemas.microsoft.com/office/drawing/2014/main" id="{CDF56695-D92C-4F9C-9B2A-16F4B11BA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1" y="4240530"/>
            <a:ext cx="1935196" cy="193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low_positivo">
            <a:extLst>
              <a:ext uri="{FF2B5EF4-FFF2-40B4-BE49-F238E27FC236}">
                <a16:creationId xmlns:a16="http://schemas.microsoft.com/office/drawing/2014/main" id="{FC13E964-DD1E-4C3A-869E-802D0783EA58}"/>
              </a:ext>
            </a:extLst>
          </p:cNvPr>
          <p:cNvSpPr txBox="1">
            <a:spLocks/>
          </p:cNvSpPr>
          <p:nvPr/>
        </p:nvSpPr>
        <p:spPr>
          <a:xfrm>
            <a:off x="4870800" y="2959200"/>
            <a:ext cx="2552351" cy="7634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6600" b="1">
                <a:solidFill>
                  <a:srgbClr val="000000"/>
                </a:solidFill>
                <a:latin typeface="Arial (Cuerpo)"/>
              </a:rPr>
              <a:t>38%</a:t>
            </a:r>
          </a:p>
        </p:txBody>
      </p:sp>
    </p:spTree>
    <p:extLst>
      <p:ext uri="{BB962C8B-B14F-4D97-AF65-F5344CB8AC3E}">
        <p14:creationId xmlns:p14="http://schemas.microsoft.com/office/powerpoint/2010/main" val="407289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Flow </a:t>
            </a:r>
            <a:r>
              <a:rPr lang="es-CL" dirty="0" err="1"/>
              <a:t>states</a:t>
            </a:r>
            <a:r>
              <a:rPr lang="es-CL" dirty="0"/>
              <a:t> – Estados de inmersión</a:t>
            </a:r>
            <a:endParaRPr dirty="0"/>
          </a:p>
        </p:txBody>
      </p:sp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flow_states">
            <a:extLst>
              <a:ext uri="{FF2B5EF4-FFF2-40B4-BE49-F238E27FC236}">
                <a16:creationId xmlns:a16="http://schemas.microsoft.com/office/drawing/2014/main" id="{FC54E293-B2B7-448C-AA1C-9F85ED19D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0075271"/>
              </p:ext>
            </p:extLst>
          </p:nvPr>
        </p:nvGraphicFramePr>
        <p:xfrm>
          <a:off x="-1762024" y="1283027"/>
          <a:ext cx="13790737" cy="5216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5D964812-2EFF-4587-B3D9-60CE9FB2FA87}"/>
              </a:ext>
            </a:extLst>
          </p:cNvPr>
          <p:cNvSpPr txBox="1">
            <a:spLocks/>
          </p:cNvSpPr>
          <p:nvPr/>
        </p:nvSpPr>
        <p:spPr>
          <a:xfrm>
            <a:off x="5994827" y="6499878"/>
            <a:ext cx="6455708" cy="2826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1070" kern="1200" dirty="0" smtClean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ym typeface="Calibri"/>
              </a:rPr>
              <a:t>* La suma de los porcentajes podría no totalizar 100% por la aproximación de decimales</a:t>
            </a:r>
            <a:endParaRPr lang="es-ES" sz="1100" dirty="0">
              <a:solidFill>
                <a:srgbClr val="7F7F7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3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0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Actividad física</a:t>
            </a:r>
            <a:endParaRPr dirty="0"/>
          </a:p>
        </p:txBody>
      </p:sp>
      <p:pic>
        <p:nvPicPr>
          <p:cNvPr id="1135" name="Google Shape;1135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89743" y="204482"/>
            <a:ext cx="534146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actividad_fisica_pie_chart">
            <a:extLst>
              <a:ext uri="{FF2B5EF4-FFF2-40B4-BE49-F238E27FC236}">
                <a16:creationId xmlns:a16="http://schemas.microsoft.com/office/drawing/2014/main" id="{94A38310-71C6-4207-916A-109C05A68E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032442"/>
              </p:ext>
            </p:extLst>
          </p:nvPr>
        </p:nvGraphicFramePr>
        <p:xfrm>
          <a:off x="3854075" y="1327178"/>
          <a:ext cx="4913775" cy="4507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0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Alimentación</a:t>
            </a:r>
            <a:endParaRPr/>
          </a:p>
        </p:txBody>
      </p:sp>
      <p:graphicFrame>
        <p:nvGraphicFramePr>
          <p:cNvPr id="1141" name="alimentacion3"/>
          <p:cNvGraphicFramePr/>
          <p:nvPr>
            <p:extLst>
              <p:ext uri="{D42A27DB-BD31-4B8C-83A1-F6EECF244321}">
                <p14:modId xmlns:p14="http://schemas.microsoft.com/office/powerpoint/2010/main" val="3110845280"/>
              </p:ext>
            </p:extLst>
          </p:nvPr>
        </p:nvGraphicFramePr>
        <p:xfrm>
          <a:off x="190837" y="1069864"/>
          <a:ext cx="11724937" cy="2005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42" name="Google Shape;1142;p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81764" y="169864"/>
            <a:ext cx="1062259" cy="785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102"/>
          <p:cNvSpPr/>
          <p:nvPr/>
        </p:nvSpPr>
        <p:spPr>
          <a:xfrm>
            <a:off x="190837" y="1605303"/>
            <a:ext cx="11565734" cy="819397"/>
          </a:xfrm>
          <a:prstGeom prst="rect">
            <a:avLst/>
          </a:prstGeom>
          <a:noFill/>
          <a:ln w="38100" cap="flat" cmpd="sng">
            <a:solidFill>
              <a:srgbClr val="55B2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02"/>
          <p:cNvSpPr/>
          <p:nvPr/>
        </p:nvSpPr>
        <p:spPr>
          <a:xfrm>
            <a:off x="190837" y="3074874"/>
            <a:ext cx="11565734" cy="364123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alimentacion"/>
          <p:cNvGraphicFramePr/>
          <p:nvPr>
            <p:extLst>
              <p:ext uri="{D42A27DB-BD31-4B8C-83A1-F6EECF244321}">
                <p14:modId xmlns:p14="http://schemas.microsoft.com/office/powerpoint/2010/main" val="3351427359"/>
              </p:ext>
            </p:extLst>
          </p:nvPr>
        </p:nvGraphicFramePr>
        <p:xfrm>
          <a:off x="254879" y="3074873"/>
          <a:ext cx="11682242" cy="3348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3708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05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Ingesta de líquidos</a:t>
            </a:r>
            <a:endParaRPr/>
          </a:p>
        </p:txBody>
      </p:sp>
      <p:graphicFrame>
        <p:nvGraphicFramePr>
          <p:cNvPr id="1168" name="ingesta_liquidos"/>
          <p:cNvGraphicFramePr/>
          <p:nvPr>
            <p:extLst>
              <p:ext uri="{D42A27DB-BD31-4B8C-83A1-F6EECF244321}">
                <p14:modId xmlns:p14="http://schemas.microsoft.com/office/powerpoint/2010/main" val="3163863960"/>
              </p:ext>
            </p:extLst>
          </p:nvPr>
        </p:nvGraphicFramePr>
        <p:xfrm>
          <a:off x="3652837" y="1474104"/>
          <a:ext cx="488632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69" name="Google Shape;1169;p1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06150" y="119748"/>
            <a:ext cx="903030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05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Tabaquismo</a:t>
            </a:r>
            <a:endParaRPr dirty="0"/>
          </a:p>
        </p:txBody>
      </p:sp>
      <p:graphicFrame>
        <p:nvGraphicFramePr>
          <p:cNvPr id="5" name="tabaquismo">
            <a:extLst>
              <a:ext uri="{FF2B5EF4-FFF2-40B4-BE49-F238E27FC236}">
                <a16:creationId xmlns:a16="http://schemas.microsoft.com/office/drawing/2014/main" id="{5BBC86A8-A241-4C94-B947-C736276A19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6926301"/>
              </p:ext>
            </p:extLst>
          </p:nvPr>
        </p:nvGraphicFramePr>
        <p:xfrm>
          <a:off x="3652837" y="1474104"/>
          <a:ext cx="488632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2" descr="A black and white image of a cigarette&#10;&#10;AI-generated content may be incorrect.">
            <a:extLst>
              <a:ext uri="{FF2B5EF4-FFF2-40B4-BE49-F238E27FC236}">
                <a16:creationId xmlns:a16="http://schemas.microsoft.com/office/drawing/2014/main" id="{4EE0938B-A1F5-E213-9763-4E9C39809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0650" y="97004"/>
            <a:ext cx="969044" cy="9289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674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Experiencia emocional e insights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3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15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3639" y="1801198"/>
            <a:ext cx="6464721" cy="40168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9;p11">
            <a:extLst>
              <a:ext uri="{FF2B5EF4-FFF2-40B4-BE49-F238E27FC236}">
                <a16:creationId xmlns:a16="http://schemas.microsoft.com/office/drawing/2014/main" id="{4EF4A740-ABAE-4AB2-99BC-A93D5DBB2DD7}"/>
              </a:ext>
            </a:extLst>
          </p:cNvPr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00223A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¿Cómo es la experiencia emocional de las y los estudiantes?</a:t>
            </a:r>
            <a:endParaRPr dirty="0">
              <a:solidFill>
                <a:srgbClr val="00223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6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319" y="2436074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/>
          <p:nvPr/>
        </p:nvSpPr>
        <p:spPr>
          <a:xfrm>
            <a:off x="2464422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Mujeres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277" name="Google Shape;277;p16" descr="Tex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330" y="2436073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 txBox="1"/>
          <p:nvPr/>
        </p:nvSpPr>
        <p:spPr>
          <a:xfrm>
            <a:off x="8534397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Hombres</a:t>
            </a:r>
            <a:endParaRPr sz="200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219;p11">
            <a:extLst>
              <a:ext uri="{FF2B5EF4-FFF2-40B4-BE49-F238E27FC236}">
                <a16:creationId xmlns:a16="http://schemas.microsoft.com/office/drawing/2014/main" id="{A867D09D-7D5A-41EE-AB42-CAC7999ECCDF}"/>
              </a:ext>
            </a:extLst>
          </p:cNvPr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00223A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¿Cómo es la experiencia emocional de las y los estudiantes?</a:t>
            </a:r>
            <a:endParaRPr dirty="0">
              <a:solidFill>
                <a:srgbClr val="00223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6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319" y="2436074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/>
          <p:nvPr/>
        </p:nvSpPr>
        <p:spPr>
          <a:xfrm>
            <a:off x="2464422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277" name="Google Shape;277;p16" descr="Tex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330" y="2436073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 txBox="1"/>
          <p:nvPr/>
        </p:nvSpPr>
        <p:spPr>
          <a:xfrm>
            <a:off x="8534397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2025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219;p11">
            <a:extLst>
              <a:ext uri="{FF2B5EF4-FFF2-40B4-BE49-F238E27FC236}">
                <a16:creationId xmlns:a16="http://schemas.microsoft.com/office/drawing/2014/main" id="{A867D09D-7D5A-41EE-AB42-CAC7999ECCDF}"/>
              </a:ext>
            </a:extLst>
          </p:cNvPr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00223A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¿Cómo es la experiencia emocional de las y los estudiantes?</a:t>
            </a:r>
            <a:endParaRPr dirty="0">
              <a:solidFill>
                <a:srgbClr val="00223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87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B29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796604" y="4882487"/>
            <a:ext cx="32276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657432" y="4882950"/>
            <a:ext cx="33070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83862" y="4861615"/>
            <a:ext cx="3054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Insights resultados descriptivos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391729" y="1789881"/>
            <a:ext cx="2372779" cy="9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208329" y="1783754"/>
            <a:ext cx="2449103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00A3E5-955F-3CC1-516C-1D3434FCA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8" y="1872869"/>
            <a:ext cx="779581" cy="7343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FC49A5-F79E-0434-8679-358EF8735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463" y="4122545"/>
            <a:ext cx="637397" cy="6186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684C97-F342-C05A-2748-1D45C222A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781" y="4001975"/>
            <a:ext cx="777311" cy="8063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F8DF50-0CFD-D43A-64C4-7BA055DC1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226" y="1872869"/>
            <a:ext cx="1268787" cy="7343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ADE7885-19BF-06E8-3FC0-ABD542D94A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971013" y="4001975"/>
            <a:ext cx="878845" cy="85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3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>
            <a:spLocks noGrp="1"/>
          </p:cNvSpPr>
          <p:nvPr>
            <p:ph type="ctrTitle"/>
          </p:nvPr>
        </p:nvSpPr>
        <p:spPr>
          <a:xfrm>
            <a:off x="1523999" y="219233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CL" cap="small" dirty="0"/>
              <a:t>Resultados inferenciales</a:t>
            </a:r>
            <a:endParaRPr cap="small" dirty="0"/>
          </a:p>
        </p:txBody>
      </p:sp>
    </p:spTree>
    <p:extLst>
      <p:ext uri="{BB962C8B-B14F-4D97-AF65-F5344CB8AC3E}">
        <p14:creationId xmlns:p14="http://schemas.microsoft.com/office/powerpoint/2010/main" val="270519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1;p2"/>
          <p:cNvSpPr txBox="1">
            <a:spLocks/>
          </p:cNvSpPr>
          <p:nvPr/>
        </p:nvSpPr>
        <p:spPr>
          <a:xfrm>
            <a:off x="379264" y="0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  <a:defRPr sz="3400" b="1" i="0" u="none" strike="noStrike" cap="small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3F3F3F"/>
              </a:buClr>
              <a:buSzPts val="3200"/>
            </a:pPr>
            <a:r>
              <a:rPr lang="es-ES" dirty="0"/>
              <a:t>Metodología: Selección de grupos y predictores</a:t>
            </a:r>
          </a:p>
        </p:txBody>
      </p:sp>
      <p:sp>
        <p:nvSpPr>
          <p:cNvPr id="14" name="Google Shape;102;p2"/>
          <p:cNvSpPr txBox="1"/>
          <p:nvPr/>
        </p:nvSpPr>
        <p:spPr>
          <a:xfrm>
            <a:off x="0" y="876905"/>
            <a:ext cx="11767301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lang="es-CL" sz="1600" b="0" i="0" u="none" strike="noStrike" cap="none" dirty="0">
              <a:solidFill>
                <a:srgbClr val="3F3F3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s-MX" sz="1600" b="0" i="0" u="none" strike="noStrike" cap="none" dirty="0">
                <a:solidFill>
                  <a:srgbClr val="3A434C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	XXX</a:t>
            </a:r>
            <a:endParaRPr sz="1600" b="0" i="0" u="none" strike="noStrike" cap="none" dirty="0">
              <a:solidFill>
                <a:srgbClr val="3A434C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285750" marR="0" lvl="0" indent="-196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rgbClr val="3A434C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5D7BB72-E332-4027-AA43-2CAAB5082592}"/>
              </a:ext>
            </a:extLst>
          </p:cNvPr>
          <p:cNvSpPr txBox="1"/>
          <p:nvPr/>
        </p:nvSpPr>
        <p:spPr>
          <a:xfrm>
            <a:off x="9278471" y="365125"/>
            <a:ext cx="1532963" cy="73866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Apartado completo por diseñar</a:t>
            </a:r>
          </a:p>
        </p:txBody>
      </p:sp>
    </p:spTree>
    <p:extLst>
      <p:ext uri="{BB962C8B-B14F-4D97-AF65-F5344CB8AC3E}">
        <p14:creationId xmlns:p14="http://schemas.microsoft.com/office/powerpoint/2010/main" val="329525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iniciativas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4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App Vivo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64865" y="1324321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¿Conoces la APP Vivo Duoc UC (de recursos de apoyo a la salud mental)?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2855820774"/>
              </p:ext>
            </p:extLst>
          </p:nvPr>
        </p:nvGraphicFramePr>
        <p:xfrm>
          <a:off x="61392" y="1847541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579239" y="99592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utilizado uno o más de los siguientes recursos de la APP Vivo?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>
            <p:extLst>
              <p:ext uri="{D42A27DB-BD31-4B8C-83A1-F6EECF244321}">
                <p14:modId xmlns:p14="http://schemas.microsoft.com/office/powerpoint/2010/main" val="1746136637"/>
              </p:ext>
            </p:extLst>
          </p:nvPr>
        </p:nvGraphicFramePr>
        <p:xfrm>
          <a:off x="7240365" y="1584016"/>
          <a:ext cx="4673343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5149779" y="3743952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" name="Gráfico 2" descr="Smartphone con relleno sólido">
            <a:extLst>
              <a:ext uri="{FF2B5EF4-FFF2-40B4-BE49-F238E27FC236}">
                <a16:creationId xmlns:a16="http://schemas.microsoft.com/office/drawing/2014/main" id="{A3AD8259-4015-4012-946D-A7609DEF0C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11373" y="218299"/>
            <a:ext cx="802335" cy="802335"/>
          </a:xfrm>
          <a:prstGeom prst="rect">
            <a:avLst/>
          </a:prstGeom>
        </p:spPr>
      </p:pic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096000" y="5604291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el uso de la APP Vivo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5" name="Google Shape;355;p25">
            <a:extLst>
              <a:ext uri="{FF2B5EF4-FFF2-40B4-BE49-F238E27FC236}">
                <a16:creationId xmlns:a16="http://schemas.microsoft.com/office/drawing/2014/main" id="{BD9444E5-5C53-4BF1-95A4-B2945CDECC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442259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Google Shape;352;p25">
            <a:extLst>
              <a:ext uri="{FF2B5EF4-FFF2-40B4-BE49-F238E27FC236}">
                <a16:creationId xmlns:a16="http://schemas.microsoft.com/office/drawing/2014/main" id="{EBB1B67D-3C61-4669-AB83-031845671B43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52198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50;p25">
            <a:extLst>
              <a:ext uri="{FF2B5EF4-FFF2-40B4-BE49-F238E27FC236}">
                <a16:creationId xmlns:a16="http://schemas.microsoft.com/office/drawing/2014/main" id="{96F2476E-E0D6-4966-BCA8-C68C105541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2E56C581-1558-470F-99EE-A5203AFEE9DE}"/>
              </a:ext>
            </a:extLst>
          </p:cNvPr>
          <p:cNvSpPr txBox="1"/>
          <p:nvPr/>
        </p:nvSpPr>
        <p:spPr>
          <a:xfrm>
            <a:off x="264865" y="1933923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¿Eres un Embajador/a del Bienestar y la Salud Mental en tu sede?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5" name="Google Shape;353;p25">
            <a:extLst>
              <a:ext uri="{FF2B5EF4-FFF2-40B4-BE49-F238E27FC236}">
                <a16:creationId xmlns:a16="http://schemas.microsoft.com/office/drawing/2014/main" id="{AC2D723C-4DB5-442F-B75B-B5F5C5C1B9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8624439"/>
              </p:ext>
            </p:extLst>
          </p:nvPr>
        </p:nvGraphicFramePr>
        <p:xfrm>
          <a:off x="61392" y="2457143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356;p25">
            <a:extLst>
              <a:ext uri="{FF2B5EF4-FFF2-40B4-BE49-F238E27FC236}">
                <a16:creationId xmlns:a16="http://schemas.microsoft.com/office/drawing/2014/main" id="{946EBDD2-4718-4BBC-8D0C-05216453049A}"/>
              </a:ext>
            </a:extLst>
          </p:cNvPr>
          <p:cNvSpPr/>
          <p:nvPr/>
        </p:nvSpPr>
        <p:spPr>
          <a:xfrm>
            <a:off x="5149779" y="3743952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57;p25">
            <a:extLst>
              <a:ext uri="{FF2B5EF4-FFF2-40B4-BE49-F238E27FC236}">
                <a16:creationId xmlns:a16="http://schemas.microsoft.com/office/drawing/2014/main" id="{3DA4C849-6E7F-482C-BF9F-A3328D3FBF00}"/>
              </a:ext>
            </a:extLst>
          </p:cNvPr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Google Shape;354;p25">
            <a:extLst>
              <a:ext uri="{FF2B5EF4-FFF2-40B4-BE49-F238E27FC236}">
                <a16:creationId xmlns:a16="http://schemas.microsoft.com/office/drawing/2014/main" id="{B60CEC6B-0A92-467C-9B01-CBB762D01254}"/>
              </a:ext>
            </a:extLst>
          </p:cNvPr>
          <p:cNvSpPr txBox="1"/>
          <p:nvPr/>
        </p:nvSpPr>
        <p:spPr>
          <a:xfrm>
            <a:off x="7579239" y="1883425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qué medida el curso de embajadores ha aportado a tu bienestar y salud mental?</a:t>
            </a:r>
          </a:p>
        </p:txBody>
      </p:sp>
      <p:graphicFrame>
        <p:nvGraphicFramePr>
          <p:cNvPr id="9" name="Google Shape;355;p25">
            <a:extLst>
              <a:ext uri="{FF2B5EF4-FFF2-40B4-BE49-F238E27FC236}">
                <a16:creationId xmlns:a16="http://schemas.microsoft.com/office/drawing/2014/main" id="{37ACE16A-3504-4F03-B475-BC352B0B33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7960910"/>
              </p:ext>
            </p:extLst>
          </p:nvPr>
        </p:nvGraphicFramePr>
        <p:xfrm>
          <a:off x="7240365" y="2471521"/>
          <a:ext cx="4673343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Gráfico 11" descr="Maestro con relleno sólido">
            <a:extLst>
              <a:ext uri="{FF2B5EF4-FFF2-40B4-BE49-F238E27FC236}">
                <a16:creationId xmlns:a16="http://schemas.microsoft.com/office/drawing/2014/main" id="{CDAB06D9-1ED0-4835-81FB-8E9909DE8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0" name="Google Shape;352;p25">
            <a:extLst>
              <a:ext uri="{FF2B5EF4-FFF2-40B4-BE49-F238E27FC236}">
                <a16:creationId xmlns:a16="http://schemas.microsoft.com/office/drawing/2014/main" id="{5E084309-8FF2-4496-AEDF-F99EC463E9A1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47549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61392" y="1582659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Desde que eres Embajador/a, ¿a cuántas personas has podido apoyar en tu rol de Embajador/a del Bienestar y la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954821951"/>
              </p:ext>
            </p:extLst>
          </p:nvPr>
        </p:nvGraphicFramePr>
        <p:xfrm>
          <a:off x="617165" y="2304740"/>
          <a:ext cx="4770584" cy="2700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912319" y="432789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Pensando en cuando te formaste como Embajador/a, ¿qué tan satisfecho/a te encuentras con lo aprendido en el curso?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>
            <p:extLst>
              <p:ext uri="{D42A27DB-BD31-4B8C-83A1-F6EECF244321}">
                <p14:modId xmlns:p14="http://schemas.microsoft.com/office/powerpoint/2010/main" val="3284221420"/>
              </p:ext>
            </p:extLst>
          </p:nvPr>
        </p:nvGraphicFramePr>
        <p:xfrm>
          <a:off x="6748312" y="1331770"/>
          <a:ext cx="4673343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5946485" y="5604291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este curso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4" name="Google Shape;355;p25">
            <a:extLst>
              <a:ext uri="{FF2B5EF4-FFF2-40B4-BE49-F238E27FC236}">
                <a16:creationId xmlns:a16="http://schemas.microsoft.com/office/drawing/2014/main" id="{83DF4F8F-2F7D-48B6-A524-9C0F8C338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293499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5" name="Gráfico 14" descr="Maestro con relleno sólido">
            <a:extLst>
              <a:ext uri="{FF2B5EF4-FFF2-40B4-BE49-F238E27FC236}">
                <a16:creationId xmlns:a16="http://schemas.microsoft.com/office/drawing/2014/main" id="{C0BF5ED7-C501-452A-A57E-5168D36516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1" name="Google Shape;352;p25">
            <a:extLst>
              <a:ext uri="{FF2B5EF4-FFF2-40B4-BE49-F238E27FC236}">
                <a16:creationId xmlns:a16="http://schemas.microsoft.com/office/drawing/2014/main" id="{4B800D6F-1AB2-4122-99CA-643F191AEB4E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160533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6582521" y="2142479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¿Cuál de las siguientes alternativas representa la razón por la que no te interesaría ser Embajador/a del Bienestar y la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411018" y="2842193"/>
            <a:ext cx="295415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 la información que acabas de leer sobre el programa, ¿te interesaría ser un Embajador/a del Bienestar y la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4" name="Google Shape;355;p25">
            <a:extLst>
              <a:ext uri="{FF2B5EF4-FFF2-40B4-BE49-F238E27FC236}">
                <a16:creationId xmlns:a16="http://schemas.microsoft.com/office/drawing/2014/main" id="{83DF4F8F-2F7D-48B6-A524-9C0F8C338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1659039"/>
              </p:ext>
            </p:extLst>
          </p:nvPr>
        </p:nvGraphicFramePr>
        <p:xfrm>
          <a:off x="2153256" y="2460840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5" name="Gráfico 14" descr="Maestro con relleno sólido">
            <a:extLst>
              <a:ext uri="{FF2B5EF4-FFF2-40B4-BE49-F238E27FC236}">
                <a16:creationId xmlns:a16="http://schemas.microsoft.com/office/drawing/2014/main" id="{C0BF5ED7-C501-452A-A57E-5168D36516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1" name="Google Shape;356;p25">
            <a:extLst>
              <a:ext uri="{FF2B5EF4-FFF2-40B4-BE49-F238E27FC236}">
                <a16:creationId xmlns:a16="http://schemas.microsoft.com/office/drawing/2014/main" id="{10DA074B-A1FB-4F80-942A-AE4C11D45B52}"/>
              </a:ext>
            </a:extLst>
          </p:cNvPr>
          <p:cNvSpPr/>
          <p:nvPr/>
        </p:nvSpPr>
        <p:spPr>
          <a:xfrm>
            <a:off x="577779" y="105241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57;p25">
            <a:extLst>
              <a:ext uri="{FF2B5EF4-FFF2-40B4-BE49-F238E27FC236}">
                <a16:creationId xmlns:a16="http://schemas.microsoft.com/office/drawing/2014/main" id="{6FB4132F-D76E-4E3E-8E23-53EAC608586D}"/>
              </a:ext>
            </a:extLst>
          </p:cNvPr>
          <p:cNvSpPr txBox="1"/>
          <p:nvPr/>
        </p:nvSpPr>
        <p:spPr>
          <a:xfrm>
            <a:off x="188259" y="1788959"/>
            <a:ext cx="402261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NO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ser Embajadores/as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356;p25">
            <a:extLst>
              <a:ext uri="{FF2B5EF4-FFF2-40B4-BE49-F238E27FC236}">
                <a16:creationId xmlns:a16="http://schemas.microsoft.com/office/drawing/2014/main" id="{A26C57F8-2A87-4EE3-8496-2C95FDD56E54}"/>
              </a:ext>
            </a:extLst>
          </p:cNvPr>
          <p:cNvSpPr/>
          <p:nvPr/>
        </p:nvSpPr>
        <p:spPr>
          <a:xfrm>
            <a:off x="4340452" y="4383521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57;p25">
            <a:extLst>
              <a:ext uri="{FF2B5EF4-FFF2-40B4-BE49-F238E27FC236}">
                <a16:creationId xmlns:a16="http://schemas.microsoft.com/office/drawing/2014/main" id="{4EA7B50B-DE97-4456-B5F5-73463E06EFDE}"/>
              </a:ext>
            </a:extLst>
          </p:cNvPr>
          <p:cNvSpPr txBox="1"/>
          <p:nvPr/>
        </p:nvSpPr>
        <p:spPr>
          <a:xfrm>
            <a:off x="2425459" y="5120070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</a:t>
            </a:r>
            <a:r>
              <a:rPr lang="es-CL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8" name="Google Shape;355;p25">
            <a:extLst>
              <a:ext uri="{FF2B5EF4-FFF2-40B4-BE49-F238E27FC236}">
                <a16:creationId xmlns:a16="http://schemas.microsoft.com/office/drawing/2014/main" id="{6290A1D2-8902-43E5-8B1F-E6BE8BE885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0880292"/>
              </p:ext>
            </p:extLst>
          </p:nvPr>
        </p:nvGraphicFramePr>
        <p:xfrm>
          <a:off x="7107639" y="3098627"/>
          <a:ext cx="4673343" cy="3474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9" name="Google Shape;352;p25">
            <a:extLst>
              <a:ext uri="{FF2B5EF4-FFF2-40B4-BE49-F238E27FC236}">
                <a16:creationId xmlns:a16="http://schemas.microsoft.com/office/drawing/2014/main" id="{01C0C771-A37A-4258-9408-2FE8102EF8C6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219753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50;p25">
            <a:extLst>
              <a:ext uri="{FF2B5EF4-FFF2-40B4-BE49-F238E27FC236}">
                <a16:creationId xmlns:a16="http://schemas.microsoft.com/office/drawing/2014/main" id="{96F2476E-E0D6-4966-BCA8-C68C105541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2E56C581-1558-470F-99EE-A5203AFEE9DE}"/>
              </a:ext>
            </a:extLst>
          </p:cNvPr>
          <p:cNvSpPr txBox="1"/>
          <p:nvPr/>
        </p:nvSpPr>
        <p:spPr>
          <a:xfrm>
            <a:off x="264865" y="1933923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algún momento has buscado o recibido apoyo, orientación o información sobre bienestar y salud mental a través de alguien de la comunidad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5" name="Google Shape;353;p25">
            <a:extLst>
              <a:ext uri="{FF2B5EF4-FFF2-40B4-BE49-F238E27FC236}">
                <a16:creationId xmlns:a16="http://schemas.microsoft.com/office/drawing/2014/main" id="{AC2D723C-4DB5-442F-B75B-B5F5C5C1B9EF}"/>
              </a:ext>
            </a:extLst>
          </p:cNvPr>
          <p:cNvGraphicFramePr/>
          <p:nvPr/>
        </p:nvGraphicFramePr>
        <p:xfrm>
          <a:off x="61392" y="2457143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356;p25">
            <a:extLst>
              <a:ext uri="{FF2B5EF4-FFF2-40B4-BE49-F238E27FC236}">
                <a16:creationId xmlns:a16="http://schemas.microsoft.com/office/drawing/2014/main" id="{946EBDD2-4718-4BBC-8D0C-05216453049A}"/>
              </a:ext>
            </a:extLst>
          </p:cNvPr>
          <p:cNvSpPr/>
          <p:nvPr/>
        </p:nvSpPr>
        <p:spPr>
          <a:xfrm>
            <a:off x="5149779" y="3743952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57;p25">
            <a:extLst>
              <a:ext uri="{FF2B5EF4-FFF2-40B4-BE49-F238E27FC236}">
                <a16:creationId xmlns:a16="http://schemas.microsoft.com/office/drawing/2014/main" id="{3DA4C849-6E7F-482C-BF9F-A3328D3FBF00}"/>
              </a:ext>
            </a:extLst>
          </p:cNvPr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Google Shape;354;p25">
            <a:extLst>
              <a:ext uri="{FF2B5EF4-FFF2-40B4-BE49-F238E27FC236}">
                <a16:creationId xmlns:a16="http://schemas.microsoft.com/office/drawing/2014/main" id="{B60CEC6B-0A92-467C-9B01-CBB762D01254}"/>
              </a:ext>
            </a:extLst>
          </p:cNvPr>
          <p:cNvSpPr txBox="1"/>
          <p:nvPr/>
        </p:nvSpPr>
        <p:spPr>
          <a:xfrm>
            <a:off x="7579238" y="2377499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¿Recuerdas si persona era un Embajador/a del Bienestar y la Salud Mental?</a:t>
            </a:r>
          </a:p>
        </p:txBody>
      </p:sp>
      <p:pic>
        <p:nvPicPr>
          <p:cNvPr id="12" name="Gráfico 11" descr="Maestro con relleno sólido">
            <a:extLst>
              <a:ext uri="{FF2B5EF4-FFF2-40B4-BE49-F238E27FC236}">
                <a16:creationId xmlns:a16="http://schemas.microsoft.com/office/drawing/2014/main" id="{CDAB06D9-1ED0-4835-81FB-8E9909DE8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graphicFrame>
        <p:nvGraphicFramePr>
          <p:cNvPr id="10" name="Google Shape;355;p25">
            <a:extLst>
              <a:ext uri="{FF2B5EF4-FFF2-40B4-BE49-F238E27FC236}">
                <a16:creationId xmlns:a16="http://schemas.microsoft.com/office/drawing/2014/main" id="{7A0475B1-3D5E-4E26-B0B5-02AB009CFB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9565316"/>
              </p:ext>
            </p:extLst>
          </p:nvPr>
        </p:nvGraphicFramePr>
        <p:xfrm>
          <a:off x="7846169" y="3368785"/>
          <a:ext cx="3461735" cy="2531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Google Shape;352;p25">
            <a:extLst>
              <a:ext uri="{FF2B5EF4-FFF2-40B4-BE49-F238E27FC236}">
                <a16:creationId xmlns:a16="http://schemas.microsoft.com/office/drawing/2014/main" id="{43D80E74-3F7B-4003-90E6-9FEBB162022B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158294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Atenciones psicológicas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-136175" y="1375795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recibido atención psicológica en el programa de salud mental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3589019802"/>
              </p:ext>
            </p:extLst>
          </p:nvPr>
        </p:nvGraphicFramePr>
        <p:xfrm>
          <a:off x="-339648" y="1899015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961680" y="561364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tan satisfecho/a te encuentras con las atenciones que has recibido?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3768298" y="3957919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1853305" y="4694468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096000" y="5481181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a un compañero/a usar las atenciones psicológicas del programa de salud mental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6" name="Gráfico 5" descr="Cerebro en la cabeza con relleno sólido">
            <a:extLst>
              <a:ext uri="{FF2B5EF4-FFF2-40B4-BE49-F238E27FC236}">
                <a16:creationId xmlns:a16="http://schemas.microsoft.com/office/drawing/2014/main" id="{DBC26442-7E3B-44F6-BDA3-1BA5CCB59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7256" y="190682"/>
            <a:ext cx="796452" cy="796452"/>
          </a:xfrm>
          <a:prstGeom prst="rect">
            <a:avLst/>
          </a:prstGeom>
        </p:spPr>
      </p:pic>
      <p:graphicFrame>
        <p:nvGraphicFramePr>
          <p:cNvPr id="15" name="Google Shape;355;p25">
            <a:extLst>
              <a:ext uri="{FF2B5EF4-FFF2-40B4-BE49-F238E27FC236}">
                <a16:creationId xmlns:a16="http://schemas.microsoft.com/office/drawing/2014/main" id="{63C467E0-9AA7-46E5-A81A-0DA2603FED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3155318"/>
              </p:ext>
            </p:extLst>
          </p:nvPr>
        </p:nvGraphicFramePr>
        <p:xfrm>
          <a:off x="6622807" y="1222225"/>
          <a:ext cx="4673343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Google Shape;355;p25">
            <a:extLst>
              <a:ext uri="{FF2B5EF4-FFF2-40B4-BE49-F238E27FC236}">
                <a16:creationId xmlns:a16="http://schemas.microsoft.com/office/drawing/2014/main" id="{8A1D3D71-A9C2-4366-A645-81B3965CD5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442259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Google Shape;352;p25">
            <a:extLst>
              <a:ext uri="{FF2B5EF4-FFF2-40B4-BE49-F238E27FC236}">
                <a16:creationId xmlns:a16="http://schemas.microsoft.com/office/drawing/2014/main" id="{234E88FB-D38E-4557-B143-D444BA337034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244712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Bienestar integral en movimiento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64865" y="1324321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participado de los talleres y/o intervenciones en sala de bienestar integral en movimiento?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/>
        </p:nvGraphicFramePr>
        <p:xfrm>
          <a:off x="61392" y="1847541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195118" y="42078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qué medida estos talleres o intervenciones han aportado a tu bienestar?</a:t>
            </a:r>
          </a:p>
        </p:txBody>
      </p:sp>
      <p:sp>
        <p:nvSpPr>
          <p:cNvPr id="356" name="Google Shape;356;p25"/>
          <p:cNvSpPr/>
          <p:nvPr/>
        </p:nvSpPr>
        <p:spPr>
          <a:xfrm>
            <a:off x="5149779" y="3743952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155799" y="5416397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estos talleres o intervenciones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4" name="Gráfico 3" descr="Corazón con pulso con relleno sólido">
            <a:extLst>
              <a:ext uri="{FF2B5EF4-FFF2-40B4-BE49-F238E27FC236}">
                <a16:creationId xmlns:a16="http://schemas.microsoft.com/office/drawing/2014/main" id="{A755F92F-F1CB-41A6-8BA9-C571CB7AF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52067" y="171541"/>
            <a:ext cx="817188" cy="817188"/>
          </a:xfrm>
          <a:prstGeom prst="rect">
            <a:avLst/>
          </a:prstGeom>
        </p:spPr>
      </p:pic>
      <p:graphicFrame>
        <p:nvGraphicFramePr>
          <p:cNvPr id="16" name="Google Shape;355;p25">
            <a:extLst>
              <a:ext uri="{FF2B5EF4-FFF2-40B4-BE49-F238E27FC236}">
                <a16:creationId xmlns:a16="http://schemas.microsoft.com/office/drawing/2014/main" id="{E083B0BE-F40A-4DA8-99A8-1BB1A5FE04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0034336"/>
              </p:ext>
            </p:extLst>
          </p:nvPr>
        </p:nvGraphicFramePr>
        <p:xfrm>
          <a:off x="7200439" y="1152556"/>
          <a:ext cx="3671610" cy="255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Google Shape;355;p25">
            <a:extLst>
              <a:ext uri="{FF2B5EF4-FFF2-40B4-BE49-F238E27FC236}">
                <a16:creationId xmlns:a16="http://schemas.microsoft.com/office/drawing/2014/main" id="{2C55B24B-8049-42C6-8E5E-F7DDDD8A90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442259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Google Shape;352;p25">
            <a:extLst>
              <a:ext uri="{FF2B5EF4-FFF2-40B4-BE49-F238E27FC236}">
                <a16:creationId xmlns:a16="http://schemas.microsoft.com/office/drawing/2014/main" id="{7C56A666-3BD6-4DAA-9F10-4A5300EDC186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222505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82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Síntesis global y conclusiones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5"/>
          <p:cNvSpPr txBox="1">
            <a:spLocks noGrp="1"/>
          </p:cNvSpPr>
          <p:nvPr>
            <p:ph type="title"/>
          </p:nvPr>
        </p:nvSpPr>
        <p:spPr>
          <a:xfrm>
            <a:off x="491319" y="21071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Conclusiones</a:t>
            </a:r>
            <a:endParaRPr sz="3200">
              <a:solidFill>
                <a:srgbClr val="E30613"/>
              </a:solidFill>
            </a:endParaRPr>
          </a:p>
        </p:txBody>
      </p:sp>
      <p:sp>
        <p:nvSpPr>
          <p:cNvPr id="981" name="Google Shape;981;p85"/>
          <p:cNvSpPr txBox="1">
            <a:spLocks noGrp="1"/>
          </p:cNvSpPr>
          <p:nvPr>
            <p:ph type="body" idx="1"/>
          </p:nvPr>
        </p:nvSpPr>
        <p:spPr>
          <a:xfrm>
            <a:off x="491319" y="1288472"/>
            <a:ext cx="11250112" cy="49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12897" lvl="0" indent="-285750" algn="just">
              <a:lnSpc>
                <a:spcPct val="150000"/>
              </a:lnSpc>
              <a:buClr>
                <a:schemeClr val="dk1"/>
              </a:buClr>
              <a:buSzPct val="105555"/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3F3F3F"/>
                </a:solidFill>
              </a:rPr>
              <a:t>XXX</a:t>
            </a:r>
            <a:endParaRPr lang="es-ES" sz="1800" dirty="0">
              <a:solidFill>
                <a:srgbClr val="3F3F3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00FDE6-70C2-4D7B-A270-DE0D8F289D64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9"/>
          <p:cNvSpPr/>
          <p:nvPr/>
        </p:nvSpPr>
        <p:spPr>
          <a:xfrm>
            <a:off x="279127" y="665853"/>
            <a:ext cx="112149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Noto Sans Symbols"/>
              <a:buChar char="✔"/>
            </a:pP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Junto al reporte global se entregan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29 reportes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:</a:t>
            </a:r>
            <a:endParaRPr dirty="0">
              <a:solidFill>
                <a:srgbClr val="3F3F3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32" name="Google Shape;1032;p89"/>
          <p:cNvSpPr txBox="1">
            <a:spLocks noGrp="1"/>
          </p:cNvSpPr>
          <p:nvPr>
            <p:ph type="title"/>
          </p:nvPr>
        </p:nvSpPr>
        <p:spPr>
          <a:xfrm>
            <a:off x="279127" y="-161253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Reportes específicos</a:t>
            </a:r>
            <a:endParaRPr sz="2400" dirty="0">
              <a:solidFill>
                <a:srgbClr val="E30613"/>
              </a:solidFill>
            </a:endParaRPr>
          </a:p>
        </p:txBody>
      </p:sp>
      <p:grpSp>
        <p:nvGrpSpPr>
          <p:cNvPr id="1033" name="Google Shape;1033;p89"/>
          <p:cNvGrpSpPr/>
          <p:nvPr/>
        </p:nvGrpSpPr>
        <p:grpSpPr>
          <a:xfrm>
            <a:off x="2463839" y="1249254"/>
            <a:ext cx="8127920" cy="5160361"/>
            <a:chOff x="39" y="13611"/>
            <a:chExt cx="8127920" cy="5160361"/>
          </a:xfrm>
        </p:grpSpPr>
        <p:sp>
          <p:nvSpPr>
            <p:cNvPr id="1034" name="Google Shape;1034;p89"/>
            <p:cNvSpPr/>
            <p:nvPr/>
          </p:nvSpPr>
          <p:spPr>
            <a:xfrm>
              <a:off x="39" y="13611"/>
              <a:ext cx="3798093" cy="616248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9"/>
            <p:cNvSpPr txBox="1"/>
            <p:nvPr/>
          </p:nvSpPr>
          <p:spPr>
            <a:xfrm>
              <a:off x="39" y="13611"/>
              <a:ext cx="3798093" cy="6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800" tIns="101600" rIns="177800" bIns="101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CL" sz="2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Sedes</a:t>
              </a:r>
              <a:endParaRPr/>
            </a:p>
          </p:txBody>
        </p:sp>
        <p:sp>
          <p:nvSpPr>
            <p:cNvPr id="1036" name="Google Shape;1036;p89"/>
            <p:cNvSpPr/>
            <p:nvPr/>
          </p:nvSpPr>
          <p:spPr>
            <a:xfrm>
              <a:off x="39" y="624135"/>
              <a:ext cx="3798093" cy="4549837"/>
            </a:xfrm>
            <a:prstGeom prst="rect">
              <a:avLst/>
            </a:prstGeom>
            <a:solidFill>
              <a:srgbClr val="F7D5CB">
                <a:alpha val="89803"/>
              </a:srgbClr>
            </a:solidFill>
            <a:ln w="12700" cap="flat" cmpd="sng">
              <a:solidFill>
                <a:srgbClr val="F7D5CB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9"/>
            <p:cNvSpPr txBox="1"/>
            <p:nvPr/>
          </p:nvSpPr>
          <p:spPr>
            <a:xfrm>
              <a:off x="39" y="624135"/>
              <a:ext cx="3798093" cy="4549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675" tIns="74675" rIns="99550" bIns="112000" anchor="t" anchorCtr="0">
              <a:noAutofit/>
            </a:bodyPr>
            <a:lstStyle/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Alameda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Antonio Varas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Campus Arauco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Campus Villarrica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Comunicaciones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Concepción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Maipú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Melipilla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Online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Padre Alonso de Ovalle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Plaza Norte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Plaza Oeste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Plaza Vespucio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Puente Alto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Puerto Montt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San Bernardo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San Carlos de Apoquindo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San Joaquín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Valparaíso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Viña del Mar</a:t>
              </a:r>
            </a:p>
          </p:txBody>
        </p:sp>
        <p:sp>
          <p:nvSpPr>
            <p:cNvPr id="1038" name="Google Shape;1038;p89"/>
            <p:cNvSpPr/>
            <p:nvPr/>
          </p:nvSpPr>
          <p:spPr>
            <a:xfrm>
              <a:off x="4329866" y="13611"/>
              <a:ext cx="3798093" cy="616248"/>
            </a:xfrm>
            <a:prstGeom prst="rect">
              <a:avLst/>
            </a:prstGeom>
            <a:solidFill>
              <a:schemeClr val="accent3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9"/>
            <p:cNvSpPr txBox="1"/>
            <p:nvPr/>
          </p:nvSpPr>
          <p:spPr>
            <a:xfrm>
              <a:off x="4329866" y="13611"/>
              <a:ext cx="3798093" cy="6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800" tIns="101600" rIns="177800" bIns="101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CL" sz="2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Escuelas</a:t>
              </a:r>
              <a:endParaRPr/>
            </a:p>
          </p:txBody>
        </p:sp>
        <p:sp>
          <p:nvSpPr>
            <p:cNvPr id="1040" name="Google Shape;1040;p89"/>
            <p:cNvSpPr/>
            <p:nvPr/>
          </p:nvSpPr>
          <p:spPr>
            <a:xfrm>
              <a:off x="4329866" y="624135"/>
              <a:ext cx="3798093" cy="4549837"/>
            </a:xfrm>
            <a:prstGeom prst="rect">
              <a:avLst/>
            </a:prstGeom>
            <a:solidFill>
              <a:srgbClr val="E0E0E0">
                <a:alpha val="89803"/>
              </a:srgbClr>
            </a:solidFill>
            <a:ln w="12700" cap="flat" cmpd="sng">
              <a:solidFill>
                <a:srgbClr val="E0E0E0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9"/>
            <p:cNvSpPr txBox="1"/>
            <p:nvPr/>
          </p:nvSpPr>
          <p:spPr>
            <a:xfrm>
              <a:off x="4329866" y="624135"/>
              <a:ext cx="3798093" cy="4549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000" tIns="112000" rIns="149350" bIns="168000" anchor="t" anchorCtr="0">
              <a:noAutofit/>
            </a:bodyPr>
            <a:lstStyle/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Administración y Negocios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Comunicación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Construcción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Diseño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Gastronomía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Informática y Telecomunicaciones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Ingeniería, Medio Ambiente y Recursos Naturales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/>
                  <a:ea typeface="Calibri"/>
                  <a:cs typeface="Calibri Light"/>
                  <a:sym typeface="Calibri"/>
                </a:rPr>
                <a:t>Salud y Bienestar</a:t>
              </a:r>
              <a:endParaRPr lang="es-ES" sz="18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</a:endParaRP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Turismo y Hotelería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4BE4B2-5DA3-407E-AF87-08AB689F523B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336645" y="2377934"/>
            <a:ext cx="11518709" cy="210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s-CL" sz="5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Radiografía del Bienestar y la Salud Mental 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2025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Duoc UC</a:t>
            </a:r>
            <a:endParaRPr sz="4400" dirty="0"/>
          </a:p>
        </p:txBody>
      </p:sp>
      <p:sp>
        <p:nvSpPr>
          <p:cNvPr id="50" name="Google Shape;50;p1" descr="Francisco Urdinez @ PUC Chile - Portfolio de curso de master China-Am.Latina"/>
          <p:cNvSpPr/>
          <p:nvPr/>
        </p:nvSpPr>
        <p:spPr>
          <a:xfrm>
            <a:off x="155574" y="-144463"/>
            <a:ext cx="1836779" cy="1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 descr="Francisco Urdinez @ PUC Chile - Portfolio de curso de master China-Am.Latin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E343CB-8787-4608-975F-885D0F5E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5116057"/>
            <a:ext cx="2008093" cy="11282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5435ED-B307-42EA-9874-9FCE3BFE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38" y="5116056"/>
            <a:ext cx="1922034" cy="1128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D393B4-F575-4F80-BEE5-ADDE360B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27" y="5107231"/>
            <a:ext cx="1824526" cy="1137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9009F9-0C94-40D2-AFFE-9A5B3B21D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773" y="5116054"/>
            <a:ext cx="2014813" cy="1128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562DBC-C7EE-421E-915C-CB124164B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24" y="5116055"/>
            <a:ext cx="2033630" cy="1128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B5CE52-3FF0-47FC-BB74-A93CAF11E4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26"/>
          <a:stretch/>
        </p:blipFill>
        <p:spPr>
          <a:xfrm>
            <a:off x="9923929" y="5096181"/>
            <a:ext cx="1931425" cy="114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6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9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Anexos: otros datos de interés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9" name="Google Shape;1069;p93"/>
          <p:cNvGraphicFramePr/>
          <p:nvPr>
            <p:extLst>
              <p:ext uri="{D42A27DB-BD31-4B8C-83A1-F6EECF244321}">
                <p14:modId xmlns:p14="http://schemas.microsoft.com/office/powerpoint/2010/main" val="1767397548"/>
              </p:ext>
            </p:extLst>
          </p:nvPr>
        </p:nvGraphicFramePr>
        <p:xfrm>
          <a:off x="6096000" y="1774682"/>
          <a:ext cx="5872973" cy="3465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70" name="Google Shape;1070;p93"/>
          <p:cNvGraphicFramePr/>
          <p:nvPr>
            <p:extLst>
              <p:ext uri="{D42A27DB-BD31-4B8C-83A1-F6EECF244321}">
                <p14:modId xmlns:p14="http://schemas.microsoft.com/office/powerpoint/2010/main" val="1127330587"/>
              </p:ext>
            </p:extLst>
          </p:nvPr>
        </p:nvGraphicFramePr>
        <p:xfrm>
          <a:off x="491318" y="1228726"/>
          <a:ext cx="4998357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71" name="Google Shape;1071;p93"/>
          <p:cNvSpPr/>
          <p:nvPr/>
        </p:nvSpPr>
        <p:spPr>
          <a:xfrm>
            <a:off x="2650671" y="1774682"/>
            <a:ext cx="2324101" cy="2914650"/>
          </a:xfrm>
          <a:prstGeom prst="rightBracket">
            <a:avLst>
              <a:gd name="adj" fmla="val 8333"/>
            </a:avLst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2" name="Google Shape;1072;p93"/>
          <p:cNvCxnSpPr/>
          <p:nvPr/>
        </p:nvCxnSpPr>
        <p:spPr>
          <a:xfrm>
            <a:off x="5127172" y="3212957"/>
            <a:ext cx="1142999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3" name="Google Shape;1073;p93"/>
          <p:cNvSpPr txBox="1">
            <a:spLocks noGrp="1"/>
          </p:cNvSpPr>
          <p:nvPr>
            <p:ph type="title"/>
          </p:nvPr>
        </p:nvSpPr>
        <p:spPr>
          <a:xfrm>
            <a:off x="490538" y="365125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Personas al cuidado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9" name="Google Shape;1079;p94"/>
          <p:cNvGraphicFramePr/>
          <p:nvPr>
            <p:extLst>
              <p:ext uri="{D42A27DB-BD31-4B8C-83A1-F6EECF244321}">
                <p14:modId xmlns:p14="http://schemas.microsoft.com/office/powerpoint/2010/main" val="289917196"/>
              </p:ext>
            </p:extLst>
          </p:nvPr>
        </p:nvGraphicFramePr>
        <p:xfrm>
          <a:off x="2393949" y="1228725"/>
          <a:ext cx="755967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0" name="Google Shape;1080;p94"/>
          <p:cNvSpPr txBox="1">
            <a:spLocks noGrp="1"/>
          </p:cNvSpPr>
          <p:nvPr>
            <p:ph type="title"/>
          </p:nvPr>
        </p:nvSpPr>
        <p:spPr>
          <a:xfrm>
            <a:off x="490538" y="365125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Situación de empleo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2" name="Google Shape;1092;p96"/>
          <p:cNvGraphicFramePr/>
          <p:nvPr>
            <p:extLst>
              <p:ext uri="{D42A27DB-BD31-4B8C-83A1-F6EECF244321}">
                <p14:modId xmlns:p14="http://schemas.microsoft.com/office/powerpoint/2010/main" val="4037156662"/>
              </p:ext>
            </p:extLst>
          </p:nvPr>
        </p:nvGraphicFramePr>
        <p:xfrm>
          <a:off x="491319" y="1225868"/>
          <a:ext cx="11283329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3" name="Google Shape;1093;p96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Condiciones para la actividad académica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9" name="Google Shape;1079;p94"/>
          <p:cNvGraphicFramePr/>
          <p:nvPr>
            <p:extLst>
              <p:ext uri="{D42A27DB-BD31-4B8C-83A1-F6EECF244321}">
                <p14:modId xmlns:p14="http://schemas.microsoft.com/office/powerpoint/2010/main" val="832067760"/>
              </p:ext>
            </p:extLst>
          </p:nvPr>
        </p:nvGraphicFramePr>
        <p:xfrm>
          <a:off x="394447" y="1703294"/>
          <a:ext cx="5371538" cy="4185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0" name="Google Shape;1080;p94"/>
          <p:cNvSpPr txBox="1">
            <a:spLocks noGrp="1"/>
          </p:cNvSpPr>
          <p:nvPr>
            <p:ph type="title"/>
          </p:nvPr>
        </p:nvSpPr>
        <p:spPr>
          <a:xfrm>
            <a:off x="490538" y="365125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de espacios sedes Duoc UC</a:t>
            </a:r>
            <a:endParaRPr dirty="0"/>
          </a:p>
        </p:txBody>
      </p:sp>
      <p:graphicFrame>
        <p:nvGraphicFramePr>
          <p:cNvPr id="4" name="Google Shape;1079;p94">
            <a:extLst>
              <a:ext uri="{FF2B5EF4-FFF2-40B4-BE49-F238E27FC236}">
                <a16:creationId xmlns:a16="http://schemas.microsoft.com/office/drawing/2014/main" id="{859778A9-F63C-449A-BA9D-FEBAB63394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4304576"/>
              </p:ext>
            </p:extLst>
          </p:nvPr>
        </p:nvGraphicFramePr>
        <p:xfrm>
          <a:off x="6310313" y="1650066"/>
          <a:ext cx="5371538" cy="42391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7B6FDD2D-F84E-47DF-BF7B-8406A0B1C918}"/>
              </a:ext>
            </a:extLst>
          </p:cNvPr>
          <p:cNvSpPr txBox="1"/>
          <p:nvPr/>
        </p:nvSpPr>
        <p:spPr>
          <a:xfrm>
            <a:off x="1838604" y="1220321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Sedes</a:t>
            </a:r>
            <a:r>
              <a:rPr lang="es-CL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presenciales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D16981D-DBE7-4150-9841-99AC7262C74A}"/>
              </a:ext>
            </a:extLst>
          </p:cNvPr>
          <p:cNvSpPr txBox="1"/>
          <p:nvPr/>
        </p:nvSpPr>
        <p:spPr>
          <a:xfrm>
            <a:off x="7870173" y="1199491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Sedes</a:t>
            </a:r>
            <a:r>
              <a:rPr lang="es-CL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online</a:t>
            </a:r>
          </a:p>
        </p:txBody>
      </p:sp>
      <p:sp>
        <p:nvSpPr>
          <p:cNvPr id="8" name="Google Shape;352;p25">
            <a:extLst>
              <a:ext uri="{FF2B5EF4-FFF2-40B4-BE49-F238E27FC236}">
                <a16:creationId xmlns:a16="http://schemas.microsoft.com/office/drawing/2014/main" id="{F814E454-C5B2-42C8-BEBA-27EE748E9747}"/>
              </a:ext>
            </a:extLst>
          </p:cNvPr>
          <p:cNvSpPr txBox="1"/>
          <p:nvPr/>
        </p:nvSpPr>
        <p:spPr>
          <a:xfrm>
            <a:off x="2335484" y="6492875"/>
            <a:ext cx="801791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pregunta incluye un total de XXXX respuestas y se desplegó solo a quienes habían profundizado en ideación suicida.</a:t>
            </a:r>
          </a:p>
        </p:txBody>
      </p:sp>
    </p:spTree>
    <p:extLst>
      <p:ext uri="{BB962C8B-B14F-4D97-AF65-F5344CB8AC3E}">
        <p14:creationId xmlns:p14="http://schemas.microsoft.com/office/powerpoint/2010/main" val="113543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5020</TotalTime>
  <Words>2751</Words>
  <Application>Microsoft Office PowerPoint</Application>
  <PresentationFormat>Panorámica</PresentationFormat>
  <Paragraphs>434</Paragraphs>
  <Slides>74</Slides>
  <Notes>72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74</vt:i4>
      </vt:variant>
    </vt:vector>
  </HeadingPairs>
  <TitlesOfParts>
    <vt:vector size="79" baseType="lpstr">
      <vt:lpstr>Arial</vt:lpstr>
      <vt:lpstr>Calibri</vt:lpstr>
      <vt:lpstr>Calibri Light</vt:lpstr>
      <vt:lpstr>Noto Sans Symbols</vt:lpstr>
      <vt:lpstr>Tema de Office</vt:lpstr>
      <vt:lpstr> Radiografía del Bienestar y la Salud Mental  2025  Duoc UC</vt:lpstr>
      <vt:lpstr>Estructura de la presentación</vt:lpstr>
      <vt:lpstr>Presentación de PowerPoint</vt:lpstr>
      <vt:lpstr>Propósito</vt:lpstr>
      <vt:lpstr>Ficha técnica</vt:lpstr>
      <vt:lpstr>Batería de evaluación</vt:lpstr>
      <vt:lpstr>Caracterización de participantes </vt:lpstr>
      <vt:lpstr>Caracterización de participantes </vt:lpstr>
      <vt:lpstr>Presentación de PowerPoint</vt:lpstr>
      <vt:lpstr>Presentación de PowerPoint</vt:lpstr>
      <vt:lpstr>Presentación de PowerPoint</vt:lpstr>
      <vt:lpstr>Presentación de PowerPoint</vt:lpstr>
      <vt:lpstr>Resultados descriptivos</vt:lpstr>
      <vt:lpstr>Presentación de PowerPoint</vt:lpstr>
      <vt:lpstr>Nivel de estrés percibido</vt:lpstr>
      <vt:lpstr>Estresores ¿Cuáles de las siguientes situaciones presentan un problema que te afecte actualmente?  Resultados por Sexo </vt:lpstr>
      <vt:lpstr>Estresores ¿Cuáles de las siguientes situaciones presentan un problema que te afecte actualmente?  Resultados por Jornada </vt:lpstr>
      <vt:lpstr>Estresores – Exigencia carga académica Entre quienes reportaron como estresor “Carga académica exigente”</vt:lpstr>
      <vt:lpstr>Estresores – Exigencia carga académica ¿Cuáles de las siguientes razones explican que la carga académica te resulte exigente? Entre quienes reportaron como estresor “Carga académica exigente” Resultados por tipo de alumno </vt:lpstr>
      <vt:lpstr>Estresores 2022 - 2025</vt:lpstr>
      <vt:lpstr>Estrategias de afrontamiento  </vt:lpstr>
      <vt:lpstr>Condición de salud crónica</vt:lpstr>
      <vt:lpstr>Presentación de PowerPoint</vt:lpstr>
      <vt:lpstr>Salud mental</vt:lpstr>
      <vt:lpstr>Factor carga de enfermedad</vt:lpstr>
      <vt:lpstr>Patologías recurrentes grupo prevención indicada</vt:lpstr>
      <vt:lpstr>Episodio depresión – Grupo manejo clínico</vt:lpstr>
      <vt:lpstr>Trastorno de ansiedad generalizada – Grupo manejo clínico</vt:lpstr>
      <vt:lpstr>Trastorno de la personalidad – Grupo manejo clínico</vt:lpstr>
      <vt:lpstr>Uso problemático de marihuana – Grupo manejo clínico</vt:lpstr>
      <vt:lpstr>Uso problemático de marihuana – Grupo manejo clínico</vt:lpstr>
      <vt:lpstr>Uso problemático de alcohol – Grupo manejo clínico</vt:lpstr>
      <vt:lpstr>Ideación suicida – Grupo manejo clínico</vt:lpstr>
      <vt:lpstr>Ideación suicida – Grupo manejo clínico</vt:lpstr>
      <vt:lpstr>Ideación suicida – Grupo manejo clínico</vt:lpstr>
      <vt:lpstr>Presentación de PowerPoint</vt:lpstr>
      <vt:lpstr>Percepción de necesidad y acceso a tratamiento</vt:lpstr>
      <vt:lpstr>Percepción de necesidad y acceso a tratamiento</vt:lpstr>
      <vt:lpstr>Percepción de barreras de acceso a tratamiento</vt:lpstr>
      <vt:lpstr>Presentación de PowerPoint</vt:lpstr>
      <vt:lpstr>Nivel de bienestar</vt:lpstr>
      <vt:lpstr>Perma</vt:lpstr>
      <vt:lpstr>Perma</vt:lpstr>
      <vt:lpstr>Apoyo percibido</vt:lpstr>
      <vt:lpstr>Flow states – Estados de inmersión</vt:lpstr>
      <vt:lpstr>Flow states – Estados de inmersión</vt:lpstr>
      <vt:lpstr>Actividad física</vt:lpstr>
      <vt:lpstr>Alimentación</vt:lpstr>
      <vt:lpstr>Ingesta de líquidos</vt:lpstr>
      <vt:lpstr>Tabaquismo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 inferenciales</vt:lpstr>
      <vt:lpstr>Presentación de PowerPoint</vt:lpstr>
      <vt:lpstr>Presentación de PowerPoint</vt:lpstr>
      <vt:lpstr>App Vivo</vt:lpstr>
      <vt:lpstr>Embajadores de la salud mental</vt:lpstr>
      <vt:lpstr>Embajadores de la salud mental</vt:lpstr>
      <vt:lpstr>Embajadores de la salud mental</vt:lpstr>
      <vt:lpstr>Embajadores de la salud mental</vt:lpstr>
      <vt:lpstr>Atenciones psicológicas</vt:lpstr>
      <vt:lpstr>Bienestar integral en movimiento</vt:lpstr>
      <vt:lpstr>Presentación de PowerPoint</vt:lpstr>
      <vt:lpstr>Conclusiones</vt:lpstr>
      <vt:lpstr>Reportes específicos</vt:lpstr>
      <vt:lpstr> Radiografía del Bienestar y la Salud Mental  2025  Duoc UC</vt:lpstr>
      <vt:lpstr>Presentación de PowerPoint</vt:lpstr>
      <vt:lpstr>Personas al cuidado</vt:lpstr>
      <vt:lpstr>Situación de empleo</vt:lpstr>
      <vt:lpstr>Condiciones para la actividad académica</vt:lpstr>
      <vt:lpstr>Uso de espacios sedes Duoc UC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Radiografía del Bienestar 2025 Duoc UC</dc:title>
  <dc:creator>Felipe Zapata</dc:creator>
  <cp:lastModifiedBy>Sebastián Eduardo Valenzuela Garrido</cp:lastModifiedBy>
  <cp:revision>355</cp:revision>
  <dcterms:created xsi:type="dcterms:W3CDTF">2021-01-18T15:18:56Z</dcterms:created>
  <dcterms:modified xsi:type="dcterms:W3CDTF">2025-10-26T16:06:32Z</dcterms:modified>
</cp:coreProperties>
</file>