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.xml" ContentType="application/vnd.openxmlformats-officedocument.drawingml.chart+xml"/>
  <Override PartName="/ppt/charts/chart50.xml" ContentType="application/vnd.openxmlformats-officedocument.drawingml.chart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charts/chart56.xml" ContentType="application/vnd.openxmlformats-officedocument.drawingml.chart+xml"/>
  <Override PartName="/ppt/charts/chart57.xml" ContentType="application/vnd.openxmlformats-officedocument.drawingml.chart+xml"/>
  <Override PartName="/ppt/charts/chart58.xml" ContentType="application/vnd.openxmlformats-officedocument.drawingml.chart+xml"/>
  <Override PartName="/ppt/charts/chart59.xml" ContentType="application/vnd.openxmlformats-officedocument.drawingml.chart+xml"/>
  <Override PartName="/ppt/charts/chart6.xml" ContentType="application/vnd.openxmlformats-officedocument.drawingml.chart+xml"/>
  <Override PartName="/ppt/charts/chart60.xml" ContentType="application/vnd.openxmlformats-officedocument.drawingml.chart+xml"/>
  <Override PartName="/ppt/charts/chart61.xml" ContentType="application/vnd.openxmlformats-officedocument.drawingml.chart+xml"/>
  <Override PartName="/ppt/charts/chart62.xml" ContentType="application/vnd.openxmlformats-officedocument.drawingml.chart+xml"/>
  <Override PartName="/ppt/charts/chart63.xml" ContentType="application/vnd.openxmlformats-officedocument.drawingml.chart+xml"/>
  <Override PartName="/ppt/charts/chart64.xml" ContentType="application/vnd.openxmlformats-officedocument.drawingml.chart+xml"/>
  <Override PartName="/ppt/charts/chart65.xml" ContentType="application/vnd.openxmlformats-officedocument.drawingml.chart+xml"/>
  <Override PartName="/ppt/charts/chart66.xml" ContentType="application/vnd.openxmlformats-officedocument.drawingml.chart+xml"/>
  <Override PartName="/ppt/charts/chart67.xml" ContentType="application/vnd.openxmlformats-officedocument.drawingml.chart+xml"/>
  <Override PartName="/ppt/charts/chart68.xml" ContentType="application/vnd.openxmlformats-officedocument.drawingml.chart+xml"/>
  <Override PartName="/ppt/charts/chart69.xml" ContentType="application/vnd.openxmlformats-officedocument.drawingml.chart+xml"/>
  <Override PartName="/ppt/charts/chart7.xml" ContentType="application/vnd.openxmlformats-officedocument.drawingml.chart+xml"/>
  <Override PartName="/ppt/charts/chart70.xml" ContentType="application/vnd.openxmlformats-officedocument.drawingml.chart+xml"/>
  <Override PartName="/ppt/charts/chart71.xml" ContentType="application/vnd.openxmlformats-officedocument.drawingml.chart+xml"/>
  <Override PartName="/ppt/charts/chart72.xml" ContentType="application/vnd.openxmlformats-officedocument.drawingml.chart+xml"/>
  <Override PartName="/ppt/charts/chart73.xml" ContentType="application/vnd.openxmlformats-officedocument.drawingml.chart+xml"/>
  <Override PartName="/ppt/charts/chart74.xml" ContentType="application/vnd.openxmlformats-officedocument.drawingml.chart+xml"/>
  <Override PartName="/ppt/charts/chart75.xml" ContentType="application/vnd.openxmlformats-officedocument.drawingml.chart+xml"/>
  <Override PartName="/ppt/charts/chart76.xml" ContentType="application/vnd.openxmlformats-officedocument.drawingml.chart+xml"/>
  <Override PartName="/ppt/charts/chart7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10.xml" ContentType="application/vnd.ms-office.chartcolorstyle+xml"/>
  <Override PartName="/ppt/charts/colors11.xml" ContentType="application/vnd.ms-office.chartcolorstyle+xml"/>
  <Override PartName="/ppt/charts/colors12.xml" ContentType="application/vnd.ms-office.chartcolorstyle+xml"/>
  <Override PartName="/ppt/charts/colors13.xml" ContentType="application/vnd.ms-office.chartcolorstyle+xml"/>
  <Override PartName="/ppt/charts/colors14.xml" ContentType="application/vnd.ms-office.chartcolorstyle+xml"/>
  <Override PartName="/ppt/charts/colors15.xml" ContentType="application/vnd.ms-office.chartcolorstyle+xml"/>
  <Override PartName="/ppt/charts/colors16.xml" ContentType="application/vnd.ms-office.chartcolorstyle+xml"/>
  <Override PartName="/ppt/charts/colors17.xml" ContentType="application/vnd.ms-office.chartcolorstyle+xml"/>
  <Override PartName="/ppt/charts/colors18.xml" ContentType="application/vnd.ms-office.chartcolorstyle+xml"/>
  <Override PartName="/ppt/charts/colors19.xml" ContentType="application/vnd.ms-office.chartcolorstyle+xml"/>
  <Override PartName="/ppt/charts/colors2.xml" ContentType="application/vnd.ms-office.chartcolorstyle+xml"/>
  <Override PartName="/ppt/charts/colors20.xml" ContentType="application/vnd.ms-office.chartcolorstyle+xml"/>
  <Override PartName="/ppt/charts/colors21.xml" ContentType="application/vnd.ms-office.chartcolorstyle+xml"/>
  <Override PartName="/ppt/charts/colors22.xml" ContentType="application/vnd.ms-office.chartcolorstyle+xml"/>
  <Override PartName="/ppt/charts/colors23.xml" ContentType="application/vnd.ms-office.chartcolorstyle+xml"/>
  <Override PartName="/ppt/charts/colors24.xml" ContentType="application/vnd.ms-office.chartcolorstyle+xml"/>
  <Override PartName="/ppt/charts/colors25.xml" ContentType="application/vnd.ms-office.chartcolorstyle+xml"/>
  <Override PartName="/ppt/charts/colors26.xml" ContentType="application/vnd.ms-office.chartcolorstyle+xml"/>
  <Override PartName="/ppt/charts/colors27.xml" ContentType="application/vnd.ms-office.chartcolorstyle+xml"/>
  <Override PartName="/ppt/charts/colors28.xml" ContentType="application/vnd.ms-office.chartcolorstyle+xml"/>
  <Override PartName="/ppt/charts/colors29.xml" ContentType="application/vnd.ms-office.chartcolorstyle+xml"/>
  <Override PartName="/ppt/charts/colors3.xml" ContentType="application/vnd.ms-office.chartcolorstyle+xml"/>
  <Override PartName="/ppt/charts/colors30.xml" ContentType="application/vnd.ms-office.chartcolorstyle+xml"/>
  <Override PartName="/ppt/charts/colors31.xml" ContentType="application/vnd.ms-office.chartcolorstyle+xml"/>
  <Override PartName="/ppt/charts/colors32.xml" ContentType="application/vnd.ms-office.chartcolorstyle+xml"/>
  <Override PartName="/ppt/charts/colors33.xml" ContentType="application/vnd.ms-office.chartcolorstyle+xml"/>
  <Override PartName="/ppt/charts/colors34.xml" ContentType="application/vnd.ms-office.chartcolorstyle+xml"/>
  <Override PartName="/ppt/charts/colors35.xml" ContentType="application/vnd.ms-office.chartcolorstyle+xml"/>
  <Override PartName="/ppt/charts/colors36.xml" ContentType="application/vnd.ms-office.chartcolorstyle+xml"/>
  <Override PartName="/ppt/charts/colors37.xml" ContentType="application/vnd.ms-office.chartcolorstyle+xml"/>
  <Override PartName="/ppt/charts/colors38.xml" ContentType="application/vnd.ms-office.chartcolorstyle+xml"/>
  <Override PartName="/ppt/charts/colors39.xml" ContentType="application/vnd.ms-office.chartcolorstyle+xml"/>
  <Override PartName="/ppt/charts/colors4.xml" ContentType="application/vnd.ms-office.chartcolorstyle+xml"/>
  <Override PartName="/ppt/charts/colors40.xml" ContentType="application/vnd.ms-office.chartcolorstyle+xml"/>
  <Override PartName="/ppt/charts/colors41.xml" ContentType="application/vnd.ms-office.chartcolorstyle+xml"/>
  <Override PartName="/ppt/charts/colors42.xml" ContentType="application/vnd.ms-office.chartcolorstyle+xml"/>
  <Override PartName="/ppt/charts/colors43.xml" ContentType="application/vnd.ms-office.chartcolorstyle+xml"/>
  <Override PartName="/ppt/charts/colors44.xml" ContentType="application/vnd.ms-office.chartcolorstyle+xml"/>
  <Override PartName="/ppt/charts/colors45.xml" ContentType="application/vnd.ms-office.chartcolorstyle+xml"/>
  <Override PartName="/ppt/charts/colors46.xml" ContentType="application/vnd.ms-office.chartcolorstyle+xml"/>
  <Override PartName="/ppt/charts/colors47.xml" ContentType="application/vnd.ms-office.chartcolorstyle+xml"/>
  <Override PartName="/ppt/charts/colors48.xml" ContentType="application/vnd.ms-office.chartcolorstyle+xml"/>
  <Override PartName="/ppt/charts/colors49.xml" ContentType="application/vnd.ms-office.chartcolorstyle+xml"/>
  <Override PartName="/ppt/charts/colors5.xml" ContentType="application/vnd.ms-office.chartcolorstyle+xml"/>
  <Override PartName="/ppt/charts/colors50.xml" ContentType="application/vnd.ms-office.chartcolorstyle+xml"/>
  <Override PartName="/ppt/charts/colors51.xml" ContentType="application/vnd.ms-office.chartcolorstyle+xml"/>
  <Override PartName="/ppt/charts/colors52.xml" ContentType="application/vnd.ms-office.chartcolorstyle+xml"/>
  <Override PartName="/ppt/charts/colors53.xml" ContentType="application/vnd.ms-office.chartcolorstyle+xml"/>
  <Override PartName="/ppt/charts/colors54.xml" ContentType="application/vnd.ms-office.chartcolorstyle+xml"/>
  <Override PartName="/ppt/charts/colors55.xml" ContentType="application/vnd.ms-office.chartcolorstyle+xml"/>
  <Override PartName="/ppt/charts/colors56.xml" ContentType="application/vnd.ms-office.chartcolorstyle+xml"/>
  <Override PartName="/ppt/charts/colors57.xml" ContentType="application/vnd.ms-office.chartcolorstyle+xml"/>
  <Override PartName="/ppt/charts/colors58.xml" ContentType="application/vnd.ms-office.chartcolorstyle+xml"/>
  <Override PartName="/ppt/charts/colors59.xml" ContentType="application/vnd.ms-office.chartcolorstyle+xml"/>
  <Override PartName="/ppt/charts/colors6.xml" ContentType="application/vnd.ms-office.chartcolorstyle+xml"/>
  <Override PartName="/ppt/charts/colors60.xml" ContentType="application/vnd.ms-office.chartcolorstyle+xml"/>
  <Override PartName="/ppt/charts/colors61.xml" ContentType="application/vnd.ms-office.chartcolorstyle+xml"/>
  <Override PartName="/ppt/charts/colors62.xml" ContentType="application/vnd.ms-office.chartcolorstyle+xml"/>
  <Override PartName="/ppt/charts/colors63.xml" ContentType="application/vnd.ms-office.chartcolorstyle+xml"/>
  <Override PartName="/ppt/charts/colors64.xml" ContentType="application/vnd.ms-office.chartcolorstyle+xml"/>
  <Override PartName="/ppt/charts/colors65.xml" ContentType="application/vnd.ms-office.chartcolorstyle+xml"/>
  <Override PartName="/ppt/charts/colors66.xml" ContentType="application/vnd.ms-office.chartcolorstyle+xml"/>
  <Override PartName="/ppt/charts/colors67.xml" ContentType="application/vnd.ms-office.chartcolorstyle+xml"/>
  <Override PartName="/ppt/charts/colors68.xml" ContentType="application/vnd.ms-office.chartcolorstyle+xml"/>
  <Override PartName="/ppt/charts/colors69.xml" ContentType="application/vnd.ms-office.chartcolorstyle+xml"/>
  <Override PartName="/ppt/charts/colors7.xml" ContentType="application/vnd.ms-office.chartcolorstyle+xml"/>
  <Override PartName="/ppt/charts/colors70.xml" ContentType="application/vnd.ms-office.chartcolorstyle+xml"/>
  <Override PartName="/ppt/charts/colors71.xml" ContentType="application/vnd.ms-office.chartcolorstyle+xml"/>
  <Override PartName="/ppt/charts/colors72.xml" ContentType="application/vnd.ms-office.chartcolorstyle+xml"/>
  <Override PartName="/ppt/charts/colors73.xml" ContentType="application/vnd.ms-office.chartcolorstyle+xml"/>
  <Override PartName="/ppt/charts/colors74.xml" ContentType="application/vnd.ms-office.chartcolorstyle+xml"/>
  <Override PartName="/ppt/charts/colors75.xml" ContentType="application/vnd.ms-office.chartcolorstyle+xml"/>
  <Override PartName="/ppt/charts/colors76.xml" ContentType="application/vnd.ms-office.chartcolorstyle+xml"/>
  <Override PartName="/ppt/charts/colors77.xml" ContentType="application/vnd.ms-office.chartcolorstyle+xml"/>
  <Override PartName="/ppt/charts/colors8.xml" ContentType="application/vnd.ms-office.chartcolorstyle+xml"/>
  <Override PartName="/ppt/charts/colors9.xml" ContentType="application/vnd.ms-office.chartcolorstyle+xml"/>
  <Override PartName="/ppt/charts/style1.xml" ContentType="application/vnd.ms-office.chartstyle+xml"/>
  <Override PartName="/ppt/charts/style10.xml" ContentType="application/vnd.ms-office.chartstyle+xml"/>
  <Override PartName="/ppt/charts/style11.xml" ContentType="application/vnd.ms-office.chartstyle+xml"/>
  <Override PartName="/ppt/charts/style12.xml" ContentType="application/vnd.ms-office.chartstyle+xml"/>
  <Override PartName="/ppt/charts/style13.xml" ContentType="application/vnd.ms-office.chartstyle+xml"/>
  <Override PartName="/ppt/charts/style14.xml" ContentType="application/vnd.ms-office.chartstyle+xml"/>
  <Override PartName="/ppt/charts/style15.xml" ContentType="application/vnd.ms-office.chartstyle+xml"/>
  <Override PartName="/ppt/charts/style16.xml" ContentType="application/vnd.ms-office.chartstyle+xml"/>
  <Override PartName="/ppt/charts/style17.xml" ContentType="application/vnd.ms-office.chartstyle+xml"/>
  <Override PartName="/ppt/charts/style18.xml" ContentType="application/vnd.ms-office.chartstyle+xml"/>
  <Override PartName="/ppt/charts/style19.xml" ContentType="application/vnd.ms-office.chartstyle+xml"/>
  <Override PartName="/ppt/charts/style2.xml" ContentType="application/vnd.ms-office.chartstyle+xml"/>
  <Override PartName="/ppt/charts/style20.xml" ContentType="application/vnd.ms-office.chartstyle+xml"/>
  <Override PartName="/ppt/charts/style21.xml" ContentType="application/vnd.ms-office.chartstyle+xml"/>
  <Override PartName="/ppt/charts/style22.xml" ContentType="application/vnd.ms-office.chartstyle+xml"/>
  <Override PartName="/ppt/charts/style23.xml" ContentType="application/vnd.ms-office.chartstyle+xml"/>
  <Override PartName="/ppt/charts/style24.xml" ContentType="application/vnd.ms-office.chartstyle+xml"/>
  <Override PartName="/ppt/charts/style25.xml" ContentType="application/vnd.ms-office.chartstyle+xml"/>
  <Override PartName="/ppt/charts/style26.xml" ContentType="application/vnd.ms-office.chartstyle+xml"/>
  <Override PartName="/ppt/charts/style27.xml" ContentType="application/vnd.ms-office.chartstyle+xml"/>
  <Override PartName="/ppt/charts/style28.xml" ContentType="application/vnd.ms-office.chartstyle+xml"/>
  <Override PartName="/ppt/charts/style29.xml" ContentType="application/vnd.ms-office.chartstyle+xml"/>
  <Override PartName="/ppt/charts/style3.xml" ContentType="application/vnd.ms-office.chartstyle+xml"/>
  <Override PartName="/ppt/charts/style30.xml" ContentType="application/vnd.ms-office.chartstyle+xml"/>
  <Override PartName="/ppt/charts/style31.xml" ContentType="application/vnd.ms-office.chartstyle+xml"/>
  <Override PartName="/ppt/charts/style32.xml" ContentType="application/vnd.ms-office.chartstyle+xml"/>
  <Override PartName="/ppt/charts/style33.xml" ContentType="application/vnd.ms-office.chartstyle+xml"/>
  <Override PartName="/ppt/charts/style34.xml" ContentType="application/vnd.ms-office.chartstyle+xml"/>
  <Override PartName="/ppt/charts/style35.xml" ContentType="application/vnd.ms-office.chartstyle+xml"/>
  <Override PartName="/ppt/charts/style36.xml" ContentType="application/vnd.ms-office.chartstyle+xml"/>
  <Override PartName="/ppt/charts/style37.xml" ContentType="application/vnd.ms-office.chartstyle+xml"/>
  <Override PartName="/ppt/charts/style38.xml" ContentType="application/vnd.ms-office.chartstyle+xml"/>
  <Override PartName="/ppt/charts/style39.xml" ContentType="application/vnd.ms-office.chartstyle+xml"/>
  <Override PartName="/ppt/charts/style4.xml" ContentType="application/vnd.ms-office.chartstyle+xml"/>
  <Override PartName="/ppt/charts/style40.xml" ContentType="application/vnd.ms-office.chartstyle+xml"/>
  <Override PartName="/ppt/charts/style41.xml" ContentType="application/vnd.ms-office.chartstyle+xml"/>
  <Override PartName="/ppt/charts/style42.xml" ContentType="application/vnd.ms-office.chartstyle+xml"/>
  <Override PartName="/ppt/charts/style43.xml" ContentType="application/vnd.ms-office.chartstyle+xml"/>
  <Override PartName="/ppt/charts/style44.xml" ContentType="application/vnd.ms-office.chartstyle+xml"/>
  <Override PartName="/ppt/charts/style45.xml" ContentType="application/vnd.ms-office.chartstyle+xml"/>
  <Override PartName="/ppt/charts/style46.xml" ContentType="application/vnd.ms-office.chartstyle+xml"/>
  <Override PartName="/ppt/charts/style47.xml" ContentType="application/vnd.ms-office.chartstyle+xml"/>
  <Override PartName="/ppt/charts/style48.xml" ContentType="application/vnd.ms-office.chartstyle+xml"/>
  <Override PartName="/ppt/charts/style49.xml" ContentType="application/vnd.ms-office.chartstyle+xml"/>
  <Override PartName="/ppt/charts/style5.xml" ContentType="application/vnd.ms-office.chartstyle+xml"/>
  <Override PartName="/ppt/charts/style50.xml" ContentType="application/vnd.ms-office.chartstyle+xml"/>
  <Override PartName="/ppt/charts/style51.xml" ContentType="application/vnd.ms-office.chartstyle+xml"/>
  <Override PartName="/ppt/charts/style52.xml" ContentType="application/vnd.ms-office.chartstyle+xml"/>
  <Override PartName="/ppt/charts/style53.xml" ContentType="application/vnd.ms-office.chartstyle+xml"/>
  <Override PartName="/ppt/charts/style54.xml" ContentType="application/vnd.ms-office.chartstyle+xml"/>
  <Override PartName="/ppt/charts/style55.xml" ContentType="application/vnd.ms-office.chartstyle+xml"/>
  <Override PartName="/ppt/charts/style56.xml" ContentType="application/vnd.ms-office.chartstyle+xml"/>
  <Override PartName="/ppt/charts/style57.xml" ContentType="application/vnd.ms-office.chartstyle+xml"/>
  <Override PartName="/ppt/charts/style58.xml" ContentType="application/vnd.ms-office.chartstyle+xml"/>
  <Override PartName="/ppt/charts/style59.xml" ContentType="application/vnd.ms-office.chartstyle+xml"/>
  <Override PartName="/ppt/charts/style6.xml" ContentType="application/vnd.ms-office.chartstyle+xml"/>
  <Override PartName="/ppt/charts/style60.xml" ContentType="application/vnd.ms-office.chartstyle+xml"/>
  <Override PartName="/ppt/charts/style61.xml" ContentType="application/vnd.ms-office.chartstyle+xml"/>
  <Override PartName="/ppt/charts/style62.xml" ContentType="application/vnd.ms-office.chartstyle+xml"/>
  <Override PartName="/ppt/charts/style63.xml" ContentType="application/vnd.ms-office.chartstyle+xml"/>
  <Override PartName="/ppt/charts/style64.xml" ContentType="application/vnd.ms-office.chartstyle+xml"/>
  <Override PartName="/ppt/charts/style65.xml" ContentType="application/vnd.ms-office.chartstyle+xml"/>
  <Override PartName="/ppt/charts/style66.xml" ContentType="application/vnd.ms-office.chartstyle+xml"/>
  <Override PartName="/ppt/charts/style67.xml" ContentType="application/vnd.ms-office.chartstyle+xml"/>
  <Override PartName="/ppt/charts/style68.xml" ContentType="application/vnd.ms-office.chartstyle+xml"/>
  <Override PartName="/ppt/charts/style69.xml" ContentType="application/vnd.ms-office.chartstyle+xml"/>
  <Override PartName="/ppt/charts/style7.xml" ContentType="application/vnd.ms-office.chartstyle+xml"/>
  <Override PartName="/ppt/charts/style70.xml" ContentType="application/vnd.ms-office.chartstyle+xml"/>
  <Override PartName="/ppt/charts/style71.xml" ContentType="application/vnd.ms-office.chartstyle+xml"/>
  <Override PartName="/ppt/charts/style72.xml" ContentType="application/vnd.ms-office.chartstyle+xml"/>
  <Override PartName="/ppt/charts/style73.xml" ContentType="application/vnd.ms-office.chartstyle+xml"/>
  <Override PartName="/ppt/charts/style74.xml" ContentType="application/vnd.ms-office.chartstyle+xml"/>
  <Override PartName="/ppt/charts/style75.xml" ContentType="application/vnd.ms-office.chartstyle+xml"/>
  <Override PartName="/ppt/charts/style76.xml" ContentType="application/vnd.ms-office.chartstyle+xml"/>
  <Override PartName="/ppt/charts/style77.xml" ContentType="application/vnd.ms-office.chartstyle+xml"/>
  <Override PartName="/ppt/charts/style8.xml" ContentType="application/vnd.ms-office.chartstyle+xml"/>
  <Override PartName="/ppt/charts/style9.xml" ContentType="application/vnd.ms-office.chartstyle+xml"/>
  <Override PartName="/ppt/media/image12.svg" ContentType="image/svg+xml"/>
  <Override PartName="/ppt/media/image14.svg" ContentType="image/svg+xml"/>
  <Override PartName="/ppt/media/image16.svg" ContentType="image/svg+xml"/>
  <Override PartName="/ppt/media/image50.svg" ContentType="image/svg+xml"/>
  <Override PartName="/ppt/media/image52.svg" ContentType="image/svg+xml"/>
  <Override PartName="/ppt/media/image54.svg" ContentType="image/svg+xml"/>
  <Override PartName="/ppt/media/image56.svg" ContentType="image/svg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76"/>
  </p:notesMasterIdLst>
  <p:sldIdLst>
    <p:sldId id="256" r:id="rId2"/>
    <p:sldId id="463" r:id="rId3"/>
    <p:sldId id="413" r:id="rId4"/>
    <p:sldId id="259" r:id="rId5"/>
    <p:sldId id="261" r:id="rId6"/>
    <p:sldId id="264" r:id="rId7"/>
    <p:sldId id="275" r:id="rId8"/>
    <p:sldId id="276" r:id="rId9"/>
    <p:sldId id="464" r:id="rId10"/>
    <p:sldId id="369" r:id="rId11"/>
    <p:sldId id="371" r:id="rId12"/>
    <p:sldId id="370" r:id="rId13"/>
    <p:sldId id="285" r:id="rId14"/>
    <p:sldId id="277" r:id="rId15"/>
    <p:sldId id="416" r:id="rId16"/>
    <p:sldId id="431" r:id="rId17"/>
    <p:sldId id="462" r:id="rId18"/>
    <p:sldId id="279" r:id="rId19"/>
    <p:sldId id="409" r:id="rId20"/>
    <p:sldId id="278" r:id="rId21"/>
    <p:sldId id="280" r:id="rId22"/>
    <p:sldId id="435" r:id="rId23"/>
    <p:sldId id="436" r:id="rId24"/>
    <p:sldId id="418" r:id="rId25"/>
    <p:sldId id="318" r:id="rId26"/>
    <p:sldId id="427" r:id="rId27"/>
    <p:sldId id="419" r:id="rId28"/>
    <p:sldId id="420" r:id="rId29"/>
    <p:sldId id="421" r:id="rId30"/>
    <p:sldId id="422" r:id="rId31"/>
    <p:sldId id="452" r:id="rId32"/>
    <p:sldId id="423" r:id="rId33"/>
    <p:sldId id="325" r:id="rId34"/>
    <p:sldId id="428" r:id="rId35"/>
    <p:sldId id="460" r:id="rId36"/>
    <p:sldId id="438" r:id="rId37"/>
    <p:sldId id="282" r:id="rId38"/>
    <p:sldId id="424" r:id="rId39"/>
    <p:sldId id="283" r:id="rId40"/>
    <p:sldId id="414" r:id="rId41"/>
    <p:sldId id="288" r:id="rId42"/>
    <p:sldId id="290" r:id="rId43"/>
    <p:sldId id="455" r:id="rId44"/>
    <p:sldId id="281" r:id="rId45"/>
    <p:sldId id="439" r:id="rId46"/>
    <p:sldId id="456" r:id="rId47"/>
    <p:sldId id="358" r:id="rId48"/>
    <p:sldId id="374" r:id="rId49"/>
    <p:sldId id="362" r:id="rId50"/>
    <p:sldId id="458" r:id="rId51"/>
    <p:sldId id="465" r:id="rId52"/>
    <p:sldId id="272" r:id="rId53"/>
    <p:sldId id="273" r:id="rId54"/>
    <p:sldId id="426" r:id="rId55"/>
    <p:sldId id="425" r:id="rId56"/>
    <p:sldId id="376" r:id="rId57"/>
    <p:sldId id="377" r:id="rId58"/>
    <p:sldId id="440" r:id="rId59"/>
    <p:sldId id="441" r:id="rId60"/>
    <p:sldId id="442" r:id="rId61"/>
    <p:sldId id="449" r:id="rId62"/>
    <p:sldId id="450" r:id="rId63"/>
    <p:sldId id="451" r:id="rId64"/>
    <p:sldId id="443" r:id="rId65"/>
    <p:sldId id="444" r:id="rId66"/>
    <p:sldId id="339" r:id="rId67"/>
    <p:sldId id="342" r:id="rId68"/>
    <p:sldId id="346" r:id="rId69"/>
    <p:sldId id="448" r:id="rId70"/>
    <p:sldId id="347" r:id="rId71"/>
    <p:sldId id="350" r:id="rId72"/>
    <p:sldId id="351" r:id="rId73"/>
    <p:sldId id="353" r:id="rId74"/>
    <p:sldId id="446" r:id="rId7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37" roundtripDataSignature="AMtx7miPE9wXBn+2MC/JZlwAQYKfkYfiJ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223A"/>
    <a:srgbClr val="8C8C8E"/>
    <a:srgbClr val="F8961E"/>
    <a:srgbClr val="92D050"/>
    <a:srgbClr val="FFC000"/>
    <a:srgbClr val="ED7D31"/>
    <a:srgbClr val="FFFF99"/>
    <a:srgbClr val="55B296"/>
    <a:srgbClr val="E53C3E"/>
    <a:srgbClr val="3A43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44751CB-BC3B-D43B-038B-C4F7789A143D}" v="1064" dt="2025-09-29T19:55:58.298"/>
  </p1510:revLst>
</p1510:revInfo>
</file>

<file path=ppt/tableStyles.xml><?xml version="1.0" encoding="utf-8"?>
<a:tblStyleLst xmlns:a="http://schemas.openxmlformats.org/drawingml/2006/main" def="{991015D7-D160-4A9F-BB4E-07FA0D646497}">
  <a:tblStyle styleId="{991015D7-D160-4A9F-BB4E-07FA0D646497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9EFF7"/>
          </a:solidFill>
        </a:fill>
      </a:tcStyle>
    </a:wholeTbl>
    <a:band1H>
      <a:tcTxStyle/>
      <a:tcStyle>
        <a:tcBdr/>
        <a:fill>
          <a:solidFill>
            <a:srgbClr val="D0DEEF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D0DEEF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98" autoAdjust="0"/>
    <p:restoredTop sz="93979" autoAdjust="0"/>
  </p:normalViewPr>
  <p:slideViewPr>
    <p:cSldViewPr snapToGrid="0">
      <p:cViewPr varScale="1">
        <p:scale>
          <a:sx n="31" d="100"/>
          <a:sy n="31" d="100"/>
        </p:scale>
        <p:origin x="34" y="116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4848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notesMaster" Target="notesMasters/notesMaster1.xml"/><Relationship Id="rId137" Type="http://customschemas.google.com/relationships/presentationmetadata" Target="metadata"/><Relationship Id="rId138" Type="http://schemas.openxmlformats.org/officeDocument/2006/relationships/presProps" Target="presProps.xml"/><Relationship Id="rId139" Type="http://schemas.openxmlformats.org/officeDocument/2006/relationships/viewProps" Target="viewProps.xml"/><Relationship Id="rId140" Type="http://schemas.openxmlformats.org/officeDocument/2006/relationships/theme" Target="theme/theme1.xml"/><Relationship Id="rId141" Type="http://schemas.openxmlformats.org/officeDocument/2006/relationships/tableStyles" Target="tableStyles.xml"/><Relationship Id="rId142" Type="http://schemas.microsoft.com/office/2016/11/relationships/changesInfo" Target="changesInfos/changesInfo1.xml"/><Relationship Id="rId143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moralesruiz@ug.uchile.cl" userId="S::urn:spo:guest#pmoralesruiz@ug.uchile.cl::" providerId="AD" clId="Web-{F44751CB-BC3B-D43B-038B-C4F7789A143D}"/>
    <pc:docChg chg="modSld sldOrd">
      <pc:chgData name="pmoralesruiz@ug.uchile.cl" userId="S::urn:spo:guest#pmoralesruiz@ug.uchile.cl::" providerId="AD" clId="Web-{F44751CB-BC3B-D43B-038B-C4F7789A143D}" dt="2025-09-29T19:55:56.142" v="579" actId="20577"/>
      <pc:docMkLst>
        <pc:docMk/>
      </pc:docMkLst>
      <pc:sldChg chg="addSp modSp">
        <pc:chgData name="pmoralesruiz@ug.uchile.cl" userId="S::urn:spo:guest#pmoralesruiz@ug.uchile.cl::" providerId="AD" clId="Web-{F44751CB-BC3B-D43B-038B-C4F7789A143D}" dt="2025-09-29T19:30:34.956" v="19"/>
        <pc:sldMkLst>
          <pc:docMk/>
          <pc:sldMk cId="0" sldId="276"/>
        </pc:sldMkLst>
        <pc:spChg chg="add mod">
          <ac:chgData name="pmoralesruiz@ug.uchile.cl" userId="S::urn:spo:guest#pmoralesruiz@ug.uchile.cl::" providerId="AD" clId="Web-{F44751CB-BC3B-D43B-038B-C4F7789A143D}" dt="2025-09-29T19:30:34.956" v="19"/>
          <ac:spMkLst>
            <pc:docMk/>
            <pc:sldMk cId="0" sldId="276"/>
            <ac:spMk id="2" creationId="{E10BBA97-F9A8-A8B9-0649-333B75BE1590}"/>
          </ac:spMkLst>
        </pc:spChg>
      </pc:sldChg>
      <pc:sldChg chg="addSp modSp">
        <pc:chgData name="pmoralesruiz@ug.uchile.cl" userId="S::urn:spo:guest#pmoralesruiz@ug.uchile.cl::" providerId="AD" clId="Web-{F44751CB-BC3B-D43B-038B-C4F7789A143D}" dt="2025-09-29T19:47:20.501" v="451" actId="20577"/>
        <pc:sldMkLst>
          <pc:docMk/>
          <pc:sldMk cId="0" sldId="288"/>
        </pc:sldMkLst>
        <pc:spChg chg="add mod">
          <ac:chgData name="pmoralesruiz@ug.uchile.cl" userId="S::urn:spo:guest#pmoralesruiz@ug.uchile.cl::" providerId="AD" clId="Web-{F44751CB-BC3B-D43B-038B-C4F7789A143D}" dt="2025-09-29T19:47:12.517" v="446" actId="1076"/>
          <ac:spMkLst>
            <pc:docMk/>
            <pc:sldMk cId="0" sldId="288"/>
            <ac:spMk id="2" creationId="{6C63D560-5F7E-79D1-71E2-8846E8A84BCE}"/>
          </ac:spMkLst>
        </pc:spChg>
        <pc:spChg chg="mod">
          <ac:chgData name="pmoralesruiz@ug.uchile.cl" userId="S::urn:spo:guest#pmoralesruiz@ug.uchile.cl::" providerId="AD" clId="Web-{F44751CB-BC3B-D43B-038B-C4F7789A143D}" dt="2025-09-29T19:47:20.501" v="451" actId="20577"/>
          <ac:spMkLst>
            <pc:docMk/>
            <pc:sldMk cId="0" sldId="288"/>
            <ac:spMk id="10" creationId="{00000000-0000-0000-0000-000000000000}"/>
          </ac:spMkLst>
        </pc:spChg>
      </pc:sldChg>
      <pc:sldChg chg="addSp delSp modSp">
        <pc:chgData name="pmoralesruiz@ug.uchile.cl" userId="S::urn:spo:guest#pmoralesruiz@ug.uchile.cl::" providerId="AD" clId="Web-{F44751CB-BC3B-D43B-038B-C4F7789A143D}" dt="2025-09-29T19:45:48.501" v="380" actId="20577"/>
        <pc:sldMkLst>
          <pc:docMk/>
          <pc:sldMk cId="2360770230" sldId="320"/>
        </pc:sldMkLst>
        <pc:spChg chg="add del mod">
          <ac:chgData name="pmoralesruiz@ug.uchile.cl" userId="S::urn:spo:guest#pmoralesruiz@ug.uchile.cl::" providerId="AD" clId="Web-{F44751CB-BC3B-D43B-038B-C4F7789A143D}" dt="2025-09-29T19:45:08.595" v="376"/>
          <ac:spMkLst>
            <pc:docMk/>
            <pc:sldMk cId="2360770230" sldId="320"/>
            <ac:spMk id="3" creationId="{6EAEB634-A22E-B8E5-B970-95FB322137BD}"/>
          </ac:spMkLst>
        </pc:spChg>
        <pc:spChg chg="add mod">
          <ac:chgData name="pmoralesruiz@ug.uchile.cl" userId="S::urn:spo:guest#pmoralesruiz@ug.uchile.cl::" providerId="AD" clId="Web-{F44751CB-BC3B-D43B-038B-C4F7789A143D}" dt="2025-09-29T19:45:48.501" v="380" actId="20577"/>
          <ac:spMkLst>
            <pc:docMk/>
            <pc:sldMk cId="2360770230" sldId="320"/>
            <ac:spMk id="5" creationId="{A8C824A5-4E68-AF01-B39D-8E84DD3EEFDA}"/>
          </ac:spMkLst>
        </pc:spChg>
        <pc:spChg chg="mod">
          <ac:chgData name="pmoralesruiz@ug.uchile.cl" userId="S::urn:spo:guest#pmoralesruiz@ug.uchile.cl::" providerId="AD" clId="Web-{F44751CB-BC3B-D43B-038B-C4F7789A143D}" dt="2025-09-29T19:43:48.580" v="286" actId="20577"/>
          <ac:spMkLst>
            <pc:docMk/>
            <pc:sldMk cId="2360770230" sldId="320"/>
            <ac:spMk id="16" creationId="{0DD7486D-237B-42B2-BCA9-866AB0479A58}"/>
          </ac:spMkLst>
        </pc:spChg>
      </pc:sldChg>
      <pc:sldChg chg="modSp">
        <pc:chgData name="pmoralesruiz@ug.uchile.cl" userId="S::urn:spo:guest#pmoralesruiz@ug.uchile.cl::" providerId="AD" clId="Web-{F44751CB-BC3B-D43B-038B-C4F7789A143D}" dt="2025-09-29T19:54:28.548" v="497" actId="20577"/>
        <pc:sldMkLst>
          <pc:docMk/>
          <pc:sldMk cId="0" sldId="346"/>
        </pc:sldMkLst>
        <pc:spChg chg="mod">
          <ac:chgData name="pmoralesruiz@ug.uchile.cl" userId="S::urn:spo:guest#pmoralesruiz@ug.uchile.cl::" providerId="AD" clId="Web-{F44751CB-BC3B-D43B-038B-C4F7789A143D}" dt="2025-09-29T19:54:28.548" v="497" actId="20577"/>
          <ac:spMkLst>
            <pc:docMk/>
            <pc:sldMk cId="0" sldId="346"/>
            <ac:spMk id="1041" creationId="{00000000-0000-0000-0000-000000000000}"/>
          </ac:spMkLst>
        </pc:spChg>
      </pc:sldChg>
      <pc:sldChg chg="addSp modSp">
        <pc:chgData name="pmoralesruiz@ug.uchile.cl" userId="S::urn:spo:guest#pmoralesruiz@ug.uchile.cl::" providerId="AD" clId="Web-{F44751CB-BC3B-D43B-038B-C4F7789A143D}" dt="2025-09-29T19:53:56.642" v="488"/>
        <pc:sldMkLst>
          <pc:docMk/>
          <pc:sldMk cId="479603681" sldId="403"/>
        </pc:sldMkLst>
        <pc:spChg chg="add mod">
          <ac:chgData name="pmoralesruiz@ug.uchile.cl" userId="S::urn:spo:guest#pmoralesruiz@ug.uchile.cl::" providerId="AD" clId="Web-{F44751CB-BC3B-D43B-038B-C4F7789A143D}" dt="2025-09-29T19:53:56.642" v="488"/>
          <ac:spMkLst>
            <pc:docMk/>
            <pc:sldMk cId="479603681" sldId="403"/>
            <ac:spMk id="3" creationId="{B6FB5695-1728-C720-4FF5-9799E92D87B5}"/>
          </ac:spMkLst>
        </pc:spChg>
      </pc:sldChg>
      <pc:sldChg chg="addSp modSp">
        <pc:chgData name="pmoralesruiz@ug.uchile.cl" userId="S::urn:spo:guest#pmoralesruiz@ug.uchile.cl::" providerId="AD" clId="Web-{F44751CB-BC3B-D43B-038B-C4F7789A143D}" dt="2025-09-29T19:31:52.831" v="39" actId="20577"/>
        <pc:sldMkLst>
          <pc:docMk/>
          <pc:sldMk cId="3006985062" sldId="416"/>
        </pc:sldMkLst>
        <pc:spChg chg="add mod">
          <ac:chgData name="pmoralesruiz@ug.uchile.cl" userId="S::urn:spo:guest#pmoralesruiz@ug.uchile.cl::" providerId="AD" clId="Web-{F44751CB-BC3B-D43B-038B-C4F7789A143D}" dt="2025-09-29T19:31:28.565" v="21" actId="1076"/>
          <ac:spMkLst>
            <pc:docMk/>
            <pc:sldMk cId="3006985062" sldId="416"/>
            <ac:spMk id="3" creationId="{CA4C0EE7-D175-AF7D-E4D6-E685DF194632}"/>
          </ac:spMkLst>
        </pc:spChg>
        <pc:spChg chg="add mod">
          <ac:chgData name="pmoralesruiz@ug.uchile.cl" userId="S::urn:spo:guest#pmoralesruiz@ug.uchile.cl::" providerId="AD" clId="Web-{F44751CB-BC3B-D43B-038B-C4F7789A143D}" dt="2025-09-29T19:31:52.831" v="39" actId="20577"/>
          <ac:spMkLst>
            <pc:docMk/>
            <pc:sldMk cId="3006985062" sldId="416"/>
            <ac:spMk id="4" creationId="{1B3D275E-11A2-7608-1591-00D1CAE8809D}"/>
          </ac:spMkLst>
        </pc:spChg>
      </pc:sldChg>
      <pc:sldChg chg="addSp delSp modSp">
        <pc:chgData name="pmoralesruiz@ug.uchile.cl" userId="S::urn:spo:guest#pmoralesruiz@ug.uchile.cl::" providerId="AD" clId="Web-{F44751CB-BC3B-D43B-038B-C4F7789A143D}" dt="2025-09-29T19:41:53.611" v="284"/>
        <pc:sldMkLst>
          <pc:docMk/>
          <pc:sldMk cId="1012220188" sldId="419"/>
        </pc:sldMkLst>
        <pc:spChg chg="add del mod">
          <ac:chgData name="pmoralesruiz@ug.uchile.cl" userId="S::urn:spo:guest#pmoralesruiz@ug.uchile.cl::" providerId="AD" clId="Web-{F44751CB-BC3B-D43B-038B-C4F7789A143D}" dt="2025-09-29T19:41:53.611" v="284"/>
          <ac:spMkLst>
            <pc:docMk/>
            <pc:sldMk cId="1012220188" sldId="419"/>
            <ac:spMk id="4" creationId="{C3082D89-D0C0-96A5-693D-DF9A15524AD3}"/>
          </ac:spMkLst>
        </pc:spChg>
      </pc:sldChg>
      <pc:sldChg chg="addSp modSp">
        <pc:chgData name="pmoralesruiz@ug.uchile.cl" userId="S::urn:spo:guest#pmoralesruiz@ug.uchile.cl::" providerId="AD" clId="Web-{F44751CB-BC3B-D43B-038B-C4F7789A143D}" dt="2025-09-29T19:39:56.565" v="277" actId="1076"/>
        <pc:sldMkLst>
          <pc:docMk/>
          <pc:sldMk cId="235619057" sldId="427"/>
        </pc:sldMkLst>
        <pc:spChg chg="add mod">
          <ac:chgData name="pmoralesruiz@ug.uchile.cl" userId="S::urn:spo:guest#pmoralesruiz@ug.uchile.cl::" providerId="AD" clId="Web-{F44751CB-BC3B-D43B-038B-C4F7789A143D}" dt="2025-09-29T19:39:56.565" v="277" actId="1076"/>
          <ac:spMkLst>
            <pc:docMk/>
            <pc:sldMk cId="235619057" sldId="427"/>
            <ac:spMk id="3" creationId="{FC6C4110-BC77-F365-BE6F-6511F3962DDA}"/>
          </ac:spMkLst>
        </pc:spChg>
      </pc:sldChg>
      <pc:sldChg chg="addSp modSp">
        <pc:chgData name="pmoralesruiz@ug.uchile.cl" userId="S::urn:spo:guest#pmoralesruiz@ug.uchile.cl::" providerId="AD" clId="Web-{F44751CB-BC3B-D43B-038B-C4F7789A143D}" dt="2025-09-29T19:33:19.596" v="103" actId="20577"/>
        <pc:sldMkLst>
          <pc:docMk/>
          <pc:sldMk cId="391928943" sldId="431"/>
        </pc:sldMkLst>
        <pc:spChg chg="add mod">
          <ac:chgData name="pmoralesruiz@ug.uchile.cl" userId="S::urn:spo:guest#pmoralesruiz@ug.uchile.cl::" providerId="AD" clId="Web-{F44751CB-BC3B-D43B-038B-C4F7789A143D}" dt="2025-09-29T19:33:19.596" v="103" actId="20577"/>
          <ac:spMkLst>
            <pc:docMk/>
            <pc:sldMk cId="391928943" sldId="431"/>
            <ac:spMk id="3" creationId="{C16525DD-1487-9270-0D9C-49B03147F162}"/>
          </ac:spMkLst>
        </pc:spChg>
      </pc:sldChg>
      <pc:sldChg chg="addSp">
        <pc:chgData name="pmoralesruiz@ug.uchile.cl" userId="S::urn:spo:guest#pmoralesruiz@ug.uchile.cl::" providerId="AD" clId="Web-{F44751CB-BC3B-D43B-038B-C4F7789A143D}" dt="2025-09-29T19:33:34.909" v="104"/>
        <pc:sldMkLst>
          <pc:docMk/>
          <pc:sldMk cId="3091702772" sldId="433"/>
        </pc:sldMkLst>
        <pc:spChg chg="add">
          <ac:chgData name="pmoralesruiz@ug.uchile.cl" userId="S::urn:spo:guest#pmoralesruiz@ug.uchile.cl::" providerId="AD" clId="Web-{F44751CB-BC3B-D43B-038B-C4F7789A143D}" dt="2025-09-29T19:33:34.909" v="104"/>
          <ac:spMkLst>
            <pc:docMk/>
            <pc:sldMk cId="3091702772" sldId="433"/>
            <ac:spMk id="3" creationId="{09F731A5-D0D0-0D79-953D-70652C21F9FD}"/>
          </ac:spMkLst>
        </pc:spChg>
      </pc:sldChg>
      <pc:sldChg chg="addSp modSp ord">
        <pc:chgData name="pmoralesruiz@ug.uchile.cl" userId="S::urn:spo:guest#pmoralesruiz@ug.uchile.cl::" providerId="AD" clId="Web-{F44751CB-BC3B-D43B-038B-C4F7789A143D}" dt="2025-09-29T19:52:51.720" v="469" actId="20577"/>
        <pc:sldMkLst>
          <pc:docMk/>
          <pc:sldMk cId="391977841" sldId="435"/>
        </pc:sldMkLst>
        <pc:spChg chg="add mod">
          <ac:chgData name="pmoralesruiz@ug.uchile.cl" userId="S::urn:spo:guest#pmoralesruiz@ug.uchile.cl::" providerId="AD" clId="Web-{F44751CB-BC3B-D43B-038B-C4F7789A143D}" dt="2025-09-29T19:52:51.720" v="469" actId="20577"/>
          <ac:spMkLst>
            <pc:docMk/>
            <pc:sldMk cId="391977841" sldId="435"/>
            <ac:spMk id="3" creationId="{84778075-D042-C787-5FE4-DE07A0445984}"/>
          </ac:spMkLst>
        </pc:spChg>
        <pc:spChg chg="add mod">
          <ac:chgData name="pmoralesruiz@ug.uchile.cl" userId="S::urn:spo:guest#pmoralesruiz@ug.uchile.cl::" providerId="AD" clId="Web-{F44751CB-BC3B-D43B-038B-C4F7789A143D}" dt="2025-09-29T19:52:23.423" v="464" actId="20577"/>
          <ac:spMkLst>
            <pc:docMk/>
            <pc:sldMk cId="391977841" sldId="435"/>
            <ac:spMk id="5" creationId="{04A490B3-5449-7620-0CCB-915C57BEB288}"/>
          </ac:spMkLst>
        </pc:spChg>
        <pc:spChg chg="mod">
          <ac:chgData name="pmoralesruiz@ug.uchile.cl" userId="S::urn:spo:guest#pmoralesruiz@ug.uchile.cl::" providerId="AD" clId="Web-{F44751CB-BC3B-D43B-038B-C4F7789A143D}" dt="2025-09-29T19:52:30.345" v="466" actId="1076"/>
          <ac:spMkLst>
            <pc:docMk/>
            <pc:sldMk cId="391977841" sldId="435"/>
            <ac:spMk id="352" creationId="{00000000-0000-0000-0000-000000000000}"/>
          </ac:spMkLst>
        </pc:spChg>
      </pc:sldChg>
      <pc:sldChg chg="addSp modSp">
        <pc:chgData name="pmoralesruiz@ug.uchile.cl" userId="S::urn:spo:guest#pmoralesruiz@ug.uchile.cl::" providerId="AD" clId="Web-{F44751CB-BC3B-D43B-038B-C4F7789A143D}" dt="2025-09-29T19:44:55.470" v="373"/>
        <pc:sldMkLst>
          <pc:docMk/>
          <pc:sldMk cId="2351128133" sldId="437"/>
        </pc:sldMkLst>
        <pc:spChg chg="add mod">
          <ac:chgData name="pmoralesruiz@ug.uchile.cl" userId="S::urn:spo:guest#pmoralesruiz@ug.uchile.cl::" providerId="AD" clId="Web-{F44751CB-BC3B-D43B-038B-C4F7789A143D}" dt="2025-09-29T19:44:55.470" v="373"/>
          <ac:spMkLst>
            <pc:docMk/>
            <pc:sldMk cId="2351128133" sldId="437"/>
            <ac:spMk id="2" creationId="{2EC0A6D2-294E-1A82-7359-45C1F595CE77}"/>
          </ac:spMkLst>
        </pc:spChg>
        <pc:spChg chg="mod">
          <ac:chgData name="pmoralesruiz@ug.uchile.cl" userId="S::urn:spo:guest#pmoralesruiz@ug.uchile.cl::" providerId="AD" clId="Web-{F44751CB-BC3B-D43B-038B-C4F7789A143D}" dt="2025-09-29T19:44:00.517" v="288" actId="20577"/>
          <ac:spMkLst>
            <pc:docMk/>
            <pc:sldMk cId="2351128133" sldId="437"/>
            <ac:spMk id="16" creationId="{0DD7486D-237B-42B2-BCA9-866AB0479A58}"/>
          </ac:spMkLst>
        </pc:spChg>
        <pc:spChg chg="mod">
          <ac:chgData name="pmoralesruiz@ug.uchile.cl" userId="S::urn:spo:guest#pmoralesruiz@ug.uchile.cl::" providerId="AD" clId="Web-{F44751CB-BC3B-D43B-038B-C4F7789A143D}" dt="2025-09-29T19:44:05.376" v="290" actId="20577"/>
          <ac:spMkLst>
            <pc:docMk/>
            <pc:sldMk cId="2351128133" sldId="437"/>
            <ac:spMk id="20" creationId="{FFACC3AB-CC36-4F63-8B2F-36DA5A2322C4}"/>
          </ac:spMkLst>
        </pc:spChg>
      </pc:sldChg>
      <pc:sldChg chg="addSp modSp">
        <pc:chgData name="pmoralesruiz@ug.uchile.cl" userId="S::urn:spo:guest#pmoralesruiz@ug.uchile.cl::" providerId="AD" clId="Web-{F44751CB-BC3B-D43B-038B-C4F7789A143D}" dt="2025-09-29T19:55:56.142" v="579" actId="20577"/>
        <pc:sldMkLst>
          <pc:docMk/>
          <pc:sldMk cId="1135431551" sldId="446"/>
        </pc:sldMkLst>
        <pc:spChg chg="add mod">
          <ac:chgData name="pmoralesruiz@ug.uchile.cl" userId="S::urn:spo:guest#pmoralesruiz@ug.uchile.cl::" providerId="AD" clId="Web-{F44751CB-BC3B-D43B-038B-C4F7789A143D}" dt="2025-09-29T19:55:56.142" v="579" actId="20577"/>
          <ac:spMkLst>
            <pc:docMk/>
            <pc:sldMk cId="1135431551" sldId="446"/>
            <ac:spMk id="3" creationId="{D2D2A4D6-0F7F-9CB9-86B4-2B52E4F49A74}"/>
          </ac:spMkLst>
        </pc:spChg>
      </pc:sldChg>
      <pc:sldChg chg="addSp delSp modSp">
        <pc:chgData name="pmoralesruiz@ug.uchile.cl" userId="S::urn:spo:guest#pmoralesruiz@ug.uchile.cl::" providerId="AD" clId="Web-{F44751CB-BC3B-D43B-038B-C4F7789A143D}" dt="2025-09-29T19:51:14.704" v="458"/>
        <pc:sldMkLst>
          <pc:docMk/>
          <pc:sldMk cId="806740195" sldId="458"/>
        </pc:sldMkLst>
        <pc:picChg chg="add del mod">
          <ac:chgData name="pmoralesruiz@ug.uchile.cl" userId="S::urn:spo:guest#pmoralesruiz@ug.uchile.cl::" providerId="AD" clId="Web-{F44751CB-BC3B-D43B-038B-C4F7789A143D}" dt="2025-09-29T19:49:46.157" v="453"/>
          <ac:picMkLst>
            <pc:docMk/>
            <pc:sldMk cId="806740195" sldId="458"/>
            <ac:picMk id="2" creationId="{3CA887A3-D19A-1FFF-B830-45968020083E}"/>
          </ac:picMkLst>
        </pc:picChg>
        <pc:picChg chg="add mod">
          <ac:chgData name="pmoralesruiz@ug.uchile.cl" userId="S::urn:spo:guest#pmoralesruiz@ug.uchile.cl::" providerId="AD" clId="Web-{F44751CB-BC3B-D43B-038B-C4F7789A143D}" dt="2025-09-29T19:51:14.704" v="458"/>
          <ac:picMkLst>
            <pc:docMk/>
            <pc:sldMk cId="806740195" sldId="458"/>
            <ac:picMk id="3" creationId="{4EE0938B-A1F5-E213-9763-4E9C39809749}"/>
          </ac:picMkLst>
        </pc:picChg>
        <pc:picChg chg="del">
          <ac:chgData name="pmoralesruiz@ug.uchile.cl" userId="S::urn:spo:guest#pmoralesruiz@ug.uchile.cl::" providerId="AD" clId="Web-{F44751CB-BC3B-D43B-038B-C4F7789A143D}" dt="2025-09-29T19:50:05.845" v="454"/>
          <ac:picMkLst>
            <pc:docMk/>
            <pc:sldMk cId="806740195" sldId="458"/>
            <ac:picMk id="1169" creationId="{00000000-0000-0000-0000-000000000000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microsoft.com/office/2011/relationships/chartStyle" Target="style5.xml"/><Relationship Id="rId2" Type="http://schemas.microsoft.com/office/2011/relationships/chartColorStyle" Target="colors5.xml"/><Relationship Id="rId3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microsoft.com/office/2011/relationships/chartStyle" Target="style6.xml"/><Relationship Id="rId2" Type="http://schemas.microsoft.com/office/2011/relationships/chartColorStyle" Target="colors6.xml"/><Relationship Id="rId3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microsoft.com/office/2011/relationships/chartStyle" Target="style7.xml"/><Relationship Id="rId2" Type="http://schemas.microsoft.com/office/2011/relationships/chartColorStyle" Target="colors7.xml"/><Relationship Id="rId3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microsoft.com/office/2011/relationships/chartStyle" Target="style8.xml"/><Relationship Id="rId2" Type="http://schemas.microsoft.com/office/2011/relationships/chartColorStyle" Target="colors8.xml"/><Relationship Id="rId3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microsoft.com/office/2011/relationships/chartStyle" Target="style9.xml"/><Relationship Id="rId2" Type="http://schemas.microsoft.com/office/2011/relationships/chartColorStyle" Target="colors9.xml"/><Relationship Id="rId3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microsoft.com/office/2011/relationships/chartStyle" Target="style10.xml"/><Relationship Id="rId2" Type="http://schemas.microsoft.com/office/2011/relationships/chartColorStyle" Target="colors10.xml"/><Relationship Id="rId3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microsoft.com/office/2011/relationships/chartStyle" Target="style11.xml"/><Relationship Id="rId2" Type="http://schemas.microsoft.com/office/2011/relationships/chartColorStyle" Target="colors11.xml"/><Relationship Id="rId3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microsoft.com/office/2011/relationships/chartStyle" Target="style12.xml"/><Relationship Id="rId2" Type="http://schemas.microsoft.com/office/2011/relationships/chartColorStyle" Target="colors12.xml"/><Relationship Id="rId3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microsoft.com/office/2011/relationships/chartStyle" Target="style13.xml"/><Relationship Id="rId2" Type="http://schemas.microsoft.com/office/2011/relationships/chartColorStyle" Target="colors13.xml"/><Relationship Id="rId3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microsoft.com/office/2011/relationships/chartStyle" Target="style14.xml"/><Relationship Id="rId2" Type="http://schemas.microsoft.com/office/2011/relationships/chartColorStyle" Target="colors14.xml"/><Relationship Id="rId3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microsoft.com/office/2011/relationships/chartStyle" Target="style15.xml"/><Relationship Id="rId2" Type="http://schemas.microsoft.com/office/2011/relationships/chartColorStyle" Target="colors15.xml"/><Relationship Id="rId3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microsoft.com/office/2011/relationships/chartStyle" Target="style16.xml"/><Relationship Id="rId2" Type="http://schemas.microsoft.com/office/2011/relationships/chartColorStyle" Target="colors16.xml"/><Relationship Id="rId3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microsoft.com/office/2011/relationships/chartStyle" Target="style17.xml"/><Relationship Id="rId2" Type="http://schemas.microsoft.com/office/2011/relationships/chartColorStyle" Target="colors17.xml"/><Relationship Id="rId3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microsoft.com/office/2011/relationships/chartStyle" Target="style18.xml"/><Relationship Id="rId2" Type="http://schemas.microsoft.com/office/2011/relationships/chartColorStyle" Target="colors18.xml"/><Relationship Id="rId3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microsoft.com/office/2011/relationships/chartStyle" Target="style19.xml"/><Relationship Id="rId2" Type="http://schemas.microsoft.com/office/2011/relationships/chartColorStyle" Target="colors19.xml"/><Relationship Id="rId3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microsoft.com/office/2011/relationships/chartStyle" Target="style20.xml"/><Relationship Id="rId2" Type="http://schemas.microsoft.com/office/2011/relationships/chartColorStyle" Target="colors20.xml"/><Relationship Id="rId3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microsoft.com/office/2011/relationships/chartStyle" Target="style21.xml"/><Relationship Id="rId2" Type="http://schemas.microsoft.com/office/2011/relationships/chartColorStyle" Target="colors21.xml"/><Relationship Id="rId3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microsoft.com/office/2011/relationships/chartStyle" Target="style22.xml"/><Relationship Id="rId2" Type="http://schemas.microsoft.com/office/2011/relationships/chartColorStyle" Target="colors22.xml"/><Relationship Id="rId3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microsoft.com/office/2011/relationships/chartStyle" Target="style23.xml"/><Relationship Id="rId2" Type="http://schemas.microsoft.com/office/2011/relationships/chartColorStyle" Target="colors23.xml"/><Relationship Id="rId3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microsoft.com/office/2011/relationships/chartStyle" Target="style24.xml"/><Relationship Id="rId2" Type="http://schemas.microsoft.com/office/2011/relationships/chartColorStyle" Target="colors24.xml"/><Relationship Id="rId3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microsoft.com/office/2011/relationships/chartStyle" Target="style25.xml"/><Relationship Id="rId2" Type="http://schemas.microsoft.com/office/2011/relationships/chartColorStyle" Target="colors25.xml"/><Relationship Id="rId3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microsoft.com/office/2011/relationships/chartStyle" Target="style26.xml"/><Relationship Id="rId2" Type="http://schemas.microsoft.com/office/2011/relationships/chartColorStyle" Target="colors26.xml"/><Relationship Id="rId3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microsoft.com/office/2011/relationships/chartStyle" Target="style27.xml"/><Relationship Id="rId2" Type="http://schemas.microsoft.com/office/2011/relationships/chartColorStyle" Target="colors27.xml"/><Relationship Id="rId3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microsoft.com/office/2011/relationships/chartStyle" Target="style28.xml"/><Relationship Id="rId2" Type="http://schemas.microsoft.com/office/2011/relationships/chartColorStyle" Target="colors28.xml"/><Relationship Id="rId3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microsoft.com/office/2011/relationships/chartStyle" Target="style29.xml"/><Relationship Id="rId2" Type="http://schemas.microsoft.com/office/2011/relationships/chartColorStyle" Target="colors29.xml"/><Relationship Id="rId3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microsoft.com/office/2011/relationships/chartStyle" Target="style30.xml"/><Relationship Id="rId2" Type="http://schemas.microsoft.com/office/2011/relationships/chartColorStyle" Target="colors30.xml"/><Relationship Id="rId3" Type="http://schemas.openxmlformats.org/officeDocument/2006/relationships/package" Target="../embeddings/Microsoft_Excel_Worksheet29.xlsx"/></Relationships>
</file>

<file path=ppt/charts/_rels/chart31.xml.rels><?xml version='1.0' encoding='UTF-8' standalone='yes'?>
<Relationships xmlns="http://schemas.openxmlformats.org/package/2006/relationships"><Relationship Id="rId1" Type="http://schemas.microsoft.com/office/2011/relationships/chartStyle" Target="style31.xml"/><Relationship Id="rId2" Type="http://schemas.microsoft.com/office/2011/relationships/chartColorStyle" Target="colors31.xml"/><Relationship Id="rId3" Type="http://schemas.openxmlformats.org/officeDocument/2006/relationships/package" Target="../embeddings/Microsoft_Excel_Worksheet30.xlsx"/></Relationships>
</file>

<file path=ppt/charts/_rels/chart32.xml.rels><?xml version='1.0' encoding='UTF-8' standalone='yes'?>
<Relationships xmlns="http://schemas.openxmlformats.org/package/2006/relationships"><Relationship Id="rId1" Type="http://schemas.microsoft.com/office/2011/relationships/chartStyle" Target="style32.xml"/><Relationship Id="rId2" Type="http://schemas.microsoft.com/office/2011/relationships/chartColorStyle" Target="colors32.xml"/><Relationship Id="rId3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microsoft.com/office/2011/relationships/chartStyle" Target="style33.xml"/><Relationship Id="rId2" Type="http://schemas.microsoft.com/office/2011/relationships/chartColorStyle" Target="colors33.xml"/><Relationship Id="rId3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microsoft.com/office/2011/relationships/chartStyle" Target="style34.xml"/><Relationship Id="rId2" Type="http://schemas.microsoft.com/office/2011/relationships/chartColorStyle" Target="colors34.xml"/><Relationship Id="rId3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microsoft.com/office/2011/relationships/chartStyle" Target="style35.xml"/><Relationship Id="rId2" Type="http://schemas.microsoft.com/office/2011/relationships/chartColorStyle" Target="colors35.xml"/><Relationship Id="rId3" Type="http://schemas.openxmlformats.org/officeDocument/2006/relationships/package" Target="../embeddings/Microsoft_Excel_Worksheet34.xlsx"/></Relationships>
</file>

<file path=ppt/charts/_rels/chart36.xml.rels><?xml version='1.0' encoding='UTF-8' standalone='yes'?>
<Relationships xmlns="http://schemas.openxmlformats.org/package/2006/relationships"><Relationship Id="rId1" Type="http://schemas.microsoft.com/office/2011/relationships/chartStyle" Target="style36.xml"/><Relationship Id="rId2" Type="http://schemas.microsoft.com/office/2011/relationships/chartColorStyle" Target="colors36.xml"/><Relationship Id="rId3" Type="http://schemas.openxmlformats.org/officeDocument/2006/relationships/package" Target="../embeddings/Microsoft_Excel_Worksheet35.xlsx"/></Relationships>
</file>

<file path=ppt/charts/_rels/chart37.xml.rels><?xml version='1.0' encoding='UTF-8' standalone='yes'?>
<Relationships xmlns="http://schemas.openxmlformats.org/package/2006/relationships"><Relationship Id="rId1" Type="http://schemas.microsoft.com/office/2011/relationships/chartStyle" Target="style37.xml"/><Relationship Id="rId2" Type="http://schemas.microsoft.com/office/2011/relationships/chartColorStyle" Target="colors37.xml"/><Relationship Id="rId3" Type="http://schemas.openxmlformats.org/officeDocument/2006/relationships/package" Target="../embeddings/Microsoft_Excel_Worksheet36.xlsx"/></Relationships>
</file>

<file path=ppt/charts/_rels/chart38.xml.rels><?xml version='1.0' encoding='UTF-8' standalone='yes'?>
<Relationships xmlns="http://schemas.openxmlformats.org/package/2006/relationships"><Relationship Id="rId1" Type="http://schemas.microsoft.com/office/2011/relationships/chartStyle" Target="style38.xml"/><Relationship Id="rId2" Type="http://schemas.microsoft.com/office/2011/relationships/chartColorStyle" Target="colors38.xml"/><Relationship Id="rId3" Type="http://schemas.openxmlformats.org/officeDocument/2006/relationships/package" Target="../embeddings/Microsoft_Excel_Worksheet37.xlsx"/></Relationships>
</file>

<file path=ppt/charts/_rels/chart39.xml.rels><?xml version='1.0' encoding='UTF-8' standalone='yes'?>
<Relationships xmlns="http://schemas.openxmlformats.org/package/2006/relationships"><Relationship Id="rId1" Type="http://schemas.microsoft.com/office/2011/relationships/chartStyle" Target="style39.xml"/><Relationship Id="rId2" Type="http://schemas.microsoft.com/office/2011/relationships/chartColorStyle" Target="colors39.xml"/><Relationship Id="rId3" Type="http://schemas.openxmlformats.org/officeDocument/2006/relationships/package" Target="../embeddings/Microsoft_Excel_Worksheet38.xlsx"/></Relationships>
</file>

<file path=ppt/charts/_rels/chart40.xml.rels><?xml version='1.0' encoding='UTF-8' standalone='yes'?>
<Relationships xmlns="http://schemas.openxmlformats.org/package/2006/relationships"><Relationship Id="rId1" Type="http://schemas.microsoft.com/office/2011/relationships/chartStyle" Target="style40.xml"/><Relationship Id="rId2" Type="http://schemas.microsoft.com/office/2011/relationships/chartColorStyle" Target="colors40.xml"/><Relationship Id="rId3" Type="http://schemas.openxmlformats.org/officeDocument/2006/relationships/package" Target="../embeddings/Microsoft_Excel_Worksheet39.xlsx"/></Relationships>
</file>

<file path=ppt/charts/_rels/chart41.xml.rels><?xml version='1.0' encoding='UTF-8' standalone='yes'?>
<Relationships xmlns="http://schemas.openxmlformats.org/package/2006/relationships"><Relationship Id="rId1" Type="http://schemas.microsoft.com/office/2011/relationships/chartStyle" Target="style41.xml"/><Relationship Id="rId2" Type="http://schemas.microsoft.com/office/2011/relationships/chartColorStyle" Target="colors41.xml"/><Relationship Id="rId3" Type="http://schemas.openxmlformats.org/officeDocument/2006/relationships/package" Target="../embeddings/Microsoft_Excel_Worksheet40.xlsx"/></Relationships>
</file>

<file path=ppt/charts/_rels/chart42.xml.rels><?xml version='1.0' encoding='UTF-8' standalone='yes'?>
<Relationships xmlns="http://schemas.openxmlformats.org/package/2006/relationships"><Relationship Id="rId1" Type="http://schemas.microsoft.com/office/2011/relationships/chartStyle" Target="style42.xml"/><Relationship Id="rId2" Type="http://schemas.microsoft.com/office/2011/relationships/chartColorStyle" Target="colors42.xml"/><Relationship Id="rId3" Type="http://schemas.openxmlformats.org/officeDocument/2006/relationships/package" Target="../embeddings/Microsoft_Excel_Worksheet41.xlsx"/></Relationships>
</file>

<file path=ppt/charts/_rels/chart43.xml.rels><?xml version='1.0' encoding='UTF-8' standalone='yes'?>
<Relationships xmlns="http://schemas.openxmlformats.org/package/2006/relationships"><Relationship Id="rId1" Type="http://schemas.microsoft.com/office/2011/relationships/chartStyle" Target="style43.xml"/><Relationship Id="rId2" Type="http://schemas.microsoft.com/office/2011/relationships/chartColorStyle" Target="colors43.xml"/><Relationship Id="rId3" Type="http://schemas.openxmlformats.org/officeDocument/2006/relationships/package" Target="../embeddings/Microsoft_Excel_Worksheet42.xlsx"/></Relationships>
</file>

<file path=ppt/charts/_rels/chart44.xml.rels><?xml version='1.0' encoding='UTF-8' standalone='yes'?>
<Relationships xmlns="http://schemas.openxmlformats.org/package/2006/relationships"><Relationship Id="rId1" Type="http://schemas.microsoft.com/office/2011/relationships/chartStyle" Target="style44.xml"/><Relationship Id="rId2" Type="http://schemas.microsoft.com/office/2011/relationships/chartColorStyle" Target="colors44.xml"/><Relationship Id="rId3" Type="http://schemas.openxmlformats.org/officeDocument/2006/relationships/package" Target="../embeddings/Microsoft_Excel_Worksheet43.xlsx"/></Relationships>
</file>

<file path=ppt/charts/_rels/chart45.xml.rels><?xml version='1.0' encoding='UTF-8' standalone='yes'?>
<Relationships xmlns="http://schemas.openxmlformats.org/package/2006/relationships"><Relationship Id="rId1" Type="http://schemas.microsoft.com/office/2011/relationships/chartStyle" Target="style45.xml"/><Relationship Id="rId2" Type="http://schemas.microsoft.com/office/2011/relationships/chartColorStyle" Target="colors45.xml"/><Relationship Id="rId3" Type="http://schemas.openxmlformats.org/officeDocument/2006/relationships/package" Target="../embeddings/Microsoft_Excel_Worksheet44.xlsx"/></Relationships>
</file>

<file path=ppt/charts/_rels/chart46.xml.rels><?xml version='1.0' encoding='UTF-8' standalone='yes'?>
<Relationships xmlns="http://schemas.openxmlformats.org/package/2006/relationships"><Relationship Id="rId1" Type="http://schemas.microsoft.com/office/2011/relationships/chartStyle" Target="style46.xml"/><Relationship Id="rId2" Type="http://schemas.microsoft.com/office/2011/relationships/chartColorStyle" Target="colors46.xml"/><Relationship Id="rId3" Type="http://schemas.openxmlformats.org/officeDocument/2006/relationships/package" Target="../embeddings/Microsoft_Excel_Worksheet45.xlsx"/></Relationships>
</file>

<file path=ppt/charts/_rels/chart47.xml.rels><?xml version='1.0' encoding='UTF-8' standalone='yes'?>
<Relationships xmlns="http://schemas.openxmlformats.org/package/2006/relationships"><Relationship Id="rId1" Type="http://schemas.microsoft.com/office/2011/relationships/chartStyle" Target="style47.xml"/><Relationship Id="rId2" Type="http://schemas.microsoft.com/office/2011/relationships/chartColorStyle" Target="colors47.xml"/><Relationship Id="rId3" Type="http://schemas.openxmlformats.org/officeDocument/2006/relationships/package" Target="../embeddings/Microsoft_Excel_Worksheet46.xlsx"/></Relationships>
</file>

<file path=ppt/charts/_rels/chart48.xml.rels><?xml version='1.0' encoding='UTF-8' standalone='yes'?>
<Relationships xmlns="http://schemas.openxmlformats.org/package/2006/relationships"><Relationship Id="rId1" Type="http://schemas.microsoft.com/office/2011/relationships/chartStyle" Target="style48.xml"/><Relationship Id="rId2" Type="http://schemas.microsoft.com/office/2011/relationships/chartColorStyle" Target="colors48.xml"/><Relationship Id="rId3" Type="http://schemas.openxmlformats.org/officeDocument/2006/relationships/package" Target="../embeddings/Microsoft_Excel_Worksheet47.xlsx"/></Relationships>
</file>

<file path=ppt/charts/_rels/chart49.xml.rels><?xml version='1.0' encoding='UTF-8' standalone='yes'?>
<Relationships xmlns="http://schemas.openxmlformats.org/package/2006/relationships"><Relationship Id="rId1" Type="http://schemas.microsoft.com/office/2011/relationships/chartStyle" Target="style49.xml"/><Relationship Id="rId2" Type="http://schemas.microsoft.com/office/2011/relationships/chartColorStyle" Target="colors49.xml"/><Relationship Id="rId3" Type="http://schemas.openxmlformats.org/officeDocument/2006/relationships/package" Target="../embeddings/Microsoft_Excel_Worksheet48.xlsx"/></Relationships>
</file>

<file path=ppt/charts/_rels/chart50.xml.rels><?xml version='1.0' encoding='UTF-8' standalone='yes'?>
<Relationships xmlns="http://schemas.openxmlformats.org/package/2006/relationships"><Relationship Id="rId1" Type="http://schemas.microsoft.com/office/2011/relationships/chartStyle" Target="style50.xml"/><Relationship Id="rId2" Type="http://schemas.microsoft.com/office/2011/relationships/chartColorStyle" Target="colors50.xml"/><Relationship Id="rId3" Type="http://schemas.openxmlformats.org/officeDocument/2006/relationships/package" Target="../embeddings/Microsoft_Excel_Worksheet49.xlsx"/></Relationships>
</file>

<file path=ppt/charts/_rels/chart51.xml.rels><?xml version='1.0' encoding='UTF-8' standalone='yes'?>
<Relationships xmlns="http://schemas.openxmlformats.org/package/2006/relationships"><Relationship Id="rId1" Type="http://schemas.microsoft.com/office/2011/relationships/chartStyle" Target="style51.xml"/><Relationship Id="rId2" Type="http://schemas.microsoft.com/office/2011/relationships/chartColorStyle" Target="colors51.xml"/><Relationship Id="rId3" Type="http://schemas.openxmlformats.org/officeDocument/2006/relationships/package" Target="../embeddings/Microsoft_Excel_Worksheet50.xlsx"/></Relationships>
</file>

<file path=ppt/charts/_rels/chart52.xml.rels><?xml version='1.0' encoding='UTF-8' standalone='yes'?>
<Relationships xmlns="http://schemas.openxmlformats.org/package/2006/relationships"><Relationship Id="rId1" Type="http://schemas.microsoft.com/office/2011/relationships/chartStyle" Target="style52.xml"/><Relationship Id="rId2" Type="http://schemas.microsoft.com/office/2011/relationships/chartColorStyle" Target="colors52.xml"/><Relationship Id="rId3" Type="http://schemas.openxmlformats.org/officeDocument/2006/relationships/package" Target="../embeddings/Microsoft_Excel_Worksheet51.xlsx"/></Relationships>
</file>

<file path=ppt/charts/_rels/chart53.xml.rels><?xml version='1.0' encoding='UTF-8' standalone='yes'?>
<Relationships xmlns="http://schemas.openxmlformats.org/package/2006/relationships"><Relationship Id="rId1" Type="http://schemas.microsoft.com/office/2011/relationships/chartStyle" Target="style53.xml"/><Relationship Id="rId2" Type="http://schemas.microsoft.com/office/2011/relationships/chartColorStyle" Target="colors53.xml"/><Relationship Id="rId3" Type="http://schemas.openxmlformats.org/officeDocument/2006/relationships/package" Target="../embeddings/Microsoft_Excel_Worksheet52.xlsx"/></Relationships>
</file>

<file path=ppt/charts/_rels/chart54.xml.rels><?xml version='1.0' encoding='UTF-8' standalone='yes'?>
<Relationships xmlns="http://schemas.openxmlformats.org/package/2006/relationships"><Relationship Id="rId1" Type="http://schemas.microsoft.com/office/2011/relationships/chartStyle" Target="style54.xml"/><Relationship Id="rId2" Type="http://schemas.microsoft.com/office/2011/relationships/chartColorStyle" Target="colors54.xml"/><Relationship Id="rId3" Type="http://schemas.openxmlformats.org/officeDocument/2006/relationships/package" Target="../embeddings/Microsoft_Excel_Worksheet53.xlsx"/></Relationships>
</file>

<file path=ppt/charts/_rels/chart55.xml.rels><?xml version='1.0' encoding='UTF-8' standalone='yes'?>
<Relationships xmlns="http://schemas.openxmlformats.org/package/2006/relationships"><Relationship Id="rId1" Type="http://schemas.microsoft.com/office/2011/relationships/chartStyle" Target="style55.xml"/><Relationship Id="rId2" Type="http://schemas.microsoft.com/office/2011/relationships/chartColorStyle" Target="colors55.xml"/><Relationship Id="rId3" Type="http://schemas.openxmlformats.org/officeDocument/2006/relationships/package" Target="../embeddings/Microsoft_Excel_Worksheet54.xlsx"/></Relationships>
</file>

<file path=ppt/charts/_rels/chart56.xml.rels><?xml version='1.0' encoding='UTF-8' standalone='yes'?>
<Relationships xmlns="http://schemas.openxmlformats.org/package/2006/relationships"><Relationship Id="rId1" Type="http://schemas.microsoft.com/office/2011/relationships/chartStyle" Target="style56.xml"/><Relationship Id="rId2" Type="http://schemas.microsoft.com/office/2011/relationships/chartColorStyle" Target="colors56.xml"/><Relationship Id="rId3" Type="http://schemas.openxmlformats.org/officeDocument/2006/relationships/package" Target="../embeddings/Microsoft_Excel_Worksheet55.xlsx"/></Relationships>
</file>

<file path=ppt/charts/_rels/chart57.xml.rels><?xml version='1.0' encoding='UTF-8' standalone='yes'?>
<Relationships xmlns="http://schemas.openxmlformats.org/package/2006/relationships"><Relationship Id="rId1" Type="http://schemas.microsoft.com/office/2011/relationships/chartStyle" Target="style57.xml"/><Relationship Id="rId2" Type="http://schemas.microsoft.com/office/2011/relationships/chartColorStyle" Target="colors57.xml"/><Relationship Id="rId3" Type="http://schemas.openxmlformats.org/officeDocument/2006/relationships/package" Target="../embeddings/Microsoft_Excel_Worksheet56.xlsx"/></Relationships>
</file>

<file path=ppt/charts/_rels/chart58.xml.rels><?xml version='1.0' encoding='UTF-8' standalone='yes'?>
<Relationships xmlns="http://schemas.openxmlformats.org/package/2006/relationships"><Relationship Id="rId1" Type="http://schemas.microsoft.com/office/2011/relationships/chartStyle" Target="style58.xml"/><Relationship Id="rId2" Type="http://schemas.microsoft.com/office/2011/relationships/chartColorStyle" Target="colors58.xml"/><Relationship Id="rId3" Type="http://schemas.openxmlformats.org/officeDocument/2006/relationships/package" Target="../embeddings/Microsoft_Excel_Worksheet57.xlsx"/></Relationships>
</file>

<file path=ppt/charts/_rels/chart59.xml.rels><?xml version='1.0' encoding='UTF-8' standalone='yes'?>
<Relationships xmlns="http://schemas.openxmlformats.org/package/2006/relationships"><Relationship Id="rId1" Type="http://schemas.microsoft.com/office/2011/relationships/chartStyle" Target="style59.xml"/><Relationship Id="rId2" Type="http://schemas.microsoft.com/office/2011/relationships/chartColorStyle" Target="colors59.xml"/><Relationship Id="rId3" Type="http://schemas.openxmlformats.org/officeDocument/2006/relationships/package" Target="../embeddings/Microsoft_Excel_Worksheet58.xlsx"/></Relationships>
</file>

<file path=ppt/charts/_rels/chart60.xml.rels><?xml version='1.0' encoding='UTF-8' standalone='yes'?>
<Relationships xmlns="http://schemas.openxmlformats.org/package/2006/relationships"><Relationship Id="rId1" Type="http://schemas.microsoft.com/office/2011/relationships/chartStyle" Target="style60.xml"/><Relationship Id="rId2" Type="http://schemas.microsoft.com/office/2011/relationships/chartColorStyle" Target="colors60.xml"/><Relationship Id="rId3" Type="http://schemas.openxmlformats.org/officeDocument/2006/relationships/package" Target="../embeddings/Microsoft_Excel_Worksheet59.xlsx"/></Relationships>
</file>

<file path=ppt/charts/_rels/chart61.xml.rels><?xml version='1.0' encoding='UTF-8' standalone='yes'?>
<Relationships xmlns="http://schemas.openxmlformats.org/package/2006/relationships"><Relationship Id="rId1" Type="http://schemas.microsoft.com/office/2011/relationships/chartStyle" Target="style61.xml"/><Relationship Id="rId2" Type="http://schemas.microsoft.com/office/2011/relationships/chartColorStyle" Target="colors61.xml"/><Relationship Id="rId3" Type="http://schemas.openxmlformats.org/officeDocument/2006/relationships/package" Target="../embeddings/Microsoft_Excel_Worksheet60.xlsx"/></Relationships>
</file>

<file path=ppt/charts/_rels/chart62.xml.rels><?xml version='1.0' encoding='UTF-8' standalone='yes'?>
<Relationships xmlns="http://schemas.openxmlformats.org/package/2006/relationships"><Relationship Id="rId1" Type="http://schemas.microsoft.com/office/2011/relationships/chartStyle" Target="style62.xml"/><Relationship Id="rId2" Type="http://schemas.microsoft.com/office/2011/relationships/chartColorStyle" Target="colors62.xml"/><Relationship Id="rId3" Type="http://schemas.openxmlformats.org/officeDocument/2006/relationships/package" Target="../embeddings/Microsoft_Excel_Worksheet61.xlsx"/></Relationships>
</file>

<file path=ppt/charts/_rels/chart63.xml.rels><?xml version='1.0' encoding='UTF-8' standalone='yes'?>
<Relationships xmlns="http://schemas.openxmlformats.org/package/2006/relationships"><Relationship Id="rId1" Type="http://schemas.microsoft.com/office/2011/relationships/chartStyle" Target="style63.xml"/><Relationship Id="rId2" Type="http://schemas.microsoft.com/office/2011/relationships/chartColorStyle" Target="colors63.xml"/><Relationship Id="rId3" Type="http://schemas.openxmlformats.org/officeDocument/2006/relationships/package" Target="../embeddings/Microsoft_Excel_Worksheet62.xlsx"/></Relationships>
</file>

<file path=ppt/charts/_rels/chart64.xml.rels><?xml version='1.0' encoding='UTF-8' standalone='yes'?>
<Relationships xmlns="http://schemas.openxmlformats.org/package/2006/relationships"><Relationship Id="rId1" Type="http://schemas.microsoft.com/office/2011/relationships/chartStyle" Target="style64.xml"/><Relationship Id="rId2" Type="http://schemas.microsoft.com/office/2011/relationships/chartColorStyle" Target="colors64.xml"/><Relationship Id="rId3" Type="http://schemas.openxmlformats.org/officeDocument/2006/relationships/package" Target="../embeddings/Microsoft_Excel_Worksheet63.xlsx"/></Relationships>
</file>

<file path=ppt/charts/_rels/chart65.xml.rels><?xml version='1.0' encoding='UTF-8' standalone='yes'?>
<Relationships xmlns="http://schemas.openxmlformats.org/package/2006/relationships"><Relationship Id="rId1" Type="http://schemas.microsoft.com/office/2011/relationships/chartStyle" Target="style65.xml"/><Relationship Id="rId2" Type="http://schemas.microsoft.com/office/2011/relationships/chartColorStyle" Target="colors65.xml"/><Relationship Id="rId3" Type="http://schemas.openxmlformats.org/officeDocument/2006/relationships/package" Target="../embeddings/Microsoft_Excel_Worksheet64.xlsx"/></Relationships>
</file>

<file path=ppt/charts/_rels/chart66.xml.rels><?xml version='1.0' encoding='UTF-8' standalone='yes'?>
<Relationships xmlns="http://schemas.openxmlformats.org/package/2006/relationships"><Relationship Id="rId1" Type="http://schemas.microsoft.com/office/2011/relationships/chartStyle" Target="style66.xml"/><Relationship Id="rId2" Type="http://schemas.microsoft.com/office/2011/relationships/chartColorStyle" Target="colors66.xml"/><Relationship Id="rId3" Type="http://schemas.openxmlformats.org/officeDocument/2006/relationships/package" Target="../embeddings/Microsoft_Excel_Worksheet65.xlsx"/></Relationships>
</file>

<file path=ppt/charts/_rels/chart67.xml.rels><?xml version='1.0' encoding='UTF-8' standalone='yes'?>
<Relationships xmlns="http://schemas.openxmlformats.org/package/2006/relationships"><Relationship Id="rId1" Type="http://schemas.microsoft.com/office/2011/relationships/chartStyle" Target="style67.xml"/><Relationship Id="rId2" Type="http://schemas.microsoft.com/office/2011/relationships/chartColorStyle" Target="colors67.xml"/><Relationship Id="rId3" Type="http://schemas.openxmlformats.org/officeDocument/2006/relationships/package" Target="../embeddings/Microsoft_Excel_Worksheet66.xlsx"/></Relationships>
</file>

<file path=ppt/charts/_rels/chart68.xml.rels><?xml version='1.0' encoding='UTF-8' standalone='yes'?>
<Relationships xmlns="http://schemas.openxmlformats.org/package/2006/relationships"><Relationship Id="rId1" Type="http://schemas.microsoft.com/office/2011/relationships/chartStyle" Target="style68.xml"/><Relationship Id="rId2" Type="http://schemas.microsoft.com/office/2011/relationships/chartColorStyle" Target="colors68.xml"/><Relationship Id="rId3" Type="http://schemas.openxmlformats.org/officeDocument/2006/relationships/package" Target="../embeddings/Microsoft_Excel_Worksheet67.xlsx"/></Relationships>
</file>

<file path=ppt/charts/_rels/chart69.xml.rels><?xml version='1.0' encoding='UTF-8' standalone='yes'?>
<Relationships xmlns="http://schemas.openxmlformats.org/package/2006/relationships"><Relationship Id="rId1" Type="http://schemas.microsoft.com/office/2011/relationships/chartStyle" Target="style69.xml"/><Relationship Id="rId2" Type="http://schemas.microsoft.com/office/2011/relationships/chartColorStyle" Target="colors69.xml"/><Relationship Id="rId3" Type="http://schemas.openxmlformats.org/officeDocument/2006/relationships/package" Target="../embeddings/Microsoft_Excel_Worksheet68.xlsx"/></Relationships>
</file>

<file path=ppt/charts/_rels/chart70.xml.rels><?xml version='1.0' encoding='UTF-8' standalone='yes'?>
<Relationships xmlns="http://schemas.openxmlformats.org/package/2006/relationships"><Relationship Id="rId1" Type="http://schemas.microsoft.com/office/2011/relationships/chartStyle" Target="style70.xml"/><Relationship Id="rId2" Type="http://schemas.microsoft.com/office/2011/relationships/chartColorStyle" Target="colors70.xml"/><Relationship Id="rId3" Type="http://schemas.openxmlformats.org/officeDocument/2006/relationships/package" Target="../embeddings/Microsoft_Excel_Worksheet69.xlsx"/></Relationships>
</file>

<file path=ppt/charts/_rels/chart71.xml.rels><?xml version='1.0' encoding='UTF-8' standalone='yes'?>
<Relationships xmlns="http://schemas.openxmlformats.org/package/2006/relationships"><Relationship Id="rId1" Type="http://schemas.microsoft.com/office/2011/relationships/chartStyle" Target="style71.xml"/><Relationship Id="rId2" Type="http://schemas.microsoft.com/office/2011/relationships/chartColorStyle" Target="colors71.xml"/><Relationship Id="rId3" Type="http://schemas.openxmlformats.org/officeDocument/2006/relationships/package" Target="../embeddings/Microsoft_Excel_Worksheet70.xlsx"/></Relationships>
</file>

<file path=ppt/charts/_rels/chart72.xml.rels><?xml version='1.0' encoding='UTF-8' standalone='yes'?>
<Relationships xmlns="http://schemas.openxmlformats.org/package/2006/relationships"><Relationship Id="rId1" Type="http://schemas.microsoft.com/office/2011/relationships/chartStyle" Target="style72.xml"/><Relationship Id="rId2" Type="http://schemas.microsoft.com/office/2011/relationships/chartColorStyle" Target="colors72.xml"/><Relationship Id="rId3" Type="http://schemas.openxmlformats.org/officeDocument/2006/relationships/package" Target="../embeddings/Microsoft_Excel_Worksheet71.xlsx"/></Relationships>
</file>

<file path=ppt/charts/_rels/chart73.xml.rels><?xml version='1.0' encoding='UTF-8' standalone='yes'?>
<Relationships xmlns="http://schemas.openxmlformats.org/package/2006/relationships"><Relationship Id="rId1" Type="http://schemas.microsoft.com/office/2011/relationships/chartStyle" Target="style73.xml"/><Relationship Id="rId2" Type="http://schemas.microsoft.com/office/2011/relationships/chartColorStyle" Target="colors73.xml"/><Relationship Id="rId3" Type="http://schemas.openxmlformats.org/officeDocument/2006/relationships/package" Target="../embeddings/Microsoft_Excel_Worksheet72.xlsx"/></Relationships>
</file>

<file path=ppt/charts/_rels/chart74.xml.rels><?xml version='1.0' encoding='UTF-8' standalone='yes'?>
<Relationships xmlns="http://schemas.openxmlformats.org/package/2006/relationships"><Relationship Id="rId1" Type="http://schemas.microsoft.com/office/2011/relationships/chartStyle" Target="style74.xml"/><Relationship Id="rId2" Type="http://schemas.microsoft.com/office/2011/relationships/chartColorStyle" Target="colors74.xml"/><Relationship Id="rId3" Type="http://schemas.openxmlformats.org/officeDocument/2006/relationships/package" Target="../embeddings/Microsoft_Excel_Worksheet73.xlsx"/></Relationships>
</file>

<file path=ppt/charts/_rels/chart75.xml.rels><?xml version='1.0' encoding='UTF-8' standalone='yes'?>
<Relationships xmlns="http://schemas.openxmlformats.org/package/2006/relationships"><Relationship Id="rId1" Type="http://schemas.microsoft.com/office/2011/relationships/chartStyle" Target="style75.xml"/><Relationship Id="rId2" Type="http://schemas.microsoft.com/office/2011/relationships/chartColorStyle" Target="colors75.xml"/><Relationship Id="rId3" Type="http://schemas.openxmlformats.org/officeDocument/2006/relationships/package" Target="../embeddings/Microsoft_Excel_Worksheet74.xlsx"/></Relationships>
</file>

<file path=ppt/charts/_rels/chart76.xml.rels><?xml version='1.0' encoding='UTF-8' standalone='yes'?>
<Relationships xmlns="http://schemas.openxmlformats.org/package/2006/relationships"><Relationship Id="rId1" Type="http://schemas.microsoft.com/office/2011/relationships/chartStyle" Target="style76.xml"/><Relationship Id="rId2" Type="http://schemas.microsoft.com/office/2011/relationships/chartColorStyle" Target="colors76.xml"/><Relationship Id="rId3" Type="http://schemas.openxmlformats.org/officeDocument/2006/relationships/package" Target="../embeddings/Microsoft_Excel_Worksheet75.xlsx"/></Relationships>
</file>

<file path=ppt/charts/_rels/chart77.xml.rels><?xml version='1.0' encoding='UTF-8' standalone='yes'?>
<Relationships xmlns="http://schemas.openxmlformats.org/package/2006/relationships"><Relationship Id="rId1" Type="http://schemas.microsoft.com/office/2011/relationships/chartStyle" Target="style77.xml"/><Relationship Id="rId2" Type="http://schemas.microsoft.com/office/2011/relationships/chartColorStyle" Target="colors77.xml"/><Relationship Id="rId3" Type="http://schemas.openxmlformats.org/officeDocument/2006/relationships/package" Target="../embeddings/Microsoft_Excel_Worksheet7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CL" sz="1600" dirty="0">
                <a:latin typeface="Calibri Light" panose="020F0302020204030204" pitchFamily="34" charset="0"/>
                <a:cs typeface="Calibri Light" panose="020F0302020204030204" pitchFamily="34" charset="0"/>
              </a:rPr>
              <a:t>Sexo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>
        <c:manualLayout>
          <c:layoutTarget val="inner"/>
          <c:xMode val="edge"/>
          <c:yMode val="edge"/>
          <c:x val="0.2437250291630213"/>
          <c:y val="0.22276104584733825"/>
          <c:w val="0.46393883056284629"/>
          <c:h val="0.56471185951834224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Porcentaje</c:v>
                </c:pt>
              </c:strCache>
            </c:strRef>
          </c:tx>
          <c:dPt>
            <c:idx val="0"/>
            <c:bubble3D val="0"/>
            <c:spPr>
              <a:solidFill>
                <a:srgbClr val="19A2FF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E3A-4C7D-A204-E84331F9C94D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E3A-4C7D-A204-E84331F9C94D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Femenino</c:v>
                </c:pt>
                <c:pt idx="1">
                  <c:v>Masculino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0.55</c:v>
                </c:pt>
                <c:pt idx="1">
                  <c:v>0.45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E3A-4C7D-A204-E84331F9C9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169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CL" sz="1600" dirty="0">
                <a:latin typeface="Calibri Light" panose="020F0302020204030204" pitchFamily="34" charset="0"/>
                <a:cs typeface="Calibri Light" panose="020F0302020204030204" pitchFamily="34" charset="0"/>
              </a:rPr>
              <a:t>Jornada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>
        <c:manualLayout>
          <c:layoutTarget val="inner"/>
          <c:xMode val="edge"/>
          <c:yMode val="edge"/>
          <c:x val="0.2437250291630213"/>
          <c:y val="0.22276104584733825"/>
          <c:w val="0.46393883056284629"/>
          <c:h val="0.56471185951834224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Porcentaje</c:v>
                </c:pt>
              </c:strCache>
            </c:strRef>
          </c:tx>
          <c:dPt>
            <c:idx val="0"/>
            <c:bubble3D val="0"/>
            <c:spPr>
              <a:solidFill>
                <a:srgbClr val="19A2FF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316F-494C-8179-25AFB7FDEBBE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316F-494C-8179-25AFB7FDEBBE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Diurno</c:v>
                </c:pt>
                <c:pt idx="1">
                  <c:v>Vespertino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0.83</c:v>
                </c:pt>
                <c:pt idx="1">
                  <c:v>0.17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16F-494C-8179-25AFB7FDEB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169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CL" sz="1600" dirty="0">
                <a:latin typeface="Calibri Light" panose="020F0302020204030204" pitchFamily="34" charset="0"/>
                <a:cs typeface="Calibri Light" panose="020F0302020204030204" pitchFamily="34" charset="0"/>
              </a:rPr>
              <a:t>Tipo de alumno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>
        <c:manualLayout>
          <c:layoutTarget val="inner"/>
          <c:xMode val="edge"/>
          <c:yMode val="edge"/>
          <c:x val="0.29804100723760052"/>
          <c:y val="0.1662291116218764"/>
          <c:w val="0.46393883056284629"/>
          <c:h val="0.56471185951834224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Porcentaje</c:v>
                </c:pt>
              </c:strCache>
            </c:strRef>
          </c:tx>
          <c:dPt>
            <c:idx val="0"/>
            <c:bubble3D val="0"/>
            <c:spPr>
              <a:solidFill>
                <a:srgbClr val="19A2FF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177E-4323-9B09-A4AFCD3C5E8B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177E-4323-9B09-A4AFCD3C5E8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177E-4323-9B09-A4AFCD3C5E8B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Sheet1!$A$2:$A$4</c:f>
              <c:strCache>
                <c:ptCount val="3"/>
                <c:pt idx="0">
                  <c:v>Inicio</c:v>
                </c:pt>
                <c:pt idx="1">
                  <c:v>Continuidad</c:v>
                </c:pt>
                <c:pt idx="2">
                  <c:v>Admisión Especial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0.51</c:v>
                </c:pt>
                <c:pt idx="1">
                  <c:v>0.48</c:v>
                </c:pt>
                <c:pt idx="2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77E-4323-9B09-A4AFCD3C5E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9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96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pPr>
            <a:r>
              <a:rPr lang="es-CL" sz="2000" b="0" dirty="0">
                <a:effectLst/>
              </a:rPr>
              <a:t>Escuelas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6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j-lt"/>
              <a:ea typeface="+mn-ea"/>
              <a:cs typeface="+mn-cs"/>
            </a:defRPr>
          </a:pPr>
          <a:endParaRPr lang="es-CL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Porcentaje</c:v>
                </c:pt>
              </c:strCache>
            </c:strRef>
          </c:tx>
          <c:spPr>
            <a:solidFill>
              <a:srgbClr val="0072C0"/>
            </a:solidFill>
            <a:ln>
              <a:noFill/>
            </a:ln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8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  <a:ea typeface="+mn-ea"/>
                    <a:cs typeface="+mn-cs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Sheet1!$A$2:$A$10</c:f>
              <c:strCache>
                <c:ptCount val="9"/>
                <c:pt idx="0">
                  <c:v>Administración y Negocios</c:v>
                </c:pt>
                <c:pt idx="1">
                  <c:v>Ingeniería, Medio Ambiente y Recursos Naturales</c:v>
                </c:pt>
                <c:pt idx="2">
                  <c:v>Informática y Telecomunicaciones</c:v>
                </c:pt>
                <c:pt idx="3">
                  <c:v>Salud y Bienestar</c:v>
                </c:pt>
                <c:pt idx="4">
                  <c:v>Turismo y Hospitalidad</c:v>
                </c:pt>
                <c:pt idx="5">
                  <c:v>Comunicación</c:v>
                </c:pt>
                <c:pt idx="6">
                  <c:v>Construcción</c:v>
                </c:pt>
                <c:pt idx="7">
                  <c:v>Diseño</c:v>
                </c:pt>
                <c:pt idx="8">
                  <c:v>Gastronomía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0.28</c:v>
                </c:pt>
                <c:pt idx="1">
                  <c:v>0.21</c:v>
                </c:pt>
                <c:pt idx="2">
                  <c:v>0.13</c:v>
                </c:pt>
                <c:pt idx="3">
                  <c:v>0.08</c:v>
                </c:pt>
                <c:pt idx="4">
                  <c:v>0.07</c:v>
                </c:pt>
                <c:pt idx="5">
                  <c:v>0.07</c:v>
                </c:pt>
                <c:pt idx="6">
                  <c:v>0.07</c:v>
                </c:pt>
                <c:pt idx="7">
                  <c:v>0.05</c:v>
                </c:pt>
                <c:pt idx="8">
                  <c:v>0.04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58C-4BEA-B37D-8CA8E97BE8A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0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800">
          <a:latin typeface="+mj-lt"/>
        </a:defRPr>
      </a:pPr>
      <a:endParaRPr lang="es-C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s-ES" dirty="0"/>
              <a:t>Campus y Sedes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L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Porcentaje</c:v>
                </c:pt>
              </c:strCache>
            </c:strRef>
          </c:tx>
          <c:spPr>
            <a:solidFill>
              <a:srgbClr val="0072C0"/>
            </a:solidFill>
            <a:ln>
              <a:noFill/>
            </a:ln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Sheet1!$A$2:$A$19</c:f>
              <c:strCache>
                <c:ptCount val="18"/>
                <c:pt idx="0">
                  <c:v>PUENTE ALTO</c:v>
                </c:pt>
                <c:pt idx="1">
                  <c:v>ANTONIO VARAS</c:v>
                </c:pt>
                <c:pt idx="2">
                  <c:v>ALAMEDA</c:v>
                </c:pt>
                <c:pt idx="3">
                  <c:v>PADRE ALONSO DE OVALLE</c:v>
                </c:pt>
                <c:pt idx="4">
                  <c:v>SAN CARLOS DE APOQUINDO</c:v>
                </c:pt>
                <c:pt idx="5">
                  <c:v>MAIPÚ</c:v>
                </c:pt>
                <c:pt idx="6">
                  <c:v>CONCEPCIÓN</c:v>
                </c:pt>
                <c:pt idx="7">
                  <c:v>CAMPUS VILLARRICA</c:v>
                </c:pt>
                <c:pt idx="8">
                  <c:v>VALPARAÍSO</c:v>
                </c:pt>
                <c:pt idx="9">
                  <c:v>MELIPILLA</c:v>
                </c:pt>
                <c:pt idx="10">
                  <c:v>PLAZA VESPUCIO</c:v>
                </c:pt>
                <c:pt idx="11">
                  <c:v>PLAZA OESTE</c:v>
                </c:pt>
                <c:pt idx="12">
                  <c:v>CAMPUS NACIMIENTO</c:v>
                </c:pt>
                <c:pt idx="13">
                  <c:v>PLAZA NORTE</c:v>
                </c:pt>
                <c:pt idx="14">
                  <c:v>VIÑA DEL MAR</c:v>
                </c:pt>
                <c:pt idx="15">
                  <c:v>SAN BERNARDO</c:v>
                </c:pt>
                <c:pt idx="16">
                  <c:v>SAN JOAQUÍN</c:v>
                </c:pt>
                <c:pt idx="17">
                  <c:v>PUERTO MONTT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0.21</c:v>
                </c:pt>
                <c:pt idx="1">
                  <c:v>0.12</c:v>
                </c:pt>
                <c:pt idx="2">
                  <c:v>0.1</c:v>
                </c:pt>
                <c:pt idx="3">
                  <c:v>0.08</c:v>
                </c:pt>
                <c:pt idx="4">
                  <c:v>0.07</c:v>
                </c:pt>
                <c:pt idx="5">
                  <c:v>0.06</c:v>
                </c:pt>
                <c:pt idx="6">
                  <c:v>0.06</c:v>
                </c:pt>
                <c:pt idx="7">
                  <c:v>0.06</c:v>
                </c:pt>
                <c:pt idx="8">
                  <c:v>0.05</c:v>
                </c:pt>
                <c:pt idx="9">
                  <c:v>0.04</c:v>
                </c:pt>
                <c:pt idx="10">
                  <c:v>0.03</c:v>
                </c:pt>
                <c:pt idx="11">
                  <c:v>0.03</c:v>
                </c:pt>
                <c:pt idx="12">
                  <c:v>0.03</c:v>
                </c:pt>
                <c:pt idx="13">
                  <c:v>0.02</c:v>
                </c:pt>
                <c:pt idx="14">
                  <c:v>0.02</c:v>
                </c:pt>
                <c:pt idx="15">
                  <c:v>0.02</c:v>
                </c:pt>
                <c:pt idx="16">
                  <c:v>0.01</c:v>
                </c:pt>
                <c:pt idx="17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297-44AE-A7F4-269D5B6FB4F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0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Porcentaje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Sheet1!$A$2:$A$17</c:f>
              <c:strCache>
                <c:ptCount val="16"/>
                <c:pt idx="0">
                  <c:v>Femenino</c:v>
                </c:pt>
                <c:pt idx="1">
                  <c:v>Masculino</c:v>
                </c:pt>
                <c:pt idx="2">
                  <c:v>Diurno</c:v>
                </c:pt>
                <c:pt idx="3">
                  <c:v>Vespertino</c:v>
                </c:pt>
                <c:pt idx="4">
                  <c:v>Admisión Especial</c:v>
                </c:pt>
                <c:pt idx="5">
                  <c:v>Continuidad</c:v>
                </c:pt>
                <c:pt idx="6">
                  <c:v>Inicio</c:v>
                </c:pt>
                <c:pt idx="7">
                  <c:v>Administración y Negocios</c:v>
                </c:pt>
                <c:pt idx="8">
                  <c:v>Comunicación</c:v>
                </c:pt>
                <c:pt idx="9">
                  <c:v>Construcción</c:v>
                </c:pt>
                <c:pt idx="10">
                  <c:v>Diseño</c:v>
                </c:pt>
                <c:pt idx="11">
                  <c:v>Gastronomía</c:v>
                </c:pt>
                <c:pt idx="12">
                  <c:v>Informática y Telecomunicaciones</c:v>
                </c:pt>
                <c:pt idx="13">
                  <c:v>Ingeniería, Medio Ambiente y Recursos Naturales</c:v>
                </c:pt>
                <c:pt idx="14">
                  <c:v>Salud y Bienestar</c:v>
                </c:pt>
                <c:pt idx="15">
                  <c:v>Turismo y Hospitalidad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0.4622991347342398</c:v>
                </c:pt>
                <c:pt idx="1">
                  <c:v>0.40773367952522255</c:v>
                </c:pt>
                <c:pt idx="2">
                  <c:v>0.4411283728536386</c:v>
                </c:pt>
                <c:pt idx="3">
                  <c:v>0.4204326923076923</c:v>
                </c:pt>
                <c:pt idx="4">
                  <c:v>0.4166666666666667</c:v>
                </c:pt>
                <c:pt idx="5">
                  <c:v>0.43890252454417955</c:v>
                </c:pt>
                <c:pt idx="6">
                  <c:v>0.436277705345502</c:v>
                </c:pt>
                <c:pt idx="7">
                  <c:v>0.41148399014778325</c:v>
                </c:pt>
                <c:pt idx="8">
                  <c:v>0.46875</c:v>
                </c:pt>
                <c:pt idx="9">
                  <c:v>0.4253472222222222</c:v>
                </c:pt>
                <c:pt idx="10">
                  <c:v>0.45803571428571427</c:v>
                </c:pt>
                <c:pt idx="11">
                  <c:v>0.4609375</c:v>
                </c:pt>
                <c:pt idx="12">
                  <c:v>0.45248724489795916</c:v>
                </c:pt>
                <c:pt idx="13">
                  <c:v>0.4450367647058823</c:v>
                </c:pt>
                <c:pt idx="14">
                  <c:v>0.4380165289256198</c:v>
                </c:pt>
                <c:pt idx="15">
                  <c:v>0.4451530612244898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2CB-48F1-B16D-CC858EED68F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0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Porcentaje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Sheet1!$A$2:$A$19</c:f>
              <c:strCache>
                <c:ptCount val="18"/>
                <c:pt idx="0">
                  <c:v>ALAMEDA</c:v>
                </c:pt>
                <c:pt idx="1">
                  <c:v>ANTONIO VARAS</c:v>
                </c:pt>
                <c:pt idx="2">
                  <c:v>CAMPUS NACIMIENTO</c:v>
                </c:pt>
                <c:pt idx="3">
                  <c:v>CAMPUS VILLARRICA</c:v>
                </c:pt>
                <c:pt idx="4">
                  <c:v>CONCEPCIÓN</c:v>
                </c:pt>
                <c:pt idx="5">
                  <c:v>MAIPÚ</c:v>
                </c:pt>
                <c:pt idx="6">
                  <c:v>MELIPILLA</c:v>
                </c:pt>
                <c:pt idx="7">
                  <c:v>PADRE ALONSO DE OVALLE</c:v>
                </c:pt>
                <c:pt idx="8">
                  <c:v>PLAZA NORTE</c:v>
                </c:pt>
                <c:pt idx="9">
                  <c:v>PLAZA OESTE</c:v>
                </c:pt>
                <c:pt idx="10">
                  <c:v>PLAZA VESPUCIO</c:v>
                </c:pt>
                <c:pt idx="11">
                  <c:v>PUENTE ALTO</c:v>
                </c:pt>
                <c:pt idx="12">
                  <c:v>PUERTO MONTT</c:v>
                </c:pt>
                <c:pt idx="13">
                  <c:v>SAN BERNARDO</c:v>
                </c:pt>
                <c:pt idx="14">
                  <c:v>SAN CARLOS DE APOQUINDO</c:v>
                </c:pt>
                <c:pt idx="15">
                  <c:v>SAN JOAQUÍN</c:v>
                </c:pt>
                <c:pt idx="16">
                  <c:v>VALPARAÍSO</c:v>
                </c:pt>
                <c:pt idx="17">
                  <c:v>VIÑA DEL MAR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0.4046610169491525</c:v>
                </c:pt>
                <c:pt idx="1">
                  <c:v>0.4776490066225166</c:v>
                </c:pt>
                <c:pt idx="2">
                  <c:v>0.39305555555555555</c:v>
                </c:pt>
                <c:pt idx="3">
                  <c:v>0.3743556701030928</c:v>
                </c:pt>
                <c:pt idx="4">
                  <c:v>0.414612676056338</c:v>
                </c:pt>
                <c:pt idx="5">
                  <c:v>0.4089506172839506</c:v>
                </c:pt>
                <c:pt idx="6">
                  <c:v>0.4682203389830508</c:v>
                </c:pt>
                <c:pt idx="7">
                  <c:v>0.42613636363636365</c:v>
                </c:pt>
                <c:pt idx="8">
                  <c:v>0.438953488372093</c:v>
                </c:pt>
                <c:pt idx="9">
                  <c:v>0.4423076923076923</c:v>
                </c:pt>
                <c:pt idx="10">
                  <c:v>0.453125</c:v>
                </c:pt>
                <c:pt idx="11">
                  <c:v>0.4647335423197492</c:v>
                </c:pt>
                <c:pt idx="12">
                  <c:v>0.5</c:v>
                </c:pt>
                <c:pt idx="13">
                  <c:v>0.43333333333333335</c:v>
                </c:pt>
                <c:pt idx="14">
                  <c:v>0.4527027027027027</c:v>
                </c:pt>
                <c:pt idx="15">
                  <c:v>0.4875</c:v>
                </c:pt>
                <c:pt idx="16">
                  <c:v>0.4085820895522388</c:v>
                </c:pt>
                <c:pt idx="17">
                  <c:v>0.47413793103448276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65C-422B-932E-773831900C6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0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Femenino</c:v>
                </c:pt>
              </c:strCache>
            </c:strRef>
          </c:tx>
          <c:spPr>
            <a:solidFill>
              <a:srgbClr val="00223A"/>
            </a:solidFill>
            <a:ln>
              <a:solidFill>
                <a:srgbClr val="00223A"/>
              </a:solidFill>
            </a:ln>
            <a:effectLst/>
          </c:spPr>
          <c:invertIfNegative val="0"/>
          <c:dLbls>
            <c:numFmt formatCode="0%" sourceLinked="0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Dificultades de transporte y desplazamiento</c:v>
                </c:pt>
                <c:pt idx="1">
                  <c:v>Problemas en relación sentimental</c:v>
                </c:pt>
                <c:pt idx="2">
                  <c:v>Dificultad para compatibilizar trabajo y estudios</c:v>
                </c:pt>
                <c:pt idx="3">
                  <c:v>Espacios de clase no adecuados en Duoc UC</c:v>
                </c:pt>
                <c:pt idx="4">
                  <c:v>Situación económica compleja</c:v>
                </c:pt>
                <c:pt idx="5">
                  <c:v>Panorama político y social del país</c:v>
                </c:pt>
                <c:pt idx="6">
                  <c:v>Problemas de autoestima</c:v>
                </c:pt>
                <c:pt idx="7">
                  <c:v>Problemas en relaciones familiares</c:v>
                </c:pt>
                <c:pt idx="8">
                  <c:v>Problemas de salud personales</c:v>
                </c:pt>
                <c:pt idx="9">
                  <c:v>Problemas de inseguridad al entrar y salir de la sede (delincuencia)</c:v>
                </c:pt>
                <c:pt idx="10">
                  <c:v>Panorama político internacional o cambios en el mundo</c:v>
                </c:pt>
                <c:pt idx="11">
                  <c:v>Duelos/pérdidas</c:v>
                </c:pt>
                <c:pt idx="12">
                  <c:v>Carga académica exigente</c:v>
                </c:pt>
                <c:pt idx="13">
                  <c:v>Problemas de salud de un ser querido</c:v>
                </c:pt>
                <c:pt idx="14">
                  <c:v>Problemas de inseguridad en tu barrio</c:v>
                </c:pt>
                <c:pt idx="15">
                  <c:v>Recursos de la universidad poco actualizados</c:v>
                </c:pt>
                <c:pt idx="16">
                  <c:v>Problemas en la relación con compañeros</c:v>
                </c:pt>
                <c:pt idx="17">
                  <c:v>Experiencias de discriminación en Duoc UC</c:v>
                </c:pt>
                <c:pt idx="18">
                  <c:v>Futuro laboral</c:v>
                </c:pt>
                <c:pt idx="19">
                  <c:v>Problemas en la relación con profesores</c:v>
                </c:pt>
                <c:pt idx="20">
                  <c:v>Aislamiento</c:v>
                </c:pt>
                <c:pt idx="21">
                  <c:v>Crisis climática y desastres naturales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0.042767295597484274</c:v>
                </c:pt>
                <c:pt idx="1">
                  <c:v>0.0440251572327044</c:v>
                </c:pt>
                <c:pt idx="2">
                  <c:v>0.061635220125786164</c:v>
                </c:pt>
                <c:pt idx="3">
                  <c:v>0.06540880503144654</c:v>
                </c:pt>
                <c:pt idx="4">
                  <c:v>0.13962264150943396</c:v>
                </c:pt>
                <c:pt idx="5">
                  <c:v>0.14968553459119496</c:v>
                </c:pt>
                <c:pt idx="6">
                  <c:v>0.17232704402515722</c:v>
                </c:pt>
                <c:pt idx="7">
                  <c:v>0.1761006289308176</c:v>
                </c:pt>
                <c:pt idx="8">
                  <c:v>0.1811320754716981</c:v>
                </c:pt>
                <c:pt idx="9">
                  <c:v>0.19119496855345913</c:v>
                </c:pt>
                <c:pt idx="10">
                  <c:v>0.21635220125786164</c:v>
                </c:pt>
                <c:pt idx="11">
                  <c:v>0.22515723270440252</c:v>
                </c:pt>
                <c:pt idx="12">
                  <c:v>0.2440251572327044</c:v>
                </c:pt>
                <c:pt idx="13">
                  <c:v>0.28176100628930817</c:v>
                </c:pt>
                <c:pt idx="14">
                  <c:v>0.2993710691823899</c:v>
                </c:pt>
                <c:pt idx="15">
                  <c:v>0.3471698113207547</c:v>
                </c:pt>
                <c:pt idx="16">
                  <c:v>0.43522012578616354</c:v>
                </c:pt>
                <c:pt idx="17">
                  <c:v>0.4742138364779874</c:v>
                </c:pt>
                <c:pt idx="18">
                  <c:v>0.4830188679245283</c:v>
                </c:pt>
                <c:pt idx="19">
                  <c:v>0.519496855345912</c:v>
                </c:pt>
                <c:pt idx="20">
                  <c:v>0.5471698113207547</c:v>
                </c:pt>
                <c:pt idx="21">
                  <c:v>0.5534591194968553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1F0-4F67-B5F6-64488193F49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Masculino</c:v>
                </c:pt>
              </c:strCache>
            </c:strRef>
          </c:tx>
          <c:spPr>
            <a:solidFill>
              <a:srgbClr val="F8961E"/>
            </a:solidFill>
            <a:ln>
              <a:solidFill>
                <a:srgbClr val="F8961E"/>
              </a:solidFill>
            </a:ln>
            <a:effectLst/>
          </c:spPr>
          <c:invertIfNegative val="0"/>
          <c:dLbls>
            <c:numFmt formatCode="0%" sourceLinked="0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Dificultades de transporte y desplazamiento</c:v>
                </c:pt>
                <c:pt idx="1">
                  <c:v>Problemas en relación sentimental</c:v>
                </c:pt>
                <c:pt idx="2">
                  <c:v>Dificultad para compatibilizar trabajo y estudios</c:v>
                </c:pt>
                <c:pt idx="3">
                  <c:v>Espacios de clase no adecuados en Duoc UC</c:v>
                </c:pt>
                <c:pt idx="4">
                  <c:v>Situación económica compleja</c:v>
                </c:pt>
                <c:pt idx="5">
                  <c:v>Panorama político y social del país</c:v>
                </c:pt>
                <c:pt idx="6">
                  <c:v>Problemas de autoestima</c:v>
                </c:pt>
                <c:pt idx="7">
                  <c:v>Problemas en relaciones familiares</c:v>
                </c:pt>
                <c:pt idx="8">
                  <c:v>Problemas de salud personales</c:v>
                </c:pt>
                <c:pt idx="9">
                  <c:v>Problemas de inseguridad al entrar y salir de la sede (delincuencia)</c:v>
                </c:pt>
                <c:pt idx="10">
                  <c:v>Panorama político internacional o cambios en el mundo</c:v>
                </c:pt>
                <c:pt idx="11">
                  <c:v>Duelos/pérdidas</c:v>
                </c:pt>
                <c:pt idx="12">
                  <c:v>Carga académica exigente</c:v>
                </c:pt>
                <c:pt idx="13">
                  <c:v>Problemas de salud de un ser querido</c:v>
                </c:pt>
                <c:pt idx="14">
                  <c:v>Problemas de inseguridad en tu barrio</c:v>
                </c:pt>
                <c:pt idx="15">
                  <c:v>Recursos de la universidad poco actualizados</c:v>
                </c:pt>
                <c:pt idx="16">
                  <c:v>Problemas en la relación con compañeros</c:v>
                </c:pt>
                <c:pt idx="17">
                  <c:v>Experiencias de discriminación en Duoc UC</c:v>
                </c:pt>
                <c:pt idx="18">
                  <c:v>Futuro laboral</c:v>
                </c:pt>
                <c:pt idx="19">
                  <c:v>Problemas en la relación con profesores</c:v>
                </c:pt>
                <c:pt idx="20">
                  <c:v>Aislamiento</c:v>
                </c:pt>
                <c:pt idx="21">
                  <c:v>Crisis climática y desastres naturales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0.036036036036036036</c:v>
                </c:pt>
                <c:pt idx="1">
                  <c:v>0.04954954954954955</c:v>
                </c:pt>
                <c:pt idx="2">
                  <c:v>0.07807807807807808</c:v>
                </c:pt>
                <c:pt idx="3">
                  <c:v>0.07207207207207207</c:v>
                </c:pt>
                <c:pt idx="4">
                  <c:v>0.11261261261261261</c:v>
                </c:pt>
                <c:pt idx="5">
                  <c:v>0.0945945945945946</c:v>
                </c:pt>
                <c:pt idx="6">
                  <c:v>0.12762762762762764</c:v>
                </c:pt>
                <c:pt idx="7">
                  <c:v>0.16666666666666666</c:v>
                </c:pt>
                <c:pt idx="8">
                  <c:v>0.14714714714714713</c:v>
                </c:pt>
                <c:pt idx="9">
                  <c:v>0.1111111111111111</c:v>
                </c:pt>
                <c:pt idx="10">
                  <c:v>0.15765765765765766</c:v>
                </c:pt>
                <c:pt idx="11">
                  <c:v>0.17417417417417416</c:v>
                </c:pt>
                <c:pt idx="12">
                  <c:v>0.23873873873873874</c:v>
                </c:pt>
                <c:pt idx="13">
                  <c:v>0.25375375375375375</c:v>
                </c:pt>
                <c:pt idx="14">
                  <c:v>0.2852852852852853</c:v>
                </c:pt>
                <c:pt idx="15">
                  <c:v>0.34234234234234234</c:v>
                </c:pt>
                <c:pt idx="16">
                  <c:v>0.25375375375375375</c:v>
                </c:pt>
                <c:pt idx="17">
                  <c:v>0.3738738738738739</c:v>
                </c:pt>
                <c:pt idx="18">
                  <c:v>0.44594594594594594</c:v>
                </c:pt>
                <c:pt idx="19">
                  <c:v>0.33933933933933935</c:v>
                </c:pt>
                <c:pt idx="20">
                  <c:v>0.42042042042042044</c:v>
                </c:pt>
                <c:pt idx="21">
                  <c:v>0.43093093093093093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1F0-4F67-B5F6-64488193F49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429858015"/>
        <c:axId val="1429862591"/>
      </c:barChart>
      <c:catAx>
        <c:axId val="1429858015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3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defRPr>
            </a:pPr>
            <a:endParaRPr lang="es-CL"/>
          </a:p>
        </c:txPr>
        <c:crossAx val="1429862591"/>
        <c:crosses val="autoZero"/>
        <c:auto val="1"/>
        <c:lblAlgn val="ctr"/>
        <c:lblOffset val="100"/>
        <c:noMultiLvlLbl val="0"/>
      </c:catAx>
      <c:valAx>
        <c:axId val="1429862591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42985801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Diurno</c:v>
                </c:pt>
              </c:strCache>
            </c:strRef>
          </c:tx>
          <c:spPr>
            <a:solidFill>
              <a:srgbClr val="00223A"/>
            </a:solidFill>
            <a:ln>
              <a:solidFill>
                <a:srgbClr val="00223A"/>
              </a:solidFill>
            </a:ln>
            <a:effectLst/>
          </c:spPr>
          <c:invertIfNegative val="0"/>
          <c:dLbls>
            <c:numFmt formatCode="0%" sourceLinked="0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Problemas en relación sentimental</c:v>
                </c:pt>
                <c:pt idx="1">
                  <c:v>Dificultades de transporte y desplazamiento</c:v>
                </c:pt>
                <c:pt idx="2">
                  <c:v>Dificultad para compatibilizar trabajo y estudios</c:v>
                </c:pt>
                <c:pt idx="3">
                  <c:v>Espacios de clase no adecuados en Duoc UC</c:v>
                </c:pt>
                <c:pt idx="4">
                  <c:v>Panorama político y social del país</c:v>
                </c:pt>
                <c:pt idx="5">
                  <c:v>Situación económica compleja</c:v>
                </c:pt>
                <c:pt idx="6">
                  <c:v>Problemas de salud personales</c:v>
                </c:pt>
                <c:pt idx="7">
                  <c:v>Problemas de autoestima</c:v>
                </c:pt>
                <c:pt idx="8">
                  <c:v>Problemas de inseguridad al entrar y salir de la sede (delincuencia)</c:v>
                </c:pt>
                <c:pt idx="9">
                  <c:v>Problemas en relaciones familiares</c:v>
                </c:pt>
                <c:pt idx="10">
                  <c:v>Panorama político internacional o cambios en el mundo</c:v>
                </c:pt>
                <c:pt idx="11">
                  <c:v>Duelos/pérdidas</c:v>
                </c:pt>
                <c:pt idx="12">
                  <c:v>Carga académica exigente</c:v>
                </c:pt>
                <c:pt idx="13">
                  <c:v>Problemas de salud de un ser querido</c:v>
                </c:pt>
                <c:pt idx="14">
                  <c:v>Problemas de inseguridad en tu barrio</c:v>
                </c:pt>
                <c:pt idx="15">
                  <c:v>Recursos de la universidad poco actualizados</c:v>
                </c:pt>
                <c:pt idx="16">
                  <c:v>Problemas en la relación con compañeros</c:v>
                </c:pt>
                <c:pt idx="17">
                  <c:v>Experiencias de discriminación en Duoc UC</c:v>
                </c:pt>
                <c:pt idx="18">
                  <c:v>Problemas en la relación con profesores</c:v>
                </c:pt>
                <c:pt idx="19">
                  <c:v>Futuro laboral</c:v>
                </c:pt>
                <c:pt idx="20">
                  <c:v>Crisis climática y desastres naturales</c:v>
                </c:pt>
                <c:pt idx="21">
                  <c:v>Aislamiento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0.04132231404958678</c:v>
                </c:pt>
                <c:pt idx="1">
                  <c:v>0.04132231404958678</c:v>
                </c:pt>
                <c:pt idx="2">
                  <c:v>0.06198347107438017</c:v>
                </c:pt>
                <c:pt idx="3">
                  <c:v>0.06776859504132231</c:v>
                </c:pt>
                <c:pt idx="4">
                  <c:v>0.12644628099173555</c:v>
                </c:pt>
                <c:pt idx="5">
                  <c:v>0.12975206611570247</c:v>
                </c:pt>
                <c:pt idx="6">
                  <c:v>0.1578512396694215</c:v>
                </c:pt>
                <c:pt idx="7">
                  <c:v>0.15867768595041323</c:v>
                </c:pt>
                <c:pt idx="8">
                  <c:v>0.16033057851239668</c:v>
                </c:pt>
                <c:pt idx="9">
                  <c:v>0.17355371900826447</c:v>
                </c:pt>
                <c:pt idx="10">
                  <c:v>0.19008264462809918</c:v>
                </c:pt>
                <c:pt idx="11">
                  <c:v>0.19917355371900827</c:v>
                </c:pt>
                <c:pt idx="12">
                  <c:v>0.23471074380165288</c:v>
                </c:pt>
                <c:pt idx="13">
                  <c:v>0.2636363636363636</c:v>
                </c:pt>
                <c:pt idx="14">
                  <c:v>0.26694214876033057</c:v>
                </c:pt>
                <c:pt idx="15">
                  <c:v>0.33801652892561984</c:v>
                </c:pt>
                <c:pt idx="16">
                  <c:v>0.3487603305785124</c:v>
                </c:pt>
                <c:pt idx="17">
                  <c:v>0.43140495867768597</c:v>
                </c:pt>
                <c:pt idx="18">
                  <c:v>0.4446280991735537</c:v>
                </c:pt>
                <c:pt idx="19">
                  <c:v>0.46033057851239667</c:v>
                </c:pt>
                <c:pt idx="20">
                  <c:v>0.4834710743801653</c:v>
                </c:pt>
                <c:pt idx="21">
                  <c:v>0.5016528925619834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1F0-4F67-B5F6-64488193F49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Vespertino</c:v>
                </c:pt>
              </c:strCache>
            </c:strRef>
          </c:tx>
          <c:spPr>
            <a:solidFill>
              <a:srgbClr val="F8961E"/>
            </a:solidFill>
            <a:ln>
              <a:solidFill>
                <a:srgbClr val="F8961E"/>
              </a:solidFill>
            </a:ln>
            <a:effectLst/>
          </c:spPr>
          <c:invertIfNegative val="0"/>
          <c:dLbls>
            <c:numFmt formatCode="0%" sourceLinked="0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Sheet1!$A$2:$A$23</c:f>
              <c:strCache>
                <c:ptCount val="22"/>
                <c:pt idx="0">
                  <c:v>Problemas en relación sentimental</c:v>
                </c:pt>
                <c:pt idx="1">
                  <c:v>Dificultades de transporte y desplazamiento</c:v>
                </c:pt>
                <c:pt idx="2">
                  <c:v>Dificultad para compatibilizar trabajo y estudios</c:v>
                </c:pt>
                <c:pt idx="3">
                  <c:v>Espacios de clase no adecuados en Duoc UC</c:v>
                </c:pt>
                <c:pt idx="4">
                  <c:v>Panorama político y social del país</c:v>
                </c:pt>
                <c:pt idx="5">
                  <c:v>Situación económica compleja</c:v>
                </c:pt>
                <c:pt idx="6">
                  <c:v>Problemas de salud personales</c:v>
                </c:pt>
                <c:pt idx="7">
                  <c:v>Problemas de autoestima</c:v>
                </c:pt>
                <c:pt idx="8">
                  <c:v>Problemas de inseguridad al entrar y salir de la sede (delincuencia)</c:v>
                </c:pt>
                <c:pt idx="9">
                  <c:v>Problemas en relaciones familiares</c:v>
                </c:pt>
                <c:pt idx="10">
                  <c:v>Panorama político internacional o cambios en el mundo</c:v>
                </c:pt>
                <c:pt idx="11">
                  <c:v>Duelos/pérdidas</c:v>
                </c:pt>
                <c:pt idx="12">
                  <c:v>Carga académica exigente</c:v>
                </c:pt>
                <c:pt idx="13">
                  <c:v>Problemas de salud de un ser querido</c:v>
                </c:pt>
                <c:pt idx="14">
                  <c:v>Problemas de inseguridad en tu barrio</c:v>
                </c:pt>
                <c:pt idx="15">
                  <c:v>Recursos de la universidad poco actualizados</c:v>
                </c:pt>
                <c:pt idx="16">
                  <c:v>Problemas en la relación con compañeros</c:v>
                </c:pt>
                <c:pt idx="17">
                  <c:v>Experiencias de discriminación en Duoc UC</c:v>
                </c:pt>
                <c:pt idx="18">
                  <c:v>Problemas en la relación con profesores</c:v>
                </c:pt>
                <c:pt idx="19">
                  <c:v>Futuro laboral</c:v>
                </c:pt>
                <c:pt idx="20">
                  <c:v>Crisis climática y desastres naturales</c:v>
                </c:pt>
                <c:pt idx="21">
                  <c:v>Aislamiento</c:v>
                </c:pt>
              </c:strCache>
            </c: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0.07171314741035857</c:v>
                </c:pt>
                <c:pt idx="1">
                  <c:v>0.03187250996015936</c:v>
                </c:pt>
                <c:pt idx="2">
                  <c:v>0.10358565737051793</c:v>
                </c:pt>
                <c:pt idx="3">
                  <c:v>0.07171314741035857</c:v>
                </c:pt>
                <c:pt idx="4">
                  <c:v>0.11553784860557768</c:v>
                </c:pt>
                <c:pt idx="5">
                  <c:v>0.11553784860557768</c:v>
                </c:pt>
                <c:pt idx="6">
                  <c:v>0.20318725099601595</c:v>
                </c:pt>
                <c:pt idx="7">
                  <c:v>0.11952191235059761</c:v>
                </c:pt>
                <c:pt idx="8">
                  <c:v>0.12749003984063745</c:v>
                </c:pt>
                <c:pt idx="9">
                  <c:v>0.16334661354581673</c:v>
                </c:pt>
                <c:pt idx="10">
                  <c:v>0.18725099601593626</c:v>
                </c:pt>
                <c:pt idx="11">
                  <c:v>0.2151394422310757</c:v>
                </c:pt>
                <c:pt idx="12">
                  <c:v>0.2749003984063745</c:v>
                </c:pt>
                <c:pt idx="13">
                  <c:v>0.2948207171314741</c:v>
                </c:pt>
                <c:pt idx="14">
                  <c:v>0.41832669322709165</c:v>
                </c:pt>
                <c:pt idx="15">
                  <c:v>0.3784860557768924</c:v>
                </c:pt>
                <c:pt idx="16">
                  <c:v>0.3705179282868526</c:v>
                </c:pt>
                <c:pt idx="17">
                  <c:v>0.41434262948207173</c:v>
                </c:pt>
                <c:pt idx="18">
                  <c:v>0.40239043824701193</c:v>
                </c:pt>
                <c:pt idx="19">
                  <c:v>0.4940239043824701</c:v>
                </c:pt>
                <c:pt idx="20">
                  <c:v>0.5657370517928287</c:v>
                </c:pt>
                <c:pt idx="21">
                  <c:v>0.4302788844621514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1F0-4F67-B5F6-64488193F49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429858015"/>
        <c:axId val="1429862591"/>
      </c:barChart>
      <c:catAx>
        <c:axId val="1429858015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3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defRPr>
            </a:pPr>
            <a:endParaRPr lang="es-CL"/>
          </a:p>
        </c:txPr>
        <c:crossAx val="1429862591"/>
        <c:crosses val="autoZero"/>
        <c:auto val="1"/>
        <c:lblAlgn val="ctr"/>
        <c:lblOffset val="100"/>
        <c:noMultiLvlLbl val="0"/>
      </c:catAx>
      <c:valAx>
        <c:axId val="1429862591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42985801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¿Cuáles de las siguientes razones explican que la carga académica </a:t>
            </a:r>
          </a:p>
          <a:p>
            <a:pPr>
              <a:defRPr sz="1600">
                <a:latin typeface="Calibri Light" panose="020F0302020204030204" pitchFamily="34" charset="0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te resulte exigente?</a:t>
            </a:r>
            <a:endParaRPr 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Porcentaje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Mi trabajo me quita más tiempo del que desearía</c:v>
                </c:pt>
                <c:pt idx="1">
                  <c:v>Tengo muchas responsabilidades en el hogar</c:v>
                </c:pt>
                <c:pt idx="2">
                  <c:v>Tengo dificultades para entender la materia</c:v>
                </c:pt>
                <c:pt idx="3">
                  <c:v>Tengo dificultades para concentrarme</c:v>
                </c:pt>
                <c:pt idx="4">
                  <c:v>Me faltan hábitos de estudio</c:v>
                </c:pt>
                <c:pt idx="5">
                  <c:v>Otro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0.29338842975206614</c:v>
                </c:pt>
                <c:pt idx="1">
                  <c:v>0.39669421487603307</c:v>
                </c:pt>
                <c:pt idx="2">
                  <c:v>0.48760330578512395</c:v>
                </c:pt>
                <c:pt idx="3">
                  <c:v>0.6115702479338843</c:v>
                </c:pt>
                <c:pt idx="4">
                  <c:v>0.4297520661157025</c:v>
                </c:pt>
                <c:pt idx="5">
                  <c:v>0.19008264462809918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043-4A2B-87BC-A89F99D0E1C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s-ES" sz="1400" dirty="0">
                <a:latin typeface="Calibri Light" panose="020F0302020204030204" pitchFamily="34" charset="0"/>
                <a:cs typeface="Calibri Light" panose="020F0302020204030204" pitchFamily="34" charset="0"/>
              </a:rPr>
              <a:t>Inicio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L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Porcentaje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Mi trabajo me quita más tiempo del que desearía</c:v>
                </c:pt>
                <c:pt idx="1">
                  <c:v>Tengo muchas responsabilidades en el hogar</c:v>
                </c:pt>
                <c:pt idx="2">
                  <c:v>Tengo dificultades para entender la materia</c:v>
                </c:pt>
                <c:pt idx="3">
                  <c:v>Tengo dificultades para concentrarme</c:v>
                </c:pt>
                <c:pt idx="4">
                  <c:v>Me faltan hábitos de estudio</c:v>
                </c:pt>
                <c:pt idx="5">
                  <c:v>Otro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0.25663716814159293</c:v>
                </c:pt>
                <c:pt idx="1">
                  <c:v>0.37168141592920356</c:v>
                </c:pt>
                <c:pt idx="2">
                  <c:v>0.504424778761062</c:v>
                </c:pt>
                <c:pt idx="3">
                  <c:v>0.6106194690265486</c:v>
                </c:pt>
                <c:pt idx="4">
                  <c:v>0.40707964601769914</c:v>
                </c:pt>
                <c:pt idx="5">
                  <c:v>0.168141592920354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043-4A2B-87BC-A89F99D0E1C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s-ES" sz="1400" dirty="0">
                <a:latin typeface="Calibri Light" panose="020F0302020204030204" pitchFamily="34" charset="0"/>
                <a:cs typeface="Calibri Light" panose="020F0302020204030204" pitchFamily="34" charset="0"/>
              </a:rPr>
              <a:t>Continuidad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L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Porcentaje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Mi trabajo me quita más tiempo del que desearía</c:v>
                </c:pt>
                <c:pt idx="1">
                  <c:v>Tengo muchas responsabilidades en el hogar</c:v>
                </c:pt>
                <c:pt idx="2">
                  <c:v>Tengo dificultades para entender la materia</c:v>
                </c:pt>
                <c:pt idx="3">
                  <c:v>Tengo dificultades para concentrarme</c:v>
                </c:pt>
                <c:pt idx="4">
                  <c:v>Me faltan hábitos de estudio</c:v>
                </c:pt>
                <c:pt idx="5">
                  <c:v>Otro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0.328125</c:v>
                </c:pt>
                <c:pt idx="1">
                  <c:v>0.4140625</c:v>
                </c:pt>
                <c:pt idx="2">
                  <c:v>0.4765625</c:v>
                </c:pt>
                <c:pt idx="3">
                  <c:v>0.6171875</c:v>
                </c:pt>
                <c:pt idx="4">
                  <c:v>0.453125</c:v>
                </c:pt>
                <c:pt idx="5">
                  <c:v>0.2109375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D40-452D-8DBF-0EDCDE95018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s-ES" sz="1400" dirty="0">
                <a:latin typeface="Calibri Light" panose="020F0302020204030204" pitchFamily="34" charset="0"/>
                <a:cs typeface="Calibri Light" panose="020F0302020204030204" pitchFamily="34" charset="0"/>
              </a:rPr>
              <a:t>Admisión especial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L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Porcentaje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Mi trabajo me quita más tiempo del que desearía</c:v>
                </c:pt>
                <c:pt idx="1">
                  <c:v>Tengo muchas responsabilidades en el hogar</c:v>
                </c:pt>
                <c:pt idx="2">
                  <c:v>Tengo dificultades para entender la materia</c:v>
                </c:pt>
                <c:pt idx="3">
                  <c:v>Tengo dificultades para concentrarme</c:v>
                </c:pt>
                <c:pt idx="4">
                  <c:v>Me faltan hábitos de estudio</c:v>
                </c:pt>
                <c:pt idx="5">
                  <c:v>Otro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</c:v>
                </c:pt>
                <c:pt idx="1">
                  <c:v>1.0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BEF-4BB7-B3BC-20A7CF2829FC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¿Cuáles de las siguientes situaciones presentan un problema que te afecte actualmente? (marca todas las que apliquen)</a:t>
            </a:r>
            <a:endParaRPr 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Global</c:v>
                </c:pt>
              </c:strCache>
            </c:strRef>
          </c:tx>
          <c:spPr>
            <a:solidFill>
              <a:srgbClr val="00223A">
                <a:alpha val="74902"/>
              </a:srgb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A2FF-4693-967B-B77EDD100121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A2FF-4693-967B-B77EDD100121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A2FF-4693-967B-B77EDD100121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A2FF-4693-967B-B77EDD100121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A2FF-4693-967B-B77EDD100121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A2FF-4693-967B-B77EDD100121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D-A2FF-4693-967B-B77EDD100121}"/>
              </c:ext>
            </c:extLst>
          </c:dPt>
          <c:dPt>
            <c:idx val="14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0E04-4ABE-8F43-686DF35E780A}"/>
              </c:ext>
            </c:extLst>
          </c:dPt>
          <c:dPt>
            <c:idx val="15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0E04-4ABE-8F43-686DF35E780A}"/>
              </c:ext>
            </c:extLst>
          </c:dPt>
          <c:dPt>
            <c:idx val="16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0E04-4ABE-8F43-686DF35E780A}"/>
              </c:ext>
            </c:extLst>
          </c:dPt>
          <c:dPt>
            <c:idx val="17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0E04-4ABE-8F43-686DF35E780A}"/>
              </c:ext>
            </c:extLst>
          </c:dPt>
          <c:dPt>
            <c:idx val="18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0E04-4ABE-8F43-686DF35E780A}"/>
              </c:ext>
            </c:extLst>
          </c:dPt>
          <c:dPt>
            <c:idx val="19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0E04-4ABE-8F43-686DF35E780A}"/>
              </c:ext>
            </c:extLst>
          </c:dPt>
          <c:dPt>
            <c:idx val="20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0-0E04-4ABE-8F43-686DF35E780A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5"/>
                <c:pt idx="0">
                  <c:v>Problemas de salud personales</c:v>
                </c:pt>
                <c:pt idx="1">
                  <c:v>Futuro laboral</c:v>
                </c:pt>
                <c:pt idx="2">
                  <c:v>Problemas en relaciones familiares</c:v>
                </c:pt>
                <c:pt idx="3">
                  <c:v>Situación económica compleja</c:v>
                </c:pt>
                <c:pt idx="4">
                  <c:v>Problemas de autoestima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0.28</c:v>
                </c:pt>
                <c:pt idx="1">
                  <c:v>0.31</c:v>
                </c:pt>
                <c:pt idx="2">
                  <c:v>0.34</c:v>
                </c:pt>
                <c:pt idx="3">
                  <c:v>0.4</c:v>
                </c:pt>
                <c:pt idx="4">
                  <c:v>0.51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DD8-49D9-A8E1-E35B4B82450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¿Cuáles de las siguientes situaciones presentan un problema que te afecte actualmente? (marca todas las que apliquen)</a:t>
            </a:r>
            <a:endParaRPr 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00223A">
                <a:alpha val="74902"/>
              </a:srgb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0-9E4C-4D5F-ACDA-088BECD01F37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9E4C-4D5F-ACDA-088BECD01F37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2-9E4C-4D5F-ACDA-088BECD01F37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9E4C-4D5F-ACDA-088BECD01F37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4-9E4C-4D5F-ACDA-088BECD01F37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9E4C-4D5F-ACDA-088BECD01F37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6-9E4C-4D5F-ACDA-088BECD01F37}"/>
              </c:ext>
            </c:extLst>
          </c:dPt>
          <c:dPt>
            <c:idx val="14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9E4C-4D5F-ACDA-088BECD01F37}"/>
              </c:ext>
            </c:extLst>
          </c:dPt>
          <c:dPt>
            <c:idx val="15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A-9E4C-4D5F-ACDA-088BECD01F37}"/>
              </c:ext>
            </c:extLst>
          </c:dPt>
          <c:dPt>
            <c:idx val="16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C-9E4C-4D5F-ACDA-088BECD01F37}"/>
              </c:ext>
            </c:extLst>
          </c:dPt>
          <c:dPt>
            <c:idx val="17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E-9E4C-4D5F-ACDA-088BECD01F37}"/>
              </c:ext>
            </c:extLst>
          </c:dPt>
          <c:dPt>
            <c:idx val="18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0-9E4C-4D5F-ACDA-088BECD01F37}"/>
              </c:ext>
            </c:extLst>
          </c:dPt>
          <c:dPt>
            <c:idx val="19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2-9E4C-4D5F-ACDA-088BECD01F37}"/>
              </c:ext>
            </c:extLst>
          </c:dPt>
          <c:dPt>
            <c:idx val="20"/>
            <c:invertIfNegative val="0"/>
            <c:bubble3D val="0"/>
            <c:spPr>
              <a:solidFill>
                <a:srgbClr val="00223A">
                  <a:alpha val="74902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4-9E4C-4D5F-ACDA-088BECD01F37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5"/>
                <c:pt idx="0">
                  <c:v>Experiencias de discriminación en Duoc UC</c:v>
                </c:pt>
                <c:pt idx="1">
                  <c:v>Problemas en la relación con profesores</c:v>
                </c:pt>
                <c:pt idx="2">
                  <c:v>Futuro laboral</c:v>
                </c:pt>
                <c:pt idx="3">
                  <c:v>Aislamiento</c:v>
                </c:pt>
                <c:pt idx="4">
                  <c:v>Crisis climática y desastres naturales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0.42847364818617384</c:v>
                </c:pt>
                <c:pt idx="1">
                  <c:v>0.43737166324435317</c:v>
                </c:pt>
                <c:pt idx="2">
                  <c:v>0.46611909650924027</c:v>
                </c:pt>
                <c:pt idx="3">
                  <c:v>0.4893908281998631</c:v>
                </c:pt>
                <c:pt idx="4">
                  <c:v>0.4976043805612594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5-9E4C-4D5F-ACDA-088BECD01F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57181850106691046"/>
          <c:y val="9.5580515670835253E-2"/>
          <c:w val="0.37281891897910296"/>
          <c:h val="0.64956384325428818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Porcentaje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rgbClr val="595959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Sheet1!$A$2:$A$8</c:f>
              <c:strCache>
                <c:ptCount val="7"/>
                <c:pt idx="0">
                  <c:v>Me rindo a intentar ocuparme del problema.</c:v>
                </c:pt>
                <c:pt idx="1">
                  <c:v>Me digo a mí mismo 'esto no es real'.</c:v>
                </c:pt>
                <c:pt idx="2">
                  <c:v>Intento verlo con otros ojos, para hacer que parezca más positivo.</c:v>
                </c:pt>
                <c:pt idx="3">
                  <c:v>Me hago cargo de solucionar el problema tomando acciones concretas.</c:v>
                </c:pt>
                <c:pt idx="4">
                  <c:v>Busco distraerme haciendo otras cosas agradables para mí.</c:v>
                </c:pt>
                <c:pt idx="5">
                  <c:v>Aprendo a vivir con ello.</c:v>
                </c:pt>
                <c:pt idx="6">
                  <c:v>Pienso detenidamente escenarios de cómo solucionarlo.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0.07865168539325842</c:v>
                </c:pt>
                <c:pt idx="1">
                  <c:v>0.11867977528089887</c:v>
                </c:pt>
                <c:pt idx="2">
                  <c:v>0.2127808988764045</c:v>
                </c:pt>
                <c:pt idx="3">
                  <c:v>0.22612359550561797</c:v>
                </c:pt>
                <c:pt idx="4">
                  <c:v>0.23665730337078653</c:v>
                </c:pt>
                <c:pt idx="5">
                  <c:v>0.25491573033707865</c:v>
                </c:pt>
                <c:pt idx="6">
                  <c:v>0.2598314606741573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8F6-44F1-89B2-5684F8CF25BD}"/>
            </c:ext>
          </c:extLst>
        </c:ser>
        <c:dLbls>
          <c:dLblPos val="inBase"/>
          <c:showLegendKey val="0"/>
          <c:showVal val="1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1"/>
        <c:axPos val="b"/>
        <c:numFmt formatCode="0%" sourceLinked="0"/>
        <c:majorTickMark val="none"/>
        <c:minorTickMark val="none"/>
        <c:tickLblPos val="nextTo"/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40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¿Con qué frecuencia dejas para después tareas que te parecen desagradables?</a:t>
            </a:r>
            <a:endParaRPr lang="es-CL" sz="1400" dirty="0">
              <a:effectLst/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Porcentaje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D17E-466C-8388-09CC44045D52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Sheet1!$A$2:$A$2</c:f>
              <c:strCache>
                <c:ptCount val="1"/>
                <c:pt idx="0">
                  <c:v>A menudo + Muy a menudo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0.37104708362614197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17E-466C-8388-09CC44045D5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1"/>
        <c:axPos val="b"/>
        <c:numFmt formatCode="0%" sourceLinked="0"/>
        <c:majorTickMark val="none"/>
        <c:minorTickMark val="none"/>
        <c:tickLblPos val="nextTo"/>
        <c:crossAx val="1168497199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Porcentaje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A1A-4574-B37D-5284DC7AFB9E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AA-4E0A-B33A-396F6E997B3A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31EA-4A29-A563-86A5ECC015FB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Sheet1!$A$2:$A$4</c:f>
              <c:strCache>
                <c:ptCount val="3"/>
                <c:pt idx="0">
                  <c:v>No</c:v>
                </c:pt>
                <c:pt idx="1">
                  <c:v>Sí</c:v>
                </c:pt>
                <c:pt idx="2">
                  <c:v>Prefiero no responder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0.7225170583775588</c:v>
                </c:pt>
                <c:pt idx="1">
                  <c:v>0.2175890826383624</c:v>
                </c:pt>
                <c:pt idx="2">
                  <c:v>0.05989385898407885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AA-4E0A-B33A-396F6E997B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Porcentaje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227-4A4E-A6E9-33F796530005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227-4A4E-A6E9-33F796530005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72ED-4C51-BC82-04D8E4E3896D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72ED-4C51-BC82-04D8E4E3896D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Sí, en tratamiento médico regular</c:v>
                </c:pt>
                <c:pt idx="1">
                  <c:v>No, pero la condición está diagnosticada</c:v>
                </c:pt>
                <c:pt idx="2">
                  <c:v>No estoy seguro/a</c:v>
                </c:pt>
                <c:pt idx="3">
                  <c:v>Prefiero no responder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0.578397212543554</c:v>
                </c:pt>
                <c:pt idx="1">
                  <c:v>0.32752613240418116</c:v>
                </c:pt>
                <c:pt idx="2">
                  <c:v>0.06620209059233449</c:v>
                </c:pt>
                <c:pt idx="3">
                  <c:v>0.027874564459930314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227-4A4E-A6E9-33F7965300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30483811310153025"/>
          <c:y val="5.6494222131277895E-2"/>
          <c:w val="0.63097649562716396"/>
          <c:h val="0.88355128463190347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F8961E"/>
            </a:solidFill>
            <a:ln>
              <a:solidFill>
                <a:srgbClr val="F8961E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Trastornos de personalidad</c:v>
                </c:pt>
                <c:pt idx="1">
                  <c:v>Uso problemático marihuana</c:v>
                </c:pt>
                <c:pt idx="2">
                  <c:v>Uso problemático alcohol</c:v>
                </c:pt>
                <c:pt idx="3">
                  <c:v>Depresión</c:v>
                </c:pt>
                <c:pt idx="4">
                  <c:v>Ansiedad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0.03</c:v>
                </c:pt>
                <c:pt idx="1">
                  <c:v>0.13</c:v>
                </c:pt>
                <c:pt idx="2">
                  <c:v>0.16</c:v>
                </c:pt>
                <c:pt idx="3">
                  <c:v>0.35</c:v>
                </c:pt>
                <c:pt idx="4">
                  <c:v>0.42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DD-44CE-B899-3B6D1EAEE35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139916351"/>
        <c:axId val="1139913855"/>
      </c:barChart>
      <c:catAx>
        <c:axId val="1139916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3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defRPr>
            </a:pPr>
            <a:endParaRPr lang="es-CL"/>
          </a:p>
        </c:txPr>
        <c:crossAx val="1139913855"/>
        <c:crosses val="autoZero"/>
        <c:auto val="1"/>
        <c:lblAlgn val="ctr"/>
        <c:lblOffset val="100"/>
        <c:noMultiLvlLbl val="0"/>
      </c:catAx>
      <c:valAx>
        <c:axId val="1139913855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13991635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Malestar clínico en depresión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Sheet1!$A$2:$A$8</c:f>
              <c:strCache>
                <c:ptCount val="7"/>
                <c:pt idx="0">
                  <c:v>Femenino</c:v>
                </c:pt>
                <c:pt idx="1">
                  <c:v>Masculino</c:v>
                </c:pt>
                <c:pt idx="2">
                  <c:v>Vespertino</c:v>
                </c:pt>
                <c:pt idx="3">
                  <c:v>Diurno</c:v>
                </c:pt>
                <c:pt idx="4">
                  <c:v>Continuidad</c:v>
                </c:pt>
                <c:pt idx="5">
                  <c:v>Inicio</c:v>
                </c:pt>
                <c:pt idx="6">
                  <c:v>Admisión Especial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0.47678018575851394</c:v>
                </c:pt>
                <c:pt idx="1">
                  <c:v>0.37359900373599003</c:v>
                </c:pt>
                <c:pt idx="2">
                  <c:v>0.4084967320261438</c:v>
                </c:pt>
                <c:pt idx="3">
                  <c:v>0.4345156889495225</c:v>
                </c:pt>
                <c:pt idx="4">
                  <c:v>0.44018583042973286</c:v>
                </c:pt>
                <c:pt idx="5">
                  <c:v>0.4216335540838852</c:v>
                </c:pt>
                <c:pt idx="6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42E-4E42-93C1-E1F389557D2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0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Malestar clínico en depresión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Sheet1!$A$2:$A$19</c:f>
              <c:strCache>
                <c:ptCount val="18"/>
                <c:pt idx="0">
                  <c:v>PUENTE ALTO</c:v>
                </c:pt>
                <c:pt idx="1">
                  <c:v>SAN CARLOS DE APOQUINDO</c:v>
                </c:pt>
                <c:pt idx="2">
                  <c:v>CAMPUS VILLARRICA</c:v>
                </c:pt>
                <c:pt idx="3">
                  <c:v>VALPARAÍSO</c:v>
                </c:pt>
                <c:pt idx="4">
                  <c:v>ANTONIO VARAS</c:v>
                </c:pt>
                <c:pt idx="5">
                  <c:v>SAN JOAQUÍN</c:v>
                </c:pt>
                <c:pt idx="6">
                  <c:v>SAN BERNARDO</c:v>
                </c:pt>
                <c:pt idx="7">
                  <c:v>MELIPILLA</c:v>
                </c:pt>
                <c:pt idx="8">
                  <c:v>PLAZA NORTE</c:v>
                </c:pt>
                <c:pt idx="9">
                  <c:v>PLAZA VESPUCIO</c:v>
                </c:pt>
                <c:pt idx="10">
                  <c:v>PLAZA OESTE</c:v>
                </c:pt>
                <c:pt idx="11">
                  <c:v>VIÑA DEL MAR</c:v>
                </c:pt>
                <c:pt idx="12">
                  <c:v>PADRE ALONSO DE OVALLE</c:v>
                </c:pt>
                <c:pt idx="13">
                  <c:v>ALAMEDA</c:v>
                </c:pt>
                <c:pt idx="14">
                  <c:v>MAIPÚ</c:v>
                </c:pt>
                <c:pt idx="15">
                  <c:v>CONCEPCIÓN</c:v>
                </c:pt>
                <c:pt idx="16">
                  <c:v>CAMPUS NACIMIENTO</c:v>
                </c:pt>
                <c:pt idx="17">
                  <c:v>PUERTO MONTT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0.42780748663101603</c:v>
                </c:pt>
                <c:pt idx="1">
                  <c:v>0.5114503816793893</c:v>
                </c:pt>
                <c:pt idx="2">
                  <c:v>0.3148148148148148</c:v>
                </c:pt>
                <c:pt idx="3">
                  <c:v>0.36585365853658536</c:v>
                </c:pt>
                <c:pt idx="4">
                  <c:v>0.4368932038834951</c:v>
                </c:pt>
                <c:pt idx="5">
                  <c:v>0.6</c:v>
                </c:pt>
                <c:pt idx="6">
                  <c:v>0.2727272727272727</c:v>
                </c:pt>
                <c:pt idx="7">
                  <c:v>0.5230769230769231</c:v>
                </c:pt>
                <c:pt idx="8">
                  <c:v>0.3829787234042553</c:v>
                </c:pt>
                <c:pt idx="9">
                  <c:v>0.46774193548387094</c:v>
                </c:pt>
                <c:pt idx="10">
                  <c:v>0.5217391304347826</c:v>
                </c:pt>
                <c:pt idx="11">
                  <c:v>0.4473684210526316</c:v>
                </c:pt>
                <c:pt idx="12">
                  <c:v>0.48484848484848486</c:v>
                </c:pt>
                <c:pt idx="13">
                  <c:v>0.41530054644808745</c:v>
                </c:pt>
                <c:pt idx="14">
                  <c:v>0.4077669902912621</c:v>
                </c:pt>
                <c:pt idx="15">
                  <c:v>0.45263157894736844</c:v>
                </c:pt>
                <c:pt idx="16">
                  <c:v>0.2653061224489796</c:v>
                </c:pt>
                <c:pt idx="17">
                  <c:v>1.0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104-499B-B668-74910BF93ABE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0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Malestar clínico en ansiedad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Sheet1!$A$2:$A$8</c:f>
              <c:strCache>
                <c:ptCount val="7"/>
                <c:pt idx="0">
                  <c:v>Femenino</c:v>
                </c:pt>
                <c:pt idx="1">
                  <c:v>Masculino</c:v>
                </c:pt>
                <c:pt idx="2">
                  <c:v>Vespertino</c:v>
                </c:pt>
                <c:pt idx="3">
                  <c:v>Diurno</c:v>
                </c:pt>
                <c:pt idx="4">
                  <c:v>Continuidad</c:v>
                </c:pt>
                <c:pt idx="5">
                  <c:v>Inicio</c:v>
                </c:pt>
                <c:pt idx="6">
                  <c:v>Admisión Especial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0.38390092879256965</c:v>
                </c:pt>
                <c:pt idx="1">
                  <c:v>0.2640099626400996</c:v>
                </c:pt>
                <c:pt idx="2">
                  <c:v>0.3104575163398693</c:v>
                </c:pt>
                <c:pt idx="3">
                  <c:v>0.33356070941336974</c:v>
                </c:pt>
                <c:pt idx="4">
                  <c:v>0.3356562137049942</c:v>
                </c:pt>
                <c:pt idx="5">
                  <c:v>0.32560706401766004</c:v>
                </c:pt>
                <c:pt idx="6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5B-4254-B72D-39B3489FE63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0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Malestar clínico en ansiedad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Sheet1!$A$2:$A$19</c:f>
              <c:strCache>
                <c:ptCount val="18"/>
                <c:pt idx="0">
                  <c:v>PUENTE ALTO</c:v>
                </c:pt>
                <c:pt idx="1">
                  <c:v>SAN CARLOS DE APOQUINDO</c:v>
                </c:pt>
                <c:pt idx="2">
                  <c:v>CAMPUS VILLARRICA</c:v>
                </c:pt>
                <c:pt idx="3">
                  <c:v>ANTONIO VARAS</c:v>
                </c:pt>
                <c:pt idx="4">
                  <c:v>SAN JOAQUÍN</c:v>
                </c:pt>
                <c:pt idx="5">
                  <c:v>MAIPÚ</c:v>
                </c:pt>
                <c:pt idx="6">
                  <c:v>PLAZA OESTE</c:v>
                </c:pt>
                <c:pt idx="7">
                  <c:v>SAN BERNARDO</c:v>
                </c:pt>
                <c:pt idx="8">
                  <c:v>MELIPILLA</c:v>
                </c:pt>
                <c:pt idx="9">
                  <c:v>PLAZA NORTE</c:v>
                </c:pt>
                <c:pt idx="10">
                  <c:v>VALPARAÍSO</c:v>
                </c:pt>
                <c:pt idx="11">
                  <c:v>PLAZA VESPUCIO</c:v>
                </c:pt>
                <c:pt idx="12">
                  <c:v>VIÑA DEL MAR</c:v>
                </c:pt>
                <c:pt idx="13">
                  <c:v>ALAMEDA</c:v>
                </c:pt>
                <c:pt idx="14">
                  <c:v>PADRE ALONSO DE OVALLE</c:v>
                </c:pt>
                <c:pt idx="15">
                  <c:v>CONCEPCIÓN</c:v>
                </c:pt>
                <c:pt idx="16">
                  <c:v>CAMPUS NACIMIENTO</c:v>
                </c:pt>
                <c:pt idx="17">
                  <c:v>PUERTO MONTT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0.3582887700534759</c:v>
                </c:pt>
                <c:pt idx="1">
                  <c:v>0.42748091603053434</c:v>
                </c:pt>
                <c:pt idx="2">
                  <c:v>0.19444444444444445</c:v>
                </c:pt>
                <c:pt idx="3">
                  <c:v>0.36893203883495146</c:v>
                </c:pt>
                <c:pt idx="4">
                  <c:v>0.3333333333333333</c:v>
                </c:pt>
                <c:pt idx="5">
                  <c:v>0.22330097087378642</c:v>
                </c:pt>
                <c:pt idx="6">
                  <c:v>0.45652173913043476</c:v>
                </c:pt>
                <c:pt idx="7">
                  <c:v>0.30303030303030304</c:v>
                </c:pt>
                <c:pt idx="8">
                  <c:v>0.46153846153846156</c:v>
                </c:pt>
                <c:pt idx="9">
                  <c:v>0.23404255319148937</c:v>
                </c:pt>
                <c:pt idx="10">
                  <c:v>0.2926829268292683</c:v>
                </c:pt>
                <c:pt idx="11">
                  <c:v>0.3548387096774194</c:v>
                </c:pt>
                <c:pt idx="12">
                  <c:v>0.3157894736842105</c:v>
                </c:pt>
                <c:pt idx="13">
                  <c:v>0.2786885245901639</c:v>
                </c:pt>
                <c:pt idx="14">
                  <c:v>0.36363636363636365</c:v>
                </c:pt>
                <c:pt idx="15">
                  <c:v>0.30526315789473685</c:v>
                </c:pt>
                <c:pt idx="16">
                  <c:v>0.20408163265306123</c:v>
                </c:pt>
                <c:pt idx="17">
                  <c:v>0.3333333333333333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60B-407A-8C20-EE2251E211EC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0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Malestar clínico en personalidad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Sheet1!$A$2:$A$8</c:f>
              <c:strCache>
                <c:ptCount val="7"/>
                <c:pt idx="0">
                  <c:v>Femenino</c:v>
                </c:pt>
                <c:pt idx="1">
                  <c:v>Masculino</c:v>
                </c:pt>
                <c:pt idx="2">
                  <c:v>Vespertino</c:v>
                </c:pt>
                <c:pt idx="3">
                  <c:v>Diurno</c:v>
                </c:pt>
                <c:pt idx="4">
                  <c:v>Continuidad</c:v>
                </c:pt>
                <c:pt idx="5">
                  <c:v>Inicio</c:v>
                </c:pt>
                <c:pt idx="6">
                  <c:v>Admisión Especial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0.0784313725490196</c:v>
                </c:pt>
                <c:pt idx="1">
                  <c:v>0.043586550435865505</c:v>
                </c:pt>
                <c:pt idx="2">
                  <c:v>0.042483660130718956</c:v>
                </c:pt>
                <c:pt idx="3">
                  <c:v>0.06684856753069578</c:v>
                </c:pt>
                <c:pt idx="4">
                  <c:v>0.059233449477351915</c:v>
                </c:pt>
                <c:pt idx="5">
                  <c:v>0.06622516556291391</c:v>
                </c:pt>
                <c:pt idx="6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729-44D9-9B13-349A9059488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0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Malestar clínico en personalidad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Sheet1!$A$2:$A$19</c:f>
              <c:strCache>
                <c:ptCount val="18"/>
                <c:pt idx="0">
                  <c:v>PUENTE ALTO</c:v>
                </c:pt>
                <c:pt idx="1">
                  <c:v>CAMPUS VILLARRICA</c:v>
                </c:pt>
                <c:pt idx="2">
                  <c:v>VALPARAÍSO</c:v>
                </c:pt>
                <c:pt idx="3">
                  <c:v>SAN BERNARDO</c:v>
                </c:pt>
                <c:pt idx="4">
                  <c:v>ANTONIO VARAS</c:v>
                </c:pt>
                <c:pt idx="5">
                  <c:v>PLAZA VESPUCIO</c:v>
                </c:pt>
                <c:pt idx="6">
                  <c:v>VIÑA DEL MAR</c:v>
                </c:pt>
                <c:pt idx="7">
                  <c:v>ALAMEDA</c:v>
                </c:pt>
                <c:pt idx="8">
                  <c:v>PLAZA OESTE</c:v>
                </c:pt>
                <c:pt idx="9">
                  <c:v>PADRE ALONSO DE OVALLE</c:v>
                </c:pt>
                <c:pt idx="10">
                  <c:v>CONCEPCIÓN</c:v>
                </c:pt>
                <c:pt idx="11">
                  <c:v>CAMPUS NACIMIENTO</c:v>
                </c:pt>
                <c:pt idx="12">
                  <c:v>MELIPILLA</c:v>
                </c:pt>
                <c:pt idx="13">
                  <c:v>MAIPÚ</c:v>
                </c:pt>
                <c:pt idx="14">
                  <c:v>SAN CARLOS DE APOQUINDO</c:v>
                </c:pt>
                <c:pt idx="15">
                  <c:v>SAN JOAQUÍN</c:v>
                </c:pt>
                <c:pt idx="16">
                  <c:v>PLAZA NORTE</c:v>
                </c:pt>
                <c:pt idx="17">
                  <c:v>PUERTO MONTT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0.08288770053475936</c:v>
                </c:pt>
                <c:pt idx="1">
                  <c:v>0.037037037037037035</c:v>
                </c:pt>
                <c:pt idx="2">
                  <c:v>0.07317073170731707</c:v>
                </c:pt>
                <c:pt idx="3">
                  <c:v>0.030303030303030304</c:v>
                </c:pt>
                <c:pt idx="4">
                  <c:v>0.06796116504854369</c:v>
                </c:pt>
                <c:pt idx="5">
                  <c:v>0.03225806451612903</c:v>
                </c:pt>
                <c:pt idx="6">
                  <c:v>0.05263157894736842</c:v>
                </c:pt>
                <c:pt idx="7">
                  <c:v>0.04371584699453552</c:v>
                </c:pt>
                <c:pt idx="8">
                  <c:v>0.06521739130434782</c:v>
                </c:pt>
                <c:pt idx="9">
                  <c:v>0.07575757575757576</c:v>
                </c:pt>
                <c:pt idx="10">
                  <c:v>0.042105263157894736</c:v>
                </c:pt>
                <c:pt idx="11">
                  <c:v>0.08163265306122448</c:v>
                </c:pt>
                <c:pt idx="12">
                  <c:v>0.03076923076923077</c:v>
                </c:pt>
                <c:pt idx="13">
                  <c:v>0.038834951456310676</c:v>
                </c:pt>
                <c:pt idx="14">
                  <c:v>0.08396946564885496</c:v>
                </c:pt>
                <c:pt idx="15">
                  <c:v>0.06666666666666667</c:v>
                </c:pt>
                <c:pt idx="16">
                  <c:v>0.0851063829787234</c:v>
                </c:pt>
                <c:pt idx="17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88-49D4-A093-841FE5087A2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0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Malestar clínico en marihuana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Sheet1!$A$2:$A$8</c:f>
              <c:strCache>
                <c:ptCount val="7"/>
                <c:pt idx="0">
                  <c:v>Femenino</c:v>
                </c:pt>
                <c:pt idx="1">
                  <c:v>Masculino</c:v>
                </c:pt>
                <c:pt idx="2">
                  <c:v>Diurno</c:v>
                </c:pt>
                <c:pt idx="3">
                  <c:v>Vespertino</c:v>
                </c:pt>
                <c:pt idx="4">
                  <c:v>Inicio</c:v>
                </c:pt>
                <c:pt idx="5">
                  <c:v>Continuidad</c:v>
                </c:pt>
                <c:pt idx="6">
                  <c:v>Admisión Especial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0.09907120743034056</c:v>
                </c:pt>
                <c:pt idx="1">
                  <c:v>0.149439601494396</c:v>
                </c:pt>
                <c:pt idx="2">
                  <c:v>0.12141882673942701</c:v>
                </c:pt>
                <c:pt idx="3">
                  <c:v>0.12418300653594772</c:v>
                </c:pt>
                <c:pt idx="4">
                  <c:v>0.10264900662251655</c:v>
                </c:pt>
                <c:pt idx="5">
                  <c:v>0.14169570267131243</c:v>
                </c:pt>
                <c:pt idx="6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1B5-4001-94E5-151DB6C206E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0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Malestar clínico en marihuana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Sheet1!$A$2:$A$18</c:f>
              <c:strCache>
                <c:ptCount val="17"/>
                <c:pt idx="0">
                  <c:v>SAN CARLOS DE APOQUINDO</c:v>
                </c:pt>
                <c:pt idx="1">
                  <c:v>PUENTE ALTO</c:v>
                </c:pt>
                <c:pt idx="2">
                  <c:v>ALAMEDA</c:v>
                </c:pt>
                <c:pt idx="3">
                  <c:v>VIÑA DEL MAR</c:v>
                </c:pt>
                <c:pt idx="4">
                  <c:v>VALPARAÍSO</c:v>
                </c:pt>
                <c:pt idx="5">
                  <c:v>CAMPUS VILLARRICA</c:v>
                </c:pt>
                <c:pt idx="6">
                  <c:v>CONCEPCIÓN</c:v>
                </c:pt>
                <c:pt idx="7">
                  <c:v>CAMPUS NACIMIENTO</c:v>
                </c:pt>
                <c:pt idx="8">
                  <c:v>PLAZA NORTE</c:v>
                </c:pt>
                <c:pt idx="9">
                  <c:v>MAIPÚ</c:v>
                </c:pt>
                <c:pt idx="10">
                  <c:v>PADRE ALONSO DE OVALLE</c:v>
                </c:pt>
                <c:pt idx="11">
                  <c:v>PLAZA VESPUCIO</c:v>
                </c:pt>
                <c:pt idx="12">
                  <c:v>MELIPILLA</c:v>
                </c:pt>
                <c:pt idx="13">
                  <c:v>ANTONIO VARAS</c:v>
                </c:pt>
                <c:pt idx="14">
                  <c:v>PLAZA OESTE</c:v>
                </c:pt>
                <c:pt idx="15">
                  <c:v>SAN JOAQUÍN</c:v>
                </c:pt>
                <c:pt idx="16">
                  <c:v>SAN BERNARDO</c:v>
                </c:pt>
              </c:strCache>
            </c: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0.1297709923664122</c:v>
                </c:pt>
                <c:pt idx="1">
                  <c:v>0.12566844919786097</c:v>
                </c:pt>
                <c:pt idx="2">
                  <c:v>0.12021857923497267</c:v>
                </c:pt>
                <c:pt idx="3">
                  <c:v>0.10526315789473684</c:v>
                </c:pt>
                <c:pt idx="4">
                  <c:v>0.10975609756097561</c:v>
                </c:pt>
                <c:pt idx="5">
                  <c:v>0.06481481481481481</c:v>
                </c:pt>
                <c:pt idx="6">
                  <c:v>0.17894736842105263</c:v>
                </c:pt>
                <c:pt idx="7">
                  <c:v>0.061224489795918366</c:v>
                </c:pt>
                <c:pt idx="8">
                  <c:v>0.0425531914893617</c:v>
                </c:pt>
                <c:pt idx="9">
                  <c:v>0.06796116504854369</c:v>
                </c:pt>
                <c:pt idx="10">
                  <c:v>0.12121212121212122</c:v>
                </c:pt>
                <c:pt idx="11">
                  <c:v>0.08064516129032258</c:v>
                </c:pt>
                <c:pt idx="12">
                  <c:v>0.16923076923076924</c:v>
                </c:pt>
                <c:pt idx="13">
                  <c:v>0.21359223300970873</c:v>
                </c:pt>
                <c:pt idx="14">
                  <c:v>0.08695652173913043</c:v>
                </c:pt>
                <c:pt idx="15">
                  <c:v>0.0</c:v>
                </c:pt>
                <c:pt idx="16">
                  <c:v>0.030303030303030304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6E5-46F0-BF73-8BC6E06B4D2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0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Malestar clínico en alcohol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Sheet1!$A$2:$A$8</c:f>
              <c:strCache>
                <c:ptCount val="7"/>
                <c:pt idx="0">
                  <c:v>Femenino</c:v>
                </c:pt>
                <c:pt idx="1">
                  <c:v>Masculino</c:v>
                </c:pt>
                <c:pt idx="2">
                  <c:v>Diurno</c:v>
                </c:pt>
                <c:pt idx="3">
                  <c:v>Vespertino</c:v>
                </c:pt>
                <c:pt idx="4">
                  <c:v>Inicio</c:v>
                </c:pt>
                <c:pt idx="5">
                  <c:v>Continuidad</c:v>
                </c:pt>
                <c:pt idx="6">
                  <c:v>Admisión Especial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0.03199174406604747</c:v>
                </c:pt>
                <c:pt idx="1">
                  <c:v>0.08343711083437111</c:v>
                </c:pt>
                <c:pt idx="2">
                  <c:v>0.054570259208731244</c:v>
                </c:pt>
                <c:pt idx="3">
                  <c:v>0.058823529411764705</c:v>
                </c:pt>
                <c:pt idx="4">
                  <c:v>0.04194260485651214</c:v>
                </c:pt>
                <c:pt idx="5">
                  <c:v>0.06968641114982578</c:v>
                </c:pt>
                <c:pt idx="6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14-4C52-9F64-81B4188B4AC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0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Malestar clínico en alcohol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Sheet1!$A$2:$A$19</c:f>
              <c:strCache>
                <c:ptCount val="18"/>
                <c:pt idx="0">
                  <c:v>MELIPILLA</c:v>
                </c:pt>
                <c:pt idx="1">
                  <c:v>VALPARAÍSO</c:v>
                </c:pt>
                <c:pt idx="2">
                  <c:v>ANTONIO VARAS</c:v>
                </c:pt>
                <c:pt idx="3">
                  <c:v>SAN CARLOS DE APOQUINDO</c:v>
                </c:pt>
                <c:pt idx="4">
                  <c:v>PUENTE ALTO</c:v>
                </c:pt>
                <c:pt idx="5">
                  <c:v>SAN BERNARDO</c:v>
                </c:pt>
                <c:pt idx="6">
                  <c:v>ALAMEDA</c:v>
                </c:pt>
                <c:pt idx="7">
                  <c:v>VIÑA DEL MAR</c:v>
                </c:pt>
                <c:pt idx="8">
                  <c:v>SAN JOAQUÍN</c:v>
                </c:pt>
                <c:pt idx="9">
                  <c:v>PLAZA OESTE</c:v>
                </c:pt>
                <c:pt idx="10">
                  <c:v>MAIPÚ</c:v>
                </c:pt>
                <c:pt idx="11">
                  <c:v>CAMPUS VILLARRICA</c:v>
                </c:pt>
                <c:pt idx="12">
                  <c:v>PADRE ALONSO DE OVALLE</c:v>
                </c:pt>
                <c:pt idx="13">
                  <c:v>PLAZA VESPUCIO</c:v>
                </c:pt>
                <c:pt idx="14">
                  <c:v>CONCEPCIÓN</c:v>
                </c:pt>
                <c:pt idx="15">
                  <c:v>CAMPUS NACIMIENTO</c:v>
                </c:pt>
                <c:pt idx="16">
                  <c:v>PLAZA NORTE</c:v>
                </c:pt>
                <c:pt idx="17">
                  <c:v>PUERTO MONTT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0.1076923076923077</c:v>
                </c:pt>
                <c:pt idx="1">
                  <c:v>0.012195121951219513</c:v>
                </c:pt>
                <c:pt idx="2">
                  <c:v>0.1262135922330097</c:v>
                </c:pt>
                <c:pt idx="3">
                  <c:v>0.061068702290076333</c:v>
                </c:pt>
                <c:pt idx="4">
                  <c:v>0.05614973262032086</c:v>
                </c:pt>
                <c:pt idx="5">
                  <c:v>0.06060606060606061</c:v>
                </c:pt>
                <c:pt idx="6">
                  <c:v>0.03825136612021858</c:v>
                </c:pt>
                <c:pt idx="7">
                  <c:v>0.02631578947368421</c:v>
                </c:pt>
                <c:pt idx="8">
                  <c:v>0.0</c:v>
                </c:pt>
                <c:pt idx="9">
                  <c:v>0.0</c:v>
                </c:pt>
                <c:pt idx="10">
                  <c:v>0.019417475728155338</c:v>
                </c:pt>
                <c:pt idx="11">
                  <c:v>0.009259259259259259</c:v>
                </c:pt>
                <c:pt idx="12">
                  <c:v>0.05303030303030303</c:v>
                </c:pt>
                <c:pt idx="13">
                  <c:v>0.03225806451612903</c:v>
                </c:pt>
                <c:pt idx="14">
                  <c:v>0.09473684210526316</c:v>
                </c:pt>
                <c:pt idx="15">
                  <c:v>0.02040816326530612</c:v>
                </c:pt>
                <c:pt idx="16">
                  <c:v>0.06382978723404255</c:v>
                </c:pt>
                <c:pt idx="17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692-484C-B378-D643C89DCC2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0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Malestar clínico en suicidio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Sheet1!$A$2:$A$19</c:f>
              <c:strCache>
                <c:ptCount val="18"/>
                <c:pt idx="0">
                  <c:v>PUENTE ALTO</c:v>
                </c:pt>
                <c:pt idx="1">
                  <c:v>VALPARAÍSO</c:v>
                </c:pt>
                <c:pt idx="2">
                  <c:v>SAN CARLOS DE APOQUINDO</c:v>
                </c:pt>
                <c:pt idx="3">
                  <c:v>MELIPILLA</c:v>
                </c:pt>
                <c:pt idx="4">
                  <c:v>ANTONIO VARAS</c:v>
                </c:pt>
                <c:pt idx="5">
                  <c:v>MAIPÚ</c:v>
                </c:pt>
                <c:pt idx="6">
                  <c:v>ALAMEDA</c:v>
                </c:pt>
                <c:pt idx="7">
                  <c:v>PLAZA OESTE</c:v>
                </c:pt>
                <c:pt idx="8">
                  <c:v>CAMPUS NACIMIENTO</c:v>
                </c:pt>
                <c:pt idx="9">
                  <c:v>PLAZA NORTE</c:v>
                </c:pt>
                <c:pt idx="10">
                  <c:v>CAMPUS VILLARRICA</c:v>
                </c:pt>
                <c:pt idx="11">
                  <c:v>PLAZA VESPUCIO</c:v>
                </c:pt>
                <c:pt idx="12">
                  <c:v>VIÑA DEL MAR</c:v>
                </c:pt>
                <c:pt idx="13">
                  <c:v>SAN BERNARDO</c:v>
                </c:pt>
                <c:pt idx="14">
                  <c:v>PADRE ALONSO DE OVALLE</c:v>
                </c:pt>
                <c:pt idx="15">
                  <c:v>CONCEPCIÓN</c:v>
                </c:pt>
                <c:pt idx="16">
                  <c:v>SAN JOAQUÍN</c:v>
                </c:pt>
                <c:pt idx="17">
                  <c:v>PUERTO MONTT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0.35561497326203206</c:v>
                </c:pt>
                <c:pt idx="1">
                  <c:v>0.3170731707317073</c:v>
                </c:pt>
                <c:pt idx="2">
                  <c:v>0.42748091603053434</c:v>
                </c:pt>
                <c:pt idx="3">
                  <c:v>0.3384615384615385</c:v>
                </c:pt>
                <c:pt idx="4">
                  <c:v>0.3446601941747573</c:v>
                </c:pt>
                <c:pt idx="5">
                  <c:v>0.2912621359223301</c:v>
                </c:pt>
                <c:pt idx="6">
                  <c:v>0.3825136612021858</c:v>
                </c:pt>
                <c:pt idx="7">
                  <c:v>0.43478260869565216</c:v>
                </c:pt>
                <c:pt idx="8">
                  <c:v>0.2857142857142857</c:v>
                </c:pt>
                <c:pt idx="9">
                  <c:v>0.3829787234042553</c:v>
                </c:pt>
                <c:pt idx="10">
                  <c:v>0.25</c:v>
                </c:pt>
                <c:pt idx="11">
                  <c:v>0.3387096774193548</c:v>
                </c:pt>
                <c:pt idx="12">
                  <c:v>0.34210526315789475</c:v>
                </c:pt>
                <c:pt idx="13">
                  <c:v>0.30303030303030304</c:v>
                </c:pt>
                <c:pt idx="14">
                  <c:v>0.3181818181818182</c:v>
                </c:pt>
                <c:pt idx="15">
                  <c:v>0.29473684210526313</c:v>
                </c:pt>
                <c:pt idx="16">
                  <c:v>0.2</c:v>
                </c:pt>
                <c:pt idx="17">
                  <c:v>0.3333333333333333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07F-4244-A036-D829C6D5000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  <c:max val="0.70000000000000007"/>
        </c:scaling>
        <c:delete val="1"/>
        <c:axPos val="l"/>
        <c:numFmt formatCode="0%" sourceLinked="0"/>
        <c:majorTickMark val="out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Malestar clínico en suicidio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Sheet1!$A$2:$A$8</c:f>
              <c:strCache>
                <c:ptCount val="7"/>
                <c:pt idx="0">
                  <c:v>Femenino</c:v>
                </c:pt>
                <c:pt idx="1">
                  <c:v>Masculino</c:v>
                </c:pt>
                <c:pt idx="2">
                  <c:v>Diurno</c:v>
                </c:pt>
                <c:pt idx="3">
                  <c:v>Vespertino</c:v>
                </c:pt>
                <c:pt idx="4">
                  <c:v>Inicio</c:v>
                </c:pt>
                <c:pt idx="5">
                  <c:v>Continuidad</c:v>
                </c:pt>
                <c:pt idx="6">
                  <c:v>Admisión Especial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0.3591331269349845</c:v>
                </c:pt>
                <c:pt idx="1">
                  <c:v>0.32004981320049813</c:v>
                </c:pt>
                <c:pt idx="2">
                  <c:v>0.3451568894952251</c:v>
                </c:pt>
                <c:pt idx="3">
                  <c:v>0.3235294117647059</c:v>
                </c:pt>
                <c:pt idx="4">
                  <c:v>0.35320088300220753</c:v>
                </c:pt>
                <c:pt idx="5">
                  <c:v>0.3310104529616725</c:v>
                </c:pt>
                <c:pt idx="6">
                  <c:v>0.0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3B5-48D2-A2DA-018007FC96D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0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Porcentaje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DCA8-4450-9627-F44119B2DC5A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DCA8-4450-9627-F44119B2DC5A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No</c:v>
                </c:pt>
                <c:pt idx="1">
                  <c:v>Sí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0.54</c:v>
                </c:pt>
                <c:pt idx="1">
                  <c:v>0.46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CA8-4450-9627-F44119B2DC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Porcentaje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7B94-407E-A310-D2856421DBE6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7B94-407E-A310-D2856421DBE6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No</c:v>
                </c:pt>
                <c:pt idx="1">
                  <c:v>Sí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0.32</c:v>
                </c:pt>
                <c:pt idx="1">
                  <c:v>0.68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B94-407E-A310-D2856421DB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Porcentaje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DCA8-4450-9627-F44119B2DC5A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DCA8-4450-9627-F44119B2DC5A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No</c:v>
                </c:pt>
                <c:pt idx="1">
                  <c:v>Sí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CA8-4450-9627-F44119B2DC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</c:v>
                </c:pt>
              </c:strCache>
            </c:strRef>
          </c:tx>
          <c:spPr>
            <a:solidFill>
              <a:srgbClr val="F8961E"/>
            </a:solidFill>
            <a:ln>
              <a:solidFill>
                <a:srgbClr val="F8961E"/>
              </a:solidFill>
            </a:ln>
            <a:effectLst/>
          </c:spPr>
          <c:invertIfNegative val="0"/>
          <c:dLbls>
            <c:numFmt formatCode="0%" sourceLinked="0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Ideación pasiva (i3)</c:v>
                </c:pt>
                <c:pt idx="1">
                  <c:v>Ideación pasiva (i4)</c:v>
                </c:pt>
                <c:pt idx="2">
                  <c:v>Ideación pasiva (i5)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0.29</c:v>
                </c:pt>
                <c:pt idx="1">
                  <c:v>0.34</c:v>
                </c:pt>
                <c:pt idx="2">
                  <c:v>0.68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45-4FA5-B234-845B1F50F89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Sí</c:v>
                </c:pt>
              </c:strCache>
            </c:strRef>
          </c:tx>
          <c:spPr>
            <a:solidFill>
              <a:srgbClr val="00223A"/>
            </a:solidFill>
            <a:ln>
              <a:solidFill>
                <a:srgbClr val="00223A"/>
              </a:solidFill>
            </a:ln>
            <a:effectLst/>
          </c:spPr>
          <c:invertIfNegative val="0"/>
          <c:dLbls>
            <c:numFmt formatCode="0%" sourceLinked="0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Ideación pasiva (i3)</c:v>
                </c:pt>
                <c:pt idx="1">
                  <c:v>Ideación pasiva (i4)</c:v>
                </c:pt>
                <c:pt idx="2">
                  <c:v>Ideación pasiva (i5)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0.71</c:v>
                </c:pt>
                <c:pt idx="1">
                  <c:v>0.66</c:v>
                </c:pt>
                <c:pt idx="2">
                  <c:v>0.32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45-4FA5-B234-845B1F50F89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770564719"/>
        <c:axId val="1771217823"/>
      </c:barChart>
      <c:catAx>
        <c:axId val="177056471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defRPr>
            </a:pPr>
            <a:endParaRPr lang="es-CL"/>
          </a:p>
        </c:txPr>
        <c:crossAx val="1771217823"/>
        <c:crosses val="autoZero"/>
        <c:auto val="1"/>
        <c:lblAlgn val="ctr"/>
        <c:lblOffset val="100"/>
        <c:noMultiLvlLbl val="0"/>
      </c:catAx>
      <c:valAx>
        <c:axId val="1771217823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77056471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Porcentaje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0AC-47D9-80D0-B6E43C107386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0AC-47D9-80D0-B6E43C107386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F0AC-47D9-80D0-B6E43C107386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No</c:v>
                </c:pt>
                <c:pt idx="1">
                  <c:v>Sí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</c:v>
                </c:pt>
                <c:pt idx="1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F0AC-47D9-80D0-B6E43C10738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Porcentaje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A1A-4574-B37D-5284DC7AFB9E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AA-4E0A-B33A-396F6E997B3A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No</c:v>
                </c:pt>
                <c:pt idx="1">
                  <c:v>Sí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0.57</c:v>
                </c:pt>
                <c:pt idx="1">
                  <c:v>0.43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AA-4E0A-B33A-396F6E997B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Porcentaje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227-4A4E-A6E9-33F796530005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227-4A4E-A6E9-33F796530005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No</c:v>
                </c:pt>
                <c:pt idx="1">
                  <c:v>Sí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0.55</c:v>
                </c:pt>
                <c:pt idx="1">
                  <c:v>0.45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227-4A4E-A6E9-33F7965300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Porcentaje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A1A-4574-B37D-5284DC7AFB9E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AA-4E0A-B33A-396F6E997B3A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Dentro de Duoc UC</c:v>
                </c:pt>
                <c:pt idx="1">
                  <c:v>Fuera de Duoc UC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0.2</c:v>
                </c:pt>
                <c:pt idx="1">
                  <c:v>0.8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AA-4E0A-B33A-396F6E997B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Porcentaje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227-4A4E-A6E9-33F796530005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227-4A4E-A6E9-33F796530005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6421-4616-B0FC-616CC97A5B66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Sheet1!$A$2:$A$4</c:f>
              <c:strCache>
                <c:ptCount val="3"/>
                <c:pt idx="0">
                  <c:v>Ambos</c:v>
                </c:pt>
                <c:pt idx="1">
                  <c:v>Médico/psiquiátrico</c:v>
                </c:pt>
                <c:pt idx="2">
                  <c:v>Psicólogico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0.19</c:v>
                </c:pt>
                <c:pt idx="2">
                  <c:v>0.51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227-4A4E-A6E9-33F7965300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</a:rPr>
              <a:t>Si crees haber necesitado apoyo o tratamiento en salud mental pero no has accedido a él, ¿qué tan importantes fueron las siguientes razones para no buscar ayuda?* (Importante + Muy importante)</a:t>
            </a:r>
            <a:endParaRPr lang="es-CL" sz="16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rgbClr val="56565A"/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Importante + Muy importante</c:v>
                </c:pt>
              </c:strCache>
            </c:strRef>
          </c:tx>
          <c:spPr>
            <a:solidFill>
              <a:srgbClr val="CC0000"/>
            </a:solidFill>
            <a:ln>
              <a:noFill/>
            </a:ln>
            <a:effectLst/>
          </c:spPr>
          <c:invertIfNegative val="0"/>
          <c:dPt>
            <c:idx val="5"/>
            <c:invertIfNegative val="0"/>
            <c:bubble3D val="0"/>
            <c:spPr>
              <a:solidFill>
                <a:srgbClr val="74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AFB-4D12-9DE7-7B8A9AF6AB9A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A-FAFB-4D12-9DE7-7B8A9AF6AB9A}"/>
              </c:ext>
            </c:extLst>
          </c:dPt>
          <c:dPt>
            <c:idx val="7"/>
            <c:invertIfNegative val="0"/>
            <c:bubble3D val="0"/>
            <c:spPr>
              <a:solidFill>
                <a:srgbClr val="74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AFB-4D12-9DE7-7B8A9AF6AB9A}"/>
              </c:ext>
            </c:extLst>
          </c:dPt>
          <c:dPt>
            <c:idx val="8"/>
            <c:invertIfNegative val="0"/>
            <c:bubble3D val="0"/>
            <c:spPr>
              <a:solidFill>
                <a:srgbClr val="74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87FF-46DC-AA1D-CCCF1222E391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Hoja1!$A$2:$A$10</c:f>
              <c:strCache>
                <c:ptCount val="9"/>
                <c:pt idx="0">
                  <c:v>Preferiste hablarlo con amigos o parientes. </c:v>
                </c:pt>
                <c:pt idx="1">
                  <c:v>No estabas seguro de que los tratamientos disponibles fueran muy eficaces. </c:v>
                </c:pt>
                <c:pt idx="2">
                  <c:v>Te preocupaba que la gente te tratara diferente si supiera que estabas en tratamiento.</c:v>
                </c:pt>
                <c:pt idx="3">
                  <c:v>Te daba demasiada vergüenza. </c:v>
                </c:pt>
                <c:pt idx="4">
                  <c:v>Temías que pudiese perjudicar tu carrera académica. </c:v>
                </c:pt>
                <c:pt idx="5">
                  <c:v>Tuviste problemas de tiempo, desplazamientos o de horario. </c:v>
                </c:pt>
                <c:pt idx="6">
                  <c:v>Querías afrontar el problema por tu cuenta. </c:v>
                </c:pt>
                <c:pt idx="7">
                  <c:v>No estabas seguro de a dónde ir o a quién consultar. </c:v>
                </c:pt>
                <c:pt idx="8">
                  <c:v>Costaba demasiado dinero. </c:v>
                </c:pt>
              </c:strCache>
            </c:strRef>
          </c:cat>
          <c:val>
            <c:numRef>
              <c:f>Hoja1!$B$2:$B$10</c:f>
              <c:numCache>
                <c:formatCode>0%</c:formatCode>
                <c:ptCount val="9"/>
                <c:pt idx="0">
                  <c:v>0.24247635425623387</c:v>
                </c:pt>
                <c:pt idx="1">
                  <c:v>0.27687016337059328</c:v>
                </c:pt>
                <c:pt idx="2">
                  <c:v>0.2936371453138435</c:v>
                </c:pt>
                <c:pt idx="3">
                  <c:v>0.34307824591573521</c:v>
                </c:pt>
                <c:pt idx="4">
                  <c:v>0.39036973344797932</c:v>
                </c:pt>
                <c:pt idx="5">
                  <c:v>0.48753224419604474</c:v>
                </c:pt>
                <c:pt idx="6">
                  <c:v>0.5438521066208083</c:v>
                </c:pt>
                <c:pt idx="7">
                  <c:v>0.64531384350816845</c:v>
                </c:pt>
                <c:pt idx="8">
                  <c:v>0.71066208082545146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6C7-43BC-9E2C-F8AC3E6A7284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348736048"/>
        <c:axId val="171021936"/>
      </c:barChart>
      <c:catAx>
        <c:axId val="34873604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t" anchorCtr="1"/>
          <a:lstStyle/>
          <a:p>
            <a:pPr>
              <a:defRPr sz="12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71021936"/>
        <c:crosses val="autoZero"/>
        <c:auto val="1"/>
        <c:lblAlgn val="l"/>
        <c:lblOffset val="100"/>
        <c:noMultiLvlLbl val="0"/>
      </c:catAx>
      <c:valAx>
        <c:axId val="171021936"/>
        <c:scaling>
          <c:orientation val="minMax"/>
          <c:max val="1"/>
        </c:scaling>
        <c:delete val="1"/>
        <c:axPos val="b"/>
        <c:numFmt formatCode="0%" sourceLinked="1"/>
        <c:majorTickMark val="none"/>
        <c:minorTickMark val="none"/>
        <c:tickLblPos val="nextTo"/>
        <c:crossAx val="3487360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solidFill>
            <a:srgbClr val="56565A"/>
          </a:solidFill>
          <a:latin typeface="Calibri Light" panose="020F0302020204030204" pitchFamily="34" charset="0"/>
          <a:cs typeface="Calibri Light" panose="020F0302020204030204" pitchFamily="34" charset="0"/>
        </a:defRPr>
      </a:pPr>
      <a:endParaRPr lang="es-CL"/>
    </a:p>
  </c:txPr>
  <c:externalData r:id="rId3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Hoja1!$B$2:$B$21</c:f>
              <c:strCache>
                <c:ptCount val="20"/>
                <c:pt idx="0">
                  <c:v>Alameda</c:v>
                </c:pt>
                <c:pt idx="1">
                  <c:v>Antonio Varas</c:v>
                </c:pt>
                <c:pt idx="2">
                  <c:v>Campus Arauco</c:v>
                </c:pt>
                <c:pt idx="3">
                  <c:v>Campus Villarrica</c:v>
                </c:pt>
                <c:pt idx="4">
                  <c:v>Comunicaciones</c:v>
                </c:pt>
                <c:pt idx="5">
                  <c:v>Concepción</c:v>
                </c:pt>
                <c:pt idx="6">
                  <c:v>Maipú</c:v>
                </c:pt>
                <c:pt idx="7">
                  <c:v>Melipilla</c:v>
                </c:pt>
                <c:pt idx="8">
                  <c:v>Online</c:v>
                </c:pt>
                <c:pt idx="9">
                  <c:v>Padre Alonso De Ovalle</c:v>
                </c:pt>
                <c:pt idx="10">
                  <c:v>Plaza Norte</c:v>
                </c:pt>
                <c:pt idx="11">
                  <c:v>Plaza Oeste</c:v>
                </c:pt>
                <c:pt idx="12">
                  <c:v>Plaza Vespucio</c:v>
                </c:pt>
                <c:pt idx="13">
                  <c:v>Puente Alto</c:v>
                </c:pt>
                <c:pt idx="14">
                  <c:v>Puerto Montt</c:v>
                </c:pt>
                <c:pt idx="15">
                  <c:v>San Bernardo</c:v>
                </c:pt>
                <c:pt idx="16">
                  <c:v>San Carlos De Apoquindo</c:v>
                </c:pt>
                <c:pt idx="17">
                  <c:v>San Joaquín</c:v>
                </c:pt>
                <c:pt idx="18">
                  <c:v>Valparaíso</c:v>
                </c:pt>
                <c:pt idx="19">
                  <c:v>Viña Del Mar</c:v>
                </c:pt>
              </c:strCache>
            </c:strRef>
          </c:cat>
          <c:val>
            <c:numRef>
              <c:f>Hoja1!$C$2:$C$21</c:f>
              <c:numCache>
                <c:formatCode>0.0</c:formatCode>
                <c:ptCount val="20"/>
                <c:pt idx="0">
                  <c:v>6.625</c:v>
                </c:pt>
                <c:pt idx="1">
                  <c:v>6.34375</c:v>
                </c:pt>
                <c:pt idx="2">
                  <c:v>6.875</c:v>
                </c:pt>
                <c:pt idx="3">
                  <c:v>4.625</c:v>
                </c:pt>
                <c:pt idx="4">
                  <c:v>4.5</c:v>
                </c:pt>
                <c:pt idx="5">
                  <c:v>6.875</c:v>
                </c:pt>
                <c:pt idx="6">
                  <c:v>5.0625</c:v>
                </c:pt>
                <c:pt idx="7">
                  <c:v>4.65625</c:v>
                </c:pt>
                <c:pt idx="8">
                  <c:v>5.5</c:v>
                </c:pt>
                <c:pt idx="9">
                  <c:v>6</c:v>
                </c:pt>
                <c:pt idx="10">
                  <c:v>4.15625</c:v>
                </c:pt>
                <c:pt idx="11">
                  <c:v>5.59375</c:v>
                </c:pt>
                <c:pt idx="12">
                  <c:v>6.5625</c:v>
                </c:pt>
                <c:pt idx="13">
                  <c:v>6</c:v>
                </c:pt>
                <c:pt idx="14">
                  <c:v>5.6</c:v>
                </c:pt>
                <c:pt idx="15">
                  <c:v>4.6875</c:v>
                </c:pt>
                <c:pt idx="16">
                  <c:v>4.6875</c:v>
                </c:pt>
                <c:pt idx="17">
                  <c:v>6.0625</c:v>
                </c:pt>
                <c:pt idx="18">
                  <c:v>5.375</c:v>
                </c:pt>
                <c:pt idx="19">
                  <c:v>5.875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7D2-49DB-81BA-194213ECDD4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.0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Hoja1!$B$2:$B$19</c:f>
              <c:strCache>
                <c:ptCount val="18"/>
                <c:pt idx="0">
                  <c:v>Mujer</c:v>
                </c:pt>
                <c:pt idx="1">
                  <c:v>Hombre</c:v>
                </c:pt>
                <c:pt idx="3">
                  <c:v>Diurna</c:v>
                </c:pt>
                <c:pt idx="4">
                  <c:v>Vespertina</c:v>
                </c:pt>
                <c:pt idx="6">
                  <c:v>Inicio</c:v>
                </c:pt>
                <c:pt idx="7">
                  <c:v>Continuidad</c:v>
                </c:pt>
                <c:pt idx="8">
                  <c:v>Admisión especial</c:v>
                </c:pt>
                <c:pt idx="10">
                  <c:v>Administración y Negocios</c:v>
                </c:pt>
                <c:pt idx="11">
                  <c:v>Construcción</c:v>
                </c:pt>
                <c:pt idx="12">
                  <c:v>Diseño</c:v>
                </c:pt>
                <c:pt idx="13">
                  <c:v>Gastronomía</c:v>
                </c:pt>
                <c:pt idx="14">
                  <c:v>Informática y Telecomunicaciones</c:v>
                </c:pt>
                <c:pt idx="15">
                  <c:v>Ingeniería, Medio Ambiente y Recursos Naturales</c:v>
                </c:pt>
                <c:pt idx="16">
                  <c:v>Salud</c:v>
                </c:pt>
                <c:pt idx="17">
                  <c:v>Turismo y Hotelería</c:v>
                </c:pt>
              </c:strCache>
            </c:strRef>
          </c:cat>
          <c:val>
            <c:numRef>
              <c:f>Hoja1!$C$2:$C$19</c:f>
              <c:numCache>
                <c:formatCode>0.0</c:formatCode>
                <c:ptCount val="18"/>
                <c:pt idx="0">
                  <c:v>5.90625</c:v>
                </c:pt>
                <c:pt idx="1">
                  <c:v>5.5</c:v>
                </c:pt>
                <c:pt idx="3">
                  <c:v>5.6875</c:v>
                </c:pt>
                <c:pt idx="4">
                  <c:v>5.5625</c:v>
                </c:pt>
                <c:pt idx="6">
                  <c:v>5.625</c:v>
                </c:pt>
                <c:pt idx="7">
                  <c:v>5.9375</c:v>
                </c:pt>
                <c:pt idx="8">
                  <c:v>5.0625</c:v>
                </c:pt>
                <c:pt idx="10">
                  <c:v>5.96875</c:v>
                </c:pt>
                <c:pt idx="11">
                  <c:v>5.5</c:v>
                </c:pt>
                <c:pt idx="12">
                  <c:v>6</c:v>
                </c:pt>
                <c:pt idx="13">
                  <c:v>5.4375</c:v>
                </c:pt>
                <c:pt idx="14">
                  <c:v>5.53125</c:v>
                </c:pt>
                <c:pt idx="15">
                  <c:v>4.75</c:v>
                </c:pt>
                <c:pt idx="16">
                  <c:v>5.875</c:v>
                </c:pt>
                <c:pt idx="17">
                  <c:v>6.03125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D90-4690-B858-EC10BFB34D6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5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.0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00223A"/>
            </a:solidFill>
            <a:ln>
              <a:solidFill>
                <a:srgbClr val="00223A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Hoja1!$A$3:$A$7</c:f>
              <c:strCache>
                <c:ptCount val="5"/>
                <c:pt idx="0">
                  <c:v>P</c:v>
                </c:pt>
                <c:pt idx="1">
                  <c:v>E</c:v>
                </c:pt>
                <c:pt idx="2">
                  <c:v>R</c:v>
                </c:pt>
                <c:pt idx="3">
                  <c:v>M</c:v>
                </c:pt>
                <c:pt idx="4">
                  <c:v>A</c:v>
                </c:pt>
              </c:strCache>
            </c:strRef>
          </c:cat>
          <c:val>
            <c:numRef>
              <c:f>Hoja1!$B$3:$B$7</c:f>
              <c:numCache>
                <c:formatCode>General</c:formatCode>
                <c:ptCount val="5"/>
                <c:pt idx="0">
                  <c:v>5.7</c:v>
                </c:pt>
                <c:pt idx="1">
                  <c:v>5.3</c:v>
                </c:pt>
                <c:pt idx="2">
                  <c:v>5.7</c:v>
                </c:pt>
                <c:pt idx="3" formatCode="0.00">
                  <c:v>6</c:v>
                </c:pt>
                <c:pt idx="4">
                  <c:v>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C8-4D31-A3EF-70FFE360D91A}"/>
            </c:ext>
          </c:extLst>
        </c:ser>
        <c:ser>
          <c:idx val="1"/>
          <c:order val="1"/>
          <c:tx>
            <c:strRef>
              <c:f>Hoja1!$C$2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ED7D31"/>
            </a:solidFill>
            <a:ln>
              <a:solidFill>
                <a:srgbClr val="ED7D3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Hoja1!$A$3:$A$7</c:f>
              <c:strCache>
                <c:ptCount val="5"/>
                <c:pt idx="0">
                  <c:v>P</c:v>
                </c:pt>
                <c:pt idx="1">
                  <c:v>E</c:v>
                </c:pt>
                <c:pt idx="2">
                  <c:v>R</c:v>
                </c:pt>
                <c:pt idx="3">
                  <c:v>M</c:v>
                </c:pt>
                <c:pt idx="4">
                  <c:v>A</c:v>
                </c:pt>
              </c:strCache>
            </c:strRef>
          </c:cat>
          <c:val>
            <c:numRef>
              <c:f>Hoja1!$C$3:$C$7</c:f>
              <c:numCache>
                <c:formatCode>General</c:formatCode>
                <c:ptCount val="5"/>
                <c:pt idx="0" formatCode="0.0">
                  <c:v>6</c:v>
                </c:pt>
                <c:pt idx="1">
                  <c:v>5.4</c:v>
                </c:pt>
                <c:pt idx="2">
                  <c:v>5.9</c:v>
                </c:pt>
                <c:pt idx="3">
                  <c:v>5.4</c:v>
                </c:pt>
                <c:pt idx="4">
                  <c:v>5.8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1C8-4D31-A3EF-70FFE360D91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32697903"/>
        <c:axId val="932698319"/>
      </c:barChart>
      <c:catAx>
        <c:axId val="9326979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932698319"/>
        <c:crosses val="autoZero"/>
        <c:auto val="1"/>
        <c:lblAlgn val="ctr"/>
        <c:lblOffset val="100"/>
        <c:noMultiLvlLbl val="0"/>
      </c:catAx>
      <c:valAx>
        <c:axId val="932698319"/>
        <c:scaling>
          <c:orientation val="minMax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9326979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41033579762717293"/>
          <c:y val="0.94622929684249979"/>
          <c:w val="0.17932823920496768"/>
          <c:h val="5.377070315750025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00223A"/>
            </a:solidFill>
            <a:ln>
              <a:solidFill>
                <a:srgbClr val="00223A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Hoja1!$A$3:$A$5</c:f>
              <c:strCache>
                <c:ptCount val="3"/>
                <c:pt idx="0">
                  <c:v>N</c:v>
                </c:pt>
                <c:pt idx="1">
                  <c:v>H</c:v>
                </c:pt>
                <c:pt idx="2">
                  <c:v>L</c:v>
                </c:pt>
              </c:strCache>
            </c:strRef>
          </c:cat>
          <c:val>
            <c:numRef>
              <c:f>Hoja1!$B$3:$B$5</c:f>
              <c:numCache>
                <c:formatCode>General</c:formatCode>
                <c:ptCount val="3"/>
                <c:pt idx="0" formatCode="0.0">
                  <c:v>3</c:v>
                </c:pt>
                <c:pt idx="1">
                  <c:v>5.3</c:v>
                </c:pt>
                <c:pt idx="2" formatCode="0.0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1C8-4D31-A3EF-70FFE360D91A}"/>
            </c:ext>
          </c:extLst>
        </c:ser>
        <c:ser>
          <c:idx val="1"/>
          <c:order val="1"/>
          <c:tx>
            <c:strRef>
              <c:f>Hoja1!$C$2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ED7D31"/>
            </a:solidFill>
            <a:ln>
              <a:solidFill>
                <a:srgbClr val="ED7D31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Hoja1!$A$3:$A$5</c:f>
              <c:strCache>
                <c:ptCount val="3"/>
                <c:pt idx="0">
                  <c:v>N</c:v>
                </c:pt>
                <c:pt idx="1">
                  <c:v>H</c:v>
                </c:pt>
                <c:pt idx="2">
                  <c:v>L</c:v>
                </c:pt>
              </c:strCache>
            </c:strRef>
          </c:cat>
          <c:val>
            <c:numRef>
              <c:f>Hoja1!$C$3:$C$5</c:f>
              <c:numCache>
                <c:formatCode>General</c:formatCode>
                <c:ptCount val="3"/>
                <c:pt idx="0" formatCode="0.0">
                  <c:v>2.7</c:v>
                </c:pt>
                <c:pt idx="1">
                  <c:v>5.8</c:v>
                </c:pt>
                <c:pt idx="2">
                  <c:v>2.7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1C8-4D31-A3EF-70FFE360D91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32697903"/>
        <c:axId val="932698319"/>
      </c:barChart>
      <c:catAx>
        <c:axId val="9326979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932698319"/>
        <c:crosses val="autoZero"/>
        <c:auto val="1"/>
        <c:lblAlgn val="ctr"/>
        <c:lblOffset val="100"/>
        <c:noMultiLvlLbl val="0"/>
      </c:catAx>
      <c:valAx>
        <c:axId val="932698319"/>
        <c:scaling>
          <c:orientation val="minMax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" sourceLinked="1"/>
        <c:majorTickMark val="none"/>
        <c:minorTickMark val="none"/>
        <c:tickLblPos val="nextTo"/>
        <c:crossAx val="9326979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41033579762717293"/>
          <c:y val="0.94622929684249979"/>
          <c:w val="0.17932823920496768"/>
          <c:h val="5.377070315750025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</a:rPr>
              <a:t>Durante el último año, ¿cuán satisfecho/a te has sentido con el apoyo que has recibido por parte de…</a:t>
            </a:r>
            <a:endParaRPr lang="es-CL" sz="16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rgbClr val="56565A"/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Muy insatisfecho</c:v>
                </c:pt>
              </c:strCache>
            </c:strRef>
          </c:tx>
          <c:spPr>
            <a:solidFill>
              <a:srgbClr val="E63C3F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Amistades fuera de Duoc UC</c:v>
                </c:pt>
                <c:pt idx="1">
                  <c:v>Amistades dentro de Duoc UC</c:v>
                </c:pt>
                <c:pt idx="2">
                  <c:v>Familia</c:v>
                </c:pt>
                <c:pt idx="3">
                  <c:v>Autoridades de Duoc UC</c:v>
                </c:pt>
                <c:pt idx="4">
                  <c:v>Administrativos/as</c:v>
                </c:pt>
                <c:pt idx="5">
                  <c:v>Profesores/as</c:v>
                </c:pt>
              </c:strCache>
            </c:strRef>
          </c:cat>
          <c:val>
            <c:numRef>
              <c:f>Hoja1!$B$2:$B$7</c:f>
              <c:numCache>
                <c:formatCode>0%</c:formatCode>
                <c:ptCount val="6"/>
                <c:pt idx="0">
                  <c:v>5.6051531246468528E-2</c:v>
                </c:pt>
                <c:pt idx="1">
                  <c:v>5.6051531246468528E-2</c:v>
                </c:pt>
                <c:pt idx="2">
                  <c:v>5.0966210871284889E-2</c:v>
                </c:pt>
                <c:pt idx="3">
                  <c:v>9.0744716917165777E-2</c:v>
                </c:pt>
                <c:pt idx="4">
                  <c:v>6.6900214713526945E-2</c:v>
                </c:pt>
                <c:pt idx="5">
                  <c:v>3.2320036162278222E-2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8BF-4212-9B4D-168CAC2258B7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Insatisfecho</c:v>
                </c:pt>
              </c:strCache>
            </c:strRef>
          </c:tx>
          <c:spPr>
            <a:solidFill>
              <a:srgbClr val="F9414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Amistades fuera de Duoc UC</c:v>
                </c:pt>
                <c:pt idx="1">
                  <c:v>Amistades dentro de Duoc UC</c:v>
                </c:pt>
                <c:pt idx="2">
                  <c:v>Familia</c:v>
                </c:pt>
                <c:pt idx="3">
                  <c:v>Autoridades de Duoc UC</c:v>
                </c:pt>
                <c:pt idx="4">
                  <c:v>Administrativos/as</c:v>
                </c:pt>
                <c:pt idx="5">
                  <c:v>Profesores/as</c:v>
                </c:pt>
              </c:strCache>
            </c:strRef>
          </c:cat>
          <c:val>
            <c:numRef>
              <c:f>Hoja1!$C$2:$C$7</c:f>
              <c:numCache>
                <c:formatCode>0%</c:formatCode>
                <c:ptCount val="6"/>
                <c:pt idx="0">
                  <c:v>5.8989716352130184E-2</c:v>
                </c:pt>
                <c:pt idx="1">
                  <c:v>5.8989716352130184E-2</c:v>
                </c:pt>
                <c:pt idx="2">
                  <c:v>6.7804271669115151E-2</c:v>
                </c:pt>
                <c:pt idx="3">
                  <c:v>0.11639733303198102</c:v>
                </c:pt>
                <c:pt idx="4">
                  <c:v>9.481297321731269E-2</c:v>
                </c:pt>
                <c:pt idx="5">
                  <c:v>4.0682563001469094E-2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8BF-4212-9B4D-168CAC2258B7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Ni satisfecho ni insatisfecho</c:v>
                </c:pt>
              </c:strCache>
            </c:strRef>
          </c:tx>
          <c:spPr>
            <a:solidFill>
              <a:srgbClr val="F8961E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Amistades fuera de Duoc UC</c:v>
                </c:pt>
                <c:pt idx="1">
                  <c:v>Amistades dentro de Duoc UC</c:v>
                </c:pt>
                <c:pt idx="2">
                  <c:v>Familia</c:v>
                </c:pt>
                <c:pt idx="3">
                  <c:v>Autoridades de Duoc UC</c:v>
                </c:pt>
                <c:pt idx="4">
                  <c:v>Administrativos/as</c:v>
                </c:pt>
                <c:pt idx="5">
                  <c:v>Profesores/as</c:v>
                </c:pt>
              </c:strCache>
            </c:strRef>
          </c:cat>
          <c:val>
            <c:numRef>
              <c:f>Hoja1!$D$2:$D$7</c:f>
              <c:numCache>
                <c:formatCode>0%</c:formatCode>
                <c:ptCount val="6"/>
                <c:pt idx="0">
                  <c:v>0.13</c:v>
                </c:pt>
                <c:pt idx="1">
                  <c:v>0.23302068030285908</c:v>
                </c:pt>
                <c:pt idx="2">
                  <c:v>0.1785512487286699</c:v>
                </c:pt>
                <c:pt idx="3">
                  <c:v>0.47519493728104872</c:v>
                </c:pt>
                <c:pt idx="4">
                  <c:v>0.41665724940671262</c:v>
                </c:pt>
                <c:pt idx="5">
                  <c:v>0.27200813651260031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8BF-4212-9B4D-168CAC2258B7}"/>
            </c:ext>
          </c:extLst>
        </c:ser>
        <c:ser>
          <c:idx val="3"/>
          <c:order val="3"/>
          <c:tx>
            <c:strRef>
              <c:f>Hoja1!$E$1</c:f>
              <c:strCache>
                <c:ptCount val="1"/>
                <c:pt idx="0">
                  <c:v>Satisfecho</c:v>
                </c:pt>
              </c:strCache>
            </c:strRef>
          </c:tx>
          <c:spPr>
            <a:solidFill>
              <a:srgbClr val="4DBD9B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Amistades fuera de Duoc UC</c:v>
                </c:pt>
                <c:pt idx="1">
                  <c:v>Amistades dentro de Duoc UC</c:v>
                </c:pt>
                <c:pt idx="2">
                  <c:v>Familia</c:v>
                </c:pt>
                <c:pt idx="3">
                  <c:v>Autoridades de Duoc UC</c:v>
                </c:pt>
                <c:pt idx="4">
                  <c:v>Administrativos/as</c:v>
                </c:pt>
                <c:pt idx="5">
                  <c:v>Profesores/as</c:v>
                </c:pt>
              </c:strCache>
            </c:strRef>
          </c:cat>
          <c:val>
            <c:numRef>
              <c:f>Hoja1!$E$2:$E$7</c:f>
              <c:numCache>
                <c:formatCode>0%</c:formatCode>
                <c:ptCount val="6"/>
                <c:pt idx="0">
                  <c:v>0.18</c:v>
                </c:pt>
                <c:pt idx="1">
                  <c:v>0.37518363656910386</c:v>
                </c:pt>
                <c:pt idx="2">
                  <c:v>0.34455870719855353</c:v>
                </c:pt>
                <c:pt idx="3">
                  <c:v>0.23686292236410894</c:v>
                </c:pt>
                <c:pt idx="4">
                  <c:v>0.31370776358910613</c:v>
                </c:pt>
                <c:pt idx="5">
                  <c:v>0.43790258786303538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8BF-4212-9B4D-168CAC2258B7}"/>
            </c:ext>
          </c:extLst>
        </c:ser>
        <c:ser>
          <c:idx val="4"/>
          <c:order val="4"/>
          <c:tx>
            <c:strRef>
              <c:f>Hoja1!$F$1</c:f>
              <c:strCache>
                <c:ptCount val="1"/>
                <c:pt idx="0">
                  <c:v>Muy satisfecho</c:v>
                </c:pt>
              </c:strCache>
            </c:strRef>
          </c:tx>
          <c:spPr>
            <a:solidFill>
              <a:srgbClr val="43AA8B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Amistades fuera de Duoc UC</c:v>
                </c:pt>
                <c:pt idx="1">
                  <c:v>Amistades dentro de Duoc UC</c:v>
                </c:pt>
                <c:pt idx="2">
                  <c:v>Familia</c:v>
                </c:pt>
                <c:pt idx="3">
                  <c:v>Autoridades de Duoc UC</c:v>
                </c:pt>
                <c:pt idx="4">
                  <c:v>Administrativos/as</c:v>
                </c:pt>
                <c:pt idx="5">
                  <c:v>Profesores/as</c:v>
                </c:pt>
              </c:strCache>
            </c:strRef>
          </c:cat>
          <c:val>
            <c:numRef>
              <c:f>Hoja1!$F$2:$F$7</c:f>
              <c:numCache>
                <c:formatCode>0%</c:formatCode>
                <c:ptCount val="6"/>
                <c:pt idx="0">
                  <c:v>0.38</c:v>
                </c:pt>
                <c:pt idx="1">
                  <c:v>0.27675443552943835</c:v>
                </c:pt>
                <c:pt idx="2">
                  <c:v>0.35811956153237656</c:v>
                </c:pt>
                <c:pt idx="3">
                  <c:v>8.0800090405695565E-2</c:v>
                </c:pt>
                <c:pt idx="4">
                  <c:v>0.10792179907334162</c:v>
                </c:pt>
                <c:pt idx="5">
                  <c:v>0.21708667646061702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88BF-4212-9B4D-168CAC2258B7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348736048"/>
        <c:axId val="171021936"/>
      </c:barChart>
      <c:catAx>
        <c:axId val="34873604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t" anchorCtr="1"/>
          <a:lstStyle/>
          <a:p>
            <a:pPr>
              <a:defRPr sz="12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71021936"/>
        <c:crosses val="autoZero"/>
        <c:auto val="1"/>
        <c:lblAlgn val="l"/>
        <c:lblOffset val="100"/>
        <c:noMultiLvlLbl val="0"/>
      </c:catAx>
      <c:valAx>
        <c:axId val="17102193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3487360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rgbClr val="56565A"/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solidFill>
            <a:srgbClr val="56565A"/>
          </a:solidFill>
          <a:latin typeface="Calibri Light" panose="020F0302020204030204" pitchFamily="34" charset="0"/>
          <a:cs typeface="Calibri Light" panose="020F0302020204030204" pitchFamily="34" charset="0"/>
        </a:defRPr>
      </a:pPr>
      <a:endParaRPr lang="es-CL"/>
    </a:p>
  </c:txPr>
  <c:externalData r:id="rId3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63522976889398519"/>
          <c:y val="8.7589237262095474E-3"/>
          <c:w val="0.34693910847549336"/>
          <c:h val="0.85236668634009305"/>
        </c:manualLayout>
      </c:layout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Apreciación negativa</c:v>
                </c:pt>
              </c:strCache>
            </c:strRef>
          </c:tx>
          <c:spPr>
            <a:solidFill>
              <a:srgbClr val="ED7D3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400" b="1" i="0" u="none" strike="noStrike" kern="1200" baseline="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12"/>
                <c:pt idx="0">
                  <c:v>Confío en mi capacidad para afrontar las altas exigencias de la situación.</c:v>
                </c:pt>
                <c:pt idx="1">
                  <c:v>Me siento completamente en control de mis acciones.</c:v>
                </c:pt>
                <c:pt idx="2">
                  <c:v>En cada paso, sé exactamente lo que tengo que hacer.</c:v>
                </c:pt>
                <c:pt idx="3">
                  <c:v>Estoy totalmente absorto/a en lo que estoy haciendo.</c:v>
                </c:pt>
                <c:pt idx="4">
                  <c:v>Estoy profundamente concentrado/a en lo que estoy haciendo.</c:v>
                </c:pt>
                <c:pt idx="5">
                  <c:v>Suelo perder la noción del tiempo.</c:v>
                </c:pt>
                <c:pt idx="6">
                  <c:v>No me importa lo que los demás puedan pensar de mí.</c:v>
                </c:pt>
                <c:pt idx="7">
                  <c:v>No me preocupa el juicio de los demás.</c:v>
                </c:pt>
                <c:pt idx="8">
                  <c:v>No me preocupa lo que los demás puedan pensar de mí.</c:v>
                </c:pt>
                <c:pt idx="9">
                  <c:v>Tengo la sensación de que estoy viviendo una experiencia muy emocionante.</c:v>
                </c:pt>
                <c:pt idx="10">
                  <c:v>Esta actividad me produce una sensación de bienestar.</c:v>
                </c:pt>
                <c:pt idx="11">
                  <c:v>Cuando hablo de esta actividad, siento una emoción tan profunda que quiero compartirla.</c:v>
                </c:pt>
              </c:strCache>
            </c:strRef>
          </c:cat>
          <c:val>
            <c:numRef>
              <c:f>Sheet1!$B$2:$B$13</c:f>
              <c:numCache>
                <c:formatCode>0%</c:formatCode>
                <c:ptCount val="12"/>
                <c:pt idx="0">
                  <c:v>5.6234845860755098E-2</c:v>
                </c:pt>
                <c:pt idx="1">
                  <c:v>0.22099064773120891</c:v>
                </c:pt>
                <c:pt idx="2">
                  <c:v>0.10350883269830199</c:v>
                </c:pt>
                <c:pt idx="3">
                  <c:v>0.123900242466227</c:v>
                </c:pt>
                <c:pt idx="4">
                  <c:v>0.21939729823345999</c:v>
                </c:pt>
                <c:pt idx="5">
                  <c:v>0.13775545549012799</c:v>
                </c:pt>
                <c:pt idx="6">
                  <c:v>0.1905091790786283</c:v>
                </c:pt>
                <c:pt idx="7">
                  <c:v>0.2105992379632837</c:v>
                </c:pt>
                <c:pt idx="8">
                  <c:v>0.13775545549012799</c:v>
                </c:pt>
                <c:pt idx="9">
                  <c:v>0.22099064773120891</c:v>
                </c:pt>
                <c:pt idx="10">
                  <c:v>0.13775545549012799</c:v>
                </c:pt>
                <c:pt idx="11">
                  <c:v>0.24260478004849301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239-4A59-BD93-ACABDE7B54A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Apreciación neutra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9.2090799788292679E-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D239-4A59-BD93-ACABDE7B54A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400" b="1" i="0" u="none" strike="noStrike" kern="1200" baseline="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12"/>
                <c:pt idx="0">
                  <c:v>Confío en mi capacidad para afrontar las altas exigencias de la situación.</c:v>
                </c:pt>
                <c:pt idx="1">
                  <c:v>Me siento completamente en control de mis acciones.</c:v>
                </c:pt>
                <c:pt idx="2">
                  <c:v>En cada paso, sé exactamente lo que tengo que hacer.</c:v>
                </c:pt>
                <c:pt idx="3">
                  <c:v>Estoy totalmente absorto/a en lo que estoy haciendo.</c:v>
                </c:pt>
                <c:pt idx="4">
                  <c:v>Estoy profundamente concentrado/a en lo que estoy haciendo.</c:v>
                </c:pt>
                <c:pt idx="5">
                  <c:v>Suelo perder la noción del tiempo.</c:v>
                </c:pt>
                <c:pt idx="6">
                  <c:v>No me importa lo que los demás puedan pensar de mí.</c:v>
                </c:pt>
                <c:pt idx="7">
                  <c:v>No me preocupa el juicio de los demás.</c:v>
                </c:pt>
                <c:pt idx="8">
                  <c:v>No me preocupa lo que los demás puedan pensar de mí.</c:v>
                </c:pt>
                <c:pt idx="9">
                  <c:v>Tengo la sensación de que estoy viviendo una experiencia muy emocionante.</c:v>
                </c:pt>
                <c:pt idx="10">
                  <c:v>Esta actividad me produce una sensación de bienestar.</c:v>
                </c:pt>
                <c:pt idx="11">
                  <c:v>Cuando hablo de esta actividad, siento una emoción tan profunda que quiero compartirla.</c:v>
                </c:pt>
              </c:strCache>
            </c:strRef>
          </c:cat>
          <c:val>
            <c:numRef>
              <c:f>Sheet1!$C$2:$C$13</c:f>
              <c:numCache>
                <c:formatCode>0%</c:formatCode>
                <c:ptCount val="12"/>
                <c:pt idx="0">
                  <c:v>4.6414963630065822E-2</c:v>
                </c:pt>
                <c:pt idx="1">
                  <c:v>0.32455836508486319</c:v>
                </c:pt>
                <c:pt idx="2">
                  <c:v>9.0751645306546586E-2</c:v>
                </c:pt>
                <c:pt idx="3">
                  <c:v>0.14409421544856249</c:v>
                </c:pt>
                <c:pt idx="4">
                  <c:v>0.1236577762383097</c:v>
                </c:pt>
                <c:pt idx="5">
                  <c:v>9.9168687218566004E-2</c:v>
                </c:pt>
                <c:pt idx="6">
                  <c:v>0.31763075857291312</c:v>
                </c:pt>
                <c:pt idx="7">
                  <c:v>0.35885001731901628</c:v>
                </c:pt>
                <c:pt idx="8">
                  <c:v>0.19916868721856601</c:v>
                </c:pt>
                <c:pt idx="9">
                  <c:v>0.32455836508486319</c:v>
                </c:pt>
                <c:pt idx="10">
                  <c:v>9.9168687218566004E-2</c:v>
                </c:pt>
                <c:pt idx="11">
                  <c:v>0.16522341531001039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239-4A59-BD93-ACABDE7B54A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Apreciación positiva</c:v>
                </c:pt>
              </c:strCache>
            </c:strRef>
          </c:tx>
          <c:spPr>
            <a:solidFill>
              <a:srgbClr val="92D05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400" b="1" i="0" u="none" strike="noStrike" kern="1200" baseline="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12"/>
                <c:pt idx="0">
                  <c:v>Confío en mi capacidad para afrontar las altas exigencias de la situación.</c:v>
                </c:pt>
                <c:pt idx="1">
                  <c:v>Me siento completamente en control de mis acciones.</c:v>
                </c:pt>
                <c:pt idx="2">
                  <c:v>En cada paso, sé exactamente lo que tengo que hacer.</c:v>
                </c:pt>
                <c:pt idx="3">
                  <c:v>Estoy totalmente absorto/a en lo que estoy haciendo.</c:v>
                </c:pt>
                <c:pt idx="4">
                  <c:v>Estoy profundamente concentrado/a en lo que estoy haciendo.</c:v>
                </c:pt>
                <c:pt idx="5">
                  <c:v>Suelo perder la noción del tiempo.</c:v>
                </c:pt>
                <c:pt idx="6">
                  <c:v>No me importa lo que los demás puedan pensar de mí.</c:v>
                </c:pt>
                <c:pt idx="7">
                  <c:v>No me preocupa el juicio de los demás.</c:v>
                </c:pt>
                <c:pt idx="8">
                  <c:v>No me preocupa lo que los demás puedan pensar de mí.</c:v>
                </c:pt>
                <c:pt idx="9">
                  <c:v>Tengo la sensación de que estoy viviendo una experiencia muy emocionante.</c:v>
                </c:pt>
                <c:pt idx="10">
                  <c:v>Esta actividad me produce una sensación de bienestar.</c:v>
                </c:pt>
                <c:pt idx="11">
                  <c:v>Cuando hablo de esta actividad, siento una emoción tan profunda que quiero compartirla.</c:v>
                </c:pt>
              </c:strCache>
            </c:strRef>
          </c:cat>
          <c:val>
            <c:numRef>
              <c:f>Sheet1!$D$2:$D$13</c:f>
              <c:numCache>
                <c:formatCode>0%</c:formatCode>
                <c:ptCount val="12"/>
                <c:pt idx="0">
                  <c:v>0.89735019050917897</c:v>
                </c:pt>
                <c:pt idx="1">
                  <c:v>0.45445098718392801</c:v>
                </c:pt>
                <c:pt idx="2">
                  <c:v>0.79573952199515097</c:v>
                </c:pt>
                <c:pt idx="3">
                  <c:v>0.73200554208520996</c:v>
                </c:pt>
                <c:pt idx="4">
                  <c:v>0.65694492552823003</c:v>
                </c:pt>
                <c:pt idx="5">
                  <c:v>0.76307585729130589</c:v>
                </c:pt>
                <c:pt idx="6">
                  <c:v>0.49186006234845858</c:v>
                </c:pt>
                <c:pt idx="7">
                  <c:v>0.43055074471770011</c:v>
                </c:pt>
                <c:pt idx="8">
                  <c:v>0.66307585729130603</c:v>
                </c:pt>
                <c:pt idx="9">
                  <c:v>0.45445098718392801</c:v>
                </c:pt>
                <c:pt idx="10">
                  <c:v>0.76307585729130589</c:v>
                </c:pt>
                <c:pt idx="11">
                  <c:v>0.59217180464149599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239-4A59-BD93-ACABDE7B54A1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80"/>
        <c:overlap val="100"/>
        <c:axId val="348736048"/>
        <c:axId val="171021936"/>
      </c:barChart>
      <c:catAx>
        <c:axId val="348736048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t" anchorCtr="1"/>
          <a:lstStyle/>
          <a:p>
            <a:pPr>
              <a:defRPr sz="1200" b="0" i="0" u="none" strike="noStrike" kern="1200" baseline="0">
                <a:solidFill>
                  <a:schemeClr val="tx2">
                    <a:lumMod val="2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71021936"/>
        <c:crosses val="autoZero"/>
        <c:auto val="1"/>
        <c:lblAlgn val="ctr"/>
        <c:lblOffset val="100"/>
        <c:noMultiLvlLbl val="0"/>
      </c:catAx>
      <c:valAx>
        <c:axId val="171021936"/>
        <c:scaling>
          <c:orientation val="minMax"/>
        </c:scaling>
        <c:delete val="1"/>
        <c:axPos val="t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crossAx val="3487360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solidFill>
            <a:srgbClr val="56565A"/>
          </a:solidFill>
          <a:latin typeface="Calibri Light" panose="020F0302020204030204" pitchFamily="34" charset="0"/>
          <a:cs typeface="Calibri Light" panose="020F0302020204030204" pitchFamily="34" charset="0"/>
        </a:defRPr>
      </a:pPr>
      <a:endParaRPr lang="es-CL"/>
    </a:p>
  </c:txPr>
  <c:externalData r:id="rId3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400" dirty="0">
                <a:latin typeface="Calibri Light" panose="020F0302020204030204" pitchFamily="34" charset="0"/>
                <a:cs typeface="Calibri Light" panose="020F0302020204030204" pitchFamily="34" charset="0"/>
              </a:rPr>
              <a:t>Típicamente, ¿con qué frecuencia realizas ejercicio o actividad física durante al menos 30 minutos?</a:t>
            </a:r>
            <a:endParaRPr lang="es-CL" sz="14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>
        <c:manualLayout>
          <c:layoutTarget val="inner"/>
          <c:xMode val="edge"/>
          <c:yMode val="edge"/>
          <c:x val="0.2437250291630213"/>
          <c:y val="0.22276104584733825"/>
          <c:w val="0.46393883056284629"/>
          <c:h val="0.56471185951834224"/>
        </c:manualLayout>
      </c:layout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63B7-4F7D-BBC4-5086159EAB57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3B7-4F7D-BBC4-5086159EAB57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63B7-4F7D-BBC4-5086159EAB57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63B7-4F7D-BBC4-5086159EAB57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Hoja1!$A$2:$A$5</c:f>
              <c:strCache>
                <c:ptCount val="4"/>
                <c:pt idx="0">
                  <c:v>Nunca</c:v>
                </c:pt>
                <c:pt idx="1">
                  <c:v>1 vez por semana</c:v>
                </c:pt>
                <c:pt idx="2">
                  <c:v>2 veces por semana</c:v>
                </c:pt>
                <c:pt idx="3">
                  <c:v>3 o más veces por semana</c:v>
                </c:pt>
              </c:strCache>
            </c:strRef>
          </c:cat>
          <c:val>
            <c:numRef>
              <c:f>Hoja1!$B$2:$B$5</c:f>
              <c:numCache>
                <c:formatCode>0%</c:formatCode>
                <c:ptCount val="4"/>
                <c:pt idx="0">
                  <c:v>0.375893697083725</c:v>
                </c:pt>
                <c:pt idx="1">
                  <c:v>0.25119002822201297</c:v>
                </c:pt>
                <c:pt idx="2">
                  <c:v>0.111933207902164</c:v>
                </c:pt>
                <c:pt idx="3">
                  <c:v>0.26098306679209798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63B7-4F7D-BBC4-5086159EAB5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246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00" b="0" i="0" u="none" strike="noStrike" kern="1200" spc="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800" b="0" i="0" u="none" strike="noStrike" baseline="0" dirty="0">
                <a:effectLst/>
              </a:rPr>
              <a:t>En una semana habitual, con qué frecuencia:</a:t>
            </a:r>
            <a:endParaRPr lang="es-CL" sz="18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0" i="0" u="none" strike="noStrike" kern="1200" spc="0" baseline="0">
              <a:solidFill>
                <a:srgbClr val="56565A"/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Ningún día</c:v>
                </c:pt>
              </c:strCache>
            </c:strRef>
          </c:tx>
          <c:spPr>
            <a:solidFill>
              <a:srgbClr val="E63C3F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Hoja1!$A$2:$A$2</c:f>
              <c:strCache>
                <c:ptCount val="1"/>
                <c:pt idx="0">
                  <c:v>Desayunas, almuerzas y comes en horarios habituales</c:v>
                </c:pt>
              </c:strCache>
            </c:strRef>
          </c:cat>
          <c:val>
            <c:numRef>
              <c:f>Hoja1!$B$2:$B$2</c:f>
              <c:numCache>
                <c:formatCode>0%</c:formatCode>
                <c:ptCount val="1"/>
                <c:pt idx="0">
                  <c:v>0.15666901905434016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486-48AD-9110-AB5F9FC58C83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Algunos días</c:v>
                </c:pt>
              </c:strCache>
            </c:strRef>
          </c:tx>
          <c:spPr>
            <a:solidFill>
              <a:srgbClr val="F9414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Hoja1!$A$2:$A$2</c:f>
              <c:strCache>
                <c:ptCount val="1"/>
                <c:pt idx="0">
                  <c:v>Desayunas, almuerzas y comes en horarios habituales</c:v>
                </c:pt>
              </c:strCache>
            </c:strRef>
          </c:cat>
          <c:val>
            <c:numRef>
              <c:f>Hoja1!$C$2:$C$2</c:f>
              <c:numCache>
                <c:formatCode>0%</c:formatCode>
                <c:ptCount val="1"/>
                <c:pt idx="0">
                  <c:v>0.41766643142789933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486-48AD-9110-AB5F9FC58C83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La mayoría de los días</c:v>
                </c:pt>
              </c:strCache>
            </c:strRef>
          </c:tx>
          <c:spPr>
            <a:solidFill>
              <a:srgbClr val="F8961E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Hoja1!$A$2:$A$2</c:f>
              <c:strCache>
                <c:ptCount val="1"/>
                <c:pt idx="0">
                  <c:v>Desayunas, almuerzas y comes en horarios habituales</c:v>
                </c:pt>
              </c:strCache>
            </c:strRef>
          </c:cat>
          <c:val>
            <c:numRef>
              <c:f>Hoja1!$D$2:$D$2</c:f>
              <c:numCache>
                <c:formatCode>0%</c:formatCode>
                <c:ptCount val="1"/>
                <c:pt idx="0">
                  <c:v>0.27205363443895553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486-48AD-9110-AB5F9FC58C83}"/>
            </c:ext>
          </c:extLst>
        </c:ser>
        <c:ser>
          <c:idx val="3"/>
          <c:order val="3"/>
          <c:tx>
            <c:strRef>
              <c:f>Hoja1!$E$1</c:f>
              <c:strCache>
                <c:ptCount val="1"/>
                <c:pt idx="0">
                  <c:v>Todos los días</c:v>
                </c:pt>
              </c:strCache>
            </c:strRef>
          </c:tx>
          <c:spPr>
            <a:solidFill>
              <a:srgbClr val="4DBD9B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Hoja1!$A$2:$A$2</c:f>
              <c:strCache>
                <c:ptCount val="1"/>
                <c:pt idx="0">
                  <c:v>Desayunas, almuerzas y comes en horarios habituales</c:v>
                </c:pt>
              </c:strCache>
            </c:strRef>
          </c:cat>
          <c:val>
            <c:numRef>
              <c:f>Hoja1!$E$2:$E$2</c:f>
              <c:numCache>
                <c:formatCode>0%</c:formatCode>
                <c:ptCount val="1"/>
                <c:pt idx="0">
                  <c:v>0.15361091507880498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486-48AD-9110-AB5F9FC58C83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348736048"/>
        <c:axId val="171021936"/>
      </c:barChart>
      <c:catAx>
        <c:axId val="34873604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t" anchorCtr="1"/>
          <a:lstStyle/>
          <a:p>
            <a:pPr>
              <a:defRPr sz="14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71021936"/>
        <c:crosses val="autoZero"/>
        <c:auto val="1"/>
        <c:lblAlgn val="l"/>
        <c:lblOffset val="100"/>
        <c:noMultiLvlLbl val="0"/>
      </c:catAx>
      <c:valAx>
        <c:axId val="17102193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3487360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rgbClr val="56565A"/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solidFill>
            <a:srgbClr val="56565A"/>
          </a:solidFill>
          <a:latin typeface="Calibri Light" panose="020F0302020204030204" pitchFamily="34" charset="0"/>
          <a:cs typeface="Calibri Light" panose="020F0302020204030204" pitchFamily="34" charset="0"/>
        </a:defRPr>
      </a:pPr>
      <a:endParaRPr lang="es-CL"/>
    </a:p>
  </c:txPr>
  <c:externalData r:id="rId3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Ningún día</c:v>
                </c:pt>
              </c:strCache>
            </c:strRef>
          </c:tx>
          <c:spPr>
            <a:solidFill>
              <a:srgbClr val="4DBD9B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Consumes comidas rápidas, fritas, snacks o dulces</c:v>
                </c:pt>
                <c:pt idx="1">
                  <c:v>Consumes gaseosas o bebidas artificiales</c:v>
                </c:pt>
                <c:pt idx="2">
                  <c:v>Omites alguna de las comidas principales (desayuno, almuerzo y comida)</c:v>
                </c:pt>
              </c:strCache>
            </c:strRef>
          </c:cat>
          <c:val>
            <c:numRef>
              <c:f>Hoja1!$B$2:$B$4</c:f>
              <c:numCache>
                <c:formatCode>0%</c:formatCode>
                <c:ptCount val="3"/>
                <c:pt idx="0">
                  <c:v>6.5741502998941548E-2</c:v>
                </c:pt>
                <c:pt idx="1">
                  <c:v>0.19204986475361638</c:v>
                </c:pt>
                <c:pt idx="2">
                  <c:v>0.19760056457304165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6C0-4C34-8869-54A49A9EFCAF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Algunos días</c:v>
                </c:pt>
              </c:strCache>
            </c:strRef>
          </c:tx>
          <c:spPr>
            <a:solidFill>
              <a:srgbClr val="F8961E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Consumes comidas rápidas, fritas, snacks o dulces</c:v>
                </c:pt>
                <c:pt idx="1">
                  <c:v>Consumes gaseosas o bebidas artificiales</c:v>
                </c:pt>
                <c:pt idx="2">
                  <c:v>Omites alguna de las comidas principales (desayuno, almuerzo y comida)</c:v>
                </c:pt>
              </c:strCache>
            </c:strRef>
          </c:cat>
          <c:val>
            <c:numRef>
              <c:f>Hoja1!$C$2:$C$4</c:f>
              <c:numCache>
                <c:formatCode>0%</c:formatCode>
                <c:ptCount val="3"/>
                <c:pt idx="0">
                  <c:v>0.69163824532517937</c:v>
                </c:pt>
                <c:pt idx="1">
                  <c:v>0.50076443608138299</c:v>
                </c:pt>
                <c:pt idx="2">
                  <c:v>0.42695836273817928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6C0-4C34-8869-54A49A9EFCAF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La mayoría de los días</c:v>
                </c:pt>
              </c:strCache>
            </c:strRef>
          </c:tx>
          <c:spPr>
            <a:solidFill>
              <a:srgbClr val="F9414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Consumes comidas rápidas, fritas, snacks o dulces</c:v>
                </c:pt>
                <c:pt idx="1">
                  <c:v>Consumes gaseosas o bebidas artificiales</c:v>
                </c:pt>
                <c:pt idx="2">
                  <c:v>Omites alguna de las comidas principales (desayuno, almuerzo y comida)</c:v>
                </c:pt>
              </c:strCache>
            </c:strRef>
          </c:cat>
          <c:val>
            <c:numRef>
              <c:f>Hoja1!$D$2:$D$4</c:f>
              <c:numCache>
                <c:formatCode>0%</c:formatCode>
                <c:ptCount val="3"/>
                <c:pt idx="0">
                  <c:v>0.20122309773021288</c:v>
                </c:pt>
                <c:pt idx="1">
                  <c:v>0.20686816417734918</c:v>
                </c:pt>
                <c:pt idx="2">
                  <c:v>0.23147494707127736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6C0-4C34-8869-54A49A9EFCAF}"/>
            </c:ext>
          </c:extLst>
        </c:ser>
        <c:ser>
          <c:idx val="3"/>
          <c:order val="3"/>
          <c:tx>
            <c:strRef>
              <c:f>Hoja1!$E$1</c:f>
              <c:strCache>
                <c:ptCount val="1"/>
                <c:pt idx="0">
                  <c:v>Todos los días</c:v>
                </c:pt>
              </c:strCache>
            </c:strRef>
          </c:tx>
          <c:spPr>
            <a:solidFill>
              <a:srgbClr val="E63C3F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Consumes comidas rápidas, fritas, snacks o dulces</c:v>
                </c:pt>
                <c:pt idx="1">
                  <c:v>Consumes gaseosas o bebidas artificiales</c:v>
                </c:pt>
                <c:pt idx="2">
                  <c:v>Omites alguna de las comidas principales (desayuno, almuerzo y comida)</c:v>
                </c:pt>
              </c:strCache>
            </c:strRef>
          </c:cat>
          <c:val>
            <c:numRef>
              <c:f>Hoja1!$E$2:$E$4</c:f>
              <c:numCache>
                <c:formatCode>0%</c:formatCode>
                <c:ptCount val="3"/>
                <c:pt idx="0">
                  <c:v>4.1397153945666239E-2</c:v>
                </c:pt>
                <c:pt idx="1">
                  <c:v>0.10031753498765142</c:v>
                </c:pt>
                <c:pt idx="2">
                  <c:v>0.14396612561750177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6C0-4C34-8869-54A49A9EFCAF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348736048"/>
        <c:axId val="171021936"/>
      </c:barChart>
      <c:catAx>
        <c:axId val="34873604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t" anchorCtr="1"/>
          <a:lstStyle/>
          <a:p>
            <a:pPr>
              <a:defRPr sz="14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71021936"/>
        <c:crosses val="autoZero"/>
        <c:auto val="1"/>
        <c:lblAlgn val="l"/>
        <c:lblOffset val="100"/>
        <c:noMultiLvlLbl val="0"/>
      </c:catAx>
      <c:valAx>
        <c:axId val="17102193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3487360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rgbClr val="56565A"/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solidFill>
            <a:srgbClr val="56565A"/>
          </a:solidFill>
          <a:latin typeface="Calibri Light" panose="020F0302020204030204" pitchFamily="34" charset="0"/>
          <a:cs typeface="Calibri Light" panose="020F0302020204030204" pitchFamily="34" charset="0"/>
        </a:defRPr>
      </a:pPr>
      <a:endParaRPr lang="es-CL"/>
    </a:p>
  </c:txPr>
  <c:externalData r:id="rId3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En un día habitual, ¿cuántos vasos de agua, té o juegos no azucarados ingieres?</a:t>
            </a:r>
            <a:endParaRPr 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Ninguno</c:v>
                </c:pt>
                <c:pt idx="1">
                  <c:v>Entre 1 y 3</c:v>
                </c:pt>
                <c:pt idx="2">
                  <c:v>Entre 4 y 8</c:v>
                </c:pt>
                <c:pt idx="3">
                  <c:v>Entre 9 y 12</c:v>
                </c:pt>
                <c:pt idx="4">
                  <c:v>Más de 12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7.9684557438794726E-2</c:v>
                </c:pt>
                <c:pt idx="1">
                  <c:v>0.48999529190207158</c:v>
                </c:pt>
                <c:pt idx="2">
                  <c:v>0.314030131826742</c:v>
                </c:pt>
                <c:pt idx="3">
                  <c:v>8.9218455743879474E-2</c:v>
                </c:pt>
                <c:pt idx="4">
                  <c:v>2.7071563088512243E-2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C3B-407A-ACC9-436A3ACF929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168497199"/>
        <c:axId val="1168496367"/>
      </c:barChart>
      <c:catAx>
        <c:axId val="11684971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Durante las últimas dos semanas, ¿con qué frecuencia has fumado cigarrillos, puros o pipas, o usado rapé o tabaco para mascar?</a:t>
            </a:r>
            <a:endParaRPr 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Nada</c:v>
                </c:pt>
                <c:pt idx="1">
                  <c:v>Muy poco</c:v>
                </c:pt>
                <c:pt idx="2">
                  <c:v>Levemente</c:v>
                </c:pt>
                <c:pt idx="3">
                  <c:v>Moderadamente</c:v>
                </c:pt>
                <c:pt idx="4">
                  <c:v>Severamente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7.9684557438794726E-2</c:v>
                </c:pt>
                <c:pt idx="1">
                  <c:v>0.48999529190207158</c:v>
                </c:pt>
                <c:pt idx="2">
                  <c:v>0.314030131826742</c:v>
                </c:pt>
                <c:pt idx="3">
                  <c:v>8.9218455743879474E-2</c:v>
                </c:pt>
                <c:pt idx="4">
                  <c:v>2.7071563088512243E-2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B49-411B-8080-77E3FB9FA81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168497199"/>
        <c:axId val="1168496367"/>
      </c:barChart>
      <c:catAx>
        <c:axId val="11684971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3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A1A-4574-B37D-5284DC7AFB9E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AA-4E0A-B33A-396F6E997B3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0.44581308622443216</c:v>
                </c:pt>
                <c:pt idx="1">
                  <c:v>0.55418691377556784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AA-4E0A-B33A-396F6E997B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227-4A4E-A6E9-33F796530005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227-4A4E-A6E9-33F796530005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9A27-4FBD-B015-90E80FB2EA7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Hoja1!$A$2:$A$4</c:f>
              <c:strCache>
                <c:ptCount val="3"/>
                <c:pt idx="0">
                  <c:v>Reserva de hora psicológica</c:v>
                </c:pt>
                <c:pt idx="1">
                  <c:v>Inscripción en charlas de salud mental</c:v>
                </c:pt>
                <c:pt idx="2">
                  <c:v>Contenidos en salud mental</c:v>
                </c:pt>
              </c:strCache>
            </c:strRef>
          </c:cat>
          <c:val>
            <c:numRef>
              <c:f>Hoja1!$B$2:$B$4</c:f>
              <c:numCache>
                <c:formatCode>0%</c:formatCode>
                <c:ptCount val="3"/>
                <c:pt idx="0">
                  <c:v>0.41039290240811155</c:v>
                </c:pt>
                <c:pt idx="1">
                  <c:v>0.3</c:v>
                </c:pt>
                <c:pt idx="2">
                  <c:v>0.28999999999999998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227-4A4E-A6E9-33F7965300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64A8-48EF-B7C4-459A9335C2F6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4A8-48EF-B7C4-459A9335C2F6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64A8-48EF-B7C4-459A9335C2F6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0.8</c:v>
                </c:pt>
                <c:pt idx="1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4A8-48EF-B7C4-459A9335C2F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1BA-46E6-83E3-4EED6412BEEC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1BA-46E6-83E3-4EED6412BEE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0.15</c:v>
                </c:pt>
                <c:pt idx="1">
                  <c:v>0.85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1BA-46E6-83E3-4EED6412BE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2A8-43CD-8471-ACB30C339F59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2A8-43CD-8471-ACB30C339F5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22A8-43CD-8471-ACB30C339F5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Hoja1!$A$2:$A$4</c:f>
              <c:strCache>
                <c:ptCount val="3"/>
                <c:pt idx="0">
                  <c:v>Mucho / Bastante</c:v>
                </c:pt>
                <c:pt idx="1">
                  <c:v>Algo</c:v>
                </c:pt>
                <c:pt idx="2">
                  <c:v>Poco / Nada</c:v>
                </c:pt>
              </c:strCache>
            </c:strRef>
          </c:cat>
          <c:val>
            <c:numRef>
              <c:f>Hoja1!$B$2:$B$4</c:f>
              <c:numCache>
                <c:formatCode>0%</c:formatCode>
                <c:ptCount val="3"/>
                <c:pt idx="0">
                  <c:v>0.41039290240811155</c:v>
                </c:pt>
                <c:pt idx="1">
                  <c:v>0.3</c:v>
                </c:pt>
                <c:pt idx="2">
                  <c:v>0.28999999999999998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2A8-43CD-8471-ACB30C339F5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spPr>
            <a:solidFill>
              <a:srgbClr val="F8961E"/>
            </a:solidFill>
            <a:ln w="19050">
              <a:solidFill>
                <a:srgbClr val="F8961E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A1A-4574-B37D-5284DC7AFB9E}"/>
              </c:ext>
            </c:extLst>
          </c:dPt>
          <c:dPt>
            <c:idx val="1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AA-4E0A-B33A-396F6E997B3A}"/>
              </c:ext>
            </c:extLst>
          </c:dPt>
          <c:dPt>
            <c:idx val="2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64D-4A87-8D3A-6B57251F2291}"/>
              </c:ext>
            </c:extLst>
          </c:dPt>
          <c:dPt>
            <c:idx val="3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64D-4A87-8D3A-6B57251F2291}"/>
              </c:ext>
            </c:extLst>
          </c:dPt>
          <c:dPt>
            <c:idx val="4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064D-4A87-8D3A-6B57251F2291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0</c:v>
                </c:pt>
                <c:pt idx="1">
                  <c:v>Entre 1 y 3</c:v>
                </c:pt>
                <c:pt idx="2">
                  <c:v>Entre 4 y 6</c:v>
                </c:pt>
                <c:pt idx="3">
                  <c:v>Entre 7 y 9</c:v>
                </c:pt>
                <c:pt idx="4">
                  <c:v>10 o más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0.14581308622443201</c:v>
                </c:pt>
                <c:pt idx="1">
                  <c:v>0.1</c:v>
                </c:pt>
                <c:pt idx="2">
                  <c:v>0.2</c:v>
                </c:pt>
                <c:pt idx="3">
                  <c:v>0.2</c:v>
                </c:pt>
                <c:pt idx="4">
                  <c:v>0.35418691377556799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AA-4E0A-B33A-396F6E997B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721395472"/>
        <c:axId val="1721401296"/>
      </c:barChart>
      <c:catAx>
        <c:axId val="17213954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721401296"/>
        <c:crossesAt val="0"/>
        <c:auto val="1"/>
        <c:lblAlgn val="ctr"/>
        <c:lblOffset val="100"/>
        <c:noMultiLvlLbl val="0"/>
      </c:catAx>
      <c:valAx>
        <c:axId val="1721401296"/>
        <c:scaling>
          <c:orientation val="minMax"/>
          <c:max val="0.30000000000000004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out"/>
        <c:minorTickMark val="none"/>
        <c:tickLblPos val="nextTo"/>
        <c:crossAx val="172139547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spPr>
            <a:solidFill>
              <a:schemeClr val="accent1"/>
            </a:solidFill>
            <a:ln w="19050">
              <a:solidFill>
                <a:srgbClr val="ED7D31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ED7D31"/>
              </a:solidFill>
              <a:ln w="19050">
                <a:solidFill>
                  <a:srgbClr val="ED7D3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227-4A4E-A6E9-33F796530005}"/>
              </c:ext>
            </c:extLst>
          </c:dPt>
          <c:dPt>
            <c:idx val="1"/>
            <c:invertIfNegative val="0"/>
            <c:bubble3D val="0"/>
            <c:spPr>
              <a:solidFill>
                <a:srgbClr val="ED7D31"/>
              </a:solidFill>
              <a:ln w="19050">
                <a:solidFill>
                  <a:srgbClr val="ED7D3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227-4A4E-A6E9-33F796530005}"/>
              </c:ext>
            </c:extLst>
          </c:dPt>
          <c:dPt>
            <c:idx val="2"/>
            <c:invertIfNegative val="0"/>
            <c:bubble3D val="0"/>
            <c:spPr>
              <a:solidFill>
                <a:srgbClr val="FFC000"/>
              </a:solidFill>
              <a:ln w="19050">
                <a:solidFill>
                  <a:srgbClr val="FFC00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BD3-4286-BAA3-0777F2FDFF11}"/>
              </c:ext>
            </c:extLst>
          </c:dPt>
          <c:dPt>
            <c:idx val="3"/>
            <c:invertIfNegative val="0"/>
            <c:bubble3D val="0"/>
            <c:spPr>
              <a:solidFill>
                <a:srgbClr val="92D050"/>
              </a:solidFill>
              <a:ln w="19050">
                <a:solidFill>
                  <a:srgbClr val="92D05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F26-498F-AC27-E91068B6FEC9}"/>
              </c:ext>
            </c:extLst>
          </c:dPt>
          <c:dPt>
            <c:idx val="4"/>
            <c:invertIfNegative val="0"/>
            <c:bubble3D val="0"/>
            <c:spPr>
              <a:solidFill>
                <a:srgbClr val="92D050"/>
              </a:solidFill>
              <a:ln w="19050">
                <a:solidFill>
                  <a:srgbClr val="92D05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8-8F26-498F-AC27-E91068B6FEC9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Muy insatisfecho/a</c:v>
                </c:pt>
                <c:pt idx="1">
                  <c:v>Insatisfecho/a</c:v>
                </c:pt>
                <c:pt idx="2">
                  <c:v>Neutro</c:v>
                </c:pt>
                <c:pt idx="3">
                  <c:v>Satisfecho/a</c:v>
                </c:pt>
                <c:pt idx="4">
                  <c:v>Muy satisfecho/a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0.05</c:v>
                </c:pt>
                <c:pt idx="1">
                  <c:v>0.15</c:v>
                </c:pt>
                <c:pt idx="2">
                  <c:v>0.1</c:v>
                </c:pt>
                <c:pt idx="3">
                  <c:v>0.4</c:v>
                </c:pt>
                <c:pt idx="4">
                  <c:v>0.3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227-4A4E-A6E9-33F7965300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21237856"/>
        <c:axId val="121251584"/>
      </c:barChart>
      <c:valAx>
        <c:axId val="121251584"/>
        <c:scaling>
          <c:orientation val="minMax"/>
          <c:max val="0.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37856"/>
        <c:crosses val="autoZero"/>
        <c:crossBetween val="between"/>
        <c:majorUnit val="0.1"/>
      </c:valAx>
      <c:catAx>
        <c:axId val="1212378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5158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A8E-4E6B-A275-AFE965DF1784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A8E-4E6B-A275-AFE965DF1784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A8E-4E6B-A275-AFE965DF178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0.8</c:v>
                </c:pt>
                <c:pt idx="1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A8E-4E6B-A275-AFE965DF178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A8E-4E6B-A275-AFE965DF1784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A8E-4E6B-A275-AFE965DF1784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A8E-4E6B-A275-AFE965DF1784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0.3</c:v>
                </c:pt>
                <c:pt idx="1">
                  <c:v>0.7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A8E-4E6B-A275-AFE965DF178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spPr>
            <a:solidFill>
              <a:srgbClr val="00223A"/>
            </a:solidFill>
            <a:ln w="19050">
              <a:solidFill>
                <a:srgbClr val="00223A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9939-4F2A-95CB-0F8DDB7132DB}"/>
              </c:ext>
            </c:extLst>
          </c:dPt>
          <c:dPt>
            <c:idx val="1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9939-4F2A-95CB-0F8DDB7132DB}"/>
              </c:ext>
            </c:extLst>
          </c:dPt>
          <c:dPt>
            <c:idx val="2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9939-4F2A-95CB-0F8DDB7132DB}"/>
              </c:ext>
            </c:extLst>
          </c:dPt>
          <c:dPt>
            <c:idx val="3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9939-4F2A-95CB-0F8DDB7132DB}"/>
              </c:ext>
            </c:extLst>
          </c:dPt>
          <c:dPt>
            <c:idx val="4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9939-4F2A-95CB-0F8DDB7132DB}"/>
              </c:ext>
            </c:extLst>
          </c:dPt>
          <c:dPt>
            <c:idx val="5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C-9939-4F2A-95CB-0F8DDB7132DB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Hoja1!$A$2:$A$7</c:f>
              <c:strCache>
                <c:ptCount val="6"/>
                <c:pt idx="0">
                  <c:v>Poco tiempo</c:v>
                </c:pt>
                <c:pt idx="1">
                  <c:v>No creo ser bueno/a</c:v>
                </c:pt>
                <c:pt idx="2">
                  <c:v>Es para profesionales</c:v>
                </c:pt>
                <c:pt idx="3">
                  <c:v>No es importante</c:v>
                </c:pt>
                <c:pt idx="4">
                  <c:v>Falta información</c:v>
                </c:pt>
                <c:pt idx="5">
                  <c:v>Otra razón</c:v>
                </c:pt>
              </c:strCache>
            </c:strRef>
          </c:cat>
          <c:val>
            <c:numRef>
              <c:f>Hoja1!$B$2:$B$7</c:f>
              <c:numCache>
                <c:formatCode>0%</c:formatCode>
                <c:ptCount val="6"/>
                <c:pt idx="0">
                  <c:v>0.05</c:v>
                </c:pt>
                <c:pt idx="1">
                  <c:v>0.15</c:v>
                </c:pt>
                <c:pt idx="2">
                  <c:v>0.1</c:v>
                </c:pt>
                <c:pt idx="3">
                  <c:v>0.2</c:v>
                </c:pt>
                <c:pt idx="4">
                  <c:v>0.2</c:v>
                </c:pt>
                <c:pt idx="5">
                  <c:v>0.3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9939-4F2A-95CB-0F8DDB7132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21237856"/>
        <c:axId val="121251584"/>
      </c:barChart>
      <c:valAx>
        <c:axId val="121251584"/>
        <c:scaling>
          <c:orientation val="minMax"/>
          <c:max val="0.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37856"/>
        <c:crosses val="autoZero"/>
        <c:crossBetween val="between"/>
        <c:majorUnit val="0.1"/>
      </c:valAx>
      <c:catAx>
        <c:axId val="1212378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5158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1BA-46E6-83E3-4EED6412BEEC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1BA-46E6-83E3-4EED6412BEE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0.15</c:v>
                </c:pt>
                <c:pt idx="1">
                  <c:v>0.85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1BA-46E6-83E3-4EED6412BE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spPr>
            <a:solidFill>
              <a:srgbClr val="00223A"/>
            </a:solidFill>
            <a:ln w="19050">
              <a:solidFill>
                <a:srgbClr val="00223A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DB0-4353-887C-C9753F839E53}"/>
              </c:ext>
            </c:extLst>
          </c:dPt>
          <c:dPt>
            <c:idx val="1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DB0-4353-887C-C9753F839E53}"/>
              </c:ext>
            </c:extLst>
          </c:dPt>
          <c:dPt>
            <c:idx val="2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2DB0-4353-887C-C9753F839E53}"/>
              </c:ext>
            </c:extLst>
          </c:dPt>
          <c:dPt>
            <c:idx val="3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2DB0-4353-887C-C9753F839E53}"/>
              </c:ext>
            </c:extLst>
          </c:dPt>
          <c:dPt>
            <c:idx val="4"/>
            <c:invertIfNegative val="0"/>
            <c:bubble3D val="0"/>
            <c:spPr>
              <a:solidFill>
                <a:srgbClr val="00223A"/>
              </a:solidFill>
              <a:ln w="19050">
                <a:solidFill>
                  <a:srgbClr val="00223A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2DB0-4353-887C-C9753F839E53}"/>
              </c:ext>
            </c:extLst>
          </c:dPt>
          <c:dPt>
            <c:idx val="5"/>
            <c:invertIfNegative val="0"/>
            <c:bubble3D val="0"/>
            <c:spPr>
              <a:solidFill>
                <a:srgbClr val="F8961E"/>
              </a:solidFill>
              <a:ln w="19050">
                <a:solidFill>
                  <a:srgbClr val="F8961E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2DB0-4353-887C-C9753F839E53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Sí</c:v>
                </c:pt>
                <c:pt idx="1">
                  <c:v>No</c:v>
                </c:pt>
                <c:pt idx="2">
                  <c:v>No lo recuerdo</c:v>
                </c:pt>
              </c:strCache>
            </c:strRef>
          </c:cat>
          <c:val>
            <c:numRef>
              <c:f>Hoja1!$B$2:$B$4</c:f>
              <c:numCache>
                <c:formatCode>0%</c:formatCode>
                <c:ptCount val="3"/>
                <c:pt idx="0">
                  <c:v>0.3</c:v>
                </c:pt>
                <c:pt idx="1">
                  <c:v>0.1</c:v>
                </c:pt>
                <c:pt idx="2">
                  <c:v>0.6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2DB0-4353-887C-C9753F839E5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21237856"/>
        <c:axId val="121251584"/>
      </c:barChart>
      <c:valAx>
        <c:axId val="121251584"/>
        <c:scaling>
          <c:orientation val="minMax"/>
          <c:max val="0.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37856"/>
        <c:crosses val="autoZero"/>
        <c:crossBetween val="between"/>
        <c:majorUnit val="0.1"/>
      </c:valAx>
      <c:catAx>
        <c:axId val="1212378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5158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A1A-4574-B37D-5284DC7AFB9E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AA-4E0A-B33A-396F6E997B3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0.44581308622443216</c:v>
                </c:pt>
                <c:pt idx="1">
                  <c:v>0.55418691377556784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AA-4E0A-B33A-396F6E997B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spPr>
            <a:solidFill>
              <a:schemeClr val="accent1"/>
            </a:solidFill>
            <a:ln w="19050">
              <a:solidFill>
                <a:srgbClr val="ED7D31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ED7D31"/>
              </a:solidFill>
              <a:ln w="19050">
                <a:solidFill>
                  <a:srgbClr val="ED7D3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7A29-42DF-8843-B4B247B6A00A}"/>
              </c:ext>
            </c:extLst>
          </c:dPt>
          <c:dPt>
            <c:idx val="1"/>
            <c:invertIfNegative val="0"/>
            <c:bubble3D val="0"/>
            <c:spPr>
              <a:solidFill>
                <a:srgbClr val="ED7D31"/>
              </a:solidFill>
              <a:ln w="19050">
                <a:solidFill>
                  <a:srgbClr val="ED7D3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7A29-42DF-8843-B4B247B6A00A}"/>
              </c:ext>
            </c:extLst>
          </c:dPt>
          <c:dPt>
            <c:idx val="2"/>
            <c:invertIfNegative val="0"/>
            <c:bubble3D val="0"/>
            <c:spPr>
              <a:solidFill>
                <a:srgbClr val="FFC000"/>
              </a:solidFill>
              <a:ln w="19050">
                <a:solidFill>
                  <a:srgbClr val="FFC00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7A29-42DF-8843-B4B247B6A00A}"/>
              </c:ext>
            </c:extLst>
          </c:dPt>
          <c:dPt>
            <c:idx val="3"/>
            <c:invertIfNegative val="0"/>
            <c:bubble3D val="0"/>
            <c:spPr>
              <a:solidFill>
                <a:srgbClr val="92D050"/>
              </a:solidFill>
              <a:ln w="19050">
                <a:solidFill>
                  <a:srgbClr val="92D05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7A29-42DF-8843-B4B247B6A00A}"/>
              </c:ext>
            </c:extLst>
          </c:dPt>
          <c:dPt>
            <c:idx val="4"/>
            <c:invertIfNegative val="0"/>
            <c:bubble3D val="0"/>
            <c:spPr>
              <a:solidFill>
                <a:srgbClr val="92D050"/>
              </a:solidFill>
              <a:ln w="19050">
                <a:solidFill>
                  <a:srgbClr val="92D05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7A29-42DF-8843-B4B247B6A00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Muy insatisfecho/a</c:v>
                </c:pt>
                <c:pt idx="1">
                  <c:v>Insatisfecho/a</c:v>
                </c:pt>
                <c:pt idx="2">
                  <c:v>Neutro</c:v>
                </c:pt>
                <c:pt idx="3">
                  <c:v>Satisfecho/a</c:v>
                </c:pt>
                <c:pt idx="4">
                  <c:v>Muy satisfecho/a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0.05</c:v>
                </c:pt>
                <c:pt idx="1">
                  <c:v>0.15</c:v>
                </c:pt>
                <c:pt idx="2">
                  <c:v>0.1</c:v>
                </c:pt>
                <c:pt idx="3">
                  <c:v>0.4</c:v>
                </c:pt>
                <c:pt idx="4">
                  <c:v>0.3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7A29-42DF-8843-B4B247B6A00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21237856"/>
        <c:axId val="121251584"/>
      </c:barChart>
      <c:valAx>
        <c:axId val="121251584"/>
        <c:scaling>
          <c:orientation val="minMax"/>
          <c:max val="0.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37856"/>
        <c:crosses val="autoZero"/>
        <c:crossBetween val="between"/>
        <c:majorUnit val="0.1"/>
      </c:valAx>
      <c:catAx>
        <c:axId val="1212378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5158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52F6-4377-80DE-CCB974E0DABA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52F6-4377-80DE-CCB974E0DABA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52F6-4377-80DE-CCB974E0DAB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0.8</c:v>
                </c:pt>
                <c:pt idx="1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2F6-4377-80DE-CCB974E0DAB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6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A1A-4574-B37D-5284DC7AFB9E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CAA-4E0A-B33A-396F6E997B3A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0.44581308622443216</c:v>
                </c:pt>
                <c:pt idx="1">
                  <c:v>0.55418691377556784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CAA-4E0A-B33A-396F6E997B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7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spPr>
            <a:solidFill>
              <a:schemeClr val="accent1"/>
            </a:solidFill>
            <a:ln w="19050">
              <a:solidFill>
                <a:srgbClr val="ED7D31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ED7D31"/>
              </a:solidFill>
              <a:ln w="19050">
                <a:solidFill>
                  <a:srgbClr val="ED7D3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204-4B8C-BC80-5AE178D3274D}"/>
              </c:ext>
            </c:extLst>
          </c:dPt>
          <c:dPt>
            <c:idx val="1"/>
            <c:invertIfNegative val="0"/>
            <c:bubble3D val="0"/>
            <c:spPr>
              <a:solidFill>
                <a:srgbClr val="ED7D31"/>
              </a:solidFill>
              <a:ln w="19050">
                <a:solidFill>
                  <a:srgbClr val="ED7D3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204-4B8C-BC80-5AE178D3274D}"/>
              </c:ext>
            </c:extLst>
          </c:dPt>
          <c:dPt>
            <c:idx val="2"/>
            <c:invertIfNegative val="0"/>
            <c:bubble3D val="0"/>
            <c:spPr>
              <a:solidFill>
                <a:srgbClr val="FFC000"/>
              </a:solidFill>
              <a:ln w="19050">
                <a:solidFill>
                  <a:srgbClr val="FFC00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204-4B8C-BC80-5AE178D3274D}"/>
              </c:ext>
            </c:extLst>
          </c:dPt>
          <c:dPt>
            <c:idx val="3"/>
            <c:invertIfNegative val="0"/>
            <c:bubble3D val="0"/>
            <c:spPr>
              <a:solidFill>
                <a:srgbClr val="92D050"/>
              </a:solidFill>
              <a:ln w="19050">
                <a:solidFill>
                  <a:srgbClr val="92D05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204-4B8C-BC80-5AE178D3274D}"/>
              </c:ext>
            </c:extLst>
          </c:dPt>
          <c:dPt>
            <c:idx val="4"/>
            <c:invertIfNegative val="0"/>
            <c:bubble3D val="0"/>
            <c:spPr>
              <a:solidFill>
                <a:srgbClr val="92D050"/>
              </a:solidFill>
              <a:ln w="19050">
                <a:solidFill>
                  <a:srgbClr val="92D05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A204-4B8C-BC80-5AE178D3274D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Nada</c:v>
                </c:pt>
                <c:pt idx="1">
                  <c:v>Poco</c:v>
                </c:pt>
                <c:pt idx="2">
                  <c:v>Algo</c:v>
                </c:pt>
                <c:pt idx="3">
                  <c:v>Bastante</c:v>
                </c:pt>
                <c:pt idx="4">
                  <c:v>Mucho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0.05</c:v>
                </c:pt>
                <c:pt idx="1">
                  <c:v>0.15</c:v>
                </c:pt>
                <c:pt idx="2">
                  <c:v>0.1</c:v>
                </c:pt>
                <c:pt idx="3">
                  <c:v>0.4</c:v>
                </c:pt>
                <c:pt idx="4">
                  <c:v>0.3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A204-4B8C-BC80-5AE178D327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121237856"/>
        <c:axId val="121251584"/>
      </c:barChart>
      <c:valAx>
        <c:axId val="121251584"/>
        <c:scaling>
          <c:orientation val="minMax"/>
          <c:max val="0.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37856"/>
        <c:crosses val="autoZero"/>
        <c:crossBetween val="between"/>
        <c:majorUnit val="0.1"/>
      </c:valAx>
      <c:catAx>
        <c:axId val="1212378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L"/>
          </a:p>
        </c:txPr>
        <c:crossAx val="121251584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7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Hoja1!$B$1</c:f>
              <c:strCache>
                <c:ptCount val="1"/>
                <c:pt idx="0">
                  <c:v>Ventas</c:v>
                </c:pt>
              </c:strCache>
            </c:strRef>
          </c:tx>
          <c:dPt>
            <c:idx val="0"/>
            <c:bubble3D val="0"/>
            <c:spPr>
              <a:solidFill>
                <a:srgbClr val="F8961E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2AE9-480B-8A33-449EDF440EB2}"/>
              </c:ext>
            </c:extLst>
          </c:dPt>
          <c:dPt>
            <c:idx val="1"/>
            <c:bubble3D val="0"/>
            <c:spPr>
              <a:solidFill>
                <a:srgbClr val="00223A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2AE9-480B-8A33-449EDF440EB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2AE9-480B-8A33-449EDF440EB2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Hoja1!$A$2:$A$3</c:f>
              <c:strCache>
                <c:ptCount val="2"/>
                <c:pt idx="0">
                  <c:v>Sí</c:v>
                </c:pt>
                <c:pt idx="1">
                  <c:v>No</c:v>
                </c:pt>
              </c:strCache>
            </c:strRef>
          </c:cat>
          <c:val>
            <c:numRef>
              <c:f>Hoja1!$B$2:$B$3</c:f>
              <c:numCache>
                <c:formatCode>0%</c:formatCode>
                <c:ptCount val="2"/>
                <c:pt idx="0">
                  <c:v>0.8</c:v>
                </c:pt>
                <c:pt idx="1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AE9-480B-8A33-449EDF440EB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7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Hoja1!$C$1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8B31C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Hoja1!$B$2:$B$6</c:f>
              <c:strCache>
                <c:ptCount val="5"/>
                <c:pt idx="0">
                  <c:v>Sí, de algún familiar</c:v>
                </c:pt>
                <c:pt idx="1">
                  <c:v>Sí, de su padre/madre</c:v>
                </c:pt>
                <c:pt idx="2">
                  <c:v>Sí, una institución de cuidados (sala cuna, jardín, guardería, escuela, etc.)</c:v>
                </c:pt>
                <c:pt idx="3">
                  <c:v>Sí, pago para servicios de cuidado en casa (servicio doméstico, enfermera, etc.)</c:v>
                </c:pt>
                <c:pt idx="4">
                  <c:v>No cuento con apoyo</c:v>
                </c:pt>
              </c:strCache>
            </c:strRef>
          </c:cat>
          <c:val>
            <c:numRef>
              <c:f>Hoja1!$C$2:$C$6</c:f>
              <c:numCache>
                <c:formatCode>0%</c:formatCode>
                <c:ptCount val="5"/>
                <c:pt idx="0">
                  <c:v>0.40291852452371302</c:v>
                </c:pt>
                <c:pt idx="1">
                  <c:v>0.28820429671665992</c:v>
                </c:pt>
                <c:pt idx="2">
                  <c:v>9.0393190109444674E-2</c:v>
                </c:pt>
                <c:pt idx="3">
                  <c:v>2.3510336441021483E-2</c:v>
                </c:pt>
                <c:pt idx="4">
                  <c:v>0.19497365220916094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58C-4BEA-B37D-8CA8E97BE8A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620259648"/>
        <c:axId val="620260896"/>
      </c:barChart>
      <c:catAx>
        <c:axId val="62025964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620260896"/>
        <c:crosses val="autoZero"/>
        <c:auto val="1"/>
        <c:lblAlgn val="ctr"/>
        <c:lblOffset val="100"/>
        <c:noMultiLvlLbl val="0"/>
      </c:catAx>
      <c:valAx>
        <c:axId val="620260896"/>
        <c:scaling>
          <c:orientation val="minMax"/>
        </c:scaling>
        <c:delete val="1"/>
        <c:axPos val="l"/>
        <c:numFmt formatCode="0%" sourceLinked="1"/>
        <c:majorTickMark val="none"/>
        <c:minorTickMark val="none"/>
        <c:tickLblPos val="nextTo"/>
        <c:crossAx val="62025964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7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400" b="0" i="0" u="none" strike="noStrike" baseline="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¿Tienes a alguna persona a tu cuidado?</a:t>
            </a:r>
            <a:endParaRPr lang="en-US" sz="14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No, ninguna.</c:v>
                </c:pt>
                <c:pt idx="1">
                  <c:v>Sí, hijo/a(s).</c:v>
                </c:pt>
                <c:pt idx="2">
                  <c:v>Sí, hermano/a ó sobrino/a.</c:v>
                </c:pt>
                <c:pt idx="3">
                  <c:v>Sí, adulto/a mayor.</c:v>
                </c:pt>
                <c:pt idx="4">
                  <c:v>Sí, persona enferma o con alguna discapacidad.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0.72121143632048823</c:v>
                </c:pt>
                <c:pt idx="1">
                  <c:v>0.17312690699514069</c:v>
                </c:pt>
                <c:pt idx="2">
                  <c:v>4.9610125437902587E-2</c:v>
                </c:pt>
                <c:pt idx="3">
                  <c:v>3.4806192790145782E-2</c:v>
                </c:pt>
                <c:pt idx="4">
                  <c:v>2.1245338456322749E-2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ADB-48C4-AAF6-D226B4BCE2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7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¿Cuál de estas situaciones refleja de mejor forma tu trabajo actual?</a:t>
            </a:r>
            <a:endParaRPr 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Trabajo de jornada completa todos los días</c:v>
                </c:pt>
                <c:pt idx="1">
                  <c:v>Media jornada todos los días</c:v>
                </c:pt>
                <c:pt idx="2">
                  <c:v>Trabajo solo algunos días a la semana</c:v>
                </c:pt>
                <c:pt idx="3">
                  <c:v>Solo fines de semana</c:v>
                </c:pt>
                <c:pt idx="4">
                  <c:v>No trabajo ningún día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0.16770256526161148</c:v>
                </c:pt>
                <c:pt idx="1">
                  <c:v>5.3678381738049494E-2</c:v>
                </c:pt>
                <c:pt idx="2">
                  <c:v>0.15640185331675896</c:v>
                </c:pt>
                <c:pt idx="3">
                  <c:v>0.15459373940558255</c:v>
                </c:pt>
                <c:pt idx="4">
                  <c:v>0.4676234602779975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10A-4BAA-AB20-E40A7BF1AF6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7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</a:rPr>
              <a:t>De acuerdo a las condiciones que tienes para desarrollar tus actividades académicas, ¿Cuán de acuerdo estás con las siguientes afirmaciones? </a:t>
            </a:r>
            <a:endParaRPr lang="es-CL" sz="16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rgbClr val="56565A"/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title>
    <c:autoTitleDeleted val="0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Muy en desacuerdo</c:v>
                </c:pt>
              </c:strCache>
            </c:strRef>
          </c:tx>
          <c:spPr>
            <a:solidFill>
              <a:srgbClr val="E63C3F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Necesito apoyo y/o capacitación para utilizar las plataformas o herramientas tecnológicas requeridas en mi carrera (softwares, plataforma estudiantil, programas, etc.)</c:v>
                </c:pt>
                <c:pt idx="1">
                  <c:v>En Duoc UC, cuento con un espacio adecuado para estudiar o hacer mis trabajos</c:v>
                </c:pt>
                <c:pt idx="2">
                  <c:v>En mi casa, cuento con un espacio adecuado para estudiar o hacer mis trabajos</c:v>
                </c:pt>
              </c:strCache>
            </c:strRef>
          </c:cat>
          <c:val>
            <c:numRef>
              <c:f>Hoja1!$B$2:$B$4</c:f>
              <c:numCache>
                <c:formatCode>0%</c:formatCode>
                <c:ptCount val="3"/>
                <c:pt idx="0">
                  <c:v>0.21403548423550683</c:v>
                </c:pt>
                <c:pt idx="1">
                  <c:v>8.4190303989151311E-2</c:v>
                </c:pt>
                <c:pt idx="2">
                  <c:v>7.2437563566504687E-2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2C8-4668-84B5-748FA07A9DC8}"/>
            </c:ext>
          </c:extLst>
        </c:ser>
        <c:ser>
          <c:idx val="1"/>
          <c:order val="1"/>
          <c:tx>
            <c:strRef>
              <c:f>Hoja1!$C$1</c:f>
              <c:strCache>
                <c:ptCount val="1"/>
                <c:pt idx="0">
                  <c:v>En desacuerdo</c:v>
                </c:pt>
              </c:strCache>
            </c:strRef>
          </c:tx>
          <c:spPr>
            <a:solidFill>
              <a:srgbClr val="F94144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Necesito apoyo y/o capacitación para utilizar las plataformas o herramientas tecnológicas requeridas en mi carrera (softwares, plataforma estudiantil, programas, etc.)</c:v>
                </c:pt>
                <c:pt idx="1">
                  <c:v>En Duoc UC, cuento con un espacio adecuado para estudiar o hacer mis trabajos</c:v>
                </c:pt>
                <c:pt idx="2">
                  <c:v>En mi casa, cuento con un espacio adecuado para estudiar o hacer mis trabajos</c:v>
                </c:pt>
              </c:strCache>
            </c:strRef>
          </c:cat>
          <c:val>
            <c:numRef>
              <c:f>Hoja1!$C$2:$C$4</c:f>
              <c:numCache>
                <c:formatCode>0%</c:formatCode>
                <c:ptCount val="3"/>
                <c:pt idx="0">
                  <c:v>0.36975929483557463</c:v>
                </c:pt>
                <c:pt idx="1">
                  <c:v>0.22443213922477115</c:v>
                </c:pt>
                <c:pt idx="2">
                  <c:v>0.16340829472256752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2C8-4668-84B5-748FA07A9DC8}"/>
            </c:ext>
          </c:extLst>
        </c:ser>
        <c:ser>
          <c:idx val="2"/>
          <c:order val="2"/>
          <c:tx>
            <c:strRef>
              <c:f>Hoja1!$D$1</c:f>
              <c:strCache>
                <c:ptCount val="1"/>
                <c:pt idx="0">
                  <c:v>De acuerdo</c:v>
                </c:pt>
              </c:strCache>
            </c:strRef>
          </c:tx>
          <c:spPr>
            <a:solidFill>
              <a:srgbClr val="F8961E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Necesito apoyo y/o capacitación para utilizar las plataformas o herramientas tecnológicas requeridas en mi carrera (softwares, plataforma estudiantil, programas, etc.)</c:v>
                </c:pt>
                <c:pt idx="1">
                  <c:v>En Duoc UC, cuento con un espacio adecuado para estudiar o hacer mis trabajos</c:v>
                </c:pt>
                <c:pt idx="2">
                  <c:v>En mi casa, cuento con un espacio adecuado para estudiar o hacer mis trabajos</c:v>
                </c:pt>
              </c:strCache>
            </c:strRef>
          </c:cat>
          <c:val>
            <c:numRef>
              <c:f>Hoja1!$D$2:$D$4</c:f>
              <c:numCache>
                <c:formatCode>0%</c:formatCode>
                <c:ptCount val="3"/>
                <c:pt idx="0">
                  <c:v>0.30794440049723132</c:v>
                </c:pt>
                <c:pt idx="1">
                  <c:v>0.50265566730704037</c:v>
                </c:pt>
                <c:pt idx="2">
                  <c:v>0.51090518702678267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2C8-4668-84B5-748FA07A9DC8}"/>
            </c:ext>
          </c:extLst>
        </c:ser>
        <c:ser>
          <c:idx val="3"/>
          <c:order val="3"/>
          <c:tx>
            <c:strRef>
              <c:f>Hoja1!$E$1</c:f>
              <c:strCache>
                <c:ptCount val="1"/>
                <c:pt idx="0">
                  <c:v>Muy de acuerdo</c:v>
                </c:pt>
              </c:strCache>
            </c:strRef>
          </c:tx>
          <c:spPr>
            <a:solidFill>
              <a:srgbClr val="4DBD9B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Hoja1!$A$2:$A$4</c:f>
              <c:strCache>
                <c:ptCount val="3"/>
                <c:pt idx="0">
                  <c:v>Necesito apoyo y/o capacitación para utilizar las plataformas o herramientas tecnológicas requeridas en mi carrera (softwares, plataforma estudiantil, programas, etc.)</c:v>
                </c:pt>
                <c:pt idx="1">
                  <c:v>En Duoc UC, cuento con un espacio adecuado para estudiar o hacer mis trabajos</c:v>
                </c:pt>
                <c:pt idx="2">
                  <c:v>En mi casa, cuento con un espacio adecuado para estudiar o hacer mis trabajos</c:v>
                </c:pt>
              </c:strCache>
            </c:strRef>
          </c:cat>
          <c:val>
            <c:numRef>
              <c:f>Hoja1!$E$2:$E$4</c:f>
              <c:numCache>
                <c:formatCode>0%</c:formatCode>
                <c:ptCount val="3"/>
                <c:pt idx="0">
                  <c:v>0.10826082043168719</c:v>
                </c:pt>
                <c:pt idx="1">
                  <c:v>0.18872188947903717</c:v>
                </c:pt>
                <c:pt idx="2">
                  <c:v>0.2532489546841451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2C8-4668-84B5-748FA07A9DC8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348736048"/>
        <c:axId val="171021936"/>
      </c:barChart>
      <c:catAx>
        <c:axId val="34873604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t" anchorCtr="1"/>
          <a:lstStyle/>
          <a:p>
            <a:pPr>
              <a:defRPr sz="12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71021936"/>
        <c:crosses val="autoZero"/>
        <c:auto val="1"/>
        <c:lblAlgn val="l"/>
        <c:lblOffset val="100"/>
        <c:noMultiLvlLbl val="0"/>
      </c:catAx>
      <c:valAx>
        <c:axId val="171021936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rgbClr val="56565A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3487360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rgbClr val="56565A"/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s-C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solidFill>
            <a:srgbClr val="56565A"/>
          </a:solidFill>
          <a:latin typeface="Calibri Light" panose="020F0302020204030204" pitchFamily="34" charset="0"/>
          <a:cs typeface="Calibri Light" panose="020F0302020204030204" pitchFamily="34" charset="0"/>
        </a:defRPr>
      </a:pPr>
      <a:endParaRPr lang="es-CL"/>
    </a:p>
  </c:txPr>
  <c:externalData r:id="rId3">
    <c:autoUpdate val="0"/>
  </c:externalData>
</c:chartSpace>
</file>

<file path=ppt/charts/chart7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¿Espacios que más utilizas en tu sede de Duoc UC?</a:t>
            </a:r>
            <a:endParaRPr 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00223A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Hoja1!$A$2:$A$6</c:f>
              <c:strCache>
                <c:ptCount val="5"/>
                <c:pt idx="0">
                  <c:v>Áreas verdes</c:v>
                </c:pt>
                <c:pt idx="1">
                  <c:v>Otros espacios cercanos externos</c:v>
                </c:pt>
                <c:pt idx="2">
                  <c:v>Punto estudiantil</c:v>
                </c:pt>
                <c:pt idx="3">
                  <c:v>Biblioteca</c:v>
                </c:pt>
                <c:pt idx="4">
                  <c:v>Casino</c:v>
                </c:pt>
              </c:strCache>
            </c:strRef>
          </c:cat>
          <c:val>
            <c:numRef>
              <c:f>Hoja1!$B$2:$B$6</c:f>
              <c:numCache>
                <c:formatCode>0%</c:formatCode>
                <c:ptCount val="5"/>
                <c:pt idx="0">
                  <c:v>0.16770256526161148</c:v>
                </c:pt>
                <c:pt idx="1">
                  <c:v>5.3678381738049494E-2</c:v>
                </c:pt>
                <c:pt idx="2">
                  <c:v>0.15640185331675896</c:v>
                </c:pt>
                <c:pt idx="3">
                  <c:v>0.15459373940558255</c:v>
                </c:pt>
                <c:pt idx="4">
                  <c:v>0.4676234602779975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10A-4BAA-AB20-E40A7BF1AF6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hart7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r>
              <a:rPr lang="es-ES" sz="1600" b="0" i="0" u="none" strike="noStrike" baseline="0" dirty="0">
                <a:effectLst/>
                <a:latin typeface="Calibri Light" panose="020F0302020204030204" pitchFamily="34" charset="0"/>
                <a:cs typeface="Calibri Light" panose="020F0302020204030204" pitchFamily="34" charset="0"/>
              </a:rPr>
              <a:t>¿Espacios que más utilizas en tu sede de Duoc UC?</a:t>
            </a:r>
            <a:endParaRPr lang="en-U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Calibri Light" panose="020F0302020204030204" pitchFamily="34" charset="0"/>
              <a:ea typeface="+mn-ea"/>
              <a:cs typeface="Calibri Light" panose="020F0302020204030204" pitchFamily="34" charset="0"/>
            </a:defRPr>
          </a:pPr>
          <a:endParaRPr lang="en-US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Hoja1!$B$1</c:f>
              <c:strCache>
                <c:ptCount val="1"/>
                <c:pt idx="0">
                  <c:v>Serie 1</c:v>
                </c:pt>
              </c:strCache>
            </c:strRef>
          </c:tx>
          <c:spPr>
            <a:solidFill>
              <a:srgbClr val="F8961E"/>
            </a:solidFill>
            <a:ln>
              <a:solidFill>
                <a:srgbClr val="F8961E"/>
              </a:solidFill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pPr>
                <a:endParaRPr lang="es-C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Hoja1!$A$2:$A$5</c:f>
              <c:strCache>
                <c:ptCount val="4"/>
                <c:pt idx="0">
                  <c:v>Portal VIVO Duoc</c:v>
                </c:pt>
                <c:pt idx="1">
                  <c:v>AVA</c:v>
                </c:pt>
                <c:pt idx="2">
                  <c:v>Portal de acceso a clases</c:v>
                </c:pt>
                <c:pt idx="3">
                  <c:v>No utilizo los espacios Duoc UC</c:v>
                </c:pt>
              </c:strCache>
            </c:strRef>
          </c:cat>
          <c:val>
            <c:numRef>
              <c:f>Hoja1!$B$2:$B$5</c:f>
              <c:numCache>
                <c:formatCode>0%</c:formatCode>
                <c:ptCount val="4"/>
                <c:pt idx="0">
                  <c:v>6.7702565261611003E-2</c:v>
                </c:pt>
                <c:pt idx="1">
                  <c:v>5.3678381738049494E-2</c:v>
                </c:pt>
                <c:pt idx="2">
                  <c:v>5.6401853316759003E-2</c:v>
                </c:pt>
                <c:pt idx="3">
                  <c:v>0.66762346027799802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7CD-4592-85F3-89A7F47A3D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168497199"/>
        <c:axId val="1168496367"/>
      </c:barChart>
      <c:catAx>
        <c:axId val="11684971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6367"/>
        <c:crosses val="autoZero"/>
        <c:auto val="1"/>
        <c:lblAlgn val="ctr"/>
        <c:lblOffset val="100"/>
        <c:noMultiLvlLbl val="0"/>
      </c:catAx>
      <c:valAx>
        <c:axId val="116849636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pPr>
            <a:endParaRPr lang="es-CL"/>
          </a:p>
        </c:txPr>
        <c:crossAx val="116849719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5" name="Google Shape;4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799207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1" name="Google Shape;281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2" name="Google Shape;282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786088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7" name="Google Shape;167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168" name="Google Shape;168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288" name="Google Shape;288;p1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7" name="Google Shape;297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298" name="Google Shape;298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1" name="Google Shape;281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2" name="Google Shape;282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979045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87" name="Google Shape;18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480570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372545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5003901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6" name="Google Shape;386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23" name="Google Shape;423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p3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15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076100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1" name="Google Shape;311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16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286336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1" name="Google Shape;311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17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3006406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943636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1" name="Google Shape;311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2" name="Google Shape;312;p2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20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6" name="Google Shape;326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327" name="Google Shape;327;p2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348" name="Google Shape;348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3593823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7482659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99" name="Google Shape;399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00" name="Google Shape;400;p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1190176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6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4" name="Google Shape;704;p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99" name="Google Shape;399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00" name="Google Shape;400;p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8764058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2" name="Google Shape;512;p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13" name="Google Shape;513;p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5574398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9" name="Google Shape;539;p4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40" name="Google Shape;540;p4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28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4172216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7" name="Google Shape;577;p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0995303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oogle Shape;587;p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88" name="Google Shape;588;p4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89" name="Google Shape;589;p4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6456940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oogle Shape;587;p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88" name="Google Shape;588;p4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89" name="Google Shape;589;p4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3049855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4" name="Google Shape;604;p5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05" name="Google Shape;605;p5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8751816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p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88" name="Google Shape;788;p6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89" name="Google Shape;789;p6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33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p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88" name="Google Shape;788;p6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89" name="Google Shape;789;p6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7868906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p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88" name="Google Shape;788;p6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89" name="Google Shape;789;p6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7333180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7394440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348" name="Google Shape;348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37</a:t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348" name="Google Shape;348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6722621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9" name="Google Shape;36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370" name="Google Shape;370;p2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39</a:t>
            </a:fld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40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914890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2" name="Google Shape;412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3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41</a:t>
            </a:fld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3" name="Google Shape;433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3" name="Google Shape;433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5126072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0" name="Google Shape;340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0" name="Google Shape;340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9696553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0" name="Google Shape;340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7701416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4" name="Google Shape;1124;p10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5" name="Google Shape;1125;p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7" name="Google Shape;1137;p10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8" name="Google Shape;1138;p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947620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3" name="Google Shape;1163;p10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4" name="Google Shape;1164;p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3" name="Google Shape;1163;p10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4" name="Google Shape;1164;p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8436606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51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6527604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4" name="Google Shape;264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52</a:t>
            </a:fld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1" name="Google Shape;271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53</a:t>
            </a:fld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1" name="Google Shape;271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54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3878499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87" name="Google Shape;18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58520424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6" name="Google Shape;386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2938734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p7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9" name="Google Shape;899;p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28907076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58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5497454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348" name="Google Shape;348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59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2824898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348" name="Google Shape;348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19816893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348" name="Google Shape;348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625978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348" name="Google Shape;348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7340182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 dirty="0"/>
          </a:p>
        </p:txBody>
      </p:sp>
      <p:sp>
        <p:nvSpPr>
          <p:cNvPr id="348" name="Google Shape;348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55318720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37" name="Google Shape;937;p8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8" name="Google Shape;938;p8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66</a:t>
            </a:fld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7" name="Google Shape;977;p8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8" name="Google Shape;978;p8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67</a:t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Google Shape;1027;p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8" name="Google Shape;1028;p8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9" name="Google Shape;1029;p8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68</a:t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5" name="Google Shape;4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69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31528739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Google Shape;1043;p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44" name="Google Shape;1044;p9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5" name="Google Shape;1045;p9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70</a:t>
            </a:fld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" name="Google Shape;1065;p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66" name="Google Shape;1066;p9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1067" name="Google Shape;1067;p9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71</a:t>
            </a:fld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" name="Google Shape;1075;p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6" name="Google Shape;1076;p9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1077" name="Google Shape;1077;p9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72</a:t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Google Shape;1088;p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9" name="Google Shape;1089;p9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1090" name="Google Shape;1090;p9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73</a:t>
            </a:fld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" name="Google Shape;1075;p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76" name="Google Shape;1076;p9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endParaRPr/>
          </a:p>
        </p:txBody>
      </p:sp>
      <p:sp>
        <p:nvSpPr>
          <p:cNvPr id="1077" name="Google Shape;1077;p9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74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5198634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>
  <p:cSld name="Diapositiva de título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11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11"/>
          <p:cNvSpPr/>
          <p:nvPr/>
        </p:nvSpPr>
        <p:spPr>
          <a:xfrm>
            <a:off x="336644" y="1265614"/>
            <a:ext cx="11518711" cy="3944202"/>
          </a:xfrm>
          <a:prstGeom prst="rect">
            <a:avLst/>
          </a:prstGeom>
          <a:solidFill>
            <a:srgbClr val="00223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9" name="Google Shape;19;p111" descr="Tesorería General de la República (Chile) - Wikipedia, la enciclopedia libre"/>
          <p:cNvSpPr/>
          <p:nvPr/>
        </p:nvSpPr>
        <p:spPr>
          <a:xfrm flipH="1">
            <a:off x="460375" y="-180665"/>
            <a:ext cx="341002" cy="3410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" name="Google Shape;20;p111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40977" y="368941"/>
            <a:ext cx="1714378" cy="4218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72D9C4BF-0687-46AD-B39A-6837DF05B3B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61365" y="95795"/>
            <a:ext cx="2904565" cy="968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12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  <a:defRPr sz="3400" b="1" cap="small">
                <a:solidFill>
                  <a:srgbClr val="3A434C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12"/>
          <p:cNvSpPr txBox="1">
            <a:spLocks noGrp="1"/>
          </p:cNvSpPr>
          <p:nvPr>
            <p:ph type="body" idx="1"/>
          </p:nvPr>
        </p:nvSpPr>
        <p:spPr>
          <a:xfrm>
            <a:off x="491319" y="1825625"/>
            <a:ext cx="11250112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ts val="2000"/>
              <a:buChar char="•"/>
              <a:defRPr sz="2000">
                <a:solidFill>
                  <a:srgbClr val="3A434C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Calibri"/>
              </a:defRPr>
            </a:lvl1pPr>
            <a:lvl2pPr marL="914400" lvl="1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A434C"/>
              </a:buClr>
              <a:buSzPts val="2000"/>
              <a:buChar char="•"/>
              <a:defRPr sz="2000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A434C"/>
              </a:buClr>
              <a:buSzPts val="2000"/>
              <a:buChar char="•"/>
              <a:defRPr sz="2000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A434C"/>
              </a:buClr>
              <a:buSzPts val="2000"/>
              <a:buChar char="•"/>
              <a:defRPr sz="2000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3A434C"/>
              </a:buClr>
              <a:buSzPts val="2000"/>
              <a:buChar char="•"/>
              <a:defRPr sz="2000">
                <a:solidFill>
                  <a:srgbClr val="3A434C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5" name="Google Shape;25;p112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91319" y="6492874"/>
            <a:ext cx="808563" cy="188259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4655F7-05A0-442D-A5FC-983F51D08A4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28165" y="6410387"/>
            <a:ext cx="1156447" cy="38629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>
  <p:cSld name="Encabezado de sección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113"/>
          <p:cNvSpPr/>
          <p:nvPr/>
        </p:nvSpPr>
        <p:spPr>
          <a:xfrm>
            <a:off x="341193" y="2006221"/>
            <a:ext cx="11518711" cy="2879678"/>
          </a:xfrm>
          <a:prstGeom prst="rect">
            <a:avLst/>
          </a:prstGeom>
          <a:solidFill>
            <a:srgbClr val="00223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pic>
        <p:nvPicPr>
          <p:cNvPr id="3" name="Google Shape;25;p112" descr="Logotipo&#10;&#10;Descripción generada automáticamente">
            <a:extLst>
              <a:ext uri="{FF2B5EF4-FFF2-40B4-BE49-F238E27FC236}">
                <a16:creationId xmlns:a16="http://schemas.microsoft.com/office/drawing/2014/main" id="{F7800445-CEF5-4F97-A48B-9608A8DFD04E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491319" y="6378858"/>
            <a:ext cx="926601" cy="228031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554E2D06-B1BD-4EB9-A44D-B8D10B152C7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481238" y="6230240"/>
            <a:ext cx="1572495" cy="52526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Diapositiva de título">
  <p:cSld name="1_Diapositiva de título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15"/>
          <p:cNvSpPr txBox="1">
            <a:spLocks noGrp="1"/>
          </p:cNvSpPr>
          <p:nvPr>
            <p:ph type="ctrTitle"/>
          </p:nvPr>
        </p:nvSpPr>
        <p:spPr>
          <a:xfrm>
            <a:off x="1523999" y="2192338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15"/>
          <p:cNvSpPr/>
          <p:nvPr/>
        </p:nvSpPr>
        <p:spPr>
          <a:xfrm>
            <a:off x="336644" y="2543175"/>
            <a:ext cx="11518711" cy="1685926"/>
          </a:xfrm>
          <a:prstGeom prst="rect">
            <a:avLst/>
          </a:prstGeom>
          <a:solidFill>
            <a:srgbClr val="F8B31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38" name="Google Shape;38;p115" descr="Tesorería General de la República (Chile) - Wikipedia, la enciclopedia libre"/>
          <p:cNvSpPr/>
          <p:nvPr/>
        </p:nvSpPr>
        <p:spPr>
          <a:xfrm flipH="1">
            <a:off x="460375" y="-180665"/>
            <a:ext cx="341002" cy="3410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9" name="Google Shape;39;p115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40977" y="368941"/>
            <a:ext cx="1714378" cy="4218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1CC69DE7-6545-4CBA-9723-11EC6CE3938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61365" y="95795"/>
            <a:ext cx="2904565" cy="968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14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30" name="Google Shape;30;p114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 dirty="0"/>
          </a:p>
        </p:txBody>
      </p:sp>
      <p:sp>
        <p:nvSpPr>
          <p:cNvPr id="31" name="Google Shape;31;p1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653542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11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12" name="Google Shape;12;p1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3" r:id="rId4"/>
    <p:sldLayoutId id="2147483655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libri Light" panose="020F0302020204030204" pitchFamily="34" charset="0"/>
          <a:ea typeface="Calibri Light" panose="020F0302020204030204" pitchFamily="34" charset="0"/>
          <a:cs typeface="Calibri Light" panose="020F0302020204030204" pitchFamily="34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Calibri Light" panose="020F0302020204030204" pitchFamily="34" charset="0"/>
          <a:ea typeface="Calibri Light" panose="020F0302020204030204" pitchFamily="34" charset="0"/>
          <a:cs typeface="Calibri Light" panose="020F0302020204030204" pitchFamily="34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1.png"/><Relationship Id="rId4" Type="http://schemas.openxmlformats.org/officeDocument/2006/relationships/image" Target="../media/image12.svg"/><Relationship Id="rId5" Type="http://schemas.openxmlformats.org/officeDocument/2006/relationships/image" Target="../media/image13.png"/><Relationship Id="rId6" Type="http://schemas.openxmlformats.org/officeDocument/2006/relationships/image" Target="../media/image14.svg"/><Relationship Id="rId7" Type="http://schemas.openxmlformats.org/officeDocument/2006/relationships/image" Target="../media/image15.png"/><Relationship Id="rId8" Type="http://schemas.openxmlformats.org/officeDocument/2006/relationships/image" Target="../media/image16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Relationship Id="rId9" Type="http://schemas.openxmlformats.org/officeDocument/2006/relationships/image" Target="../media/image2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Relationship Id="rId8" Type="http://schemas.openxmlformats.org/officeDocument/2006/relationships/image" Target="../media/image3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chart" Target="../charts/chart8.xml"/><Relationship Id="rId4" Type="http://schemas.openxmlformats.org/officeDocument/2006/relationships/image" Target="../media/image3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chart" Target="../charts/chart9.xml"/><Relationship Id="rId4" Type="http://schemas.openxmlformats.org/officeDocument/2006/relationships/image" Target="../media/image3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10.xml"/><Relationship Id="rId4" Type="http://schemas.openxmlformats.org/officeDocument/2006/relationships/image" Target="../media/image3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11.xml"/><Relationship Id="rId4" Type="http://schemas.openxmlformats.org/officeDocument/2006/relationships/image" Target="../media/image36.png"/><Relationship Id="rId5" Type="http://schemas.openxmlformats.org/officeDocument/2006/relationships/chart" Target="../charts/chart12.xml"/><Relationship Id="rId6" Type="http://schemas.openxmlformats.org/officeDocument/2006/relationships/chart" Target="../charts/chart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14.xml"/><Relationship Id="rId4" Type="http://schemas.openxmlformats.org/officeDocument/2006/relationships/image" Target="../media/image35.png"/><Relationship Id="rId5" Type="http://schemas.openxmlformats.org/officeDocument/2006/relationships/chart" Target="../charts/chart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chart" Target="../charts/chart16.xml"/><Relationship Id="rId4" Type="http://schemas.openxmlformats.org/officeDocument/2006/relationships/chart" Target="../charts/chart17.xml"/><Relationship Id="rId5" Type="http://schemas.openxmlformats.org/officeDocument/2006/relationships/image" Target="../media/image3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18.xml"/><Relationship Id="rId4" Type="http://schemas.openxmlformats.org/officeDocument/2006/relationships/chart" Target="../charts/chart19.xml"/><Relationship Id="rId5" Type="http://schemas.openxmlformats.org/officeDocument/2006/relationships/image" Target="../media/image3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1.xml"/><Relationship Id="rId4" Type="http://schemas.openxmlformats.org/officeDocument/2006/relationships/chart" Target="../charts/chart2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25.xml"/><Relationship Id="rId4" Type="http://schemas.openxmlformats.org/officeDocument/2006/relationships/chart" Target="../charts/chart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29.xml"/><Relationship Id="rId4" Type="http://schemas.openxmlformats.org/officeDocument/2006/relationships/chart" Target="../charts/chart3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Relationship Id="rId3" Type="http://schemas.openxmlformats.org/officeDocument/2006/relationships/chart" Target="../charts/chart31.xml"/><Relationship Id="rId4" Type="http://schemas.openxmlformats.org/officeDocument/2006/relationships/chart" Target="../charts/chart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Relationship Id="rId3" Type="http://schemas.openxmlformats.org/officeDocument/2006/relationships/chart" Target="../charts/chart33.xml"/><Relationship Id="rId4" Type="http://schemas.openxmlformats.org/officeDocument/2006/relationships/chart" Target="../charts/chart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Relationship Id="rId3" Type="http://schemas.openxmlformats.org/officeDocument/2006/relationships/chart" Target="../charts/chart35.xml"/><Relationship Id="rId4" Type="http://schemas.openxmlformats.org/officeDocument/2006/relationships/chart" Target="../charts/chart36.xml"/><Relationship Id="rId5" Type="http://schemas.openxmlformats.org/officeDocument/2006/relationships/chart" Target="../charts/chart3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chart" Target="../charts/chart38.xml"/><Relationship Id="rId4" Type="http://schemas.openxmlformats.org/officeDocument/2006/relationships/chart" Target="../charts/chart39.xml"/><Relationship Id="rId5" Type="http://schemas.openxmlformats.org/officeDocument/2006/relationships/image" Target="../media/image3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chart" Target="../charts/chart40.xml"/><Relationship Id="rId4" Type="http://schemas.openxmlformats.org/officeDocument/2006/relationships/chart" Target="../charts/chart41.xml"/><Relationship Id="rId5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chart" Target="../charts/chart42.xml"/><Relationship Id="rId4" Type="http://schemas.openxmlformats.org/officeDocument/2006/relationships/image" Target="../media/image38.png"/><Relationship Id="rId5" Type="http://schemas.openxmlformats.org/officeDocument/2006/relationships/image" Target="../media/image3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Relationship Id="rId3" Type="http://schemas.openxmlformats.org/officeDocument/2006/relationships/chart" Target="../charts/chart43.xml"/><Relationship Id="rId4" Type="http://schemas.openxmlformats.org/officeDocument/2006/relationships/chart" Target="../charts/chart4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40.png"/><Relationship Id="rId4" Type="http://schemas.openxmlformats.org/officeDocument/2006/relationships/chart" Target="../charts/chart4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40.png"/><Relationship Id="rId4" Type="http://schemas.openxmlformats.org/officeDocument/2006/relationships/chart" Target="../charts/chart4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Relationship Id="rId3" Type="http://schemas.openxmlformats.org/officeDocument/2006/relationships/chart" Target="../charts/chart47.xml"/><Relationship Id="rId4" Type="http://schemas.openxmlformats.org/officeDocument/2006/relationships/image" Target="../media/image40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40.png"/><Relationship Id="rId4" Type="http://schemas.openxmlformats.org/officeDocument/2006/relationships/chart" Target="../charts/chart48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42.png"/><Relationship Id="rId4" Type="http://schemas.openxmlformats.org/officeDocument/2006/relationships/chart" Target="../charts/chart49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Relationship Id="rId3" Type="http://schemas.openxmlformats.org/officeDocument/2006/relationships/chart" Target="../charts/chart50.xml"/><Relationship Id="rId4" Type="http://schemas.openxmlformats.org/officeDocument/2006/relationships/image" Target="../media/image43.png"/><Relationship Id="rId5" Type="http://schemas.openxmlformats.org/officeDocument/2006/relationships/chart" Target="../charts/chart5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Relationship Id="rId3" Type="http://schemas.openxmlformats.org/officeDocument/2006/relationships/chart" Target="../charts/chart52.xml"/><Relationship Id="rId4" Type="http://schemas.openxmlformats.org/officeDocument/2006/relationships/image" Target="../media/image4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Relationship Id="rId3" Type="http://schemas.openxmlformats.org/officeDocument/2006/relationships/chart" Target="../charts/chart53.xml"/><Relationship Id="rId4" Type="http://schemas.openxmlformats.org/officeDocument/2006/relationships/image" Target="../media/image4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4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Relationship Id="rId3" Type="http://schemas.openxmlformats.org/officeDocument/2006/relationships/chart" Target="../charts/chart54.xml"/><Relationship Id="rId4" Type="http://schemas.openxmlformats.org/officeDocument/2006/relationships/chart" Target="../charts/chart55.xml"/><Relationship Id="rId5" Type="http://schemas.openxmlformats.org/officeDocument/2006/relationships/image" Target="../media/image49.png"/><Relationship Id="rId6" Type="http://schemas.openxmlformats.org/officeDocument/2006/relationships/image" Target="../media/image50.svg"/><Relationship Id="rId7" Type="http://schemas.openxmlformats.org/officeDocument/2006/relationships/chart" Target="../charts/chart5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57.xml"/><Relationship Id="rId3" Type="http://schemas.openxmlformats.org/officeDocument/2006/relationships/chart" Target="../charts/chart58.xml"/><Relationship Id="rId4" Type="http://schemas.openxmlformats.org/officeDocument/2006/relationships/image" Target="../media/image51.png"/><Relationship Id="rId5" Type="http://schemas.openxmlformats.org/officeDocument/2006/relationships/image" Target="../media/image52.sv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Relationship Id="rId3" Type="http://schemas.openxmlformats.org/officeDocument/2006/relationships/chart" Target="../charts/chart59.xml"/><Relationship Id="rId4" Type="http://schemas.openxmlformats.org/officeDocument/2006/relationships/chart" Target="../charts/chart60.xml"/><Relationship Id="rId5" Type="http://schemas.openxmlformats.org/officeDocument/2006/relationships/chart" Target="../charts/chart61.xml"/><Relationship Id="rId6" Type="http://schemas.openxmlformats.org/officeDocument/2006/relationships/image" Target="../media/image51.png"/><Relationship Id="rId7" Type="http://schemas.openxmlformats.org/officeDocument/2006/relationships/image" Target="../media/image52.sv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Relationship Id="rId3" Type="http://schemas.openxmlformats.org/officeDocument/2006/relationships/chart" Target="../charts/chart62.xml"/><Relationship Id="rId4" Type="http://schemas.openxmlformats.org/officeDocument/2006/relationships/image" Target="../media/image51.png"/><Relationship Id="rId5" Type="http://schemas.openxmlformats.org/officeDocument/2006/relationships/image" Target="../media/image52.svg"/><Relationship Id="rId6" Type="http://schemas.openxmlformats.org/officeDocument/2006/relationships/chart" Target="../charts/chart6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64.xml"/><Relationship Id="rId3" Type="http://schemas.openxmlformats.org/officeDocument/2006/relationships/image" Target="../media/image51.png"/><Relationship Id="rId4" Type="http://schemas.openxmlformats.org/officeDocument/2006/relationships/image" Target="../media/image52.svg"/><Relationship Id="rId5" Type="http://schemas.openxmlformats.org/officeDocument/2006/relationships/chart" Target="../charts/chart6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Relationship Id="rId3" Type="http://schemas.openxmlformats.org/officeDocument/2006/relationships/chart" Target="../charts/chart66.xml"/><Relationship Id="rId4" Type="http://schemas.openxmlformats.org/officeDocument/2006/relationships/image" Target="../media/image53.png"/><Relationship Id="rId5" Type="http://schemas.openxmlformats.org/officeDocument/2006/relationships/image" Target="../media/image54.svg"/><Relationship Id="rId6" Type="http://schemas.openxmlformats.org/officeDocument/2006/relationships/chart" Target="../charts/chart67.xml"/><Relationship Id="rId7" Type="http://schemas.openxmlformats.org/officeDocument/2006/relationships/chart" Target="../charts/chart68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Relationship Id="rId3" Type="http://schemas.openxmlformats.org/officeDocument/2006/relationships/chart" Target="../charts/chart69.xml"/><Relationship Id="rId4" Type="http://schemas.openxmlformats.org/officeDocument/2006/relationships/image" Target="../media/image55.png"/><Relationship Id="rId5" Type="http://schemas.openxmlformats.org/officeDocument/2006/relationships/image" Target="../media/image56.svg"/><Relationship Id="rId6" Type="http://schemas.openxmlformats.org/officeDocument/2006/relationships/chart" Target="../charts/chart70.xml"/><Relationship Id="rId7" Type="http://schemas.openxmlformats.org/officeDocument/2006/relationships/chart" Target="../charts/chart7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4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8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Relationship Id="rId3" Type="http://schemas.openxmlformats.org/officeDocument/2006/relationships/chart" Target="../charts/chart72.xml"/><Relationship Id="rId4" Type="http://schemas.openxmlformats.org/officeDocument/2006/relationships/chart" Target="../charts/chart73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chart" Target="../charts/chart74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Relationship Id="rId3" Type="http://schemas.openxmlformats.org/officeDocument/2006/relationships/chart" Target="../charts/chart75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Relationship Id="rId3" Type="http://schemas.openxmlformats.org/officeDocument/2006/relationships/chart" Target="../charts/chart76.xml"/><Relationship Id="rId4" Type="http://schemas.openxmlformats.org/officeDocument/2006/relationships/chart" Target="../charts/chart7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"/>
          <p:cNvSpPr txBox="1">
            <a:spLocks noGrp="1"/>
          </p:cNvSpPr>
          <p:nvPr>
            <p:ph type="ctrTitle"/>
          </p:nvPr>
        </p:nvSpPr>
        <p:spPr>
          <a:xfrm>
            <a:off x="336645" y="2377934"/>
            <a:ext cx="11518709" cy="21021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libri"/>
              <a:buNone/>
            </a:pPr>
            <a:br>
              <a:rPr lang="es-CL" sz="5400" b="1" cap="small" dirty="0">
                <a:solidFill>
                  <a:schemeClr val="lt1"/>
                </a:solidFill>
                <a:sym typeface="Calibri"/>
              </a:rPr>
            </a:br>
            <a:r>
              <a:rPr lang="es-CL" sz="4400" b="1" cap="small" dirty="0">
                <a:solidFill>
                  <a:schemeClr val="lt1"/>
                </a:solidFill>
                <a:sym typeface="Calibri"/>
              </a:rPr>
              <a:t>Radiografía del Bienestar y la Salud Mental </a:t>
            </a:r>
            <a:br>
              <a:rPr lang="es-CL" sz="4400" b="1" cap="small" dirty="0">
                <a:solidFill>
                  <a:schemeClr val="lt1"/>
                </a:solidFill>
                <a:sym typeface="Calibri"/>
              </a:rPr>
            </a:br>
            <a:r>
              <a:rPr lang="es-CL" sz="4400" b="1" cap="small" dirty="0">
                <a:solidFill>
                  <a:schemeClr val="lt1"/>
                </a:solidFill>
                <a:sym typeface="Calibri"/>
              </a:rPr>
              <a:t>2025</a:t>
            </a:r>
            <a:br>
              <a:rPr lang="es-CL" sz="4400" b="1" cap="small" dirty="0">
                <a:solidFill>
                  <a:schemeClr val="lt1"/>
                </a:solidFill>
                <a:sym typeface="Calibri"/>
              </a:rPr>
            </a:br>
            <a:br>
              <a:rPr lang="es-CL" sz="4400" b="1" cap="small" dirty="0">
                <a:solidFill>
                  <a:schemeClr val="lt1"/>
                </a:solidFill>
                <a:sym typeface="Calibri"/>
              </a:rPr>
            </a:br>
            <a:r>
              <a:rPr lang="es-CL" sz="4400" b="1" cap="small" dirty="0">
                <a:solidFill>
                  <a:schemeClr val="lt1"/>
                </a:solidFill>
                <a:sym typeface="Calibri"/>
              </a:rPr>
              <a:t>Duoc UC</a:t>
            </a:r>
            <a:endParaRPr sz="4400" dirty="0"/>
          </a:p>
        </p:txBody>
      </p:sp>
      <p:sp>
        <p:nvSpPr>
          <p:cNvPr id="50" name="Google Shape;50;p1" descr="Francisco Urdinez @ PUC Chile - Portfolio de curso de master China-Am.Latina"/>
          <p:cNvSpPr/>
          <p:nvPr/>
        </p:nvSpPr>
        <p:spPr>
          <a:xfrm>
            <a:off x="155574" y="-144463"/>
            <a:ext cx="1836779" cy="1836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1" descr="Francisco Urdinez @ PUC Chile - Portfolio de curso de master China-Am.Latina"/>
          <p:cNvSpPr/>
          <p:nvPr/>
        </p:nvSpPr>
        <p:spPr>
          <a:xfrm>
            <a:off x="155575" y="-144463"/>
            <a:ext cx="304800" cy="304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AE343CB-8787-4608-975F-885D0F5E7B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645" y="5116057"/>
            <a:ext cx="2008093" cy="1128293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775435ED-B307-42EA-9874-9FCE3BFE7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4738" y="5116056"/>
            <a:ext cx="1922034" cy="1128293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29D393B4-F575-4F80-BEE5-ADDE360BD8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027" y="5107231"/>
            <a:ext cx="1824526" cy="1137117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939009F9-0C94-40D2-AFFE-9A5B3B21D6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6773" y="5116054"/>
            <a:ext cx="2014813" cy="1128295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32562DBC-C7EE-421E-915C-CB124164BB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8724" y="5116055"/>
            <a:ext cx="2033630" cy="1128293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1B5CE52-3FF0-47FC-BB74-A93CAF11E464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5026"/>
          <a:stretch/>
        </p:blipFill>
        <p:spPr>
          <a:xfrm>
            <a:off x="9923929" y="5096181"/>
            <a:ext cx="1931425" cy="114264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4"/>
          <p:cNvSpPr txBox="1">
            <a:spLocks noGrp="1"/>
          </p:cNvSpPr>
          <p:nvPr>
            <p:ph type="title"/>
          </p:nvPr>
        </p:nvSpPr>
        <p:spPr>
          <a:xfrm>
            <a:off x="491319" y="156285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600"/>
              <a:buFont typeface="Calibri"/>
              <a:buNone/>
            </a:pPr>
            <a:r>
              <a:rPr lang="es-CL" dirty="0">
                <a:solidFill>
                  <a:srgbClr val="3F3F3F"/>
                </a:solidFill>
              </a:rPr>
              <a:t>Estructura de la presentación</a:t>
            </a:r>
            <a:endParaRPr dirty="0">
              <a:solidFill>
                <a:srgbClr val="E30613"/>
              </a:solidFill>
            </a:endParaRPr>
          </a:p>
        </p:txBody>
      </p:sp>
      <p:graphicFrame>
        <p:nvGraphicFramePr>
          <p:cNvPr id="5" name="Tabla 7">
            <a:extLst>
              <a:ext uri="{FF2B5EF4-FFF2-40B4-BE49-F238E27FC236}">
                <a16:creationId xmlns:a16="http://schemas.microsoft.com/office/drawing/2014/main" id="{1D625237-B128-4B8B-9FB7-5B83A2FE3F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2885846"/>
              </p:ext>
            </p:extLst>
          </p:nvPr>
        </p:nvGraphicFramePr>
        <p:xfrm>
          <a:off x="489884" y="1523074"/>
          <a:ext cx="7966362" cy="37084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6532009">
                  <a:extLst>
                    <a:ext uri="{9D8B030D-6E8A-4147-A177-3AD203B41FA5}">
                      <a16:colId xmlns:a16="http://schemas.microsoft.com/office/drawing/2014/main" val="2167040499"/>
                    </a:ext>
                  </a:extLst>
                </a:gridCol>
                <a:gridCol w="1434353">
                  <a:extLst>
                    <a:ext uri="{9D8B030D-6E8A-4147-A177-3AD203B41FA5}">
                      <a16:colId xmlns:a16="http://schemas.microsoft.com/office/drawing/2014/main" val="79815969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L" sz="1800" dirty="0">
                          <a:latin typeface="Calibri Light" panose="020F0302020204030204" pitchFamily="34" charset="0"/>
                          <a:ea typeface="Calibri Light" panose="020F0302020204030204" pitchFamily="34" charset="0"/>
                          <a:cs typeface="Calibri Light" panose="020F0302020204030204" pitchFamily="34" charset="0"/>
                        </a:rPr>
                        <a:t>Tema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2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800" dirty="0">
                          <a:latin typeface="Calibri Light" panose="020F0302020204030204" pitchFamily="34" charset="0"/>
                          <a:ea typeface="Calibri Light" panose="020F0302020204030204" pitchFamily="34" charset="0"/>
                          <a:cs typeface="Calibri Light" panose="020F0302020204030204" pitchFamily="34" charset="0"/>
                        </a:rPr>
                        <a:t>Lámina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2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3607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Introducción al estudio</a:t>
                      </a:r>
                    </a:p>
                  </a:txBody>
                  <a:tcPr marL="108536" marR="108536" marT="54268" marB="5426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25821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Principales hallazgos</a:t>
                      </a:r>
                    </a:p>
                  </a:txBody>
                  <a:tcPr marL="108536" marR="108536" marT="54268" marB="5426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5101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Resultados descriptivos: </a:t>
                      </a:r>
                      <a:r>
                        <a:rPr lang="es-MX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eje riegos de salud mental</a:t>
                      </a:r>
                    </a:p>
                  </a:txBody>
                  <a:tcPr marL="108536" marR="108536" marT="54268" marB="5426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14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2518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Resultados descriptivos: </a:t>
                      </a:r>
                      <a:r>
                        <a:rPr lang="es-MX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eje bienestar</a:t>
                      </a:r>
                    </a:p>
                  </a:txBody>
                  <a:tcPr marL="108536" marR="108536" marT="54268" marB="5426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42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774930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Resultados descriptivos: experiencia emocional e insights</a:t>
                      </a:r>
                    </a:p>
                  </a:txBody>
                  <a:tcPr marL="108536" marR="108536" marT="54268" marB="5426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53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643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Resultados inferenciales </a:t>
                      </a:r>
                    </a:p>
                  </a:txBody>
                  <a:tcPr marL="108536" marR="108536" marT="54268" marB="5426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58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9119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Resultados eje iniciativas</a:t>
                      </a:r>
                    </a:p>
                  </a:txBody>
                  <a:tcPr marL="108536" marR="108536" marT="54268" marB="5426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L" sz="1600" b="0" i="0" u="none" strike="noStrike" cap="none" dirty="0">
                        <a:solidFill>
                          <a:srgbClr val="3F3F3F"/>
                        </a:solidFill>
                        <a:latin typeface="Calibri Light" panose="020F0302020204030204" pitchFamily="34" charset="0"/>
                        <a:ea typeface="Calibri"/>
                        <a:cs typeface="Calibri Light" panose="020F0302020204030204" pitchFamily="34" charset="0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07275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s-CL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Síntesis y conclusiones</a:t>
                      </a:r>
                    </a:p>
                  </a:txBody>
                  <a:tcPr marL="108536" marR="108536" marT="54268" marB="5426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L" sz="1600" b="0" i="0" u="none" strike="noStrike" cap="none" dirty="0">
                        <a:solidFill>
                          <a:srgbClr val="3F3F3F"/>
                        </a:solidFill>
                        <a:latin typeface="Calibri Light" panose="020F0302020204030204" pitchFamily="34" charset="0"/>
                        <a:ea typeface="Calibri"/>
                        <a:cs typeface="Calibri Light" panose="020F0302020204030204" pitchFamily="34" charset="0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046061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s-MX" sz="1600" b="0" i="0" u="none" strike="noStrike" cap="none" dirty="0">
                          <a:solidFill>
                            <a:srgbClr val="3F3F3F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Anexos: otros datos de interés</a:t>
                      </a:r>
                    </a:p>
                  </a:txBody>
                  <a:tcPr marL="108536" marR="108536" marT="54268" marB="5426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CL" sz="1600" b="0" i="0" u="none" strike="noStrike" cap="none" dirty="0">
                        <a:solidFill>
                          <a:srgbClr val="3F3F3F"/>
                        </a:solidFill>
                        <a:latin typeface="Calibri Light" panose="020F0302020204030204" pitchFamily="34" charset="0"/>
                        <a:ea typeface="Calibri"/>
                        <a:cs typeface="Calibri Light" panose="020F0302020204030204" pitchFamily="34" charset="0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0153354"/>
                  </a:ext>
                </a:extLst>
              </a:tr>
            </a:tbl>
          </a:graphicData>
        </a:graphic>
      </p:graphicFrame>
      <p:pic>
        <p:nvPicPr>
          <p:cNvPr id="6" name="Gráfico 5" descr="Corazón con pulso con relleno sólido">
            <a:extLst>
              <a:ext uri="{FF2B5EF4-FFF2-40B4-BE49-F238E27FC236}">
                <a16:creationId xmlns:a16="http://schemas.microsoft.com/office/drawing/2014/main" id="{2A98E4D6-A245-40EF-911C-78CB010ABE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36227" y="1523074"/>
            <a:ext cx="914400" cy="914400"/>
          </a:xfrm>
          <a:prstGeom prst="rect">
            <a:avLst/>
          </a:prstGeom>
        </p:spPr>
      </p:pic>
      <p:pic>
        <p:nvPicPr>
          <p:cNvPr id="9" name="Gráfico 8" descr="Cabeza con engranajes con relleno sólido">
            <a:extLst>
              <a:ext uri="{FF2B5EF4-FFF2-40B4-BE49-F238E27FC236}">
                <a16:creationId xmlns:a16="http://schemas.microsoft.com/office/drawing/2014/main" id="{3A2789FA-E0C8-41E1-A2BB-EEAF69177EA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36227" y="2920074"/>
            <a:ext cx="914400" cy="914400"/>
          </a:xfrm>
          <a:prstGeom prst="rect">
            <a:avLst/>
          </a:prstGeom>
        </p:spPr>
      </p:pic>
      <p:pic>
        <p:nvPicPr>
          <p:cNvPr id="13" name="Gráfico 12" descr="Cerebro con relleno sólido">
            <a:extLst>
              <a:ext uri="{FF2B5EF4-FFF2-40B4-BE49-F238E27FC236}">
                <a16:creationId xmlns:a16="http://schemas.microsoft.com/office/drawing/2014/main" id="{83EDAE06-759D-4EDD-81D6-5B9486D7A6B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839900" y="431707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0737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7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Introducción al estudio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7506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4"/>
          <p:cNvSpPr txBox="1">
            <a:spLocks noGrp="1"/>
          </p:cNvSpPr>
          <p:nvPr>
            <p:ph type="title"/>
          </p:nvPr>
        </p:nvSpPr>
        <p:spPr>
          <a:xfrm>
            <a:off x="491319" y="156285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600"/>
              <a:buFont typeface="Calibri"/>
              <a:buNone/>
            </a:pPr>
            <a:r>
              <a:rPr lang="es-CL" dirty="0">
                <a:solidFill>
                  <a:srgbClr val="3F3F3F"/>
                </a:solidFill>
              </a:rPr>
              <a:t>Propósito</a:t>
            </a:r>
            <a:endParaRPr dirty="0">
              <a:solidFill>
                <a:srgbClr val="E30613"/>
              </a:solidFill>
            </a:endParaRPr>
          </a:p>
        </p:txBody>
      </p:sp>
      <p:sp>
        <p:nvSpPr>
          <p:cNvPr id="71" name="Google Shape;71;p4"/>
          <p:cNvSpPr txBox="1"/>
          <p:nvPr/>
        </p:nvSpPr>
        <p:spPr>
          <a:xfrm>
            <a:off x="491319" y="1358019"/>
            <a:ext cx="11233956" cy="2169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1600"/>
              <a:buFont typeface="Noto Sans Symbols"/>
              <a:buChar char="✔"/>
            </a:pPr>
            <a:r>
              <a:rPr lang="es-CL" sz="1600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El </a:t>
            </a:r>
            <a:r>
              <a:rPr lang="es-CL" sz="1600" b="1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propósito de este estudio </a:t>
            </a:r>
            <a:r>
              <a:rPr lang="es-CL" sz="1600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fue conocer la opinión de alumnas y alumnos pertenecientes a Duoc UC, en dimensiones relativas a su bienestar emocional y salud mental, de modo de diseñar una estrategia articulada para </a:t>
            </a:r>
            <a:r>
              <a:rPr lang="es-CL" sz="1600" b="1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reforzar, ampliar y focalizar </a:t>
            </a:r>
            <a:r>
              <a:rPr lang="es-CL" sz="1600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los apoyos que Duoc UC entrega a sus estudiantes. 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171450" marR="0" lvl="0" indent="-1079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Noto Sans Symbols"/>
              <a:buNone/>
            </a:pPr>
            <a:endParaRPr sz="1000" dirty="0">
              <a:solidFill>
                <a:srgbClr val="3F3F3F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285750" lvl="0" indent="-285750" algn="just">
              <a:lnSpc>
                <a:spcPct val="150000"/>
              </a:lnSpc>
              <a:buClr>
                <a:srgbClr val="3F3F3F"/>
              </a:buClr>
              <a:buSzPts val="1600"/>
              <a:buFont typeface="Noto Sans Symbols"/>
              <a:buChar char="✔"/>
            </a:pPr>
            <a:r>
              <a:rPr lang="es-ES" sz="1600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Con el fin de que los resultados del estudio puedan ser utilizados para informar una arquitectura básica de intervención, los </a:t>
            </a:r>
            <a:r>
              <a:rPr lang="es-ES" sz="1600" b="1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hallazgos se presentarán…</a:t>
            </a:r>
            <a:endParaRPr lang="es-ES" sz="16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88275DAC-21B3-40F5-9C39-9C87B7DBBE12}"/>
              </a:ext>
            </a:extLst>
          </p:cNvPr>
          <p:cNvSpPr txBox="1"/>
          <p:nvPr/>
        </p:nvSpPr>
        <p:spPr>
          <a:xfrm>
            <a:off x="9278471" y="365125"/>
            <a:ext cx="1532963" cy="52322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CL" dirty="0"/>
              <a:t>Texto por redactar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6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Ficha técnica</a:t>
            </a:r>
            <a:endParaRPr dirty="0"/>
          </a:p>
        </p:txBody>
      </p:sp>
      <p:sp>
        <p:nvSpPr>
          <p:cNvPr id="90" name="Google Shape;90;p6"/>
          <p:cNvSpPr txBox="1">
            <a:spLocks noGrp="1"/>
          </p:cNvSpPr>
          <p:nvPr>
            <p:ph type="body" idx="1"/>
          </p:nvPr>
        </p:nvSpPr>
        <p:spPr>
          <a:xfrm>
            <a:off x="491319" y="1270002"/>
            <a:ext cx="11250112" cy="49069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77500" lnSpcReduction="20000"/>
          </a:bodyPr>
          <a:lstStyle/>
          <a:p>
            <a:pPr marL="228600" lvl="0" indent="-1905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ct val="100000"/>
              <a:buChar char="•"/>
            </a:pPr>
            <a:r>
              <a:rPr lang="es-CL" dirty="0">
                <a:solidFill>
                  <a:srgbClr val="3F3F3F"/>
                </a:solidFill>
              </a:rPr>
              <a:t>Estudio de carácter censal. Toda la población de estudiantes fue invitada a participar. </a:t>
            </a:r>
            <a:endParaRPr dirty="0">
              <a:solidFill>
                <a:srgbClr val="3F3F3F"/>
              </a:solidFill>
            </a:endParaRPr>
          </a:p>
          <a:p>
            <a:pPr marL="228600" lvl="0" indent="-101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None/>
            </a:pPr>
            <a:endParaRPr dirty="0">
              <a:solidFill>
                <a:srgbClr val="3F3F3F"/>
              </a:solidFill>
            </a:endParaRPr>
          </a:p>
          <a:p>
            <a:pPr marL="228600" lvl="0" indent="-1905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Char char="•"/>
            </a:pPr>
            <a:r>
              <a:rPr lang="es-CL" dirty="0">
                <a:solidFill>
                  <a:srgbClr val="3F3F3F"/>
                </a:solidFill>
              </a:rPr>
              <a:t>Universo total: 94.402 estudiantes.</a:t>
            </a:r>
            <a:endParaRPr dirty="0">
              <a:solidFill>
                <a:srgbClr val="3F3F3F"/>
              </a:solidFill>
            </a:endParaRPr>
          </a:p>
          <a:p>
            <a:pPr marL="228600" lvl="0" indent="-101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None/>
            </a:pPr>
            <a:endParaRPr dirty="0">
              <a:solidFill>
                <a:srgbClr val="3F3F3F"/>
              </a:solidFill>
            </a:endParaRPr>
          </a:p>
          <a:p>
            <a:pPr marL="228600" lvl="0" indent="-1905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Char char="•"/>
            </a:pPr>
            <a:r>
              <a:rPr lang="es-CL" dirty="0">
                <a:solidFill>
                  <a:srgbClr val="3F3F3F"/>
                </a:solidFill>
              </a:rPr>
              <a:t>Estudiantes que ingresaron a la plataforma: 19.632</a:t>
            </a:r>
            <a:endParaRPr dirty="0">
              <a:solidFill>
                <a:srgbClr val="3F3F3F"/>
              </a:solidFill>
            </a:endParaRPr>
          </a:p>
          <a:p>
            <a:pPr marL="228600" lvl="0" indent="-101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None/>
            </a:pPr>
            <a:endParaRPr dirty="0">
              <a:solidFill>
                <a:srgbClr val="3F3F3F"/>
              </a:solidFill>
            </a:endParaRPr>
          </a:p>
          <a:p>
            <a:pPr marL="228600" lvl="0" indent="-1905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Char char="•"/>
            </a:pPr>
            <a:r>
              <a:rPr lang="es-CL" dirty="0">
                <a:solidFill>
                  <a:srgbClr val="3F3F3F"/>
                </a:solidFill>
              </a:rPr>
              <a:t>Estudiantes con respuestas parciales: 12.231</a:t>
            </a:r>
            <a:endParaRPr dirty="0">
              <a:solidFill>
                <a:srgbClr val="3F3F3F"/>
              </a:solidFill>
            </a:endParaRPr>
          </a:p>
          <a:p>
            <a:pPr marL="228600" lvl="0" indent="-101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None/>
            </a:pPr>
            <a:endParaRPr dirty="0">
              <a:solidFill>
                <a:srgbClr val="3F3F3F"/>
              </a:solidFill>
            </a:endParaRPr>
          </a:p>
          <a:p>
            <a:pPr marL="228600" lvl="0" indent="-1905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Char char="•"/>
            </a:pPr>
            <a:r>
              <a:rPr lang="es-CL" dirty="0">
                <a:solidFill>
                  <a:srgbClr val="3F3F3F"/>
                </a:solidFill>
              </a:rPr>
              <a:t>Estudiantes con respuestas completas que se consideraron como casos válidos para análisis: 8.849 (corresponden a un 9% del universo total de estudiantes).</a:t>
            </a:r>
            <a:endParaRPr dirty="0">
              <a:solidFill>
                <a:srgbClr val="3F3F3F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None/>
            </a:pPr>
            <a:endParaRPr dirty="0">
              <a:solidFill>
                <a:srgbClr val="3F3F3F"/>
              </a:solidFill>
            </a:endParaRPr>
          </a:p>
          <a:p>
            <a:pPr marL="228600" lvl="0" indent="-1905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Char char="•"/>
            </a:pPr>
            <a:r>
              <a:rPr lang="es-CL" dirty="0">
                <a:solidFill>
                  <a:srgbClr val="3F3F3F"/>
                </a:solidFill>
              </a:rPr>
              <a:t>Trabajo de campo: encuestas aplicadas entre 29 de septiembre y el 13 de octubre, modalidad online.</a:t>
            </a:r>
            <a:endParaRPr dirty="0">
              <a:solidFill>
                <a:srgbClr val="3F3F3F"/>
              </a:solidFill>
            </a:endParaRPr>
          </a:p>
          <a:p>
            <a:pPr marL="2286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dirty="0">
              <a:solidFill>
                <a:srgbClr val="3F3F3F"/>
              </a:solidFill>
            </a:endParaRPr>
          </a:p>
          <a:p>
            <a:pPr marL="228600" lvl="0" indent="-1905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  <a:buChar char="•"/>
            </a:pPr>
            <a:r>
              <a:rPr lang="es-CL" dirty="0">
                <a:solidFill>
                  <a:srgbClr val="3F3F3F"/>
                </a:solidFill>
              </a:rPr>
              <a:t>Todas las evaluaciones se realizaron mediante </a:t>
            </a:r>
            <a:r>
              <a:rPr lang="es-CL" dirty="0" err="1">
                <a:solidFill>
                  <a:srgbClr val="3F3F3F"/>
                </a:solidFill>
              </a:rPr>
              <a:t>auto-reportes</a:t>
            </a:r>
            <a:r>
              <a:rPr lang="es-CL" dirty="0">
                <a:solidFill>
                  <a:srgbClr val="3F3F3F"/>
                </a:solidFill>
              </a:rPr>
              <a:t>. Se prefirieron instrumentos con propiedades psicométricas conocidas para la población chilena. </a:t>
            </a:r>
            <a:endParaRPr dirty="0">
              <a:solidFill>
                <a:srgbClr val="3F3F3F"/>
              </a:solidFill>
            </a:endParaRPr>
          </a:p>
          <a:p>
            <a:pPr marL="2286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dirty="0">
              <a:solidFill>
                <a:srgbClr val="3F3F3F"/>
              </a:solidFill>
            </a:endParaRPr>
          </a:p>
          <a:p>
            <a:pPr marL="228600" lvl="0" indent="-1905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  <a:buChar char="•"/>
            </a:pPr>
            <a:r>
              <a:rPr lang="es-CL" dirty="0">
                <a:solidFill>
                  <a:srgbClr val="3F3F3F"/>
                </a:solidFill>
              </a:rPr>
              <a:t>La estructura de medición de trastornos mentales fue adaptativa y personalizada.</a:t>
            </a:r>
            <a:endParaRPr dirty="0">
              <a:solidFill>
                <a:srgbClr val="3F3F3F"/>
              </a:solidFill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None/>
            </a:pPr>
            <a:endParaRPr dirty="0"/>
          </a:p>
          <a:p>
            <a:pPr marL="228600" lvl="0" indent="-101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3A434C"/>
              </a:buClr>
              <a:buSzPct val="100000"/>
              <a:buNone/>
            </a:pPr>
            <a:endParaRPr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2BB99EFC-346B-44E8-8D1B-0EA4EA7775A1}"/>
              </a:ext>
            </a:extLst>
          </p:cNvPr>
          <p:cNvSpPr txBox="1"/>
          <p:nvPr/>
        </p:nvSpPr>
        <p:spPr>
          <a:xfrm>
            <a:off x="9278471" y="365125"/>
            <a:ext cx="1532963" cy="52322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CL" dirty="0"/>
              <a:t>Texto por redactar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7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Batería de evaluación</a:t>
            </a:r>
            <a:endParaRPr dirty="0"/>
          </a:p>
        </p:txBody>
      </p:sp>
      <p:graphicFrame>
        <p:nvGraphicFramePr>
          <p:cNvPr id="171" name="Google Shape;171;p7"/>
          <p:cNvGraphicFramePr/>
          <p:nvPr>
            <p:extLst>
              <p:ext uri="{D42A27DB-BD31-4B8C-83A1-F6EECF244321}">
                <p14:modId xmlns:p14="http://schemas.microsoft.com/office/powerpoint/2010/main" val="3246087290"/>
              </p:ext>
            </p:extLst>
          </p:nvPr>
        </p:nvGraphicFramePr>
        <p:xfrm>
          <a:off x="491319" y="1320256"/>
          <a:ext cx="10998851" cy="4856530"/>
        </p:xfrm>
        <a:graphic>
          <a:graphicData uri="http://schemas.openxmlformats.org/drawingml/2006/table">
            <a:tbl>
              <a:tblPr firstRow="1" bandRow="1">
                <a:noFill/>
                <a:tableStyleId>{991015D7-D160-4A9F-BB4E-07FA0D646497}</a:tableStyleId>
              </a:tblPr>
              <a:tblGrid>
                <a:gridCol w="2770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283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u="none" strike="noStrike" cap="small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Eje</a:t>
                      </a:r>
                      <a:endParaRPr dirty="0">
                        <a:latin typeface="Calibri Light" panose="020F0302020204030204" pitchFamily="34" charset="0"/>
                        <a:cs typeface="Calibri Light" panose="020F0302020204030204" pitchFamily="34" charset="0"/>
                      </a:endParaRPr>
                    </a:p>
                  </a:txBody>
                  <a:tcPr marL="91450" marR="91450" marT="45725" marB="45725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800" u="none" strike="noStrike" cap="small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¿Qué evalúa?</a:t>
                      </a:r>
                      <a:endParaRPr>
                        <a:latin typeface="Calibri Light" panose="020F0302020204030204" pitchFamily="34" charset="0"/>
                        <a:cs typeface="Calibri Light" panose="020F0302020204030204" pitchFamily="34" charset="0"/>
                      </a:endParaRPr>
                    </a:p>
                  </a:txBody>
                  <a:tcPr marL="91450" marR="91450" marT="45725" marB="45725"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6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Eje </a:t>
                      </a:r>
                      <a:r>
                        <a:rPr lang="es-MX" sz="1600" b="1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riesgos</a:t>
                      </a:r>
                      <a:r>
                        <a:rPr lang="es-MX" sz="16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 de salud mental</a:t>
                      </a:r>
                      <a:endParaRPr sz="1600" dirty="0">
                        <a:latin typeface="Calibri Light" panose="020F0302020204030204" pitchFamily="34" charset="0"/>
                        <a:cs typeface="Calibri Light" panose="020F0302020204030204" pitchFamily="34" charset="0"/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CL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DSM-5	</a:t>
                      </a:r>
                      <a:r>
                        <a:rPr lang="es-CL" sz="1400" u="none" strike="noStrike" cap="none" dirty="0">
                          <a:solidFill>
                            <a:schemeClr val="dk1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Arial"/>
                        </a:rPr>
                        <a:t>(S</a:t>
                      </a:r>
                      <a:r>
                        <a:rPr lang="es-CL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creening de síntomas)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CL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ED-15	(Screening de síntomas asociados a trastornos de conducta alimentaria)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CL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PSS4 	(</a:t>
                      </a:r>
                      <a:r>
                        <a:rPr lang="es-MX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E</a:t>
                      </a: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strés percibido</a:t>
                      </a:r>
                      <a:r>
                        <a:rPr lang="es-CL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ED-15 	(Trastornos de conducta alimentaria)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PHQ9	(Profundización en depresión)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GAD7	(Profundización en ansiedad)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LPFS-BF 2.0	(Profundización en trastornos en el funcionamiento de la personalidad)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CAST	(Profundización en consumo de marihuana)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CUPIT	(Profundización en consumo de marihuana)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AUDIT	(Profundización en consumo de alcohol)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C-SSRS	(Profundización en ideación suicida)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Otros	Estresores / Exigencia carga académica / Estrategias de afrontamiento / Procrastinación</a:t>
                      </a:r>
                      <a:endParaRPr lang="es-CL" sz="1400" dirty="0">
                        <a:latin typeface="Calibri Light" panose="020F0302020204030204" pitchFamily="34" charset="0"/>
                        <a:cs typeface="Calibri Light" panose="020F0302020204030204" pitchFamily="34" charset="0"/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6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Eje </a:t>
                      </a:r>
                      <a:r>
                        <a:rPr lang="es-MX" sz="1600" b="1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recursos</a:t>
                      </a:r>
                      <a:r>
                        <a:rPr lang="es-MX" sz="16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 de salud mental</a:t>
                      </a:r>
                      <a:endParaRPr sz="1600" dirty="0">
                        <a:latin typeface="Calibri Light" panose="020F0302020204030204" pitchFamily="34" charset="0"/>
                        <a:cs typeface="Calibri Light" panose="020F0302020204030204" pitchFamily="34" charset="0"/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CL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PERMA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CL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Apoyo percibido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CL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Flow </a:t>
                      </a:r>
                      <a:r>
                        <a:rPr lang="es-CL" sz="1400" u="none" strike="noStrike" cap="none" dirty="0" err="1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states</a:t>
                      </a:r>
                      <a:endParaRPr lang="es-CL" sz="1400" u="none" strike="noStrike" cap="none" dirty="0">
                        <a:solidFill>
                          <a:srgbClr val="3A434C"/>
                        </a:solidFill>
                        <a:latin typeface="Calibri Light" panose="020F0302020204030204" pitchFamily="34" charset="0"/>
                        <a:ea typeface="Calibri"/>
                        <a:cs typeface="Calibri Light" panose="020F0302020204030204" pitchFamily="34" charset="0"/>
                        <a:sym typeface="Calibri"/>
                      </a:endParaRP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CL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Estilo de vida saludable (Actividad física, Alimentación, Ingesta de líquidos)</a:t>
                      </a:r>
                      <a:endParaRPr lang="es-CL" sz="1400" dirty="0">
                        <a:latin typeface="Calibri Light" panose="020F0302020204030204" pitchFamily="34" charset="0"/>
                        <a:cs typeface="Calibri Light" panose="020F0302020204030204" pitchFamily="34" charset="0"/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9198228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6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Eje variables </a:t>
                      </a:r>
                      <a:r>
                        <a:rPr lang="es-MX" sz="1600" b="1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contextuales</a:t>
                      </a:r>
                      <a:endParaRPr sz="1600" b="1" dirty="0">
                        <a:latin typeface="Calibri Light" panose="020F0302020204030204" pitchFamily="34" charset="0"/>
                        <a:cs typeface="Calibri Light" panose="020F0302020204030204" pitchFamily="34" charset="0"/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Personas al cuidado / Situación de empleo / Condiciones para la actividad académica / Necesidad y acceso de tratamiento en salud mental / Lugar, tipo y barreras de acceso a tratamiento / Condición de salud física crónica </a:t>
                      </a:r>
                      <a:endParaRPr lang="es-MX" sz="1400" dirty="0">
                        <a:latin typeface="Calibri Light" panose="020F0302020204030204" pitchFamily="34" charset="0"/>
                        <a:cs typeface="Calibri Light" panose="020F0302020204030204" pitchFamily="34" charset="0"/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s-MX" sz="1600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Eje </a:t>
                      </a:r>
                      <a:r>
                        <a:rPr lang="es-MX" sz="1600" b="1" dirty="0">
                          <a:latin typeface="Calibri Light" panose="020F0302020204030204" pitchFamily="34" charset="0"/>
                          <a:cs typeface="Calibri Light" panose="020F0302020204030204" pitchFamily="34" charset="0"/>
                        </a:rPr>
                        <a:t>iniciativas</a:t>
                      </a: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400" u="none" strike="noStrike" cap="none" dirty="0">
                          <a:solidFill>
                            <a:srgbClr val="3A434C"/>
                          </a:solidFill>
                          <a:latin typeface="Calibri Light" panose="020F0302020204030204" pitchFamily="34" charset="0"/>
                          <a:ea typeface="Calibri"/>
                          <a:cs typeface="Calibri Light" panose="020F0302020204030204" pitchFamily="34" charset="0"/>
                          <a:sym typeface="Calibri"/>
                        </a:rPr>
                        <a:t>APP Vivo / Embajadores de la Salud Mental / Atenciones psicológicas / Bienestar Integral en Movimiento</a:t>
                      </a:r>
                      <a:endParaRPr sz="1400" u="none" strike="noStrike" cap="none" dirty="0">
                        <a:solidFill>
                          <a:srgbClr val="3A434C"/>
                        </a:solidFill>
                        <a:latin typeface="Calibri Light" panose="020F0302020204030204" pitchFamily="34" charset="0"/>
                        <a:ea typeface="Calibri"/>
                        <a:cs typeface="Calibri Light" panose="020F0302020204030204" pitchFamily="34" charset="0"/>
                        <a:sym typeface="Calibri"/>
                      </a:endParaRPr>
                    </a:p>
                  </a:txBody>
                  <a:tcPr marL="91450" marR="91450" marT="45725" marB="45725" anchor="ctr"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8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Caracterización de participantes</a:t>
            </a:r>
            <a:br>
              <a:rPr lang="es-CL" dirty="0"/>
            </a:br>
            <a:endParaRPr sz="1400" dirty="0"/>
          </a:p>
        </p:txBody>
      </p:sp>
      <p:graphicFrame>
        <p:nvGraphicFramePr>
          <p:cNvPr id="291" name="gender_pie_chart"/>
          <p:cNvGraphicFramePr/>
          <p:nvPr>
            <p:extLst>
              <p:ext uri="{D42A27DB-BD31-4B8C-83A1-F6EECF244321}">
                <p14:modId xmlns:p14="http://schemas.microsoft.com/office/powerpoint/2010/main" val="1840723605"/>
              </p:ext>
            </p:extLst>
          </p:nvPr>
        </p:nvGraphicFramePr>
        <p:xfrm>
          <a:off x="804568" y="2363337"/>
          <a:ext cx="3025342" cy="25528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92" name="student_day_pie_chart"/>
          <p:cNvGraphicFramePr/>
          <p:nvPr>
            <p:extLst>
              <p:ext uri="{D42A27DB-BD31-4B8C-83A1-F6EECF244321}">
                <p14:modId xmlns:p14="http://schemas.microsoft.com/office/powerpoint/2010/main" val="1811007523"/>
              </p:ext>
            </p:extLst>
          </p:nvPr>
        </p:nvGraphicFramePr>
        <p:xfrm>
          <a:off x="4692496" y="2363338"/>
          <a:ext cx="2807007" cy="25528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93" name="student_type_pie_chart"/>
          <p:cNvGraphicFramePr/>
          <p:nvPr>
            <p:extLst>
              <p:ext uri="{D42A27DB-BD31-4B8C-83A1-F6EECF244321}">
                <p14:modId xmlns:p14="http://schemas.microsoft.com/office/powerpoint/2010/main" val="3237093768"/>
              </p:ext>
            </p:extLst>
          </p:nvPr>
        </p:nvGraphicFramePr>
        <p:xfrm>
          <a:off x="8362089" y="2134373"/>
          <a:ext cx="2807007" cy="30107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" name="total_participantes">
            <a:extLst>
              <a:ext uri="{FF2B5EF4-FFF2-40B4-BE49-F238E27FC236}">
                <a16:creationId xmlns:a16="http://schemas.microsoft.com/office/drawing/2014/main" id="{FD6594E2-3B12-FB73-4BD3-7B79F0E7FDB7}"/>
              </a:ext>
            </a:extLst>
          </p:cNvPr>
          <p:cNvSpPr txBox="1"/>
          <p:nvPr/>
        </p:nvSpPr>
        <p:spPr>
          <a:xfrm>
            <a:off x="491319" y="890042"/>
            <a:ext cx="26310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400" b="1">
                <a:solidFill>
                  <a:srgbClr val="3A434C"/>
                </a:solidFill>
                <a:latin typeface="Calibri Light"/>
              </a:rPr>
              <a:t>CASOS VÁLIDOS (N=2,043)</a:t>
            </a:r>
            <a:endParaRPr lang="es-CL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1" name="escuelas_bar_chart"/>
          <p:cNvGraphicFramePr/>
          <p:nvPr>
            <p:extLst>
              <p:ext uri="{D42A27DB-BD31-4B8C-83A1-F6EECF244321}">
                <p14:modId xmlns:p14="http://schemas.microsoft.com/office/powerpoint/2010/main" val="2439517272"/>
              </p:ext>
            </p:extLst>
          </p:nvPr>
        </p:nvGraphicFramePr>
        <p:xfrm>
          <a:off x="1858210" y="1416783"/>
          <a:ext cx="8628929" cy="249575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02" name="sedes_bar_chart"/>
          <p:cNvGraphicFramePr/>
          <p:nvPr>
            <p:extLst>
              <p:ext uri="{D42A27DB-BD31-4B8C-83A1-F6EECF244321}">
                <p14:modId xmlns:p14="http://schemas.microsoft.com/office/powerpoint/2010/main" val="1126109642"/>
              </p:ext>
            </p:extLst>
          </p:nvPr>
        </p:nvGraphicFramePr>
        <p:xfrm>
          <a:off x="1165225" y="4100597"/>
          <a:ext cx="10291476" cy="21934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Google Shape;290;p18">
            <a:extLst>
              <a:ext uri="{FF2B5EF4-FFF2-40B4-BE49-F238E27FC236}">
                <a16:creationId xmlns:a16="http://schemas.microsoft.com/office/drawing/2014/main" id="{A0121B43-BDE4-4EA8-B1D2-962DBEEA7B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Caracterización de participantes</a:t>
            </a:r>
            <a:br>
              <a:rPr lang="es-CL" dirty="0"/>
            </a:br>
            <a:endParaRPr sz="1400" dirty="0"/>
          </a:p>
        </p:txBody>
      </p:sp>
      <p:sp>
        <p:nvSpPr>
          <p:cNvPr id="2" name="total_participantes_2">
            <a:extLst>
              <a:ext uri="{FF2B5EF4-FFF2-40B4-BE49-F238E27FC236}">
                <a16:creationId xmlns:a16="http://schemas.microsoft.com/office/drawing/2014/main" id="{E58931B8-8BCA-499E-1D4B-D021B6210CFF}"/>
              </a:ext>
            </a:extLst>
          </p:cNvPr>
          <p:cNvSpPr txBox="1"/>
          <p:nvPr/>
        </p:nvSpPr>
        <p:spPr>
          <a:xfrm>
            <a:off x="491319" y="890042"/>
            <a:ext cx="26310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400" b="1">
                <a:solidFill>
                  <a:srgbClr val="3A434C"/>
                </a:solidFill>
                <a:latin typeface="Calibri Light"/>
              </a:rPr>
              <a:t>CASOS VÁLIDOS (N=2,043)</a:t>
            </a:r>
            <a:endParaRPr lang="es-CL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7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Principales hallazgos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8003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55B296"/>
          </a:solidFill>
          <a:ln w="12700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90" name="Google Shape;190;p10"/>
          <p:cNvSpPr/>
          <p:nvPr/>
        </p:nvSpPr>
        <p:spPr>
          <a:xfrm>
            <a:off x="8796604" y="4882487"/>
            <a:ext cx="3227664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91" name="Google Shape;191;p10"/>
          <p:cNvSpPr/>
          <p:nvPr/>
        </p:nvSpPr>
        <p:spPr>
          <a:xfrm>
            <a:off x="4657432" y="4882950"/>
            <a:ext cx="330706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b="1" dirty="0">
              <a:solidFill>
                <a:schemeClr val="dk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92" name="Google Shape;192;p10"/>
          <p:cNvSpPr/>
          <p:nvPr/>
        </p:nvSpPr>
        <p:spPr>
          <a:xfrm>
            <a:off x="483862" y="4861615"/>
            <a:ext cx="3054600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96" name="Google Shape;196;p10"/>
          <p:cNvSpPr txBox="1"/>
          <p:nvPr/>
        </p:nvSpPr>
        <p:spPr>
          <a:xfrm>
            <a:off x="491319" y="419556"/>
            <a:ext cx="11639289" cy="61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Calibri"/>
              <a:buNone/>
            </a:pPr>
            <a:r>
              <a:rPr lang="es-CL" sz="34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Principales hallazgos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02" name="Google Shape;202;p10"/>
          <p:cNvSpPr/>
          <p:nvPr/>
        </p:nvSpPr>
        <p:spPr>
          <a:xfrm>
            <a:off x="6391729" y="1789881"/>
            <a:ext cx="2372779" cy="9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solidFill>
                <a:schemeClr val="dk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03" name="Google Shape;203;p10"/>
          <p:cNvSpPr/>
          <p:nvPr/>
        </p:nvSpPr>
        <p:spPr>
          <a:xfrm>
            <a:off x="2208329" y="1783754"/>
            <a:ext cx="2449103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solidFill>
                <a:schemeClr val="dk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100A3E5-955F-3CC1-516C-1D3434FCA7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48" y="1872869"/>
            <a:ext cx="779581" cy="73438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7CFC49A5-F79E-0434-8679-358EF8735E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2463" y="4122545"/>
            <a:ext cx="637397" cy="61865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0A684C97-F342-C05A-2748-1D45C222AE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1781" y="4001975"/>
            <a:ext cx="777311" cy="806331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37F8DF50-0CFD-D43A-64C4-7BA055DC19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02226" y="1872869"/>
            <a:ext cx="1268787" cy="734388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6ADE7885-19BF-06E8-3FC0-ABD542D94A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9971013" y="4001975"/>
            <a:ext cx="878845" cy="859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2486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53C3E"/>
          </a:solidFill>
          <a:ln w="12700" cap="flat" cmpd="sng">
            <a:solidFill>
              <a:srgbClr val="E53C3E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28" name="Google Shape;228;p12"/>
          <p:cNvSpPr/>
          <p:nvPr/>
        </p:nvSpPr>
        <p:spPr>
          <a:xfrm>
            <a:off x="584049" y="5436109"/>
            <a:ext cx="305452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29" name="Google Shape;229;p12"/>
          <p:cNvSpPr/>
          <p:nvPr/>
        </p:nvSpPr>
        <p:spPr>
          <a:xfrm>
            <a:off x="7576018" y="3080785"/>
            <a:ext cx="3494161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30" name="Google Shape;230;p12"/>
          <p:cNvSpPr/>
          <p:nvPr/>
        </p:nvSpPr>
        <p:spPr>
          <a:xfrm>
            <a:off x="2124373" y="3053024"/>
            <a:ext cx="3584567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 b="1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31" name="Google Shape;231;p12"/>
          <p:cNvSpPr/>
          <p:nvPr/>
        </p:nvSpPr>
        <p:spPr>
          <a:xfrm>
            <a:off x="8669221" y="5436109"/>
            <a:ext cx="3079815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32" name="Google Shape;232;p12"/>
          <p:cNvSpPr/>
          <p:nvPr/>
        </p:nvSpPr>
        <p:spPr>
          <a:xfrm>
            <a:off x="4610332" y="5445362"/>
            <a:ext cx="305452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34" name="Google Shape;234;p12"/>
          <p:cNvSpPr txBox="1"/>
          <p:nvPr/>
        </p:nvSpPr>
        <p:spPr>
          <a:xfrm>
            <a:off x="491319" y="410031"/>
            <a:ext cx="11639289" cy="61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Calibri"/>
              <a:buNone/>
            </a:pPr>
            <a:r>
              <a:rPr lang="es-CL" sz="34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Principales desafíos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235" name="Google Shape;235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30046" y="3137487"/>
            <a:ext cx="718480" cy="725031"/>
          </a:xfrm>
          <a:prstGeom prst="rect">
            <a:avLst/>
          </a:prstGeom>
          <a:solidFill>
            <a:srgbClr val="E63C3F"/>
          </a:solidFill>
          <a:ln>
            <a:noFill/>
          </a:ln>
        </p:spPr>
      </p:pic>
      <p:pic>
        <p:nvPicPr>
          <p:cNvPr id="236" name="Google Shape;236;p1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812372" y="3116273"/>
            <a:ext cx="852488" cy="767457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1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677014" y="4637287"/>
            <a:ext cx="868598" cy="798822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12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648004" y="4504482"/>
            <a:ext cx="895991" cy="931627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12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859084" y="4477122"/>
            <a:ext cx="700087" cy="958987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12"/>
          <p:cNvSpPr/>
          <p:nvPr/>
        </p:nvSpPr>
        <p:spPr>
          <a:xfrm>
            <a:off x="1689135" y="1427402"/>
            <a:ext cx="3584567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41" name="Google Shape;241;p12"/>
          <p:cNvSpPr/>
          <p:nvPr/>
        </p:nvSpPr>
        <p:spPr>
          <a:xfrm>
            <a:off x="6962837" y="1449927"/>
            <a:ext cx="3397127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32EA514-1EFC-8FB3-D077-5355F553DAF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6151" y="1476719"/>
            <a:ext cx="650863" cy="693443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3824FBDE-A207-EA14-4924-512208C054F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88004" y="1381810"/>
            <a:ext cx="440826" cy="979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277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1"/>
          <p:cNvSpPr/>
          <p:nvPr/>
        </p:nvSpPr>
        <p:spPr>
          <a:xfrm>
            <a:off x="-3977" y="7883"/>
            <a:ext cx="12192000" cy="6858000"/>
          </a:xfrm>
          <a:prstGeom prst="rect">
            <a:avLst/>
          </a:prstGeom>
          <a:solidFill>
            <a:srgbClr val="F8B31C"/>
          </a:solidFill>
          <a:ln w="12700" cap="flat" cmpd="sng">
            <a:solidFill>
              <a:srgbClr val="FFB81D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209" name="Google Shape;209;p11"/>
          <p:cNvSpPr/>
          <p:nvPr/>
        </p:nvSpPr>
        <p:spPr>
          <a:xfrm>
            <a:off x="584049" y="5194369"/>
            <a:ext cx="2759250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11" name="Google Shape;211;p11"/>
          <p:cNvSpPr/>
          <p:nvPr/>
        </p:nvSpPr>
        <p:spPr>
          <a:xfrm>
            <a:off x="4301800" y="2483663"/>
            <a:ext cx="3671591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12" name="Google Shape;212;p11"/>
          <p:cNvSpPr/>
          <p:nvPr/>
        </p:nvSpPr>
        <p:spPr>
          <a:xfrm>
            <a:off x="8669221" y="5194369"/>
            <a:ext cx="3079815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13" name="Google Shape;213;p11"/>
          <p:cNvSpPr/>
          <p:nvPr/>
        </p:nvSpPr>
        <p:spPr>
          <a:xfrm>
            <a:off x="4610332" y="5203622"/>
            <a:ext cx="305452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214" name="Google Shape;214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54215" y="1486234"/>
            <a:ext cx="675617" cy="724177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1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666109" y="4200044"/>
            <a:ext cx="851831" cy="900787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1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875190" y="4192381"/>
            <a:ext cx="667875" cy="896293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11"/>
          <p:cNvSpPr txBox="1"/>
          <p:nvPr/>
        </p:nvSpPr>
        <p:spPr>
          <a:xfrm>
            <a:off x="491319" y="419556"/>
            <a:ext cx="11639289" cy="61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Calibri"/>
              <a:buNone/>
            </a:pPr>
            <a:r>
              <a:rPr lang="es-CL" sz="34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Comparación 2022 - 2025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21" name="Google Shape;221;p11"/>
          <p:cNvSpPr/>
          <p:nvPr/>
        </p:nvSpPr>
        <p:spPr>
          <a:xfrm>
            <a:off x="-80884" y="2482991"/>
            <a:ext cx="4089115" cy="97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22" name="Google Shape;222;p11"/>
          <p:cNvSpPr/>
          <p:nvPr/>
        </p:nvSpPr>
        <p:spPr>
          <a:xfrm>
            <a:off x="8049127" y="2510321"/>
            <a:ext cx="4320000" cy="97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1140FE8-4822-276E-E4F7-BE6F4199A6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9929" y="4397688"/>
            <a:ext cx="708930" cy="738207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2CF86B05-7DCA-4AD9-8478-76AE5247EF0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84767" y="1458665"/>
            <a:ext cx="722884" cy="779317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AD80746A-2954-0CAA-20F7-E8EE6F2B904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79876" y="1486234"/>
            <a:ext cx="535394" cy="864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50785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28"/>
          <p:cNvSpPr txBox="1">
            <a:spLocks noGrp="1"/>
          </p:cNvSpPr>
          <p:nvPr>
            <p:ph type="ctrTitle"/>
          </p:nvPr>
        </p:nvSpPr>
        <p:spPr>
          <a:xfrm>
            <a:off x="1523999" y="2192338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</a:pPr>
            <a:r>
              <a:rPr lang="es-CL" cap="small" dirty="0"/>
              <a:t>Resultados descriptivos</a:t>
            </a:r>
            <a:endParaRPr cap="small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0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Resultados eje riegos de salud mental</a:t>
            </a: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endParaRPr lang="es-CL" sz="4000" b="1" cap="small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3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Sub eje estrés y afrontamiento</a:t>
            </a:r>
            <a:endParaRPr sz="30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nada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Nivel de estrés percibido</a:t>
            </a:r>
            <a:endParaRPr dirty="0"/>
          </a:p>
        </p:txBody>
      </p:sp>
      <p:graphicFrame>
        <p:nvGraphicFramePr>
          <p:cNvPr id="428" name="nivel_estres_categorias"/>
          <p:cNvGraphicFramePr/>
          <p:nvPr>
            <p:extLst>
              <p:ext uri="{D42A27DB-BD31-4B8C-83A1-F6EECF244321}">
                <p14:modId xmlns:p14="http://schemas.microsoft.com/office/powerpoint/2010/main" val="2905219155"/>
              </p:ext>
            </p:extLst>
          </p:nvPr>
        </p:nvGraphicFramePr>
        <p:xfrm>
          <a:off x="4132613" y="796926"/>
          <a:ext cx="8059387" cy="28142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9" name="nivel_estres_sedes"/>
          <p:cNvGraphicFramePr/>
          <p:nvPr>
            <p:extLst>
              <p:ext uri="{D42A27DB-BD31-4B8C-83A1-F6EECF244321}">
                <p14:modId xmlns:p14="http://schemas.microsoft.com/office/powerpoint/2010/main" val="3792720342"/>
              </p:ext>
            </p:extLst>
          </p:nvPr>
        </p:nvGraphicFramePr>
        <p:xfrm>
          <a:off x="3788229" y="3690256"/>
          <a:ext cx="8403771" cy="29266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Google Shape;437;p33">
            <a:extLst>
              <a:ext uri="{FF2B5EF4-FFF2-40B4-BE49-F238E27FC236}">
                <a16:creationId xmlns:a16="http://schemas.microsoft.com/office/drawing/2014/main" id="{0BFC570E-2A22-DF4E-8EBD-0FE30D76288A}"/>
              </a:ext>
            </a:extLst>
          </p:cNvPr>
          <p:cNvSpPr txBox="1"/>
          <p:nvPr/>
        </p:nvSpPr>
        <p:spPr>
          <a:xfrm>
            <a:off x="541698" y="4659417"/>
            <a:ext cx="2872503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/>
            <a:r>
              <a:rPr lang="es-ES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es el promedio de </a:t>
            </a:r>
            <a:r>
              <a:rPr lang="es-ES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estrés percibido</a:t>
            </a:r>
            <a:r>
              <a:rPr lang="es-ES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para los estudiantes que participaron en el estudio (considerando un 100% como un nivel de estrés extremo e intolerable).</a:t>
            </a:r>
            <a:endParaRPr lang="es-MX" sz="1600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8" name="nada">
            <a:extLst>
              <a:ext uri="{FF2B5EF4-FFF2-40B4-BE49-F238E27FC236}">
                <a16:creationId xmlns:a16="http://schemas.microsoft.com/office/drawing/2014/main" id="{8F98F07F-704E-4675-B717-3F5937AE6D80}"/>
              </a:ext>
            </a:extLst>
          </p:cNvPr>
          <p:cNvSpPr/>
          <p:nvPr/>
        </p:nvSpPr>
        <p:spPr>
          <a:xfrm>
            <a:off x="547568" y="1413773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00223A">
              <a:alpha val="74902"/>
            </a:srgbClr>
          </a:solidFill>
          <a:ln>
            <a:solidFill>
              <a:srgbClr val="00223A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sz="2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</a:p>
        </p:txBody>
      </p:sp>
      <p:sp>
        <p:nvSpPr>
          <p:cNvPr id="10" name="Google Shape;427;p32">
            <a:extLst>
              <a:ext uri="{FF2B5EF4-FFF2-40B4-BE49-F238E27FC236}">
                <a16:creationId xmlns:a16="http://schemas.microsoft.com/office/drawing/2014/main" id="{AE7F0244-B695-4145-B4BF-C54DBCD1DBF1}"/>
              </a:ext>
            </a:extLst>
          </p:cNvPr>
          <p:cNvSpPr/>
          <p:nvPr/>
        </p:nvSpPr>
        <p:spPr>
          <a:xfrm>
            <a:off x="547568" y="3503678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F8961E">
              <a:alpha val="74902"/>
            </a:srgbClr>
          </a:solidFill>
          <a:ln>
            <a:solidFill>
              <a:srgbClr val="F8961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sz="2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Duoc UC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1" name="nivel_estres_promedio_2025">
            <a:extLst>
              <a:ext uri="{FF2B5EF4-FFF2-40B4-BE49-F238E27FC236}">
                <a16:creationId xmlns:a16="http://schemas.microsoft.com/office/drawing/2014/main" id="{E1C77E2B-5B74-4EFF-879C-02D40C622499}"/>
              </a:ext>
            </a:extLst>
          </p:cNvPr>
          <p:cNvSpPr/>
          <p:nvPr/>
        </p:nvSpPr>
        <p:spPr>
          <a:xfrm>
            <a:off x="1254201" y="2106829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00223A"/>
          </a:solidFill>
          <a:ln>
            <a:solidFill>
              <a:srgbClr val="00223A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sz="6000" b="1">
                <a:solidFill>
                  <a:srgbClr val="FFFFFF"/>
                </a:solidFill>
                <a:latin typeface="Calibri Light"/>
              </a:rPr>
              <a:t>44%</a:t>
            </a:r>
          </a:p>
        </p:txBody>
      </p:sp>
      <p:sp>
        <p:nvSpPr>
          <p:cNvPr id="2" name="nivel_estres_promedio_2022">
            <a:extLst>
              <a:ext uri="{FF2B5EF4-FFF2-40B4-BE49-F238E27FC236}">
                <a16:creationId xmlns:a16="http://schemas.microsoft.com/office/drawing/2014/main" id="{47E56322-8BBA-B4A3-9149-EB21D1FABE89}"/>
              </a:ext>
            </a:extLst>
          </p:cNvPr>
          <p:cNvSpPr txBox="1"/>
          <p:nvPr/>
        </p:nvSpPr>
        <p:spPr>
          <a:xfrm>
            <a:off x="699796" y="1511556"/>
            <a:ext cx="77444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Calibri Light"/>
              </a:rPr>
              <a:t>53%</a:t>
            </a:r>
            <a:endParaRPr lang="es-CL" dirty="0"/>
          </a:p>
        </p:txBody>
      </p:sp>
      <p:sp>
        <p:nvSpPr>
          <p:cNvPr id="3" name="nivel_estres_promedio_2025_2">
            <a:extLst>
              <a:ext uri="{FF2B5EF4-FFF2-40B4-BE49-F238E27FC236}">
                <a16:creationId xmlns:a16="http://schemas.microsoft.com/office/drawing/2014/main" id="{0904F456-94E7-16CA-96D0-43B390A83519}"/>
              </a:ext>
            </a:extLst>
          </p:cNvPr>
          <p:cNvSpPr txBox="1"/>
          <p:nvPr/>
        </p:nvSpPr>
        <p:spPr>
          <a:xfrm>
            <a:off x="625151" y="3634270"/>
            <a:ext cx="8490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2500" b="1">
                <a:solidFill>
                  <a:srgbClr val="FFFFFF"/>
                </a:solidFill>
                <a:latin typeface="Calibri Light"/>
              </a:rPr>
              <a:t>44%</a:t>
            </a:r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3006985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1"/>
          <p:cNvSpPr txBox="1">
            <a:spLocks noGrp="1"/>
          </p:cNvSpPr>
          <p:nvPr>
            <p:ph type="title"/>
          </p:nvPr>
        </p:nvSpPr>
        <p:spPr>
          <a:xfrm>
            <a:off x="414316" y="396587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lvl="0"/>
            <a:r>
              <a:rPr lang="es-CL" dirty="0"/>
              <a:t>Estresores</a:t>
            </a:r>
            <a:br>
              <a:rPr lang="es-CL" dirty="0"/>
            </a:br>
            <a:r>
              <a:rPr lang="es-ES" sz="2200" b="0" dirty="0"/>
              <a:t>¿Cuáles de las siguientes situaciones presentan un problema que te afecte actualmente? </a:t>
            </a:r>
            <a:br>
              <a:rPr lang="es-ES" sz="2200" b="0" dirty="0"/>
            </a:br>
            <a:r>
              <a:rPr lang="es-ES" sz="2200" i="1" dirty="0"/>
              <a:t>Resultados por Sexo</a:t>
            </a:r>
            <a:br>
              <a:rPr lang="es-ES" sz="2200" b="0" dirty="0"/>
            </a:br>
            <a:endParaRPr sz="2200" b="0" dirty="0"/>
          </a:p>
        </p:txBody>
      </p:sp>
      <p:graphicFrame>
        <p:nvGraphicFramePr>
          <p:cNvPr id="4" name="estresores_por_genero">
            <a:extLst>
              <a:ext uri="{FF2B5EF4-FFF2-40B4-BE49-F238E27FC236}">
                <a16:creationId xmlns:a16="http://schemas.microsoft.com/office/drawing/2014/main" id="{8103CFB3-65F2-4BDB-99D2-9B8B1658FE2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03150310"/>
              </p:ext>
            </p:extLst>
          </p:nvPr>
        </p:nvGraphicFramePr>
        <p:xfrm>
          <a:off x="1116106" y="1380199"/>
          <a:ext cx="9959788" cy="53322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5" name="Google Shape;316;p21">
            <a:extLst>
              <a:ext uri="{FF2B5EF4-FFF2-40B4-BE49-F238E27FC236}">
                <a16:creationId xmlns:a16="http://schemas.microsoft.com/office/drawing/2014/main" id="{A1290AF1-4DD3-4575-9164-E1B6CD07040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001374" y="203202"/>
            <a:ext cx="916771" cy="900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1928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1"/>
          <p:cNvSpPr txBox="1">
            <a:spLocks noGrp="1"/>
          </p:cNvSpPr>
          <p:nvPr>
            <p:ph type="title"/>
          </p:nvPr>
        </p:nvSpPr>
        <p:spPr>
          <a:xfrm>
            <a:off x="414316" y="396587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lvl="0"/>
            <a:r>
              <a:rPr lang="es-CL" dirty="0"/>
              <a:t>Estresores</a:t>
            </a:r>
            <a:br>
              <a:rPr lang="es-CL" dirty="0"/>
            </a:br>
            <a:r>
              <a:rPr lang="es-ES" sz="2200" b="0" dirty="0"/>
              <a:t>¿Cuáles de las siguientes situaciones presentan un problema que te afecte actualmente? </a:t>
            </a:r>
            <a:br>
              <a:rPr lang="es-ES" sz="2200" b="0" dirty="0"/>
            </a:br>
            <a:r>
              <a:rPr lang="es-ES" sz="2200" i="1" dirty="0"/>
              <a:t>Resultados por Jornada</a:t>
            </a:r>
            <a:br>
              <a:rPr lang="es-ES" sz="2200" b="0" dirty="0"/>
            </a:br>
            <a:endParaRPr sz="2200" b="0" dirty="0"/>
          </a:p>
        </p:txBody>
      </p:sp>
      <p:graphicFrame>
        <p:nvGraphicFramePr>
          <p:cNvPr id="4" name="estresores_por_jornada">
            <a:extLst>
              <a:ext uri="{FF2B5EF4-FFF2-40B4-BE49-F238E27FC236}">
                <a16:creationId xmlns:a16="http://schemas.microsoft.com/office/drawing/2014/main" id="{8103CFB3-65F2-4BDB-99D2-9B8B1658FE2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79584080"/>
              </p:ext>
            </p:extLst>
          </p:nvPr>
        </p:nvGraphicFramePr>
        <p:xfrm>
          <a:off x="1116106" y="1380199"/>
          <a:ext cx="9959788" cy="53322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5" name="Google Shape;316;p21">
            <a:extLst>
              <a:ext uri="{FF2B5EF4-FFF2-40B4-BE49-F238E27FC236}">
                <a16:creationId xmlns:a16="http://schemas.microsoft.com/office/drawing/2014/main" id="{A1290AF1-4DD3-4575-9164-E1B6CD07040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001374" y="203202"/>
            <a:ext cx="916771" cy="900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03502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22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Estresores – Exigencia carga académica</a:t>
            </a:r>
            <a:br>
              <a:rPr lang="es-CL" dirty="0"/>
            </a:br>
            <a:r>
              <a:rPr lang="es-CL" sz="2000" b="0" dirty="0"/>
              <a:t>Entre quienes reportaron como estresor “Carga académica exigente”</a:t>
            </a:r>
            <a:endParaRPr sz="2900" b="0" dirty="0"/>
          </a:p>
        </p:txBody>
      </p:sp>
      <p:graphicFrame>
        <p:nvGraphicFramePr>
          <p:cNvPr id="322" name="exigencia_academica"/>
          <p:cNvGraphicFramePr/>
          <p:nvPr>
            <p:extLst>
              <p:ext uri="{D42A27DB-BD31-4B8C-83A1-F6EECF244321}">
                <p14:modId xmlns:p14="http://schemas.microsoft.com/office/powerpoint/2010/main" val="2296239787"/>
              </p:ext>
            </p:extLst>
          </p:nvPr>
        </p:nvGraphicFramePr>
        <p:xfrm>
          <a:off x="2174875" y="1762125"/>
          <a:ext cx="8128000" cy="41857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323" name="Google Shape;323;p2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343601" y="119748"/>
            <a:ext cx="714159" cy="9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22"/>
          <p:cNvSpPr txBox="1">
            <a:spLocks noGrp="1"/>
          </p:cNvSpPr>
          <p:nvPr>
            <p:ph type="title"/>
          </p:nvPr>
        </p:nvSpPr>
        <p:spPr>
          <a:xfrm>
            <a:off x="491317" y="56543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lvl="0"/>
            <a:r>
              <a:rPr lang="es-CL" dirty="0"/>
              <a:t>Estresores – Exigencia carga académica</a:t>
            </a:r>
            <a:br>
              <a:rPr lang="es-CL" dirty="0"/>
            </a:br>
            <a:r>
              <a:rPr lang="es-ES" sz="2000" b="0" i="1" dirty="0"/>
              <a:t>¿Cuáles de las siguientes razones explican que la carga académica te resulte exigente?</a:t>
            </a:r>
            <a:br>
              <a:rPr lang="es-ES" sz="2000" b="0" i="1" dirty="0"/>
            </a:br>
            <a:r>
              <a:rPr lang="es-CL" sz="2000" b="0" dirty="0"/>
              <a:t>Entre quienes reportaron como estresor “Carga académica exigente”</a:t>
            </a:r>
            <a:br>
              <a:rPr lang="es-CL" sz="2000" b="0" dirty="0"/>
            </a:br>
            <a:r>
              <a:rPr lang="es-ES" sz="2000" i="1" dirty="0"/>
              <a:t>Resultados por tipo de alumno</a:t>
            </a:r>
            <a:br>
              <a:rPr lang="es-ES" sz="2000" b="0" dirty="0"/>
            </a:br>
            <a:endParaRPr sz="2900" b="0" dirty="0"/>
          </a:p>
        </p:txBody>
      </p:sp>
      <p:graphicFrame>
        <p:nvGraphicFramePr>
          <p:cNvPr id="322" name="exigencia_academica_inicio"/>
          <p:cNvGraphicFramePr/>
          <p:nvPr>
            <p:extLst>
              <p:ext uri="{D42A27DB-BD31-4B8C-83A1-F6EECF244321}">
                <p14:modId xmlns:p14="http://schemas.microsoft.com/office/powerpoint/2010/main" val="2046050906"/>
              </p:ext>
            </p:extLst>
          </p:nvPr>
        </p:nvGraphicFramePr>
        <p:xfrm>
          <a:off x="323679" y="1838324"/>
          <a:ext cx="3806361" cy="42271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323" name="Google Shape;323;p2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343601" y="119748"/>
            <a:ext cx="714159" cy="900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5" name="exigencia_academica_continuidad"/>
          <p:cNvGraphicFramePr/>
          <p:nvPr>
            <p:extLst>
              <p:ext uri="{D42A27DB-BD31-4B8C-83A1-F6EECF244321}">
                <p14:modId xmlns:p14="http://schemas.microsoft.com/office/powerpoint/2010/main" val="389852781"/>
              </p:ext>
            </p:extLst>
          </p:nvPr>
        </p:nvGraphicFramePr>
        <p:xfrm>
          <a:off x="4407782" y="1838324"/>
          <a:ext cx="3806361" cy="42271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6" name="exigencia_academica_admision_especial"/>
          <p:cNvGraphicFramePr/>
          <p:nvPr>
            <p:extLst>
              <p:ext uri="{D42A27DB-BD31-4B8C-83A1-F6EECF244321}">
                <p14:modId xmlns:p14="http://schemas.microsoft.com/office/powerpoint/2010/main" val="3853227668"/>
              </p:ext>
            </p:extLst>
          </p:nvPr>
        </p:nvGraphicFramePr>
        <p:xfrm>
          <a:off x="8202108" y="1838324"/>
          <a:ext cx="3806361" cy="42271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34737765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1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Estresores 2022 - 2025</a:t>
            </a:r>
            <a:endParaRPr dirty="0"/>
          </a:p>
        </p:txBody>
      </p:sp>
      <p:graphicFrame>
        <p:nvGraphicFramePr>
          <p:cNvPr id="315" name="estresores_top5_2022"/>
          <p:cNvGraphicFramePr/>
          <p:nvPr>
            <p:extLst>
              <p:ext uri="{D42A27DB-BD31-4B8C-83A1-F6EECF244321}">
                <p14:modId xmlns:p14="http://schemas.microsoft.com/office/powerpoint/2010/main" val="1727685633"/>
              </p:ext>
            </p:extLst>
          </p:nvPr>
        </p:nvGraphicFramePr>
        <p:xfrm>
          <a:off x="2533127" y="1390650"/>
          <a:ext cx="9597481" cy="21083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316" name="Google Shape;316;p2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001374" y="203202"/>
            <a:ext cx="916771" cy="9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427;p32">
            <a:extLst>
              <a:ext uri="{FF2B5EF4-FFF2-40B4-BE49-F238E27FC236}">
                <a16:creationId xmlns:a16="http://schemas.microsoft.com/office/drawing/2014/main" id="{65A6203E-2A5D-4C3D-B26F-5319B49B28AB}"/>
              </a:ext>
            </a:extLst>
          </p:cNvPr>
          <p:cNvSpPr/>
          <p:nvPr/>
        </p:nvSpPr>
        <p:spPr>
          <a:xfrm>
            <a:off x="394097" y="1834804"/>
            <a:ext cx="2160000" cy="863601"/>
          </a:xfrm>
          <a:prstGeom prst="roundRect">
            <a:avLst>
              <a:gd name="adj" fmla="val 16667"/>
            </a:avLst>
          </a:prstGeom>
          <a:solidFill>
            <a:srgbClr val="00223A">
              <a:alpha val="74902"/>
            </a:srgbClr>
          </a:solidFill>
          <a:ln>
            <a:solidFill>
              <a:srgbClr val="00223A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2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7" name="Google Shape;427;p32">
            <a:extLst>
              <a:ext uri="{FF2B5EF4-FFF2-40B4-BE49-F238E27FC236}">
                <a16:creationId xmlns:a16="http://schemas.microsoft.com/office/drawing/2014/main" id="{7AEECA03-7141-449B-8B7C-8C9A8AFFCBEF}"/>
              </a:ext>
            </a:extLst>
          </p:cNvPr>
          <p:cNvSpPr/>
          <p:nvPr/>
        </p:nvSpPr>
        <p:spPr>
          <a:xfrm>
            <a:off x="394097" y="4401138"/>
            <a:ext cx="2160000" cy="863601"/>
          </a:xfrm>
          <a:prstGeom prst="roundRect">
            <a:avLst>
              <a:gd name="adj" fmla="val 16667"/>
            </a:avLst>
          </a:prstGeom>
          <a:solidFill>
            <a:srgbClr val="00223A"/>
          </a:solidFill>
          <a:ln>
            <a:solidFill>
              <a:srgbClr val="00223A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2025</a:t>
            </a:r>
            <a:endParaRPr sz="2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" name="estresores_top5_2025">
            <a:extLst>
              <a:ext uri="{FF2B5EF4-FFF2-40B4-BE49-F238E27FC236}">
                <a16:creationId xmlns:a16="http://schemas.microsoft.com/office/drawing/2014/main" id="{62EC4AD2-3B7D-90FC-D213-96859FBC34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78110466"/>
              </p:ext>
            </p:extLst>
          </p:nvPr>
        </p:nvGraphicFramePr>
        <p:xfrm>
          <a:off x="2533126" y="3943133"/>
          <a:ext cx="9597481" cy="21083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9" name="afrontamiento_estres"/>
          <p:cNvGraphicFramePr/>
          <p:nvPr>
            <p:extLst>
              <p:ext uri="{D42A27DB-BD31-4B8C-83A1-F6EECF244321}">
                <p14:modId xmlns:p14="http://schemas.microsoft.com/office/powerpoint/2010/main" val="2530827904"/>
              </p:ext>
            </p:extLst>
          </p:nvPr>
        </p:nvGraphicFramePr>
        <p:xfrm>
          <a:off x="1171575" y="1797227"/>
          <a:ext cx="6572248" cy="40157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30" name="Google Shape;330;p23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2800"/>
              <a:buFont typeface="Calibri"/>
              <a:buNone/>
            </a:pPr>
            <a:r>
              <a:rPr lang="es-CL" sz="2800" dirty="0"/>
              <a:t>Estrategias de afrontamiento  </a:t>
            </a:r>
            <a:endParaRPr dirty="0"/>
          </a:p>
        </p:txBody>
      </p:sp>
      <p:sp>
        <p:nvSpPr>
          <p:cNvPr id="332" name="Google Shape;332;p23"/>
          <p:cNvSpPr txBox="1"/>
          <p:nvPr/>
        </p:nvSpPr>
        <p:spPr>
          <a:xfrm>
            <a:off x="866775" y="1150938"/>
            <a:ext cx="984885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b="0" i="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Respecto a las situaciones que señalaste que representaban un problema para ti, y selecciona qué has hecho al respecto:</a:t>
            </a:r>
            <a:endParaRPr sz="18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335" name="Google Shape;335;p23"/>
          <p:cNvSpPr txBox="1"/>
          <p:nvPr/>
        </p:nvSpPr>
        <p:spPr>
          <a:xfrm>
            <a:off x="8284260" y="4307321"/>
            <a:ext cx="4156881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sz="3400" b="1" cap="small" dirty="0">
                <a:solidFill>
                  <a:srgbClr val="3A434C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Procrastinación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graphicFrame>
        <p:nvGraphicFramePr>
          <p:cNvPr id="336" name="procrastinacion"/>
          <p:cNvGraphicFramePr/>
          <p:nvPr>
            <p:extLst>
              <p:ext uri="{D42A27DB-BD31-4B8C-83A1-F6EECF244321}">
                <p14:modId xmlns:p14="http://schemas.microsoft.com/office/powerpoint/2010/main" val="994849556"/>
              </p:ext>
            </p:extLst>
          </p:nvPr>
        </p:nvGraphicFramePr>
        <p:xfrm>
          <a:off x="7266589" y="5211223"/>
          <a:ext cx="5542497" cy="144477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337" name="Google Shape;337;p2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291887" y="210455"/>
            <a:ext cx="579947" cy="9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5"/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 dirty="0">
                <a:solidFill>
                  <a:srgbClr val="3F3F3F"/>
                </a:solidFill>
              </a:rPr>
              <a:t>Condición de salud crónica</a:t>
            </a:r>
            <a:endParaRPr sz="3200" dirty="0">
              <a:solidFill>
                <a:srgbClr val="0070C0"/>
              </a:solidFill>
            </a:endParaRPr>
          </a:p>
        </p:txBody>
      </p:sp>
      <p:sp>
        <p:nvSpPr>
          <p:cNvPr id="351" name="Google Shape;351;p25"/>
          <p:cNvSpPr txBox="1"/>
          <p:nvPr/>
        </p:nvSpPr>
        <p:spPr>
          <a:xfrm>
            <a:off x="5751560" y="4666434"/>
            <a:ext cx="38985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193447" y="1711886"/>
            <a:ext cx="5548087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¿Tienes actualmente alguna condición médica de </a:t>
            </a:r>
            <a:r>
              <a:rPr lang="es-MX" sz="1600" b="1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larga duración</a:t>
            </a: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, diagnosticada por un profesional de salud?</a:t>
            </a:r>
          </a:p>
          <a:p>
            <a:pPr algn="ctr"/>
            <a:endParaRPr lang="es-MX"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</a:endParaRPr>
          </a:p>
        </p:txBody>
      </p:sp>
      <p:graphicFrame>
        <p:nvGraphicFramePr>
          <p:cNvPr id="353" name="salud_cronica1"/>
          <p:cNvGraphicFramePr/>
          <p:nvPr>
            <p:extLst>
              <p:ext uri="{D42A27DB-BD31-4B8C-83A1-F6EECF244321}">
                <p14:modId xmlns:p14="http://schemas.microsoft.com/office/powerpoint/2010/main" val="3519222684"/>
              </p:ext>
            </p:extLst>
          </p:nvPr>
        </p:nvGraphicFramePr>
        <p:xfrm>
          <a:off x="0" y="2225080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54" name="Google Shape;354;p25"/>
          <p:cNvSpPr txBox="1"/>
          <p:nvPr/>
        </p:nvSpPr>
        <p:spPr>
          <a:xfrm>
            <a:off x="6022685" y="2715408"/>
            <a:ext cx="5548087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¿Te encuentras actualmente en tratamiento médico o bajo control por esta(s) condición(es)?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5" name="salud_cronica2"/>
          <p:cNvGraphicFramePr/>
          <p:nvPr>
            <p:extLst>
              <p:ext uri="{D42A27DB-BD31-4B8C-83A1-F6EECF244321}">
                <p14:modId xmlns:p14="http://schemas.microsoft.com/office/powerpoint/2010/main" val="2549886578"/>
              </p:ext>
            </p:extLst>
          </p:nvPr>
        </p:nvGraphicFramePr>
        <p:xfrm>
          <a:off x="6053528" y="3140317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56" name="Google Shape;356;p25"/>
          <p:cNvSpPr/>
          <p:nvPr/>
        </p:nvSpPr>
        <p:spPr>
          <a:xfrm>
            <a:off x="4627349" y="4344588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7F7F7F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5"/>
          <p:cNvSpPr txBox="1"/>
          <p:nvPr/>
        </p:nvSpPr>
        <p:spPr>
          <a:xfrm>
            <a:off x="2712356" y="5081137"/>
            <a:ext cx="55480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pic>
        <p:nvPicPr>
          <p:cNvPr id="358" name="Google Shape;358;p2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039476" y="190198"/>
            <a:ext cx="857143" cy="9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352;p25">
            <a:extLst>
              <a:ext uri="{FF2B5EF4-FFF2-40B4-BE49-F238E27FC236}">
                <a16:creationId xmlns:a16="http://schemas.microsoft.com/office/drawing/2014/main" id="{04A490B3-5449-7620-0CCB-915C57BEB288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MX" sz="1200" dirty="0">
                <a:solidFill>
                  <a:srgbClr val="595959"/>
                </a:solidFill>
                <a:latin typeface="Calibri Light"/>
                <a:ea typeface="Calibri"/>
                <a:cs typeface="Calibri Light"/>
                <a:sym typeface="Calibri"/>
              </a:rPr>
              <a:t>Nota: esta pregunta incluye un total de XXXX respuestas.</a:t>
            </a:r>
          </a:p>
        </p:txBody>
      </p:sp>
    </p:spTree>
    <p:extLst>
      <p:ext uri="{BB962C8B-B14F-4D97-AF65-F5344CB8AC3E}">
        <p14:creationId xmlns:p14="http://schemas.microsoft.com/office/powerpoint/2010/main" val="391977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0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Resultados eje riegos de salud mental</a:t>
            </a: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endParaRPr lang="es-CL" sz="4000" b="1" cap="small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3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Sub eje tamizaje en salud mental</a:t>
            </a:r>
            <a:endParaRPr sz="30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25167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rupo_verde"/>
          <p:cNvSpPr/>
          <p:nvPr/>
        </p:nvSpPr>
        <p:spPr>
          <a:xfrm>
            <a:off x="1000207" y="1534848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55B29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sz="6000" b="1">
                <a:solidFill>
                  <a:srgbClr val="FFFFFF"/>
                </a:solidFill>
                <a:latin typeface="Calibri Light"/>
              </a:rPr>
              <a:t>2%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403" name="Google Shape;403;p30"/>
          <p:cNvSpPr txBox="1"/>
          <p:nvPr/>
        </p:nvSpPr>
        <p:spPr>
          <a:xfrm>
            <a:off x="910207" y="3381335"/>
            <a:ext cx="23400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Grupo promoción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(Sin malestar clínico)</a:t>
            </a:r>
            <a:endParaRPr sz="1600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409" name="Google Shape;409;p30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/>
              <a:t>Salud mental</a:t>
            </a:r>
            <a:endParaRPr/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8D964248-D28D-3787-5950-E0B0AC662034}"/>
              </a:ext>
            </a:extLst>
          </p:cNvPr>
          <p:cNvCxnSpPr>
            <a:cxnSpLocks/>
          </p:cNvCxnSpPr>
          <p:nvPr/>
        </p:nvCxnSpPr>
        <p:spPr>
          <a:xfrm>
            <a:off x="4034018" y="902523"/>
            <a:ext cx="0" cy="573427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grupo_amarillo">
            <a:extLst>
              <a:ext uri="{FF2B5EF4-FFF2-40B4-BE49-F238E27FC236}">
                <a16:creationId xmlns:a16="http://schemas.microsoft.com/office/drawing/2014/main" id="{AB53DA2D-3C68-47E8-9690-479DEB943059}"/>
              </a:ext>
            </a:extLst>
          </p:cNvPr>
          <p:cNvSpPr/>
          <p:nvPr/>
        </p:nvSpPr>
        <p:spPr>
          <a:xfrm>
            <a:off x="4986175" y="1534848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F8961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sz="6000" b="1">
                <a:solidFill>
                  <a:srgbClr val="FFFFFF"/>
                </a:solidFill>
                <a:latin typeface="Calibri Light"/>
              </a:rPr>
              <a:t>39%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0" name="Google Shape;403;p30">
            <a:extLst>
              <a:ext uri="{FF2B5EF4-FFF2-40B4-BE49-F238E27FC236}">
                <a16:creationId xmlns:a16="http://schemas.microsoft.com/office/drawing/2014/main" id="{3CADC61E-B837-4622-B1A8-A9CA0F188F3D}"/>
              </a:ext>
            </a:extLst>
          </p:cNvPr>
          <p:cNvSpPr txBox="1"/>
          <p:nvPr/>
        </p:nvSpPr>
        <p:spPr>
          <a:xfrm>
            <a:off x="4542365" y="3381335"/>
            <a:ext cx="3047619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Grupo prevención indicada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(Malestar subumbral)</a:t>
            </a:r>
            <a:endParaRPr sz="1600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4" name="grupo_rojo">
            <a:extLst>
              <a:ext uri="{FF2B5EF4-FFF2-40B4-BE49-F238E27FC236}">
                <a16:creationId xmlns:a16="http://schemas.microsoft.com/office/drawing/2014/main" id="{A19FAF1E-0939-450A-BBB7-A13B0053E6E9}"/>
              </a:ext>
            </a:extLst>
          </p:cNvPr>
          <p:cNvSpPr/>
          <p:nvPr/>
        </p:nvSpPr>
        <p:spPr>
          <a:xfrm>
            <a:off x="8972143" y="1534848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sz="6000" b="1">
                <a:solidFill>
                  <a:srgbClr val="FFFFFF"/>
                </a:solidFill>
                <a:latin typeface="Calibri Light"/>
              </a:rPr>
              <a:t>59%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5" name="Google Shape;403;p30">
            <a:extLst>
              <a:ext uri="{FF2B5EF4-FFF2-40B4-BE49-F238E27FC236}">
                <a16:creationId xmlns:a16="http://schemas.microsoft.com/office/drawing/2014/main" id="{C1D92253-5D76-44AD-8A9F-32F07363DA4F}"/>
              </a:ext>
            </a:extLst>
          </p:cNvPr>
          <p:cNvSpPr txBox="1"/>
          <p:nvPr/>
        </p:nvSpPr>
        <p:spPr>
          <a:xfrm>
            <a:off x="8884851" y="3384440"/>
            <a:ext cx="23400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Grupo manejo clínico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(Malestar clínico)</a:t>
            </a:r>
            <a:endParaRPr sz="1600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cxnSp>
        <p:nvCxnSpPr>
          <p:cNvPr id="16" name="Conector recto 15">
            <a:extLst>
              <a:ext uri="{FF2B5EF4-FFF2-40B4-BE49-F238E27FC236}">
                <a16:creationId xmlns:a16="http://schemas.microsoft.com/office/drawing/2014/main" id="{3FC82B94-E2E9-4995-A9B7-10744F0F0732}"/>
              </a:ext>
            </a:extLst>
          </p:cNvPr>
          <p:cNvCxnSpPr>
            <a:cxnSpLocks/>
          </p:cNvCxnSpPr>
          <p:nvPr/>
        </p:nvCxnSpPr>
        <p:spPr>
          <a:xfrm>
            <a:off x="8157783" y="823121"/>
            <a:ext cx="0" cy="573427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Google Shape;73;p4">
            <a:extLst>
              <a:ext uri="{FF2B5EF4-FFF2-40B4-BE49-F238E27FC236}">
                <a16:creationId xmlns:a16="http://schemas.microsoft.com/office/drawing/2014/main" id="{77C2DFC7-3377-4B6C-9E33-41F089C0521F}"/>
              </a:ext>
            </a:extLst>
          </p:cNvPr>
          <p:cNvSpPr txBox="1"/>
          <p:nvPr/>
        </p:nvSpPr>
        <p:spPr>
          <a:xfrm>
            <a:off x="640207" y="4419077"/>
            <a:ext cx="2880000" cy="1600398"/>
          </a:xfrm>
          <a:prstGeom prst="rect">
            <a:avLst/>
          </a:prstGeom>
          <a:solidFill>
            <a:srgbClr val="55B296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dirty="0">
              <a:solidFill>
                <a:srgbClr val="00233B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dirty="0">
              <a:solidFill>
                <a:srgbClr val="00233B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dirty="0">
                <a:solidFill>
                  <a:srgbClr val="00233B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Estudiantes con hábitos saludables que protegen su salud mental e incrementan su bienestar.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MX" sz="1400" dirty="0">
              <a:solidFill>
                <a:srgbClr val="00233B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00233B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3" name="Google Shape;74;p4">
            <a:extLst>
              <a:ext uri="{FF2B5EF4-FFF2-40B4-BE49-F238E27FC236}">
                <a16:creationId xmlns:a16="http://schemas.microsoft.com/office/drawing/2014/main" id="{F2D37AC4-D137-4709-BDD7-709B29A578BF}"/>
              </a:ext>
            </a:extLst>
          </p:cNvPr>
          <p:cNvSpPr txBox="1"/>
          <p:nvPr/>
        </p:nvSpPr>
        <p:spPr>
          <a:xfrm>
            <a:off x="4656000" y="4419077"/>
            <a:ext cx="2880000" cy="1600398"/>
          </a:xfrm>
          <a:prstGeom prst="rect">
            <a:avLst/>
          </a:prstGeom>
          <a:solidFill>
            <a:srgbClr val="F8961E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dirty="0">
              <a:solidFill>
                <a:srgbClr val="00233B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dirty="0">
                <a:solidFill>
                  <a:srgbClr val="00233B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Estudiantes que están en riesgo de desarrollar enfermedades mentales, a quienes ofrecer herramientas y/o tratamiento temprano para evitar niveles mayores de malestar.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00233B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7" name="Google Shape;75;p4">
            <a:extLst>
              <a:ext uri="{FF2B5EF4-FFF2-40B4-BE49-F238E27FC236}">
                <a16:creationId xmlns:a16="http://schemas.microsoft.com/office/drawing/2014/main" id="{67B75A04-E16B-4D29-B0AB-D56411377E48}"/>
              </a:ext>
            </a:extLst>
          </p:cNvPr>
          <p:cNvSpPr txBox="1"/>
          <p:nvPr/>
        </p:nvSpPr>
        <p:spPr>
          <a:xfrm>
            <a:off x="8612143" y="4419077"/>
            <a:ext cx="2880000" cy="1600398"/>
          </a:xfrm>
          <a:prstGeom prst="rect">
            <a:avLst/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dirty="0">
              <a:solidFill>
                <a:schemeClr val="bg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dirty="0">
              <a:solidFill>
                <a:schemeClr val="bg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dirty="0">
                <a:solidFill>
                  <a:schemeClr val="bg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Estudiantes con trastornos mentales consolidados, a quienes derivar a tratamientos específicos.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s-CL" sz="1400" dirty="0">
              <a:solidFill>
                <a:schemeClr val="bg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bg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96557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p61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Factor carga de enfermedad</a:t>
            </a:r>
            <a:endParaRPr dirty="0"/>
          </a:p>
        </p:txBody>
      </p:sp>
      <p:sp>
        <p:nvSpPr>
          <p:cNvPr id="709" name="Google Shape;709;p61"/>
          <p:cNvSpPr txBox="1"/>
          <p:nvPr/>
        </p:nvSpPr>
        <p:spPr>
          <a:xfrm>
            <a:off x="1370550" y="5264728"/>
            <a:ext cx="2903653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Grupo prevención indicada</a:t>
            </a:r>
          </a:p>
        </p:txBody>
      </p:sp>
      <p:sp>
        <p:nvSpPr>
          <p:cNvPr id="7" name="Google Shape;709;p61">
            <a:extLst>
              <a:ext uri="{FF2B5EF4-FFF2-40B4-BE49-F238E27FC236}">
                <a16:creationId xmlns:a16="http://schemas.microsoft.com/office/drawing/2014/main" id="{CFBB7022-5025-4774-9097-87E08A9ED1BC}"/>
              </a:ext>
            </a:extLst>
          </p:cNvPr>
          <p:cNvSpPr txBox="1"/>
          <p:nvPr/>
        </p:nvSpPr>
        <p:spPr>
          <a:xfrm>
            <a:off x="7144266" y="5264728"/>
            <a:ext cx="307743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Grupo manejo clínico</a:t>
            </a:r>
          </a:p>
        </p:txBody>
      </p:sp>
      <p:sp>
        <p:nvSpPr>
          <p:cNvPr id="8" name="Google Shape;427;p32">
            <a:extLst>
              <a:ext uri="{FF2B5EF4-FFF2-40B4-BE49-F238E27FC236}">
                <a16:creationId xmlns:a16="http://schemas.microsoft.com/office/drawing/2014/main" id="{278DEE9B-EF82-4385-BBD8-F835392E6A43}"/>
              </a:ext>
            </a:extLst>
          </p:cNvPr>
          <p:cNvSpPr/>
          <p:nvPr/>
        </p:nvSpPr>
        <p:spPr>
          <a:xfrm>
            <a:off x="1370550" y="1840429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F99F33">
              <a:alpha val="74902"/>
            </a:srgbClr>
          </a:solidFill>
          <a:ln>
            <a:solidFill>
              <a:srgbClr val="F8961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38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9" name="Google Shape;427;p32">
            <a:extLst>
              <a:ext uri="{FF2B5EF4-FFF2-40B4-BE49-F238E27FC236}">
                <a16:creationId xmlns:a16="http://schemas.microsoft.com/office/drawing/2014/main" id="{E4BBEDEC-DACD-4977-AEA8-4A383D6E5C04}"/>
              </a:ext>
            </a:extLst>
          </p:cNvPr>
          <p:cNvSpPr/>
          <p:nvPr/>
        </p:nvSpPr>
        <p:spPr>
          <a:xfrm>
            <a:off x="7144265" y="1840429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E53C3E">
              <a:alpha val="74902"/>
            </a:srgbClr>
          </a:solidFill>
          <a:ln>
            <a:solidFill>
              <a:srgbClr val="E53C3E">
                <a:alpha val="74902"/>
              </a:srgbClr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86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1" name="Google Shape;427;p32">
            <a:extLst>
              <a:ext uri="{FF2B5EF4-FFF2-40B4-BE49-F238E27FC236}">
                <a16:creationId xmlns:a16="http://schemas.microsoft.com/office/drawing/2014/main" id="{A7149F2F-3959-4BE5-B5A1-F52D2C0700BF}"/>
              </a:ext>
            </a:extLst>
          </p:cNvPr>
          <p:cNvSpPr/>
          <p:nvPr/>
        </p:nvSpPr>
        <p:spPr>
          <a:xfrm>
            <a:off x="1361332" y="3877736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00223A">
              <a:alpha val="74902"/>
            </a:srgbClr>
          </a:solidFill>
          <a:ln>
            <a:solidFill>
              <a:srgbClr val="00223A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35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Duoc UC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2" name="factor_carga_enfermedad_amarillo">
            <a:extLst>
              <a:ext uri="{FF2B5EF4-FFF2-40B4-BE49-F238E27FC236}">
                <a16:creationId xmlns:a16="http://schemas.microsoft.com/office/drawing/2014/main" id="{7B5B5C0D-75DE-4F83-AEF3-2FEEC3539725}"/>
              </a:ext>
            </a:extLst>
          </p:cNvPr>
          <p:cNvSpPr/>
          <p:nvPr/>
        </p:nvSpPr>
        <p:spPr>
          <a:xfrm>
            <a:off x="2114204" y="2505790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F8961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sz="6000" b="1">
                <a:solidFill>
                  <a:srgbClr val="FFFFFF"/>
                </a:solidFill>
                <a:latin typeface="Calibri Light"/>
              </a:rPr>
              <a:t>25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3" name="Google Shape;427;p32">
            <a:extLst>
              <a:ext uri="{FF2B5EF4-FFF2-40B4-BE49-F238E27FC236}">
                <a16:creationId xmlns:a16="http://schemas.microsoft.com/office/drawing/2014/main" id="{E881DA4D-0805-4103-921B-42A54A025554}"/>
              </a:ext>
            </a:extLst>
          </p:cNvPr>
          <p:cNvSpPr/>
          <p:nvPr/>
        </p:nvSpPr>
        <p:spPr>
          <a:xfrm>
            <a:off x="7144265" y="3877736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00223A">
              <a:alpha val="74902"/>
            </a:srgbClr>
          </a:solidFill>
          <a:ln>
            <a:solidFill>
              <a:srgbClr val="00223A">
                <a:alpha val="74902"/>
              </a:srgbClr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78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Duoc UC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4" name="factor_carga_enfermedad_rojo">
            <a:extLst>
              <a:ext uri="{FF2B5EF4-FFF2-40B4-BE49-F238E27FC236}">
                <a16:creationId xmlns:a16="http://schemas.microsoft.com/office/drawing/2014/main" id="{62BF6CA2-8D08-4657-9F6A-94C1E608C434}"/>
              </a:ext>
            </a:extLst>
          </p:cNvPr>
          <p:cNvSpPr/>
          <p:nvPr/>
        </p:nvSpPr>
        <p:spPr>
          <a:xfrm>
            <a:off x="7848618" y="2505790"/>
            <a:ext cx="2373086" cy="1585231"/>
          </a:xfrm>
          <a:prstGeom prst="roundRect">
            <a:avLst>
              <a:gd name="adj" fmla="val 16667"/>
            </a:avLst>
          </a:prstGeom>
          <a:solidFill>
            <a:srgbClr val="E63C3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sz="6000" b="1">
                <a:solidFill>
                  <a:srgbClr val="FFFFFF"/>
                </a:solidFill>
                <a:latin typeface="Calibri Light"/>
              </a:rPr>
              <a:t>43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30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es-CL" dirty="0"/>
              <a:t>Patologías recurrentes grupo prevención indicada</a:t>
            </a:r>
            <a:endParaRPr dirty="0"/>
          </a:p>
        </p:txBody>
      </p:sp>
      <p:sp>
        <p:nvSpPr>
          <p:cNvPr id="9" name="Google Shape;402;p30">
            <a:extLst>
              <a:ext uri="{FF2B5EF4-FFF2-40B4-BE49-F238E27FC236}">
                <a16:creationId xmlns:a16="http://schemas.microsoft.com/office/drawing/2014/main" id="{AB53DA2D-3C68-47E8-9690-479DEB943059}"/>
              </a:ext>
            </a:extLst>
          </p:cNvPr>
          <p:cNvSpPr/>
          <p:nvPr/>
        </p:nvSpPr>
        <p:spPr>
          <a:xfrm>
            <a:off x="924236" y="1968864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F8961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50%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0" name="Google Shape;403;p30">
            <a:extLst>
              <a:ext uri="{FF2B5EF4-FFF2-40B4-BE49-F238E27FC236}">
                <a16:creationId xmlns:a16="http://schemas.microsoft.com/office/drawing/2014/main" id="{3CADC61E-B837-4622-B1A8-A9CA0F188F3D}"/>
              </a:ext>
            </a:extLst>
          </p:cNvPr>
          <p:cNvSpPr txBox="1"/>
          <p:nvPr/>
        </p:nvSpPr>
        <p:spPr>
          <a:xfrm>
            <a:off x="924236" y="3815351"/>
            <a:ext cx="2160000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20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Grupo prevención indicada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(Malestar subumbral)</a:t>
            </a:r>
          </a:p>
        </p:txBody>
      </p:sp>
      <p:graphicFrame>
        <p:nvGraphicFramePr>
          <p:cNvPr id="6" name="Gráfico 5">
            <a:extLst>
              <a:ext uri="{FF2B5EF4-FFF2-40B4-BE49-F238E27FC236}">
                <a16:creationId xmlns:a16="http://schemas.microsoft.com/office/drawing/2014/main" id="{175773B8-ED6B-42F3-9707-57AEF3B2751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68364721"/>
              </p:ext>
            </p:extLst>
          </p:nvPr>
        </p:nvGraphicFramePr>
        <p:xfrm>
          <a:off x="5305097" y="1771330"/>
          <a:ext cx="4947590" cy="359682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356190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43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Episodio depresión – Grupo manejo clínico</a:t>
            </a:r>
            <a:endParaRPr dirty="0"/>
          </a:p>
        </p:txBody>
      </p:sp>
      <p:sp>
        <p:nvSpPr>
          <p:cNvPr id="516" name="depresion_manejo_clinico_global"/>
          <p:cNvSpPr/>
          <p:nvPr/>
        </p:nvSpPr>
        <p:spPr>
          <a:xfrm>
            <a:off x="671559" y="2816192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sz="6000" b="1">
                <a:solidFill>
                  <a:srgbClr val="FFFFFF"/>
                </a:solidFill>
                <a:latin typeface="Calibri Light"/>
              </a:rPr>
              <a:t>43%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cxnSp>
        <p:nvCxnSpPr>
          <p:cNvPr id="3" name="Conector recto 2">
            <a:extLst>
              <a:ext uri="{FF2B5EF4-FFF2-40B4-BE49-F238E27FC236}">
                <a16:creationId xmlns:a16="http://schemas.microsoft.com/office/drawing/2014/main" id="{CBBB57DB-71A5-D147-88A9-C6E8887B06FF}"/>
              </a:ext>
            </a:extLst>
          </p:cNvPr>
          <p:cNvCxnSpPr>
            <a:cxnSpLocks/>
          </p:cNvCxnSpPr>
          <p:nvPr/>
        </p:nvCxnSpPr>
        <p:spPr>
          <a:xfrm>
            <a:off x="3164441" y="1123730"/>
            <a:ext cx="0" cy="573427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Google Shape;261;p14">
            <a:extLst>
              <a:ext uri="{FF2B5EF4-FFF2-40B4-BE49-F238E27FC236}">
                <a16:creationId xmlns:a16="http://schemas.microsoft.com/office/drawing/2014/main" id="{C4376D5B-F88D-4949-8EC2-E9886A08F7F6}"/>
              </a:ext>
            </a:extLst>
          </p:cNvPr>
          <p:cNvSpPr txBox="1"/>
          <p:nvPr/>
        </p:nvSpPr>
        <p:spPr>
          <a:xfrm>
            <a:off x="3550761" y="1313105"/>
            <a:ext cx="846719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7F7F7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Los datos presentados por sexo, jornada, tipo de alumno y sede, corresponden al porcentaje de prevalencia para cada categoría. Por ejemplo, el 19% de las mujeres que participaron del estudio presentan síntomas clínicos de depresión.</a:t>
            </a:r>
          </a:p>
        </p:txBody>
      </p:sp>
      <p:graphicFrame>
        <p:nvGraphicFramePr>
          <p:cNvPr id="15" name="depresion_manejo_clinico">
            <a:extLst>
              <a:ext uri="{FF2B5EF4-FFF2-40B4-BE49-F238E27FC236}">
                <a16:creationId xmlns:a16="http://schemas.microsoft.com/office/drawing/2014/main" id="{3E291FAC-2870-66F8-18A0-85A22E7FB8F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22293067"/>
              </p:ext>
            </p:extLst>
          </p:nvPr>
        </p:nvGraphicFramePr>
        <p:xfrm>
          <a:off x="3670149" y="1802244"/>
          <a:ext cx="8059387" cy="21886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Google Shape;517;p43"/>
          <p:cNvSpPr txBox="1"/>
          <p:nvPr/>
        </p:nvSpPr>
        <p:spPr>
          <a:xfrm>
            <a:off x="70571" y="4662679"/>
            <a:ext cx="2760986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/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 estudiantes que participaron en el estudio, presentan sintomatología clínica de </a:t>
            </a:r>
            <a:r>
              <a:rPr lang="es-MX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depresión.</a:t>
            </a:r>
          </a:p>
        </p:txBody>
      </p:sp>
      <p:sp>
        <p:nvSpPr>
          <p:cNvPr id="10" name="Google Shape;427;p32">
            <a:extLst>
              <a:ext uri="{FF2B5EF4-FFF2-40B4-BE49-F238E27FC236}">
                <a16:creationId xmlns:a16="http://schemas.microsoft.com/office/drawing/2014/main" id="{52FB3E6A-36DC-49F0-ADC1-9B11C595FF4C}"/>
              </a:ext>
            </a:extLst>
          </p:cNvPr>
          <p:cNvSpPr/>
          <p:nvPr/>
        </p:nvSpPr>
        <p:spPr>
          <a:xfrm>
            <a:off x="70571" y="2018566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E53C3E">
              <a:alpha val="74902"/>
            </a:srgbClr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49%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(2022)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2" name="depresion_manejo_clinico_sede">
            <a:extLst>
              <a:ext uri="{FF2B5EF4-FFF2-40B4-BE49-F238E27FC236}">
                <a16:creationId xmlns:a16="http://schemas.microsoft.com/office/drawing/2014/main" id="{DE06A805-CA0B-0EFB-85BF-BA202146AC9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03013068"/>
              </p:ext>
            </p:extLst>
          </p:nvPr>
        </p:nvGraphicFramePr>
        <p:xfrm>
          <a:off x="3788229" y="3690256"/>
          <a:ext cx="8403771" cy="29266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0122201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p45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Trastorno de ansiedad generalizada – Grupo manejo clínico</a:t>
            </a:r>
            <a:endParaRPr dirty="0"/>
          </a:p>
        </p:txBody>
      </p:sp>
      <p:sp>
        <p:nvSpPr>
          <p:cNvPr id="11" name="Google Shape;261;p14">
            <a:extLst>
              <a:ext uri="{FF2B5EF4-FFF2-40B4-BE49-F238E27FC236}">
                <a16:creationId xmlns:a16="http://schemas.microsoft.com/office/drawing/2014/main" id="{403575CC-2FD9-0129-47F0-02351CE8710B}"/>
              </a:ext>
            </a:extLst>
          </p:cNvPr>
          <p:cNvSpPr txBox="1"/>
          <p:nvPr/>
        </p:nvSpPr>
        <p:spPr>
          <a:xfrm>
            <a:off x="3550761" y="1313105"/>
            <a:ext cx="846719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7F7F7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Los datos presentados por sexo, jornada, tipo de alumno y sede, corresponden al porcentaje de prevalencia para cada categoría. Por ejemplo, el 31% de las mujeres que participaron del estudio presentan síntomas clínicos de ansiedad generalizada.</a:t>
            </a:r>
          </a:p>
        </p:txBody>
      </p:sp>
      <p:graphicFrame>
        <p:nvGraphicFramePr>
          <p:cNvPr id="12" name="ansiedad_manejo_clinico">
            <a:extLst>
              <a:ext uri="{FF2B5EF4-FFF2-40B4-BE49-F238E27FC236}">
                <a16:creationId xmlns:a16="http://schemas.microsoft.com/office/drawing/2014/main" id="{B04CB13E-D1DF-4E02-B884-5DAB2CC89A6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2386254"/>
              </p:ext>
            </p:extLst>
          </p:nvPr>
        </p:nvGraphicFramePr>
        <p:xfrm>
          <a:off x="3686635" y="2040224"/>
          <a:ext cx="8059387" cy="17920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54306887-2985-AD1C-9793-5C0B29A40D0A}"/>
              </a:ext>
            </a:extLst>
          </p:cNvPr>
          <p:cNvCxnSpPr>
            <a:cxnSpLocks/>
          </p:cNvCxnSpPr>
          <p:nvPr/>
        </p:nvCxnSpPr>
        <p:spPr>
          <a:xfrm>
            <a:off x="3164441" y="1123730"/>
            <a:ext cx="0" cy="573427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nsiedad_manejo_clinico_global">
            <a:extLst>
              <a:ext uri="{FF2B5EF4-FFF2-40B4-BE49-F238E27FC236}">
                <a16:creationId xmlns:a16="http://schemas.microsoft.com/office/drawing/2014/main" id="{FAE4E925-CD5B-46FD-8FD8-E56C2E8E82E0}"/>
              </a:ext>
            </a:extLst>
          </p:cNvPr>
          <p:cNvSpPr/>
          <p:nvPr/>
        </p:nvSpPr>
        <p:spPr>
          <a:xfrm>
            <a:off x="662597" y="2816192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sz="6000" b="1">
                <a:solidFill>
                  <a:srgbClr val="FFFFFF"/>
                </a:solidFill>
                <a:latin typeface="Calibri Light"/>
              </a:rPr>
              <a:t>33%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6" name="Google Shape;517;p43">
            <a:extLst>
              <a:ext uri="{FF2B5EF4-FFF2-40B4-BE49-F238E27FC236}">
                <a16:creationId xmlns:a16="http://schemas.microsoft.com/office/drawing/2014/main" id="{2C60A221-C930-4D48-B68D-439E8C79D62E}"/>
              </a:ext>
            </a:extLst>
          </p:cNvPr>
          <p:cNvSpPr txBox="1"/>
          <p:nvPr/>
        </p:nvSpPr>
        <p:spPr>
          <a:xfrm>
            <a:off x="70571" y="4662679"/>
            <a:ext cx="2752026" cy="1323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/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 estudiantes que participaron en el estudio, presentan sintomatología clínica de </a:t>
            </a:r>
            <a:r>
              <a:rPr lang="es-MX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ansiedad generalizada.</a:t>
            </a:r>
          </a:p>
        </p:txBody>
      </p:sp>
      <p:sp>
        <p:nvSpPr>
          <p:cNvPr id="18" name="Google Shape;427;p32">
            <a:extLst>
              <a:ext uri="{FF2B5EF4-FFF2-40B4-BE49-F238E27FC236}">
                <a16:creationId xmlns:a16="http://schemas.microsoft.com/office/drawing/2014/main" id="{D99100AD-C0D2-4999-AA70-713EEB13DC75}"/>
              </a:ext>
            </a:extLst>
          </p:cNvPr>
          <p:cNvSpPr/>
          <p:nvPr/>
        </p:nvSpPr>
        <p:spPr>
          <a:xfrm>
            <a:off x="70571" y="2018566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E53C3E">
              <a:alpha val="74902"/>
            </a:srgbClr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57%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(2022)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2" name="ansiedad_manejo_clinico_sede">
            <a:extLst>
              <a:ext uri="{FF2B5EF4-FFF2-40B4-BE49-F238E27FC236}">
                <a16:creationId xmlns:a16="http://schemas.microsoft.com/office/drawing/2014/main" id="{D80AAFB2-F153-D4D7-7243-320A9C2629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29537026"/>
              </p:ext>
            </p:extLst>
          </p:nvPr>
        </p:nvGraphicFramePr>
        <p:xfrm>
          <a:off x="3788229" y="3690256"/>
          <a:ext cx="8403771" cy="29266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36582528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p48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Trastorno de la personalidad – Grupo manejo clínico</a:t>
            </a:r>
            <a:endParaRPr dirty="0"/>
          </a:p>
        </p:txBody>
      </p:sp>
      <p:sp>
        <p:nvSpPr>
          <p:cNvPr id="11" name="Google Shape;261;p14">
            <a:extLst>
              <a:ext uri="{FF2B5EF4-FFF2-40B4-BE49-F238E27FC236}">
                <a16:creationId xmlns:a16="http://schemas.microsoft.com/office/drawing/2014/main" id="{A4AA13EC-DF90-A411-4B29-48ED2E1E8DC1}"/>
              </a:ext>
            </a:extLst>
          </p:cNvPr>
          <p:cNvSpPr txBox="1"/>
          <p:nvPr/>
        </p:nvSpPr>
        <p:spPr>
          <a:xfrm>
            <a:off x="3550761" y="1313105"/>
            <a:ext cx="846719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7F7F7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Los datos presentados por sexo, jornada, tipo de alumno y sede, corresponden al porcentaje de prevalencia para cada categoría. Por ejemplo, el 42% de las mujeres que participaron del estudio presentan síntomas clínicos de trastorno de la personalidad.</a:t>
            </a:r>
          </a:p>
        </p:txBody>
      </p:sp>
      <p:graphicFrame>
        <p:nvGraphicFramePr>
          <p:cNvPr id="12" name="personalidad_manejo_clinico">
            <a:extLst>
              <a:ext uri="{FF2B5EF4-FFF2-40B4-BE49-F238E27FC236}">
                <a16:creationId xmlns:a16="http://schemas.microsoft.com/office/drawing/2014/main" id="{F7CD735D-2DF8-D68D-3553-D6EE70A3B6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3755231"/>
              </p:ext>
            </p:extLst>
          </p:nvPr>
        </p:nvGraphicFramePr>
        <p:xfrm>
          <a:off x="3686635" y="2040224"/>
          <a:ext cx="8059387" cy="17920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B1167CF5-7E7C-DB3C-EACE-4527276F9ACD}"/>
              </a:ext>
            </a:extLst>
          </p:cNvPr>
          <p:cNvCxnSpPr>
            <a:cxnSpLocks/>
          </p:cNvCxnSpPr>
          <p:nvPr/>
        </p:nvCxnSpPr>
        <p:spPr>
          <a:xfrm>
            <a:off x="3164441" y="1123730"/>
            <a:ext cx="0" cy="573427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personalidad_manejo_clinico_global">
            <a:extLst>
              <a:ext uri="{FF2B5EF4-FFF2-40B4-BE49-F238E27FC236}">
                <a16:creationId xmlns:a16="http://schemas.microsoft.com/office/drawing/2014/main" id="{4A15B02A-EADD-4CFD-A16E-8F2F687FDCE6}"/>
              </a:ext>
            </a:extLst>
          </p:cNvPr>
          <p:cNvSpPr/>
          <p:nvPr/>
        </p:nvSpPr>
        <p:spPr>
          <a:xfrm>
            <a:off x="662597" y="2816192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sz="6000" b="1">
                <a:solidFill>
                  <a:srgbClr val="FFFFFF"/>
                </a:solidFill>
                <a:latin typeface="Calibri Light"/>
              </a:rPr>
              <a:t>6%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7" name="Google Shape;517;p43">
            <a:extLst>
              <a:ext uri="{FF2B5EF4-FFF2-40B4-BE49-F238E27FC236}">
                <a16:creationId xmlns:a16="http://schemas.microsoft.com/office/drawing/2014/main" id="{AAF2B077-D465-4664-A199-9628C809AD07}"/>
              </a:ext>
            </a:extLst>
          </p:cNvPr>
          <p:cNvSpPr txBox="1"/>
          <p:nvPr/>
        </p:nvSpPr>
        <p:spPr>
          <a:xfrm>
            <a:off x="70571" y="4662679"/>
            <a:ext cx="2752025" cy="1323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/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 estudiantes que participaron en el estudio, presentan sintomatología clínica de </a:t>
            </a:r>
            <a:r>
              <a:rPr lang="es-MX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trastorno de la personalidad.</a:t>
            </a:r>
          </a:p>
        </p:txBody>
      </p:sp>
      <p:sp>
        <p:nvSpPr>
          <p:cNvPr id="14" name="Google Shape;427;p32">
            <a:extLst>
              <a:ext uri="{FF2B5EF4-FFF2-40B4-BE49-F238E27FC236}">
                <a16:creationId xmlns:a16="http://schemas.microsoft.com/office/drawing/2014/main" id="{030BA3F9-B700-4141-897C-07AF8F13467F}"/>
              </a:ext>
            </a:extLst>
          </p:cNvPr>
          <p:cNvSpPr/>
          <p:nvPr/>
        </p:nvSpPr>
        <p:spPr>
          <a:xfrm>
            <a:off x="70571" y="2018566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E53C3E">
              <a:alpha val="74902"/>
            </a:srgbClr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9%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(2022)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2" name="personalidad_manejo_clinico_sede">
            <a:extLst>
              <a:ext uri="{FF2B5EF4-FFF2-40B4-BE49-F238E27FC236}">
                <a16:creationId xmlns:a16="http://schemas.microsoft.com/office/drawing/2014/main" id="{6241263E-26F4-7EF6-3560-4584B2882EC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54949707"/>
              </p:ext>
            </p:extLst>
          </p:nvPr>
        </p:nvGraphicFramePr>
        <p:xfrm>
          <a:off x="3788229" y="3690256"/>
          <a:ext cx="8403771" cy="29266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8781484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p49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Uso problemático de marihuana – Grupo manejo clínico</a:t>
            </a:r>
            <a:endParaRPr dirty="0"/>
          </a:p>
        </p:txBody>
      </p:sp>
      <p:sp>
        <p:nvSpPr>
          <p:cNvPr id="11" name="Google Shape;261;p14">
            <a:extLst>
              <a:ext uri="{FF2B5EF4-FFF2-40B4-BE49-F238E27FC236}">
                <a16:creationId xmlns:a16="http://schemas.microsoft.com/office/drawing/2014/main" id="{D5EE1FC8-4C9F-9588-BEAA-C9DBDE333AA9}"/>
              </a:ext>
            </a:extLst>
          </p:cNvPr>
          <p:cNvSpPr txBox="1"/>
          <p:nvPr/>
        </p:nvSpPr>
        <p:spPr>
          <a:xfrm>
            <a:off x="3550761" y="1313105"/>
            <a:ext cx="846719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7F7F7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Los datos presentados por sexo, jornada, tipo de alumno y sede, corresponden al porcentaje de prevalencia para cada categoría. Por ejemplo, el 2% de las mujeres que participaron del estudio presentan síntomas clínicos de consumo problemático de marihuana.</a:t>
            </a:r>
          </a:p>
        </p:txBody>
      </p:sp>
      <p:graphicFrame>
        <p:nvGraphicFramePr>
          <p:cNvPr id="12" name="marihuana_manejo_clinico">
            <a:extLst>
              <a:ext uri="{FF2B5EF4-FFF2-40B4-BE49-F238E27FC236}">
                <a16:creationId xmlns:a16="http://schemas.microsoft.com/office/drawing/2014/main" id="{287C095F-BA3B-8676-D0FD-DF67FC9FB44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47534391"/>
              </p:ext>
            </p:extLst>
          </p:nvPr>
        </p:nvGraphicFramePr>
        <p:xfrm>
          <a:off x="3686635" y="2040224"/>
          <a:ext cx="8059387" cy="17920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E8445420-BD48-4385-0EB7-9F2240401967}"/>
              </a:ext>
            </a:extLst>
          </p:cNvPr>
          <p:cNvCxnSpPr>
            <a:cxnSpLocks/>
          </p:cNvCxnSpPr>
          <p:nvPr/>
        </p:nvCxnSpPr>
        <p:spPr>
          <a:xfrm>
            <a:off x="3164441" y="1123730"/>
            <a:ext cx="0" cy="573427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marihuana_manejo_clinico_global">
            <a:extLst>
              <a:ext uri="{FF2B5EF4-FFF2-40B4-BE49-F238E27FC236}">
                <a16:creationId xmlns:a16="http://schemas.microsoft.com/office/drawing/2014/main" id="{6AAD2FCA-01A4-42F3-AD03-3CC5BA51A249}"/>
              </a:ext>
            </a:extLst>
          </p:cNvPr>
          <p:cNvSpPr/>
          <p:nvPr/>
        </p:nvSpPr>
        <p:spPr>
          <a:xfrm>
            <a:off x="662597" y="2816192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sz="6000" b="1">
                <a:solidFill>
                  <a:srgbClr val="FFFFFF"/>
                </a:solidFill>
                <a:latin typeface="Calibri Light"/>
              </a:rPr>
              <a:t>12%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7" name="Google Shape;517;p43">
            <a:extLst>
              <a:ext uri="{FF2B5EF4-FFF2-40B4-BE49-F238E27FC236}">
                <a16:creationId xmlns:a16="http://schemas.microsoft.com/office/drawing/2014/main" id="{27419DD5-BAD0-4F44-86FB-0BACCAD1132E}"/>
              </a:ext>
            </a:extLst>
          </p:cNvPr>
          <p:cNvSpPr txBox="1"/>
          <p:nvPr/>
        </p:nvSpPr>
        <p:spPr>
          <a:xfrm>
            <a:off x="70571" y="4662679"/>
            <a:ext cx="2752024" cy="1323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 estudiantes que participaron en el estudio, presentan sintomatología clínica de </a:t>
            </a:r>
            <a:r>
              <a:rPr lang="es-MX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uso problemático de marihuana.</a:t>
            </a:r>
          </a:p>
        </p:txBody>
      </p:sp>
      <p:sp>
        <p:nvSpPr>
          <p:cNvPr id="15" name="Google Shape;427;p32">
            <a:extLst>
              <a:ext uri="{FF2B5EF4-FFF2-40B4-BE49-F238E27FC236}">
                <a16:creationId xmlns:a16="http://schemas.microsoft.com/office/drawing/2014/main" id="{47B7E482-5A25-4776-939A-DB4D1F21BAC1}"/>
              </a:ext>
            </a:extLst>
          </p:cNvPr>
          <p:cNvSpPr/>
          <p:nvPr/>
        </p:nvSpPr>
        <p:spPr>
          <a:xfrm>
            <a:off x="70571" y="2018566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E53C3E">
              <a:alpha val="74902"/>
            </a:srgbClr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29%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SENDA 2025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2" name="marihuana_manejo_clinico_sede">
            <a:extLst>
              <a:ext uri="{FF2B5EF4-FFF2-40B4-BE49-F238E27FC236}">
                <a16:creationId xmlns:a16="http://schemas.microsoft.com/office/drawing/2014/main" id="{F89F952C-3CC9-9940-0617-02635B18A9B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89945051"/>
              </p:ext>
            </p:extLst>
          </p:nvPr>
        </p:nvGraphicFramePr>
        <p:xfrm>
          <a:off x="3788229" y="3690256"/>
          <a:ext cx="8403771" cy="29266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677648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p49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Uso problemático de marihuana – Grupo manejo clínico</a:t>
            </a:r>
            <a:endParaRPr dirty="0"/>
          </a:p>
        </p:txBody>
      </p:sp>
      <p:sp>
        <p:nvSpPr>
          <p:cNvPr id="16" name="cupit_marihuana_porcentaje">
            <a:extLst>
              <a:ext uri="{FF2B5EF4-FFF2-40B4-BE49-F238E27FC236}">
                <a16:creationId xmlns:a16="http://schemas.microsoft.com/office/drawing/2014/main" id="{6AAD2FCA-01A4-42F3-AD03-3CC5BA51A249}"/>
              </a:ext>
            </a:extLst>
          </p:cNvPr>
          <p:cNvSpPr/>
          <p:nvPr/>
        </p:nvSpPr>
        <p:spPr>
          <a:xfrm>
            <a:off x="5016000" y="2771368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sz="6000" b="1">
                <a:solidFill>
                  <a:srgbClr val="FFFFFF"/>
                </a:solidFill>
                <a:latin typeface="Calibri Light"/>
              </a:rPr>
              <a:t>8%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7" name="Google Shape;517;p43">
            <a:extLst>
              <a:ext uri="{FF2B5EF4-FFF2-40B4-BE49-F238E27FC236}">
                <a16:creationId xmlns:a16="http://schemas.microsoft.com/office/drawing/2014/main" id="{27419DD5-BAD0-4F44-86FB-0BACCAD1132E}"/>
              </a:ext>
            </a:extLst>
          </p:cNvPr>
          <p:cNvSpPr txBox="1"/>
          <p:nvPr/>
        </p:nvSpPr>
        <p:spPr>
          <a:xfrm>
            <a:off x="4423974" y="4617855"/>
            <a:ext cx="2752026" cy="1323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Porcentaje de </a:t>
            </a:r>
            <a:r>
              <a:rPr lang="es-MX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uso problemático</a:t>
            </a:r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a la pregunta “</a:t>
            </a:r>
            <a:r>
              <a:rPr lang="es-MX" sz="1600" i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¿Cuántos días has consumido marihuana en los últimos 12 meses?”</a:t>
            </a:r>
          </a:p>
        </p:txBody>
      </p:sp>
      <p:sp>
        <p:nvSpPr>
          <p:cNvPr id="6" name="Google Shape;427;p32">
            <a:extLst>
              <a:ext uri="{FF2B5EF4-FFF2-40B4-BE49-F238E27FC236}">
                <a16:creationId xmlns:a16="http://schemas.microsoft.com/office/drawing/2014/main" id="{9E2487C7-8E98-46E2-AFBB-59DE13BF8AD2}"/>
              </a:ext>
            </a:extLst>
          </p:cNvPr>
          <p:cNvSpPr/>
          <p:nvPr/>
        </p:nvSpPr>
        <p:spPr>
          <a:xfrm>
            <a:off x="4423974" y="1973742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E53C3E">
              <a:alpha val="74902"/>
            </a:srgbClr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20%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(2022)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59084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p50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Uso problemático de alcohol – Grupo manejo clínico</a:t>
            </a:r>
            <a:endParaRPr dirty="0"/>
          </a:p>
        </p:txBody>
      </p:sp>
      <p:graphicFrame>
        <p:nvGraphicFramePr>
          <p:cNvPr id="12" name="alcohol_manejo_clinico">
            <a:extLst>
              <a:ext uri="{FF2B5EF4-FFF2-40B4-BE49-F238E27FC236}">
                <a16:creationId xmlns:a16="http://schemas.microsoft.com/office/drawing/2014/main" id="{D796B308-03C5-AE1C-2D66-6C45FE9F8F9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59092776"/>
              </p:ext>
            </p:extLst>
          </p:nvPr>
        </p:nvGraphicFramePr>
        <p:xfrm>
          <a:off x="3686635" y="2040224"/>
          <a:ext cx="8059387" cy="17920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BD2BC845-CDD7-EA3A-4D1D-DB1A113B34E2}"/>
              </a:ext>
            </a:extLst>
          </p:cNvPr>
          <p:cNvCxnSpPr>
            <a:cxnSpLocks/>
          </p:cNvCxnSpPr>
          <p:nvPr/>
        </p:nvCxnSpPr>
        <p:spPr>
          <a:xfrm>
            <a:off x="3164441" y="1123730"/>
            <a:ext cx="0" cy="573427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Google Shape;261;p14">
            <a:extLst>
              <a:ext uri="{FF2B5EF4-FFF2-40B4-BE49-F238E27FC236}">
                <a16:creationId xmlns:a16="http://schemas.microsoft.com/office/drawing/2014/main" id="{F293E2A6-C6F6-E567-0F79-1BC23E493A50}"/>
              </a:ext>
            </a:extLst>
          </p:cNvPr>
          <p:cNvSpPr txBox="1"/>
          <p:nvPr/>
        </p:nvSpPr>
        <p:spPr>
          <a:xfrm>
            <a:off x="3550761" y="1313105"/>
            <a:ext cx="846719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7F7F7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Los datos presentados por sexo, jornada, tipo de alumno y sede, corresponden al porcentaje de prevalencia para cada categoría. Por ejemplo, el 39% de las mujeres que participaron del estudio presentan síntomas clínicos de consumo problemático de alcohol.</a:t>
            </a:r>
          </a:p>
        </p:txBody>
      </p:sp>
      <p:sp>
        <p:nvSpPr>
          <p:cNvPr id="11" name="alcohol_manejo_clinico_global">
            <a:extLst>
              <a:ext uri="{FF2B5EF4-FFF2-40B4-BE49-F238E27FC236}">
                <a16:creationId xmlns:a16="http://schemas.microsoft.com/office/drawing/2014/main" id="{8468DAE6-FCF5-483D-96C6-E50F9934653F}"/>
              </a:ext>
            </a:extLst>
          </p:cNvPr>
          <p:cNvSpPr/>
          <p:nvPr/>
        </p:nvSpPr>
        <p:spPr>
          <a:xfrm>
            <a:off x="662597" y="2816192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sz="6000" b="1">
                <a:solidFill>
                  <a:srgbClr val="FFFFFF"/>
                </a:solidFill>
                <a:latin typeface="Calibri Light"/>
              </a:rPr>
              <a:t>6%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6" name="Google Shape;517;p43">
            <a:extLst>
              <a:ext uri="{FF2B5EF4-FFF2-40B4-BE49-F238E27FC236}">
                <a16:creationId xmlns:a16="http://schemas.microsoft.com/office/drawing/2014/main" id="{5E47208B-1A02-43B7-917E-B6EE6D7C6A64}"/>
              </a:ext>
            </a:extLst>
          </p:cNvPr>
          <p:cNvSpPr txBox="1"/>
          <p:nvPr/>
        </p:nvSpPr>
        <p:spPr>
          <a:xfrm>
            <a:off x="70571" y="4662679"/>
            <a:ext cx="2752025" cy="1323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/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 estudiantes que participaron en el estudio, presentan sintomatología clínica de </a:t>
            </a:r>
            <a:r>
              <a:rPr lang="es-MX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consumo problemático de alcohol.</a:t>
            </a:r>
          </a:p>
        </p:txBody>
      </p:sp>
      <p:sp>
        <p:nvSpPr>
          <p:cNvPr id="18" name="Google Shape;427;p32">
            <a:extLst>
              <a:ext uri="{FF2B5EF4-FFF2-40B4-BE49-F238E27FC236}">
                <a16:creationId xmlns:a16="http://schemas.microsoft.com/office/drawing/2014/main" id="{89F61867-C384-48B7-A889-7BD5A17C9828}"/>
              </a:ext>
            </a:extLst>
          </p:cNvPr>
          <p:cNvSpPr/>
          <p:nvPr/>
        </p:nvSpPr>
        <p:spPr>
          <a:xfrm>
            <a:off x="70571" y="2018566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E53C3E">
              <a:alpha val="74902"/>
            </a:srgbClr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6%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2" name="alcohol_manejo_clinico_sede">
            <a:extLst>
              <a:ext uri="{FF2B5EF4-FFF2-40B4-BE49-F238E27FC236}">
                <a16:creationId xmlns:a16="http://schemas.microsoft.com/office/drawing/2014/main" id="{B01047FB-43DE-E2BF-31F1-DD4BF2B4F26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4216247"/>
              </p:ext>
            </p:extLst>
          </p:nvPr>
        </p:nvGraphicFramePr>
        <p:xfrm>
          <a:off x="3788229" y="3690256"/>
          <a:ext cx="8403771" cy="29266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2658814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p68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Ideación suicida – Grupo manejo clínico</a:t>
            </a:r>
            <a:endParaRPr dirty="0"/>
          </a:p>
        </p:txBody>
      </p:sp>
      <p:graphicFrame>
        <p:nvGraphicFramePr>
          <p:cNvPr id="10" name="suicidio_manejo_clinico_sede">
            <a:extLst>
              <a:ext uri="{FF2B5EF4-FFF2-40B4-BE49-F238E27FC236}">
                <a16:creationId xmlns:a16="http://schemas.microsoft.com/office/drawing/2014/main" id="{CD8FBB64-7F94-B9A3-C3E7-546AA8E5FE2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62817837"/>
              </p:ext>
            </p:extLst>
          </p:nvPr>
        </p:nvGraphicFramePr>
        <p:xfrm>
          <a:off x="3550761" y="4099389"/>
          <a:ext cx="8298165" cy="27089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Google Shape;261;p14">
            <a:extLst>
              <a:ext uri="{FF2B5EF4-FFF2-40B4-BE49-F238E27FC236}">
                <a16:creationId xmlns:a16="http://schemas.microsoft.com/office/drawing/2014/main" id="{5DB4E260-3D29-A0B2-8D2D-BD2DFABCFABC}"/>
              </a:ext>
            </a:extLst>
          </p:cNvPr>
          <p:cNvSpPr txBox="1"/>
          <p:nvPr/>
        </p:nvSpPr>
        <p:spPr>
          <a:xfrm>
            <a:off x="3550761" y="1313105"/>
            <a:ext cx="846719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7F7F7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Los datos presentados por sexo, jornada, tipo de alumno y sede, corresponden al porcentaje de prevalencia para cada categoría. Por ejemplo, el 50% de las mujeres que participaron del estudio presentan sospecha de  ideación suicida.</a:t>
            </a:r>
          </a:p>
        </p:txBody>
      </p:sp>
      <p:graphicFrame>
        <p:nvGraphicFramePr>
          <p:cNvPr id="13" name="suicidio_manejo_clinico">
            <a:extLst>
              <a:ext uri="{FF2B5EF4-FFF2-40B4-BE49-F238E27FC236}">
                <a16:creationId xmlns:a16="http://schemas.microsoft.com/office/drawing/2014/main" id="{81869CB5-73A7-DF84-909A-1813CC7BEAE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68207190"/>
              </p:ext>
            </p:extLst>
          </p:nvPr>
        </p:nvGraphicFramePr>
        <p:xfrm>
          <a:off x="3686635" y="2040224"/>
          <a:ext cx="8059387" cy="17920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E27B810F-C4EB-D7EA-5F30-CBDBF088C9C1}"/>
              </a:ext>
            </a:extLst>
          </p:cNvPr>
          <p:cNvCxnSpPr>
            <a:cxnSpLocks/>
          </p:cNvCxnSpPr>
          <p:nvPr/>
        </p:nvCxnSpPr>
        <p:spPr>
          <a:xfrm>
            <a:off x="3164441" y="1123730"/>
            <a:ext cx="0" cy="573427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ideacion_suicida_manejo_clinico_global">
            <a:extLst>
              <a:ext uri="{FF2B5EF4-FFF2-40B4-BE49-F238E27FC236}">
                <a16:creationId xmlns:a16="http://schemas.microsoft.com/office/drawing/2014/main" id="{12AB57C7-F7DA-4221-BADE-83670CEE61B7}"/>
              </a:ext>
            </a:extLst>
          </p:cNvPr>
          <p:cNvSpPr/>
          <p:nvPr/>
        </p:nvSpPr>
        <p:spPr>
          <a:xfrm>
            <a:off x="662597" y="2816192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E53C3E"/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sz="6000" b="1">
                <a:solidFill>
                  <a:srgbClr val="FFFFFF"/>
                </a:solidFill>
                <a:latin typeface="Calibri Light"/>
              </a:rPr>
              <a:t>46%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5" name="Google Shape;517;p43">
            <a:extLst>
              <a:ext uri="{FF2B5EF4-FFF2-40B4-BE49-F238E27FC236}">
                <a16:creationId xmlns:a16="http://schemas.microsoft.com/office/drawing/2014/main" id="{343DADBB-CAEF-4CEC-9C41-586E2F79E8E1}"/>
              </a:ext>
            </a:extLst>
          </p:cNvPr>
          <p:cNvSpPr txBox="1"/>
          <p:nvPr/>
        </p:nvSpPr>
        <p:spPr>
          <a:xfrm>
            <a:off x="70571" y="4662679"/>
            <a:ext cx="2752026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lang="es-MX" sz="16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 estudiantes que participaron en el estudio, presentan</a:t>
            </a:r>
            <a:r>
              <a:rPr lang="es-MX" sz="1600" b="1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ideación suicida.</a:t>
            </a:r>
          </a:p>
        </p:txBody>
      </p:sp>
      <p:sp>
        <p:nvSpPr>
          <p:cNvPr id="18" name="Google Shape;427;p32">
            <a:extLst>
              <a:ext uri="{FF2B5EF4-FFF2-40B4-BE49-F238E27FC236}">
                <a16:creationId xmlns:a16="http://schemas.microsoft.com/office/drawing/2014/main" id="{CE4D427B-C854-412F-847E-7DC359AAE967}"/>
              </a:ext>
            </a:extLst>
          </p:cNvPr>
          <p:cNvSpPr/>
          <p:nvPr/>
        </p:nvSpPr>
        <p:spPr>
          <a:xfrm>
            <a:off x="70571" y="2018566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E53C3E">
              <a:alpha val="74902"/>
            </a:srgbClr>
          </a:solidFill>
          <a:ln>
            <a:solidFill>
              <a:srgbClr val="E53C3E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35%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p68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Ideación suicida – Grupo manejo clínico</a:t>
            </a:r>
            <a:endParaRPr dirty="0"/>
          </a:p>
        </p:txBody>
      </p:sp>
      <p:sp>
        <p:nvSpPr>
          <p:cNvPr id="3" name="Google Shape;352;p25">
            <a:extLst>
              <a:ext uri="{FF2B5EF4-FFF2-40B4-BE49-F238E27FC236}">
                <a16:creationId xmlns:a16="http://schemas.microsoft.com/office/drawing/2014/main" id="{326B51B7-1C22-48BA-9610-950AB69B0192}"/>
              </a:ext>
            </a:extLst>
          </p:cNvPr>
          <p:cNvSpPr txBox="1"/>
          <p:nvPr/>
        </p:nvSpPr>
        <p:spPr>
          <a:xfrm>
            <a:off x="203473" y="1701860"/>
            <a:ext cx="5548087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¿Se te han ocurrido pensamientos de que sería mejor estar muerto/a o de hacerte daño de alguna manera?</a:t>
            </a:r>
            <a:endParaRPr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4" name="ideacion_suicida_1_pie_chart">
            <a:extLst>
              <a:ext uri="{FF2B5EF4-FFF2-40B4-BE49-F238E27FC236}">
                <a16:creationId xmlns:a16="http://schemas.microsoft.com/office/drawing/2014/main" id="{7E792B05-8C97-42DA-A3B2-187727929AB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15488034"/>
              </p:ext>
            </p:extLst>
          </p:nvPr>
        </p:nvGraphicFramePr>
        <p:xfrm>
          <a:off x="0" y="2225080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Google Shape;354;p25">
            <a:extLst>
              <a:ext uri="{FF2B5EF4-FFF2-40B4-BE49-F238E27FC236}">
                <a16:creationId xmlns:a16="http://schemas.microsoft.com/office/drawing/2014/main" id="{0A5FACBF-8CFB-4AFD-868E-DD4F809A0D5D}"/>
              </a:ext>
            </a:extLst>
          </p:cNvPr>
          <p:cNvSpPr txBox="1"/>
          <p:nvPr/>
        </p:nvSpPr>
        <p:spPr>
          <a:xfrm>
            <a:off x="6022685" y="2715408"/>
            <a:ext cx="5548087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¿Has deseado estar muerto/a o poder dormir y no despertar? (i1)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6" name="ideacion_suicida_2_pie_chart">
            <a:extLst>
              <a:ext uri="{FF2B5EF4-FFF2-40B4-BE49-F238E27FC236}">
                <a16:creationId xmlns:a16="http://schemas.microsoft.com/office/drawing/2014/main" id="{4B9F7D73-BE70-43F4-A9F7-4B70B1ED423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73241571"/>
              </p:ext>
            </p:extLst>
          </p:nvPr>
        </p:nvGraphicFramePr>
        <p:xfrm>
          <a:off x="6053528" y="3140317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Google Shape;356;p25">
            <a:extLst>
              <a:ext uri="{FF2B5EF4-FFF2-40B4-BE49-F238E27FC236}">
                <a16:creationId xmlns:a16="http://schemas.microsoft.com/office/drawing/2014/main" id="{32929CF0-35EC-4BA8-9267-A7C6D83372E9}"/>
              </a:ext>
            </a:extLst>
          </p:cNvPr>
          <p:cNvSpPr/>
          <p:nvPr/>
        </p:nvSpPr>
        <p:spPr>
          <a:xfrm>
            <a:off x="4627349" y="4344588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7F7F7F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357;p25">
            <a:extLst>
              <a:ext uri="{FF2B5EF4-FFF2-40B4-BE49-F238E27FC236}">
                <a16:creationId xmlns:a16="http://schemas.microsoft.com/office/drawing/2014/main" id="{E2A3606E-CAF5-4A94-A4A4-6C19F21D87D0}"/>
              </a:ext>
            </a:extLst>
          </p:cNvPr>
          <p:cNvSpPr txBox="1"/>
          <p:nvPr/>
        </p:nvSpPr>
        <p:spPr>
          <a:xfrm>
            <a:off x="2712356" y="5081137"/>
            <a:ext cx="55480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9" name="Google Shape;352;p25">
            <a:extLst>
              <a:ext uri="{FF2B5EF4-FFF2-40B4-BE49-F238E27FC236}">
                <a16:creationId xmlns:a16="http://schemas.microsoft.com/office/drawing/2014/main" id="{866AC697-A7E5-4C46-9845-DCD8666FDE72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Nota: a quienes se les despliega instrumento de profundización, contestan obligatoriamente i1, i2 e i6.</a:t>
            </a:r>
          </a:p>
        </p:txBody>
      </p:sp>
    </p:spTree>
    <p:extLst>
      <p:ext uri="{BB962C8B-B14F-4D97-AF65-F5344CB8AC3E}">
        <p14:creationId xmlns:p14="http://schemas.microsoft.com/office/powerpoint/2010/main" val="616273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p68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Ideación suicida – Grupo manejo clínico</a:t>
            </a:r>
            <a:endParaRPr dirty="0"/>
          </a:p>
        </p:txBody>
      </p:sp>
      <p:sp>
        <p:nvSpPr>
          <p:cNvPr id="3" name="Google Shape;352;p25">
            <a:extLst>
              <a:ext uri="{FF2B5EF4-FFF2-40B4-BE49-F238E27FC236}">
                <a16:creationId xmlns:a16="http://schemas.microsoft.com/office/drawing/2014/main" id="{326B51B7-1C22-48BA-9610-950AB69B0192}"/>
              </a:ext>
            </a:extLst>
          </p:cNvPr>
          <p:cNvSpPr txBox="1"/>
          <p:nvPr/>
        </p:nvSpPr>
        <p:spPr>
          <a:xfrm>
            <a:off x="-182011" y="1361403"/>
            <a:ext cx="4386457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¿Has tenido realmente la idea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 suicidarte? (i2)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4" name="ideacion_suicida_3_pie_chart">
            <a:extLst>
              <a:ext uri="{FF2B5EF4-FFF2-40B4-BE49-F238E27FC236}">
                <a16:creationId xmlns:a16="http://schemas.microsoft.com/office/drawing/2014/main" id="{7E792B05-8C97-42DA-A3B2-187727929AB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97379809"/>
              </p:ext>
            </p:extLst>
          </p:nvPr>
        </p:nvGraphicFramePr>
        <p:xfrm>
          <a:off x="-1039907" y="1872529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Google Shape;356;p25">
            <a:extLst>
              <a:ext uri="{FF2B5EF4-FFF2-40B4-BE49-F238E27FC236}">
                <a16:creationId xmlns:a16="http://schemas.microsoft.com/office/drawing/2014/main" id="{32929CF0-35EC-4BA8-9267-A7C6D83372E9}"/>
              </a:ext>
            </a:extLst>
          </p:cNvPr>
          <p:cNvSpPr/>
          <p:nvPr/>
        </p:nvSpPr>
        <p:spPr>
          <a:xfrm>
            <a:off x="3474409" y="2817628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7F7F7F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357;p25">
            <a:extLst>
              <a:ext uri="{FF2B5EF4-FFF2-40B4-BE49-F238E27FC236}">
                <a16:creationId xmlns:a16="http://schemas.microsoft.com/office/drawing/2014/main" id="{E2A3606E-CAF5-4A94-A4A4-6C19F21D87D0}"/>
              </a:ext>
            </a:extLst>
          </p:cNvPr>
          <p:cNvSpPr txBox="1"/>
          <p:nvPr/>
        </p:nvSpPr>
        <p:spPr>
          <a:xfrm>
            <a:off x="2886277" y="3573526"/>
            <a:ext cx="3159526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9" name="ideacion_suicida_4_bar_chart">
            <a:extLst>
              <a:ext uri="{FF2B5EF4-FFF2-40B4-BE49-F238E27FC236}">
                <a16:creationId xmlns:a16="http://schemas.microsoft.com/office/drawing/2014/main" id="{026100B7-BCF2-4798-8F7B-0F35B259D63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74773385"/>
              </p:ext>
            </p:extLst>
          </p:nvPr>
        </p:nvGraphicFramePr>
        <p:xfrm>
          <a:off x="6346822" y="1333717"/>
          <a:ext cx="5548086" cy="32229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Google Shape;352;p25">
            <a:extLst>
              <a:ext uri="{FF2B5EF4-FFF2-40B4-BE49-F238E27FC236}">
                <a16:creationId xmlns:a16="http://schemas.microsoft.com/office/drawing/2014/main" id="{9E05397D-284D-4B8B-984E-159DDDDA70F9}"/>
              </a:ext>
            </a:extLst>
          </p:cNvPr>
          <p:cNvSpPr txBox="1"/>
          <p:nvPr/>
        </p:nvSpPr>
        <p:spPr>
          <a:xfrm>
            <a:off x="3474409" y="5508691"/>
            <a:ext cx="5548087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¿Alguna vez has hecho algo, comenzado a hacer algo o te has preparado para hacer algo para terminar tu vida? (i6)</a:t>
            </a:r>
            <a:endParaRPr lang="es-MX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11" name="ideacion_suicida_5_pie_chart">
            <a:extLst>
              <a:ext uri="{FF2B5EF4-FFF2-40B4-BE49-F238E27FC236}">
                <a16:creationId xmlns:a16="http://schemas.microsoft.com/office/drawing/2014/main" id="{A0DFB884-61B2-4090-806B-51B9E01CE20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63976324"/>
              </p:ext>
            </p:extLst>
          </p:nvPr>
        </p:nvGraphicFramePr>
        <p:xfrm>
          <a:off x="7920846" y="4753194"/>
          <a:ext cx="3643625" cy="21048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2" name="Google Shape;352;p25">
            <a:extLst>
              <a:ext uri="{FF2B5EF4-FFF2-40B4-BE49-F238E27FC236}">
                <a16:creationId xmlns:a16="http://schemas.microsoft.com/office/drawing/2014/main" id="{C0EADD7D-E426-4F32-956A-5B89C71EE333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Nota: a quienes se les despliega instrumento de profundización, contestan obligatoriamente i1, i2 e i6.</a:t>
            </a:r>
          </a:p>
        </p:txBody>
      </p:sp>
    </p:spTree>
    <p:extLst>
      <p:ext uri="{BB962C8B-B14F-4D97-AF65-F5344CB8AC3E}">
        <p14:creationId xmlns:p14="http://schemas.microsoft.com/office/powerpoint/2010/main" val="24521510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0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Resultados eje riegos de salud mental</a:t>
            </a: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endParaRPr lang="es-CL" sz="4000" b="1" cap="small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3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Sub eje búsqueda de ayuda</a:t>
            </a:r>
            <a:endParaRPr sz="3000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0466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5"/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>
                <a:solidFill>
                  <a:srgbClr val="3F3F3F"/>
                </a:solidFill>
              </a:rPr>
              <a:t>Percepción de necesidad y acceso a tratamiento</a:t>
            </a:r>
            <a:endParaRPr sz="3200">
              <a:solidFill>
                <a:srgbClr val="0070C0"/>
              </a:solidFill>
            </a:endParaRPr>
          </a:p>
        </p:txBody>
      </p:sp>
      <p:sp>
        <p:nvSpPr>
          <p:cNvPr id="351" name="Google Shape;351;p25"/>
          <p:cNvSpPr txBox="1"/>
          <p:nvPr/>
        </p:nvSpPr>
        <p:spPr>
          <a:xfrm>
            <a:off x="5751560" y="4666434"/>
            <a:ext cx="38985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203473" y="1701860"/>
            <a:ext cx="5548087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 los últimos dos meses, ¿has necesitado algún tipo de apoyo o tratamiento en salud mental?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3" name="nectto_pie_chart"/>
          <p:cNvGraphicFramePr/>
          <p:nvPr>
            <p:extLst>
              <p:ext uri="{D42A27DB-BD31-4B8C-83A1-F6EECF244321}">
                <p14:modId xmlns:p14="http://schemas.microsoft.com/office/powerpoint/2010/main" val="3522761521"/>
              </p:ext>
            </p:extLst>
          </p:nvPr>
        </p:nvGraphicFramePr>
        <p:xfrm>
          <a:off x="0" y="2225080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54" name="Google Shape;354;p25"/>
          <p:cNvSpPr txBox="1"/>
          <p:nvPr/>
        </p:nvSpPr>
        <p:spPr>
          <a:xfrm>
            <a:off x="6022685" y="2715408"/>
            <a:ext cx="5548087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</a:t>
            </a: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Pudiste acceder al tratamiento que necesitabas</a:t>
            </a:r>
            <a:r>
              <a:rPr lang="es-CL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? 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5" name="acctto_pie_chart"/>
          <p:cNvGraphicFramePr/>
          <p:nvPr>
            <p:extLst>
              <p:ext uri="{D42A27DB-BD31-4B8C-83A1-F6EECF244321}">
                <p14:modId xmlns:p14="http://schemas.microsoft.com/office/powerpoint/2010/main" val="1905505387"/>
              </p:ext>
            </p:extLst>
          </p:nvPr>
        </p:nvGraphicFramePr>
        <p:xfrm>
          <a:off x="6053528" y="3140317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56" name="Google Shape;356;p25"/>
          <p:cNvSpPr/>
          <p:nvPr/>
        </p:nvSpPr>
        <p:spPr>
          <a:xfrm>
            <a:off x="4627349" y="4344588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7F7F7F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5"/>
          <p:cNvSpPr txBox="1"/>
          <p:nvPr/>
        </p:nvSpPr>
        <p:spPr>
          <a:xfrm>
            <a:off x="2712356" y="5081137"/>
            <a:ext cx="55480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pic>
        <p:nvPicPr>
          <p:cNvPr id="358" name="Google Shape;358;p2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039476" y="190198"/>
            <a:ext cx="857143" cy="9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5"/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>
                <a:solidFill>
                  <a:srgbClr val="3F3F3F"/>
                </a:solidFill>
              </a:rPr>
              <a:t>Percepción de necesidad y acceso a tratamiento</a:t>
            </a:r>
            <a:endParaRPr sz="3200">
              <a:solidFill>
                <a:srgbClr val="0070C0"/>
              </a:solidFill>
            </a:endParaRPr>
          </a:p>
        </p:txBody>
      </p:sp>
      <p:sp>
        <p:nvSpPr>
          <p:cNvPr id="351" name="Google Shape;351;p25"/>
          <p:cNvSpPr txBox="1"/>
          <p:nvPr/>
        </p:nvSpPr>
        <p:spPr>
          <a:xfrm>
            <a:off x="5751560" y="4666434"/>
            <a:ext cx="38985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203473" y="1701860"/>
            <a:ext cx="5548087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¿Dónde accediste al tratamiento? 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3" name="lugtto_pie_chart"/>
          <p:cNvGraphicFramePr/>
          <p:nvPr>
            <p:extLst>
              <p:ext uri="{D42A27DB-BD31-4B8C-83A1-F6EECF244321}">
                <p14:modId xmlns:p14="http://schemas.microsoft.com/office/powerpoint/2010/main" val="53984066"/>
              </p:ext>
            </p:extLst>
          </p:nvPr>
        </p:nvGraphicFramePr>
        <p:xfrm>
          <a:off x="0" y="2225080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54" name="Google Shape;354;p25"/>
          <p:cNvSpPr txBox="1"/>
          <p:nvPr/>
        </p:nvSpPr>
        <p:spPr>
          <a:xfrm>
            <a:off x="6022685" y="2715408"/>
            <a:ext cx="5548087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¿Qué tipo de tratamiento obtuviste?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5" name="tiptto_pie_chart"/>
          <p:cNvGraphicFramePr/>
          <p:nvPr>
            <p:extLst>
              <p:ext uri="{D42A27DB-BD31-4B8C-83A1-F6EECF244321}">
                <p14:modId xmlns:p14="http://schemas.microsoft.com/office/powerpoint/2010/main" val="2922636718"/>
              </p:ext>
            </p:extLst>
          </p:nvPr>
        </p:nvGraphicFramePr>
        <p:xfrm>
          <a:off x="6053528" y="3140317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358" name="Google Shape;358;p2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039476" y="190198"/>
            <a:ext cx="857143" cy="900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174166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26"/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>
                <a:solidFill>
                  <a:srgbClr val="3F3F3F"/>
                </a:solidFill>
              </a:rPr>
              <a:t>Percepción de barreras de acceso a tratamiento</a:t>
            </a:r>
            <a:endParaRPr sz="3200">
              <a:solidFill>
                <a:srgbClr val="0070C0"/>
              </a:solidFill>
            </a:endParaRPr>
          </a:p>
        </p:txBody>
      </p:sp>
      <p:graphicFrame>
        <p:nvGraphicFramePr>
          <p:cNvPr id="373" name="Google Shape;373;p26"/>
          <p:cNvGraphicFramePr/>
          <p:nvPr>
            <p:extLst>
              <p:ext uri="{D42A27DB-BD31-4B8C-83A1-F6EECF244321}">
                <p14:modId xmlns:p14="http://schemas.microsoft.com/office/powerpoint/2010/main" val="2767031248"/>
              </p:ext>
            </p:extLst>
          </p:nvPr>
        </p:nvGraphicFramePr>
        <p:xfrm>
          <a:off x="491319" y="1338944"/>
          <a:ext cx="11225724" cy="44577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74" name="Google Shape;374;p26"/>
          <p:cNvSpPr txBox="1"/>
          <p:nvPr/>
        </p:nvSpPr>
        <p:spPr>
          <a:xfrm>
            <a:off x="2058452" y="6504523"/>
            <a:ext cx="8505022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200" dirty="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*Entre aquellos que mencionaron no haber tenido acceso a algún apoyo o tratamiento de salud mental.</a:t>
            </a:r>
            <a:endParaRPr dirty="0"/>
          </a:p>
        </p:txBody>
      </p:sp>
      <p:pic>
        <p:nvPicPr>
          <p:cNvPr id="375" name="Google Shape;375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039476" y="190198"/>
            <a:ext cx="857143" cy="9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3733269E-93A7-E828-46C8-5215B9D790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7334" y="5864487"/>
            <a:ext cx="3371850" cy="3619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0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Resultados eje bienestar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67804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31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Nivel de bienestar</a:t>
            </a:r>
            <a:endParaRPr dirty="0"/>
          </a:p>
        </p:txBody>
      </p:sp>
      <p:graphicFrame>
        <p:nvGraphicFramePr>
          <p:cNvPr id="416" name="Google Shape;416;p31"/>
          <p:cNvGraphicFramePr/>
          <p:nvPr>
            <p:extLst>
              <p:ext uri="{D42A27DB-BD31-4B8C-83A1-F6EECF244321}">
                <p14:modId xmlns:p14="http://schemas.microsoft.com/office/powerpoint/2010/main" val="2652988043"/>
              </p:ext>
            </p:extLst>
          </p:nvPr>
        </p:nvGraphicFramePr>
        <p:xfrm>
          <a:off x="3537857" y="3663937"/>
          <a:ext cx="8298165" cy="29266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9" name="Google Shape;419;p31"/>
          <p:cNvGraphicFramePr/>
          <p:nvPr>
            <p:extLst>
              <p:ext uri="{D42A27DB-BD31-4B8C-83A1-F6EECF244321}">
                <p14:modId xmlns:p14="http://schemas.microsoft.com/office/powerpoint/2010/main" val="3523129359"/>
              </p:ext>
            </p:extLst>
          </p:nvPr>
        </p:nvGraphicFramePr>
        <p:xfrm>
          <a:off x="3708022" y="819066"/>
          <a:ext cx="8128000" cy="291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Google Shape;418;p31"/>
          <p:cNvSpPr txBox="1"/>
          <p:nvPr/>
        </p:nvSpPr>
        <p:spPr>
          <a:xfrm>
            <a:off x="321370" y="4690834"/>
            <a:ext cx="2724402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just"/>
            <a:r>
              <a:rPr lang="es-CL" sz="1600" dirty="0">
                <a:solidFill>
                  <a:schemeClr val="dk1"/>
                </a:solidFill>
                <a:latin typeface="Calibri Light"/>
                <a:ea typeface="Calibri"/>
                <a:cs typeface="Calibri Light"/>
                <a:sym typeface="Calibri"/>
              </a:rPr>
              <a:t>Es el </a:t>
            </a:r>
            <a:r>
              <a:rPr lang="es-CL" sz="1600" b="1" dirty="0">
                <a:solidFill>
                  <a:schemeClr val="dk1"/>
                </a:solidFill>
                <a:latin typeface="Calibri Light"/>
                <a:ea typeface="Calibri"/>
                <a:cs typeface="Calibri Light"/>
                <a:sym typeface="Calibri"/>
              </a:rPr>
              <a:t>nivel de bienestar</a:t>
            </a:r>
            <a:r>
              <a:rPr lang="es-CL" sz="1600" dirty="0">
                <a:solidFill>
                  <a:schemeClr val="dk1"/>
                </a:solidFill>
                <a:latin typeface="Calibri Light"/>
                <a:ea typeface="Calibri"/>
                <a:cs typeface="Calibri Light"/>
                <a:sym typeface="Calibri"/>
              </a:rPr>
              <a:t> para los estudiantes que participaron </a:t>
            </a:r>
            <a:r>
              <a:rPr lang="es-CL" sz="1600">
                <a:solidFill>
                  <a:schemeClr val="dk1"/>
                </a:solidFill>
                <a:latin typeface="Calibri Light"/>
                <a:ea typeface="Calibri"/>
                <a:cs typeface="Calibri Light"/>
                <a:sym typeface="Calibri"/>
              </a:rPr>
              <a:t>en el estudio (de un máximo de </a:t>
            </a:r>
            <a:r>
              <a:rPr lang="es-CL" sz="1600" dirty="0">
                <a:solidFill>
                  <a:schemeClr val="dk1"/>
                </a:solidFill>
                <a:latin typeface="Calibri Light"/>
                <a:ea typeface="Calibri"/>
                <a:cs typeface="Calibri Light"/>
                <a:sym typeface="Calibri"/>
              </a:rPr>
              <a:t>7 puntos)  .</a:t>
            </a:r>
            <a:endParaRPr lang="es-CL" sz="1600" dirty="0">
              <a:solidFill>
                <a:schemeClr val="dk1"/>
              </a:solidFill>
              <a:latin typeface="Calibri Light"/>
              <a:ea typeface="Calibri"/>
              <a:cs typeface="Calibri Light"/>
            </a:endParaRPr>
          </a:p>
        </p:txBody>
      </p:sp>
      <p:sp>
        <p:nvSpPr>
          <p:cNvPr id="8" name="Google Shape;427;p32">
            <a:extLst>
              <a:ext uri="{FF2B5EF4-FFF2-40B4-BE49-F238E27FC236}">
                <a16:creationId xmlns:a16="http://schemas.microsoft.com/office/drawing/2014/main" id="{842259C6-A8AD-4051-AF5D-227E700CD252}"/>
              </a:ext>
            </a:extLst>
          </p:cNvPr>
          <p:cNvSpPr/>
          <p:nvPr/>
        </p:nvSpPr>
        <p:spPr>
          <a:xfrm>
            <a:off x="321370" y="1382356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55B296">
              <a:alpha val="74902"/>
            </a:srgbClr>
          </a:solidFill>
          <a:ln>
            <a:solidFill>
              <a:srgbClr val="55B296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4,8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1" name="Google Shape;427;p32">
            <a:extLst>
              <a:ext uri="{FF2B5EF4-FFF2-40B4-BE49-F238E27FC236}">
                <a16:creationId xmlns:a16="http://schemas.microsoft.com/office/drawing/2014/main" id="{40DF7B16-764D-4914-823B-140AA1ACE6EB}"/>
              </a:ext>
            </a:extLst>
          </p:cNvPr>
          <p:cNvSpPr/>
          <p:nvPr/>
        </p:nvSpPr>
        <p:spPr>
          <a:xfrm>
            <a:off x="326077" y="3582629"/>
            <a:ext cx="1021976" cy="863600"/>
          </a:xfrm>
          <a:prstGeom prst="roundRect">
            <a:avLst>
              <a:gd name="adj" fmla="val 16667"/>
            </a:avLst>
          </a:prstGeom>
          <a:solidFill>
            <a:srgbClr val="00223A">
              <a:alpha val="74902"/>
            </a:srgbClr>
          </a:solidFill>
          <a:ln>
            <a:solidFill>
              <a:srgbClr val="00223A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5,6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5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Duoc UC</a:t>
            </a:r>
            <a:endParaRPr sz="15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2" name="Google Shape;417;p31">
            <a:extLst>
              <a:ext uri="{FF2B5EF4-FFF2-40B4-BE49-F238E27FC236}">
                <a16:creationId xmlns:a16="http://schemas.microsoft.com/office/drawing/2014/main" id="{C4A0C148-5530-45DA-B12D-9F270320538C}"/>
              </a:ext>
            </a:extLst>
          </p:cNvPr>
          <p:cNvSpPr/>
          <p:nvPr/>
        </p:nvSpPr>
        <p:spPr>
          <a:xfrm>
            <a:off x="885772" y="2121677"/>
            <a:ext cx="2160000" cy="1585231"/>
          </a:xfrm>
          <a:prstGeom prst="roundRect">
            <a:avLst>
              <a:gd name="adj" fmla="val 16667"/>
            </a:avLst>
          </a:prstGeom>
          <a:solidFill>
            <a:srgbClr val="55B29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6000" b="1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5,6</a:t>
            </a:r>
            <a:endParaRPr sz="6000" b="1" dirty="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33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 err="1"/>
              <a:t>Perma</a:t>
            </a:r>
            <a:endParaRPr dirty="0"/>
          </a:p>
        </p:txBody>
      </p:sp>
      <p:sp>
        <p:nvSpPr>
          <p:cNvPr id="438" name="Google Shape;438;p33"/>
          <p:cNvSpPr txBox="1"/>
          <p:nvPr/>
        </p:nvSpPr>
        <p:spPr>
          <a:xfrm>
            <a:off x="658805" y="2403619"/>
            <a:ext cx="4490600" cy="1477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 = Positive </a:t>
            </a:r>
            <a:r>
              <a:rPr lang="es-CL" sz="1800" dirty="0" err="1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emotion</a:t>
            </a: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(Emoción positiva)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 = </a:t>
            </a:r>
            <a:r>
              <a:rPr lang="es-CL" sz="1800" dirty="0" err="1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Engagement</a:t>
            </a: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(Entusiasmo)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 = </a:t>
            </a:r>
            <a:r>
              <a:rPr lang="es-CL" sz="1800" dirty="0" err="1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Relationships</a:t>
            </a: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(Relaciones)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M = </a:t>
            </a:r>
            <a:r>
              <a:rPr lang="es-CL" sz="1800" dirty="0" err="1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Meaning</a:t>
            </a: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(Significado)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A = </a:t>
            </a:r>
            <a:r>
              <a:rPr lang="es-CL" sz="1800" dirty="0" err="1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Accomplishment</a:t>
            </a: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(Logro)</a:t>
            </a:r>
          </a:p>
        </p:txBody>
      </p:sp>
      <p:pic>
        <p:nvPicPr>
          <p:cNvPr id="5" name="Google Shape;344;p24">
            <a:extLst>
              <a:ext uri="{FF2B5EF4-FFF2-40B4-BE49-F238E27FC236}">
                <a16:creationId xmlns:a16="http://schemas.microsoft.com/office/drawing/2014/main" id="{C5A4A206-492B-4093-A96C-B421A5A9FA7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58537" y="109707"/>
            <a:ext cx="878108" cy="900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8" name="Gráfico 7">
            <a:extLst>
              <a:ext uri="{FF2B5EF4-FFF2-40B4-BE49-F238E27FC236}">
                <a16:creationId xmlns:a16="http://schemas.microsoft.com/office/drawing/2014/main" id="{11CED9D8-F5B6-42A2-AEE8-EB8C32855B5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61686367"/>
              </p:ext>
            </p:extLst>
          </p:nvPr>
        </p:nvGraphicFramePr>
        <p:xfrm>
          <a:off x="5149405" y="1365898"/>
          <a:ext cx="6040811" cy="429083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33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 err="1"/>
              <a:t>Perma</a:t>
            </a:r>
            <a:endParaRPr dirty="0"/>
          </a:p>
        </p:txBody>
      </p:sp>
      <p:sp>
        <p:nvSpPr>
          <p:cNvPr id="438" name="Google Shape;438;p33"/>
          <p:cNvSpPr txBox="1"/>
          <p:nvPr/>
        </p:nvSpPr>
        <p:spPr>
          <a:xfrm>
            <a:off x="658805" y="2403619"/>
            <a:ext cx="4490600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N = Negative </a:t>
            </a:r>
            <a:r>
              <a:rPr lang="es-CL" sz="1800" dirty="0" err="1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emotion</a:t>
            </a: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(Emoción negativa)</a:t>
            </a:r>
            <a:endParaRPr lang="es-CL" sz="1800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H = </a:t>
            </a:r>
            <a:r>
              <a:rPr lang="es-CL" sz="1800" dirty="0" err="1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Health</a:t>
            </a: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(Salud)</a:t>
            </a:r>
            <a:endParaRPr lang="es-CL" sz="1800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 = </a:t>
            </a:r>
            <a:r>
              <a:rPr lang="es-CL" sz="1800" dirty="0" err="1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Loneliness</a:t>
            </a:r>
            <a:r>
              <a:rPr lang="es-CL" sz="18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 (Soledad)</a:t>
            </a:r>
          </a:p>
        </p:txBody>
      </p:sp>
      <p:pic>
        <p:nvPicPr>
          <p:cNvPr id="5" name="Google Shape;344;p24">
            <a:extLst>
              <a:ext uri="{FF2B5EF4-FFF2-40B4-BE49-F238E27FC236}">
                <a16:creationId xmlns:a16="http://schemas.microsoft.com/office/drawing/2014/main" id="{C5A4A206-492B-4093-A96C-B421A5A9FA7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58537" y="109707"/>
            <a:ext cx="878108" cy="900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8" name="Gráfico 7">
            <a:extLst>
              <a:ext uri="{FF2B5EF4-FFF2-40B4-BE49-F238E27FC236}">
                <a16:creationId xmlns:a16="http://schemas.microsoft.com/office/drawing/2014/main" id="{11CED9D8-F5B6-42A2-AEE8-EB8C32855B5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83172701"/>
              </p:ext>
            </p:extLst>
          </p:nvPr>
        </p:nvGraphicFramePr>
        <p:xfrm>
          <a:off x="5149405" y="1365898"/>
          <a:ext cx="6040811" cy="429083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7749723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24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/>
              <a:t>Apoyo percibido</a:t>
            </a:r>
            <a:endParaRPr/>
          </a:p>
        </p:txBody>
      </p:sp>
      <p:graphicFrame>
        <p:nvGraphicFramePr>
          <p:cNvPr id="343" name="Google Shape;343;p24"/>
          <p:cNvGraphicFramePr/>
          <p:nvPr>
            <p:extLst>
              <p:ext uri="{D42A27DB-BD31-4B8C-83A1-F6EECF244321}">
                <p14:modId xmlns:p14="http://schemas.microsoft.com/office/powerpoint/2010/main" val="1951455050"/>
              </p:ext>
            </p:extLst>
          </p:nvPr>
        </p:nvGraphicFramePr>
        <p:xfrm>
          <a:off x="981247" y="1547253"/>
          <a:ext cx="10659431" cy="44062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344" name="Google Shape;344;p2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158537" y="109707"/>
            <a:ext cx="878108" cy="9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24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Flow </a:t>
            </a:r>
            <a:r>
              <a:rPr lang="es-CL" dirty="0" err="1"/>
              <a:t>states</a:t>
            </a:r>
            <a:r>
              <a:rPr lang="es-CL" dirty="0"/>
              <a:t> – Estados de inmersión</a:t>
            </a:r>
            <a:endParaRPr dirty="0"/>
          </a:p>
        </p:txBody>
      </p:sp>
      <p:pic>
        <p:nvPicPr>
          <p:cNvPr id="344" name="Google Shape;344;p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58537" y="109707"/>
            <a:ext cx="878108" cy="9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8AFAAC6B-B4AE-4649-881A-F216154540BE}"/>
              </a:ext>
            </a:extLst>
          </p:cNvPr>
          <p:cNvSpPr/>
          <p:nvPr/>
        </p:nvSpPr>
        <p:spPr>
          <a:xfrm>
            <a:off x="3842551" y="4957200"/>
            <a:ext cx="457968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spcAft>
                <a:spcPts val="1200"/>
              </a:spcAft>
              <a:buClr>
                <a:srgbClr val="3F3F3F"/>
              </a:buClr>
              <a:buSzPts val="1600"/>
            </a:pPr>
            <a:r>
              <a:rPr lang="es-MX" sz="2400" dirty="0"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Apreciación positiva total de estados de inmersión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DDE6B7A8-6B45-4F4D-A905-E693E5A21E61}"/>
              </a:ext>
            </a:extLst>
          </p:cNvPr>
          <p:cNvSpPr/>
          <p:nvPr/>
        </p:nvSpPr>
        <p:spPr>
          <a:xfrm>
            <a:off x="4888800" y="2084400"/>
            <a:ext cx="2520000" cy="2520000"/>
          </a:xfrm>
          <a:prstGeom prst="ellipse">
            <a:avLst/>
          </a:prstGeom>
          <a:noFill/>
          <a:ln w="57150">
            <a:solidFill>
              <a:srgbClr val="27B6A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s-CL" sz="6600" b="1" dirty="0">
              <a:solidFill>
                <a:schemeClr val="tx1"/>
              </a:solidFill>
            </a:endParaRPr>
          </a:p>
        </p:txBody>
      </p:sp>
      <p:pic>
        <p:nvPicPr>
          <p:cNvPr id="7" name="Picture 4" descr="https://o.remove.bg/downloads/a2fe74ba-119e-4176-840d-2e2a91317f11/image-removebg-preview.png">
            <a:extLst>
              <a:ext uri="{FF2B5EF4-FFF2-40B4-BE49-F238E27FC236}">
                <a16:creationId xmlns:a16="http://schemas.microsoft.com/office/drawing/2014/main" id="{CDF56695-D92C-4F9C-9B2A-16F4B11BAB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321" y="4240530"/>
            <a:ext cx="1935196" cy="19351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Marcador de texto 4">
            <a:extLst>
              <a:ext uri="{FF2B5EF4-FFF2-40B4-BE49-F238E27FC236}">
                <a16:creationId xmlns:a16="http://schemas.microsoft.com/office/drawing/2014/main" id="{FC13E964-DD1E-4C3A-869E-802D0783EA58}"/>
              </a:ext>
            </a:extLst>
          </p:cNvPr>
          <p:cNvSpPr txBox="1">
            <a:spLocks/>
          </p:cNvSpPr>
          <p:nvPr/>
        </p:nvSpPr>
        <p:spPr>
          <a:xfrm>
            <a:off x="4870800" y="2959200"/>
            <a:ext cx="2552351" cy="763492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6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L" dirty="0"/>
              <a:t>72%</a:t>
            </a:r>
          </a:p>
        </p:txBody>
      </p:sp>
    </p:spTree>
    <p:extLst>
      <p:ext uri="{BB962C8B-B14F-4D97-AF65-F5344CB8AC3E}">
        <p14:creationId xmlns:p14="http://schemas.microsoft.com/office/powerpoint/2010/main" val="4072898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24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Flow </a:t>
            </a:r>
            <a:r>
              <a:rPr lang="es-CL" dirty="0" err="1"/>
              <a:t>states</a:t>
            </a:r>
            <a:r>
              <a:rPr lang="es-CL" dirty="0"/>
              <a:t> – Estados de inmersión</a:t>
            </a:r>
            <a:endParaRPr dirty="0"/>
          </a:p>
        </p:txBody>
      </p:sp>
      <p:pic>
        <p:nvPicPr>
          <p:cNvPr id="344" name="Google Shape;344;p2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58537" y="109707"/>
            <a:ext cx="878108" cy="900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4" name="Gráfico 7">
            <a:extLst>
              <a:ext uri="{FF2B5EF4-FFF2-40B4-BE49-F238E27FC236}">
                <a16:creationId xmlns:a16="http://schemas.microsoft.com/office/drawing/2014/main" id="{FC54E293-B2B7-448C-AA1C-9F85ED19D95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43444727"/>
              </p:ext>
            </p:extLst>
          </p:nvPr>
        </p:nvGraphicFramePr>
        <p:xfrm>
          <a:off x="-1762024" y="1283027"/>
          <a:ext cx="13790737" cy="521685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" name="Marcador de texto 5">
            <a:extLst>
              <a:ext uri="{FF2B5EF4-FFF2-40B4-BE49-F238E27FC236}">
                <a16:creationId xmlns:a16="http://schemas.microsoft.com/office/drawing/2014/main" id="{5D964812-2EFF-4587-B3D9-60CE9FB2FA87}"/>
              </a:ext>
            </a:extLst>
          </p:cNvPr>
          <p:cNvSpPr txBox="1">
            <a:spLocks/>
          </p:cNvSpPr>
          <p:nvPr/>
        </p:nvSpPr>
        <p:spPr>
          <a:xfrm>
            <a:off x="5994827" y="6499878"/>
            <a:ext cx="6455708" cy="282677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s-ES" sz="1070" kern="1200" dirty="0" smtClean="0">
                <a:solidFill>
                  <a:srgbClr val="7F7F7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100" dirty="0">
                <a:sym typeface="Calibri"/>
              </a:rPr>
              <a:t>* La suma de los porcentajes podría no totalizar 100% por la aproximación de decimales</a:t>
            </a:r>
            <a:endParaRPr lang="es-ES" sz="1100" dirty="0">
              <a:solidFill>
                <a:srgbClr val="7F7F7F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83617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7" name="Google Shape;1127;p101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Actividad física</a:t>
            </a:r>
            <a:endParaRPr dirty="0"/>
          </a:p>
        </p:txBody>
      </p:sp>
      <p:pic>
        <p:nvPicPr>
          <p:cNvPr id="1135" name="Google Shape;1135;p10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389743" y="204482"/>
            <a:ext cx="534146" cy="900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2" name="Google Shape;1128;p101">
            <a:extLst>
              <a:ext uri="{FF2B5EF4-FFF2-40B4-BE49-F238E27FC236}">
                <a16:creationId xmlns:a16="http://schemas.microsoft.com/office/drawing/2014/main" id="{94A38310-71C6-4207-916A-109C05A68EB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8521160"/>
              </p:ext>
            </p:extLst>
          </p:nvPr>
        </p:nvGraphicFramePr>
        <p:xfrm>
          <a:off x="3854075" y="1327178"/>
          <a:ext cx="4913775" cy="45073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0" name="Google Shape;1140;p102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/>
              <a:t>Alimentación</a:t>
            </a:r>
            <a:endParaRPr/>
          </a:p>
        </p:txBody>
      </p:sp>
      <p:graphicFrame>
        <p:nvGraphicFramePr>
          <p:cNvPr id="1141" name="Google Shape;1141;p102"/>
          <p:cNvGraphicFramePr/>
          <p:nvPr/>
        </p:nvGraphicFramePr>
        <p:xfrm>
          <a:off x="190837" y="1069864"/>
          <a:ext cx="11724937" cy="20050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1142" name="Google Shape;1142;p10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981764" y="169864"/>
            <a:ext cx="1062259" cy="785265"/>
          </a:xfrm>
          <a:prstGeom prst="rect">
            <a:avLst/>
          </a:prstGeom>
          <a:noFill/>
          <a:ln>
            <a:noFill/>
          </a:ln>
        </p:spPr>
      </p:pic>
      <p:sp>
        <p:nvSpPr>
          <p:cNvPr id="1143" name="Google Shape;1143;p102"/>
          <p:cNvSpPr/>
          <p:nvPr/>
        </p:nvSpPr>
        <p:spPr>
          <a:xfrm>
            <a:off x="190837" y="1605303"/>
            <a:ext cx="11565734" cy="819397"/>
          </a:xfrm>
          <a:prstGeom prst="rect">
            <a:avLst/>
          </a:prstGeom>
          <a:noFill/>
          <a:ln w="38100" cap="flat" cmpd="sng">
            <a:solidFill>
              <a:srgbClr val="55B29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4" name="Google Shape;1144;p102"/>
          <p:cNvSpPr/>
          <p:nvPr/>
        </p:nvSpPr>
        <p:spPr>
          <a:xfrm>
            <a:off x="190837" y="3074874"/>
            <a:ext cx="11565734" cy="3641235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7" name="Google Shape;1141;p102"/>
          <p:cNvGraphicFramePr/>
          <p:nvPr/>
        </p:nvGraphicFramePr>
        <p:xfrm>
          <a:off x="254879" y="3074873"/>
          <a:ext cx="11682242" cy="33481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937084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" name="Google Shape;1166;p105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/>
              <a:t>Ingesta de líquidos</a:t>
            </a:r>
            <a:endParaRPr/>
          </a:p>
        </p:txBody>
      </p:sp>
      <p:graphicFrame>
        <p:nvGraphicFramePr>
          <p:cNvPr id="1168" name="Google Shape;1168;p105"/>
          <p:cNvGraphicFramePr/>
          <p:nvPr>
            <p:extLst>
              <p:ext uri="{D42A27DB-BD31-4B8C-83A1-F6EECF244321}">
                <p14:modId xmlns:p14="http://schemas.microsoft.com/office/powerpoint/2010/main" val="1438025513"/>
              </p:ext>
            </p:extLst>
          </p:nvPr>
        </p:nvGraphicFramePr>
        <p:xfrm>
          <a:off x="3652837" y="1474104"/>
          <a:ext cx="4886326" cy="45571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1169" name="Google Shape;1169;p10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106150" y="119748"/>
            <a:ext cx="903030" cy="9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" name="Google Shape;1166;p105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Tabaquismo</a:t>
            </a:r>
            <a:endParaRPr dirty="0"/>
          </a:p>
        </p:txBody>
      </p:sp>
      <p:graphicFrame>
        <p:nvGraphicFramePr>
          <p:cNvPr id="5" name="Google Shape;1168;p105">
            <a:extLst>
              <a:ext uri="{FF2B5EF4-FFF2-40B4-BE49-F238E27FC236}">
                <a16:creationId xmlns:a16="http://schemas.microsoft.com/office/drawing/2014/main" id="{5BBC86A8-A241-4C94-B947-C736276A19E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57823850"/>
              </p:ext>
            </p:extLst>
          </p:nvPr>
        </p:nvGraphicFramePr>
        <p:xfrm>
          <a:off x="3652837" y="1474104"/>
          <a:ext cx="4886326" cy="45571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3" name="Picture 2" descr="A black and white image of a cigarette&#10;&#10;AI-generated content may be incorrect.">
            <a:extLst>
              <a:ext uri="{FF2B5EF4-FFF2-40B4-BE49-F238E27FC236}">
                <a16:creationId xmlns:a16="http://schemas.microsoft.com/office/drawing/2014/main" id="{4EE0938B-A1F5-E213-9763-4E9C398097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0650" y="97004"/>
            <a:ext cx="969044" cy="92893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06740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0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Experiencia emocional e insights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5937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8" name="Google Shape;268;p15" descr="Texto&#10;&#10;Descripción generada automá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863639" y="1801198"/>
            <a:ext cx="6464721" cy="4016896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219;p11">
            <a:extLst>
              <a:ext uri="{FF2B5EF4-FFF2-40B4-BE49-F238E27FC236}">
                <a16:creationId xmlns:a16="http://schemas.microsoft.com/office/drawing/2014/main" id="{4EF4A740-ABAE-4AB2-99BC-A93D5DBB2DD7}"/>
              </a:ext>
            </a:extLst>
          </p:cNvPr>
          <p:cNvSpPr txBox="1"/>
          <p:nvPr/>
        </p:nvSpPr>
        <p:spPr>
          <a:xfrm>
            <a:off x="491319" y="419556"/>
            <a:ext cx="11639289" cy="61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Calibri"/>
              <a:buNone/>
            </a:pPr>
            <a:r>
              <a:rPr lang="es-CL" sz="3400" b="1" cap="small" dirty="0">
                <a:solidFill>
                  <a:srgbClr val="00223A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¿Cómo es la experiencia emocional de las y los estudiantes?</a:t>
            </a:r>
            <a:endParaRPr dirty="0">
              <a:solidFill>
                <a:srgbClr val="00223A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16" descr="Texto&#10;&#10;Descripción generada automá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91319" y="2436074"/>
            <a:ext cx="5139389" cy="3094929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16"/>
          <p:cNvSpPr txBox="1"/>
          <p:nvPr/>
        </p:nvSpPr>
        <p:spPr>
          <a:xfrm>
            <a:off x="2464422" y="1630198"/>
            <a:ext cx="119318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Mujeres</a:t>
            </a:r>
            <a:endParaRPr sz="2000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pic>
        <p:nvPicPr>
          <p:cNvPr id="277" name="Google Shape;277;p16" descr="Texto&#10;&#10;Descripción generada automáticament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50330" y="2436073"/>
            <a:ext cx="5139389" cy="3094929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16"/>
          <p:cNvSpPr txBox="1"/>
          <p:nvPr/>
        </p:nvSpPr>
        <p:spPr>
          <a:xfrm>
            <a:off x="8534397" y="1630198"/>
            <a:ext cx="119318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Hombres</a:t>
            </a:r>
            <a:endParaRPr sz="200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9" name="Google Shape;219;p11">
            <a:extLst>
              <a:ext uri="{FF2B5EF4-FFF2-40B4-BE49-F238E27FC236}">
                <a16:creationId xmlns:a16="http://schemas.microsoft.com/office/drawing/2014/main" id="{A867D09D-7D5A-41EE-AB42-CAC7999ECCDF}"/>
              </a:ext>
            </a:extLst>
          </p:cNvPr>
          <p:cNvSpPr txBox="1"/>
          <p:nvPr/>
        </p:nvSpPr>
        <p:spPr>
          <a:xfrm>
            <a:off x="491319" y="419556"/>
            <a:ext cx="11639289" cy="61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Calibri"/>
              <a:buNone/>
            </a:pPr>
            <a:r>
              <a:rPr lang="es-CL" sz="3400" b="1" cap="small" dirty="0">
                <a:solidFill>
                  <a:srgbClr val="00223A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¿Cómo es la experiencia emocional de las y los estudiantes?</a:t>
            </a:r>
            <a:endParaRPr dirty="0">
              <a:solidFill>
                <a:srgbClr val="00223A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16" descr="Texto&#10;&#10;Descripción generada automáticament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91319" y="2436074"/>
            <a:ext cx="5139389" cy="3094929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16"/>
          <p:cNvSpPr txBox="1"/>
          <p:nvPr/>
        </p:nvSpPr>
        <p:spPr>
          <a:xfrm>
            <a:off x="2464422" y="1630198"/>
            <a:ext cx="119318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2022</a:t>
            </a:r>
            <a:endParaRPr sz="2000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pic>
        <p:nvPicPr>
          <p:cNvPr id="277" name="Google Shape;277;p16" descr="Texto&#10;&#10;Descripción generada automáticament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450330" y="2436073"/>
            <a:ext cx="5139389" cy="3094929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16"/>
          <p:cNvSpPr txBox="1"/>
          <p:nvPr/>
        </p:nvSpPr>
        <p:spPr>
          <a:xfrm>
            <a:off x="8534397" y="1630198"/>
            <a:ext cx="119318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000" dirty="0">
                <a:solidFill>
                  <a:schemeClr val="dk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2025</a:t>
            </a:r>
            <a:endParaRPr sz="2000" dirty="0">
              <a:solidFill>
                <a:schemeClr val="dk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9" name="Google Shape;219;p11">
            <a:extLst>
              <a:ext uri="{FF2B5EF4-FFF2-40B4-BE49-F238E27FC236}">
                <a16:creationId xmlns:a16="http://schemas.microsoft.com/office/drawing/2014/main" id="{A867D09D-7D5A-41EE-AB42-CAC7999ECCDF}"/>
              </a:ext>
            </a:extLst>
          </p:cNvPr>
          <p:cNvSpPr txBox="1"/>
          <p:nvPr/>
        </p:nvSpPr>
        <p:spPr>
          <a:xfrm>
            <a:off x="491319" y="419556"/>
            <a:ext cx="11639289" cy="61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Calibri"/>
              <a:buNone/>
            </a:pPr>
            <a:r>
              <a:rPr lang="es-CL" sz="3400" b="1" cap="small" dirty="0">
                <a:solidFill>
                  <a:srgbClr val="00223A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¿Cómo es la experiencia emocional de las y los estudiantes?</a:t>
            </a:r>
            <a:endParaRPr dirty="0">
              <a:solidFill>
                <a:srgbClr val="00223A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58737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55B296"/>
          </a:solidFill>
          <a:ln w="12700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90" name="Google Shape;190;p10"/>
          <p:cNvSpPr/>
          <p:nvPr/>
        </p:nvSpPr>
        <p:spPr>
          <a:xfrm>
            <a:off x="8796604" y="4882487"/>
            <a:ext cx="3227664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91" name="Google Shape;191;p10"/>
          <p:cNvSpPr/>
          <p:nvPr/>
        </p:nvSpPr>
        <p:spPr>
          <a:xfrm>
            <a:off x="4657432" y="4882950"/>
            <a:ext cx="330706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b="1" dirty="0">
              <a:solidFill>
                <a:schemeClr val="dk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92" name="Google Shape;192;p10"/>
          <p:cNvSpPr/>
          <p:nvPr/>
        </p:nvSpPr>
        <p:spPr>
          <a:xfrm>
            <a:off x="483862" y="4861615"/>
            <a:ext cx="3054600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96" name="Google Shape;196;p10"/>
          <p:cNvSpPr txBox="1"/>
          <p:nvPr/>
        </p:nvSpPr>
        <p:spPr>
          <a:xfrm>
            <a:off x="491319" y="419556"/>
            <a:ext cx="11639289" cy="61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00"/>
              <a:buFont typeface="Calibri"/>
              <a:buNone/>
            </a:pPr>
            <a:r>
              <a:rPr lang="es-CL" sz="34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Insights resultados descriptivos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02" name="Google Shape;202;p10"/>
          <p:cNvSpPr/>
          <p:nvPr/>
        </p:nvSpPr>
        <p:spPr>
          <a:xfrm>
            <a:off x="6391729" y="1789881"/>
            <a:ext cx="2372779" cy="92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solidFill>
                <a:schemeClr val="dk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203" name="Google Shape;203;p10"/>
          <p:cNvSpPr/>
          <p:nvPr/>
        </p:nvSpPr>
        <p:spPr>
          <a:xfrm>
            <a:off x="2208329" y="1783754"/>
            <a:ext cx="2449103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 dirty="0">
                <a:solidFill>
                  <a:schemeClr val="lt1"/>
                </a:solidFill>
                <a:latin typeface="Calibri Light" panose="020F0302020204030204" pitchFamily="34" charset="0"/>
                <a:ea typeface="Verdana"/>
                <a:cs typeface="Calibri Light" panose="020F0302020204030204" pitchFamily="34" charset="0"/>
                <a:sym typeface="Verdana"/>
              </a:rPr>
              <a:t>XXX</a:t>
            </a:r>
            <a:endParaRPr dirty="0">
              <a:solidFill>
                <a:schemeClr val="dk1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100A3E5-955F-3CC1-516C-1D3434FCA7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8748" y="1872869"/>
            <a:ext cx="779581" cy="73438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7CFC49A5-F79E-0434-8679-358EF8735E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2463" y="4122545"/>
            <a:ext cx="637397" cy="61865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0A684C97-F342-C05A-2748-1D45C222AE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1781" y="4001975"/>
            <a:ext cx="777311" cy="806331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37F8DF50-0CFD-D43A-64C4-7BA055DC19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02226" y="1872869"/>
            <a:ext cx="1268787" cy="734388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6ADE7885-19BF-06E8-3FC0-ABD542D94A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9971013" y="4001975"/>
            <a:ext cx="878845" cy="859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5135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28"/>
          <p:cNvSpPr txBox="1">
            <a:spLocks noGrp="1"/>
          </p:cNvSpPr>
          <p:nvPr>
            <p:ph type="ctrTitle"/>
          </p:nvPr>
        </p:nvSpPr>
        <p:spPr>
          <a:xfrm>
            <a:off x="1523999" y="2192338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</a:pPr>
            <a:r>
              <a:rPr lang="es-CL" cap="small" dirty="0"/>
              <a:t>Resultados inferenciales</a:t>
            </a:r>
            <a:endParaRPr cap="small" dirty="0"/>
          </a:p>
        </p:txBody>
      </p:sp>
    </p:spTree>
    <p:extLst>
      <p:ext uri="{BB962C8B-B14F-4D97-AF65-F5344CB8AC3E}">
        <p14:creationId xmlns:p14="http://schemas.microsoft.com/office/powerpoint/2010/main" val="27051974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101;p2"/>
          <p:cNvSpPr txBox="1">
            <a:spLocks/>
          </p:cNvSpPr>
          <p:nvPr/>
        </p:nvSpPr>
        <p:spPr>
          <a:xfrm>
            <a:off x="379264" y="0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  <a:defRPr sz="3400" b="1" i="0" u="none" strike="noStrike" cap="small">
                <a:solidFill>
                  <a:srgbClr val="3A434C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Clr>
                <a:srgbClr val="3F3F3F"/>
              </a:buClr>
              <a:buSzPts val="3200"/>
            </a:pPr>
            <a:r>
              <a:rPr lang="es-ES" dirty="0"/>
              <a:t>Metodología: Selección de grupos y predictores</a:t>
            </a:r>
          </a:p>
        </p:txBody>
      </p:sp>
      <p:sp>
        <p:nvSpPr>
          <p:cNvPr id="14" name="Google Shape;102;p2"/>
          <p:cNvSpPr txBox="1"/>
          <p:nvPr/>
        </p:nvSpPr>
        <p:spPr>
          <a:xfrm>
            <a:off x="0" y="876905"/>
            <a:ext cx="11767301" cy="1338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lang="es-CL" sz="1600" b="0" i="0" u="none" strike="noStrike" cap="none" dirty="0">
              <a:solidFill>
                <a:srgbClr val="3F3F3F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lang="es-MX" sz="1600" b="0" i="0" u="none" strike="noStrike" cap="none" dirty="0">
                <a:solidFill>
                  <a:srgbClr val="3A434C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	XXX</a:t>
            </a:r>
            <a:endParaRPr sz="1600" b="0" i="0" u="none" strike="noStrike" cap="none" dirty="0">
              <a:solidFill>
                <a:srgbClr val="3A434C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285750" marR="0" lvl="0" indent="-1968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 b="0" i="0" u="none" strike="noStrike" cap="none" dirty="0">
              <a:solidFill>
                <a:srgbClr val="3A434C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1600" b="0" i="0" u="none" strike="noStrike" cap="none" dirty="0">
              <a:solidFill>
                <a:srgbClr val="00233B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5D7BB72-E332-4027-AA43-2CAAB5082592}"/>
              </a:ext>
            </a:extLst>
          </p:cNvPr>
          <p:cNvSpPr txBox="1"/>
          <p:nvPr/>
        </p:nvSpPr>
        <p:spPr>
          <a:xfrm>
            <a:off x="9278471" y="365125"/>
            <a:ext cx="1532963" cy="738664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CL" dirty="0"/>
              <a:t>Apartado completo por diseñar</a:t>
            </a:r>
          </a:p>
        </p:txBody>
      </p:sp>
    </p:spTree>
    <p:extLst>
      <p:ext uri="{BB962C8B-B14F-4D97-AF65-F5344CB8AC3E}">
        <p14:creationId xmlns:p14="http://schemas.microsoft.com/office/powerpoint/2010/main" val="32952509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0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Resultados eje iniciativas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9743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5"/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 dirty="0">
                <a:solidFill>
                  <a:srgbClr val="3F3F3F"/>
                </a:solidFill>
              </a:rPr>
              <a:t>App Vivo</a:t>
            </a:r>
            <a:endParaRPr sz="3200" dirty="0">
              <a:solidFill>
                <a:srgbClr val="0070C0"/>
              </a:solidFill>
            </a:endParaRPr>
          </a:p>
        </p:txBody>
      </p:sp>
      <p:sp>
        <p:nvSpPr>
          <p:cNvPr id="351" name="Google Shape;351;p25"/>
          <p:cNvSpPr txBox="1"/>
          <p:nvPr/>
        </p:nvSpPr>
        <p:spPr>
          <a:xfrm>
            <a:off x="5751560" y="4666434"/>
            <a:ext cx="38985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264865" y="1324321"/>
            <a:ext cx="5548087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¿Conoces la APP Vivo Duoc UC (de recursos de apoyo a la salud mental)?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3" name="Google Shape;353;p25"/>
          <p:cNvGraphicFramePr/>
          <p:nvPr>
            <p:extLst>
              <p:ext uri="{D42A27DB-BD31-4B8C-83A1-F6EECF244321}">
                <p14:modId xmlns:p14="http://schemas.microsoft.com/office/powerpoint/2010/main" val="2855820774"/>
              </p:ext>
            </p:extLst>
          </p:nvPr>
        </p:nvGraphicFramePr>
        <p:xfrm>
          <a:off x="61392" y="1847541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54" name="Google Shape;354;p25"/>
          <p:cNvSpPr txBox="1"/>
          <p:nvPr/>
        </p:nvSpPr>
        <p:spPr>
          <a:xfrm>
            <a:off x="7579239" y="995920"/>
            <a:ext cx="3995596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¿Has utilizado uno o más de los siguientes recursos de la APP Vivo?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5" name="Google Shape;355;p25"/>
          <p:cNvGraphicFramePr/>
          <p:nvPr>
            <p:extLst>
              <p:ext uri="{D42A27DB-BD31-4B8C-83A1-F6EECF244321}">
                <p14:modId xmlns:p14="http://schemas.microsoft.com/office/powerpoint/2010/main" val="1746136637"/>
              </p:ext>
            </p:extLst>
          </p:nvPr>
        </p:nvGraphicFramePr>
        <p:xfrm>
          <a:off x="7240365" y="1584016"/>
          <a:ext cx="4673343" cy="259689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56" name="Google Shape;356;p25"/>
          <p:cNvSpPr/>
          <p:nvPr/>
        </p:nvSpPr>
        <p:spPr>
          <a:xfrm>
            <a:off x="5149779" y="3743952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7F7F7F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5"/>
          <p:cNvSpPr txBox="1"/>
          <p:nvPr/>
        </p:nvSpPr>
        <p:spPr>
          <a:xfrm>
            <a:off x="3234786" y="4480501"/>
            <a:ext cx="55480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pic>
        <p:nvPicPr>
          <p:cNvPr id="3" name="Gráfico 2" descr="Smartphone con relleno sólido">
            <a:extLst>
              <a:ext uri="{FF2B5EF4-FFF2-40B4-BE49-F238E27FC236}">
                <a16:creationId xmlns:a16="http://schemas.microsoft.com/office/drawing/2014/main" id="{A3AD8259-4015-4012-946D-A7609DEF0C3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111373" y="218299"/>
            <a:ext cx="802335" cy="802335"/>
          </a:xfrm>
          <a:prstGeom prst="rect">
            <a:avLst/>
          </a:prstGeom>
        </p:spPr>
      </p:pic>
      <p:sp>
        <p:nvSpPr>
          <p:cNvPr id="13" name="Google Shape;354;p25">
            <a:extLst>
              <a:ext uri="{FF2B5EF4-FFF2-40B4-BE49-F238E27FC236}">
                <a16:creationId xmlns:a16="http://schemas.microsoft.com/office/drawing/2014/main" id="{A6CE897F-3EE9-4809-86CA-43423642C230}"/>
              </a:ext>
            </a:extLst>
          </p:cNvPr>
          <p:cNvSpPr txBox="1"/>
          <p:nvPr/>
        </p:nvSpPr>
        <p:spPr>
          <a:xfrm>
            <a:off x="6096000" y="5604291"/>
            <a:ext cx="3995596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¿Recomendarías el uso de la APP Vivo a un compañero/a de Duoc UC?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15" name="Google Shape;355;p25">
            <a:extLst>
              <a:ext uri="{FF2B5EF4-FFF2-40B4-BE49-F238E27FC236}">
                <a16:creationId xmlns:a16="http://schemas.microsoft.com/office/drawing/2014/main" id="{BD9444E5-5C53-4BF1-95A4-B2945CDECC3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01442259"/>
              </p:ext>
            </p:extLst>
          </p:nvPr>
        </p:nvGraphicFramePr>
        <p:xfrm>
          <a:off x="8910117" y="4935319"/>
          <a:ext cx="3671609" cy="19226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4" name="Google Shape;352;p25">
            <a:extLst>
              <a:ext uri="{FF2B5EF4-FFF2-40B4-BE49-F238E27FC236}">
                <a16:creationId xmlns:a16="http://schemas.microsoft.com/office/drawing/2014/main" id="{EBB1B67D-3C61-4669-AB83-031845671B43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Nota: este eje incluye un total de XXXX respuestas.</a:t>
            </a:r>
          </a:p>
        </p:txBody>
      </p:sp>
    </p:spTree>
    <p:extLst>
      <p:ext uri="{BB962C8B-B14F-4D97-AF65-F5344CB8AC3E}">
        <p14:creationId xmlns:p14="http://schemas.microsoft.com/office/powerpoint/2010/main" val="5219812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50;p25">
            <a:extLst>
              <a:ext uri="{FF2B5EF4-FFF2-40B4-BE49-F238E27FC236}">
                <a16:creationId xmlns:a16="http://schemas.microsoft.com/office/drawing/2014/main" id="{96F2476E-E0D6-4966-BCA8-C68C105541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 dirty="0">
                <a:solidFill>
                  <a:srgbClr val="3F3F3F"/>
                </a:solidFill>
              </a:rPr>
              <a:t>Embajadores de la salud mental</a:t>
            </a:r>
            <a:endParaRPr sz="3200" dirty="0">
              <a:solidFill>
                <a:srgbClr val="0070C0"/>
              </a:solidFill>
            </a:endParaRPr>
          </a:p>
        </p:txBody>
      </p:sp>
      <p:sp>
        <p:nvSpPr>
          <p:cNvPr id="3" name="Google Shape;352;p25">
            <a:extLst>
              <a:ext uri="{FF2B5EF4-FFF2-40B4-BE49-F238E27FC236}">
                <a16:creationId xmlns:a16="http://schemas.microsoft.com/office/drawing/2014/main" id="{2E56C581-1558-470F-99EE-A5203AFEE9DE}"/>
              </a:ext>
            </a:extLst>
          </p:cNvPr>
          <p:cNvSpPr txBox="1"/>
          <p:nvPr/>
        </p:nvSpPr>
        <p:spPr>
          <a:xfrm>
            <a:off x="264865" y="1933923"/>
            <a:ext cx="5548087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¿Eres un Embajador/a del Bienestar y la Salud Mental en tu sede?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5" name="Google Shape;353;p25">
            <a:extLst>
              <a:ext uri="{FF2B5EF4-FFF2-40B4-BE49-F238E27FC236}">
                <a16:creationId xmlns:a16="http://schemas.microsoft.com/office/drawing/2014/main" id="{AC2D723C-4DB5-442F-B75B-B5F5C5C1B9E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08624439"/>
              </p:ext>
            </p:extLst>
          </p:nvPr>
        </p:nvGraphicFramePr>
        <p:xfrm>
          <a:off x="61392" y="2457143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Google Shape;356;p25">
            <a:extLst>
              <a:ext uri="{FF2B5EF4-FFF2-40B4-BE49-F238E27FC236}">
                <a16:creationId xmlns:a16="http://schemas.microsoft.com/office/drawing/2014/main" id="{946EBDD2-4718-4BBC-8D0C-05216453049A}"/>
              </a:ext>
            </a:extLst>
          </p:cNvPr>
          <p:cNvSpPr/>
          <p:nvPr/>
        </p:nvSpPr>
        <p:spPr>
          <a:xfrm>
            <a:off x="5149779" y="3743952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7F7F7F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357;p25">
            <a:extLst>
              <a:ext uri="{FF2B5EF4-FFF2-40B4-BE49-F238E27FC236}">
                <a16:creationId xmlns:a16="http://schemas.microsoft.com/office/drawing/2014/main" id="{3DA4C849-6E7F-482C-BF9F-A3328D3FBF00}"/>
              </a:ext>
            </a:extLst>
          </p:cNvPr>
          <p:cNvSpPr txBox="1"/>
          <p:nvPr/>
        </p:nvSpPr>
        <p:spPr>
          <a:xfrm>
            <a:off x="3234786" y="4480501"/>
            <a:ext cx="55480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8" name="Google Shape;354;p25">
            <a:extLst>
              <a:ext uri="{FF2B5EF4-FFF2-40B4-BE49-F238E27FC236}">
                <a16:creationId xmlns:a16="http://schemas.microsoft.com/office/drawing/2014/main" id="{B60CEC6B-0A92-467C-9B01-CBB762D01254}"/>
              </a:ext>
            </a:extLst>
          </p:cNvPr>
          <p:cNvSpPr txBox="1"/>
          <p:nvPr/>
        </p:nvSpPr>
        <p:spPr>
          <a:xfrm>
            <a:off x="7579239" y="1883425"/>
            <a:ext cx="3995596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¿En qué medida el curso de embajadores ha aportado a tu bienestar y salud mental?</a:t>
            </a:r>
          </a:p>
        </p:txBody>
      </p:sp>
      <p:graphicFrame>
        <p:nvGraphicFramePr>
          <p:cNvPr id="9" name="Google Shape;355;p25">
            <a:extLst>
              <a:ext uri="{FF2B5EF4-FFF2-40B4-BE49-F238E27FC236}">
                <a16:creationId xmlns:a16="http://schemas.microsoft.com/office/drawing/2014/main" id="{37ACE16A-3504-4F03-B475-BC352B0B331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07960910"/>
              </p:ext>
            </p:extLst>
          </p:nvPr>
        </p:nvGraphicFramePr>
        <p:xfrm>
          <a:off x="7240365" y="2471521"/>
          <a:ext cx="4673343" cy="259689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12" name="Gráfico 11" descr="Maestro con relleno sólido">
            <a:extLst>
              <a:ext uri="{FF2B5EF4-FFF2-40B4-BE49-F238E27FC236}">
                <a16:creationId xmlns:a16="http://schemas.microsoft.com/office/drawing/2014/main" id="{CDAB06D9-1ED0-4835-81FB-8E9909DE8D6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24815" y="211636"/>
            <a:ext cx="788893" cy="788893"/>
          </a:xfrm>
          <a:prstGeom prst="rect">
            <a:avLst/>
          </a:prstGeom>
        </p:spPr>
      </p:pic>
      <p:sp>
        <p:nvSpPr>
          <p:cNvPr id="10" name="Google Shape;352;p25">
            <a:extLst>
              <a:ext uri="{FF2B5EF4-FFF2-40B4-BE49-F238E27FC236}">
                <a16:creationId xmlns:a16="http://schemas.microsoft.com/office/drawing/2014/main" id="{5E084309-8FF2-4496-AEDF-F99EC463E9A1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Nota: este eje incluye un total de XXXX respuestas.</a:t>
            </a:r>
          </a:p>
        </p:txBody>
      </p:sp>
    </p:spTree>
    <p:extLst>
      <p:ext uri="{BB962C8B-B14F-4D97-AF65-F5344CB8AC3E}">
        <p14:creationId xmlns:p14="http://schemas.microsoft.com/office/powerpoint/2010/main" val="4754920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5"/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 dirty="0">
                <a:solidFill>
                  <a:srgbClr val="3F3F3F"/>
                </a:solidFill>
              </a:rPr>
              <a:t>Embajadores de la salud mental</a:t>
            </a:r>
            <a:endParaRPr sz="3200" dirty="0">
              <a:solidFill>
                <a:srgbClr val="0070C0"/>
              </a:solidFill>
            </a:endParaRPr>
          </a:p>
        </p:txBody>
      </p:sp>
      <p:sp>
        <p:nvSpPr>
          <p:cNvPr id="351" name="Google Shape;351;p25"/>
          <p:cNvSpPr txBox="1"/>
          <p:nvPr/>
        </p:nvSpPr>
        <p:spPr>
          <a:xfrm>
            <a:off x="5751560" y="4666434"/>
            <a:ext cx="38985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61392" y="1582659"/>
            <a:ext cx="5548087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Desde que eres Embajador/a, ¿a cuántas personas has podido apoyar en tu rol de Embajador/a del Bienestar y la Salud Mental?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3" name="Google Shape;353;p25"/>
          <p:cNvGraphicFramePr/>
          <p:nvPr>
            <p:extLst>
              <p:ext uri="{D42A27DB-BD31-4B8C-83A1-F6EECF244321}">
                <p14:modId xmlns:p14="http://schemas.microsoft.com/office/powerpoint/2010/main" val="954821951"/>
              </p:ext>
            </p:extLst>
          </p:nvPr>
        </p:nvGraphicFramePr>
        <p:xfrm>
          <a:off x="617165" y="2304740"/>
          <a:ext cx="4770584" cy="27002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54" name="Google Shape;354;p25"/>
          <p:cNvSpPr txBox="1"/>
          <p:nvPr/>
        </p:nvSpPr>
        <p:spPr>
          <a:xfrm>
            <a:off x="6912319" y="432789"/>
            <a:ext cx="3995596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Pensando en cuando te formaste como Embajador/a, ¿qué tan satisfecho/a te encuentras con lo aprendido en el curso?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5" name="Google Shape;355;p25"/>
          <p:cNvGraphicFramePr/>
          <p:nvPr>
            <p:extLst>
              <p:ext uri="{D42A27DB-BD31-4B8C-83A1-F6EECF244321}">
                <p14:modId xmlns:p14="http://schemas.microsoft.com/office/powerpoint/2010/main" val="3284221420"/>
              </p:ext>
            </p:extLst>
          </p:nvPr>
        </p:nvGraphicFramePr>
        <p:xfrm>
          <a:off x="6748312" y="1331770"/>
          <a:ext cx="4673343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3" name="Google Shape;354;p25">
            <a:extLst>
              <a:ext uri="{FF2B5EF4-FFF2-40B4-BE49-F238E27FC236}">
                <a16:creationId xmlns:a16="http://schemas.microsoft.com/office/drawing/2014/main" id="{A6CE897F-3EE9-4809-86CA-43423642C230}"/>
              </a:ext>
            </a:extLst>
          </p:cNvPr>
          <p:cNvSpPr txBox="1"/>
          <p:nvPr/>
        </p:nvSpPr>
        <p:spPr>
          <a:xfrm>
            <a:off x="5946485" y="5604291"/>
            <a:ext cx="3995596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¿Recomendarías este curso a un compañero/a de Duoc UC?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14" name="Google Shape;355;p25">
            <a:extLst>
              <a:ext uri="{FF2B5EF4-FFF2-40B4-BE49-F238E27FC236}">
                <a16:creationId xmlns:a16="http://schemas.microsoft.com/office/drawing/2014/main" id="{83DF4F8F-2F7D-48B6-A524-9C0F8C33862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62293499"/>
              </p:ext>
            </p:extLst>
          </p:nvPr>
        </p:nvGraphicFramePr>
        <p:xfrm>
          <a:off x="8910117" y="4935319"/>
          <a:ext cx="3671609" cy="19226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pic>
        <p:nvPicPr>
          <p:cNvPr id="15" name="Gráfico 14" descr="Maestro con relleno sólido">
            <a:extLst>
              <a:ext uri="{FF2B5EF4-FFF2-40B4-BE49-F238E27FC236}">
                <a16:creationId xmlns:a16="http://schemas.microsoft.com/office/drawing/2014/main" id="{C0BF5ED7-C501-452A-A57E-5168D365161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24815" y="211636"/>
            <a:ext cx="788893" cy="788893"/>
          </a:xfrm>
          <a:prstGeom prst="rect">
            <a:avLst/>
          </a:prstGeom>
        </p:spPr>
      </p:pic>
      <p:sp>
        <p:nvSpPr>
          <p:cNvPr id="11" name="Google Shape;352;p25">
            <a:extLst>
              <a:ext uri="{FF2B5EF4-FFF2-40B4-BE49-F238E27FC236}">
                <a16:creationId xmlns:a16="http://schemas.microsoft.com/office/drawing/2014/main" id="{4B800D6F-1AB2-4122-99CA-643F191AEB4E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Nota: este eje incluye un total de XXXX respuestas.</a:t>
            </a:r>
          </a:p>
        </p:txBody>
      </p:sp>
    </p:spTree>
    <p:extLst>
      <p:ext uri="{BB962C8B-B14F-4D97-AF65-F5344CB8AC3E}">
        <p14:creationId xmlns:p14="http://schemas.microsoft.com/office/powerpoint/2010/main" val="1605333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5"/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 dirty="0">
                <a:solidFill>
                  <a:srgbClr val="3F3F3F"/>
                </a:solidFill>
              </a:rPr>
              <a:t>Embajadores de la salud mental</a:t>
            </a:r>
            <a:endParaRPr sz="3200" dirty="0">
              <a:solidFill>
                <a:srgbClr val="0070C0"/>
              </a:solidFill>
            </a:endParaRPr>
          </a:p>
        </p:txBody>
      </p:sp>
      <p:sp>
        <p:nvSpPr>
          <p:cNvPr id="351" name="Google Shape;351;p25"/>
          <p:cNvSpPr txBox="1"/>
          <p:nvPr/>
        </p:nvSpPr>
        <p:spPr>
          <a:xfrm>
            <a:off x="5751560" y="4666434"/>
            <a:ext cx="38985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6582521" y="2142479"/>
            <a:ext cx="5548087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¿Cuál de las siguientes alternativas representa la razón por la que no te interesaría ser Embajador/a del Bienestar y la Salud Mental?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3" name="Google Shape;354;p25">
            <a:extLst>
              <a:ext uri="{FF2B5EF4-FFF2-40B4-BE49-F238E27FC236}">
                <a16:creationId xmlns:a16="http://schemas.microsoft.com/office/drawing/2014/main" id="{A6CE897F-3EE9-4809-86CA-43423642C230}"/>
              </a:ext>
            </a:extLst>
          </p:cNvPr>
          <p:cNvSpPr txBox="1"/>
          <p:nvPr/>
        </p:nvSpPr>
        <p:spPr>
          <a:xfrm>
            <a:off x="411018" y="2842193"/>
            <a:ext cx="2954156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Con la información que acabas de leer sobre el programa, ¿te interesaría ser un Embajador/a del Bienestar y la Salud Mental?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14" name="Google Shape;355;p25">
            <a:extLst>
              <a:ext uri="{FF2B5EF4-FFF2-40B4-BE49-F238E27FC236}">
                <a16:creationId xmlns:a16="http://schemas.microsoft.com/office/drawing/2014/main" id="{83DF4F8F-2F7D-48B6-A524-9C0F8C33862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21659039"/>
              </p:ext>
            </p:extLst>
          </p:nvPr>
        </p:nvGraphicFramePr>
        <p:xfrm>
          <a:off x="2153256" y="2460840"/>
          <a:ext cx="3671609" cy="19226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15" name="Gráfico 14" descr="Maestro con relleno sólido">
            <a:extLst>
              <a:ext uri="{FF2B5EF4-FFF2-40B4-BE49-F238E27FC236}">
                <a16:creationId xmlns:a16="http://schemas.microsoft.com/office/drawing/2014/main" id="{C0BF5ED7-C501-452A-A57E-5168D365161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24815" y="211636"/>
            <a:ext cx="788893" cy="788893"/>
          </a:xfrm>
          <a:prstGeom prst="rect">
            <a:avLst/>
          </a:prstGeom>
        </p:spPr>
      </p:pic>
      <p:sp>
        <p:nvSpPr>
          <p:cNvPr id="11" name="Google Shape;356;p25">
            <a:extLst>
              <a:ext uri="{FF2B5EF4-FFF2-40B4-BE49-F238E27FC236}">
                <a16:creationId xmlns:a16="http://schemas.microsoft.com/office/drawing/2014/main" id="{10DA074B-A1FB-4F80-942A-AE4C11D45B52}"/>
              </a:ext>
            </a:extLst>
          </p:cNvPr>
          <p:cNvSpPr/>
          <p:nvPr/>
        </p:nvSpPr>
        <p:spPr>
          <a:xfrm>
            <a:off x="577779" y="1052410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7F7F7F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357;p25">
            <a:extLst>
              <a:ext uri="{FF2B5EF4-FFF2-40B4-BE49-F238E27FC236}">
                <a16:creationId xmlns:a16="http://schemas.microsoft.com/office/drawing/2014/main" id="{6FB4132F-D76E-4E3E-8E23-53EAC608586D}"/>
              </a:ext>
            </a:extLst>
          </p:cNvPr>
          <p:cNvSpPr txBox="1"/>
          <p:nvPr/>
        </p:nvSpPr>
        <p:spPr>
          <a:xfrm>
            <a:off x="188259" y="1788959"/>
            <a:ext cx="4022614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NO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ser Embajadores/as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6" name="Google Shape;356;p25">
            <a:extLst>
              <a:ext uri="{FF2B5EF4-FFF2-40B4-BE49-F238E27FC236}">
                <a16:creationId xmlns:a16="http://schemas.microsoft.com/office/drawing/2014/main" id="{A26C57F8-2A87-4EE3-8496-2C95FDD56E54}"/>
              </a:ext>
            </a:extLst>
          </p:cNvPr>
          <p:cNvSpPr/>
          <p:nvPr/>
        </p:nvSpPr>
        <p:spPr>
          <a:xfrm>
            <a:off x="4340452" y="4383521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7F7F7F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357;p25">
            <a:extLst>
              <a:ext uri="{FF2B5EF4-FFF2-40B4-BE49-F238E27FC236}">
                <a16:creationId xmlns:a16="http://schemas.microsoft.com/office/drawing/2014/main" id="{4EA7B50B-DE97-4456-B5F5-73463E06EFDE}"/>
              </a:ext>
            </a:extLst>
          </p:cNvPr>
          <p:cNvSpPr txBox="1"/>
          <p:nvPr/>
        </p:nvSpPr>
        <p:spPr>
          <a:xfrm>
            <a:off x="2425459" y="5120070"/>
            <a:ext cx="55480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</a:t>
            </a:r>
            <a:r>
              <a:rPr lang="es-CL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NO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18" name="Google Shape;355;p25">
            <a:extLst>
              <a:ext uri="{FF2B5EF4-FFF2-40B4-BE49-F238E27FC236}">
                <a16:creationId xmlns:a16="http://schemas.microsoft.com/office/drawing/2014/main" id="{6290A1D2-8902-43E5-8B1F-E6BE8BE8851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50880292"/>
              </p:ext>
            </p:extLst>
          </p:nvPr>
        </p:nvGraphicFramePr>
        <p:xfrm>
          <a:off x="7107639" y="3098627"/>
          <a:ext cx="4673343" cy="34741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9" name="Google Shape;352;p25">
            <a:extLst>
              <a:ext uri="{FF2B5EF4-FFF2-40B4-BE49-F238E27FC236}">
                <a16:creationId xmlns:a16="http://schemas.microsoft.com/office/drawing/2014/main" id="{01C0C771-A37A-4258-9408-2FE8102EF8C6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Nota: este eje incluye un total de XXXX respuestas.</a:t>
            </a:r>
          </a:p>
        </p:txBody>
      </p:sp>
    </p:spTree>
    <p:extLst>
      <p:ext uri="{BB962C8B-B14F-4D97-AF65-F5344CB8AC3E}">
        <p14:creationId xmlns:p14="http://schemas.microsoft.com/office/powerpoint/2010/main" val="2197535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50;p25">
            <a:extLst>
              <a:ext uri="{FF2B5EF4-FFF2-40B4-BE49-F238E27FC236}">
                <a16:creationId xmlns:a16="http://schemas.microsoft.com/office/drawing/2014/main" id="{96F2476E-E0D6-4966-BCA8-C68C105541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 dirty="0">
                <a:solidFill>
                  <a:srgbClr val="3F3F3F"/>
                </a:solidFill>
              </a:rPr>
              <a:t>Embajadores de la salud mental</a:t>
            </a:r>
            <a:endParaRPr sz="3200" dirty="0">
              <a:solidFill>
                <a:srgbClr val="0070C0"/>
              </a:solidFill>
            </a:endParaRPr>
          </a:p>
        </p:txBody>
      </p:sp>
      <p:sp>
        <p:nvSpPr>
          <p:cNvPr id="3" name="Google Shape;352;p25">
            <a:extLst>
              <a:ext uri="{FF2B5EF4-FFF2-40B4-BE49-F238E27FC236}">
                <a16:creationId xmlns:a16="http://schemas.microsoft.com/office/drawing/2014/main" id="{2E56C581-1558-470F-99EE-A5203AFEE9DE}"/>
              </a:ext>
            </a:extLst>
          </p:cNvPr>
          <p:cNvSpPr txBox="1"/>
          <p:nvPr/>
        </p:nvSpPr>
        <p:spPr>
          <a:xfrm>
            <a:off x="264865" y="1933923"/>
            <a:ext cx="5548087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¿En algún momento has buscado o recibido apoyo, orientación o información sobre bienestar y salud mental a través de alguien de la comunidad Duoc UC?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5" name="Google Shape;353;p25">
            <a:extLst>
              <a:ext uri="{FF2B5EF4-FFF2-40B4-BE49-F238E27FC236}">
                <a16:creationId xmlns:a16="http://schemas.microsoft.com/office/drawing/2014/main" id="{AC2D723C-4DB5-442F-B75B-B5F5C5C1B9EF}"/>
              </a:ext>
            </a:extLst>
          </p:cNvPr>
          <p:cNvGraphicFramePr/>
          <p:nvPr/>
        </p:nvGraphicFramePr>
        <p:xfrm>
          <a:off x="61392" y="2457143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Google Shape;356;p25">
            <a:extLst>
              <a:ext uri="{FF2B5EF4-FFF2-40B4-BE49-F238E27FC236}">
                <a16:creationId xmlns:a16="http://schemas.microsoft.com/office/drawing/2014/main" id="{946EBDD2-4718-4BBC-8D0C-05216453049A}"/>
              </a:ext>
            </a:extLst>
          </p:cNvPr>
          <p:cNvSpPr/>
          <p:nvPr/>
        </p:nvSpPr>
        <p:spPr>
          <a:xfrm>
            <a:off x="5149779" y="3743952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7F7F7F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357;p25">
            <a:extLst>
              <a:ext uri="{FF2B5EF4-FFF2-40B4-BE49-F238E27FC236}">
                <a16:creationId xmlns:a16="http://schemas.microsoft.com/office/drawing/2014/main" id="{3DA4C849-6E7F-482C-BF9F-A3328D3FBF00}"/>
              </a:ext>
            </a:extLst>
          </p:cNvPr>
          <p:cNvSpPr txBox="1"/>
          <p:nvPr/>
        </p:nvSpPr>
        <p:spPr>
          <a:xfrm>
            <a:off x="3234786" y="4480501"/>
            <a:ext cx="55480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8" name="Google Shape;354;p25">
            <a:extLst>
              <a:ext uri="{FF2B5EF4-FFF2-40B4-BE49-F238E27FC236}">
                <a16:creationId xmlns:a16="http://schemas.microsoft.com/office/drawing/2014/main" id="{B60CEC6B-0A92-467C-9B01-CBB762D01254}"/>
              </a:ext>
            </a:extLst>
          </p:cNvPr>
          <p:cNvSpPr txBox="1"/>
          <p:nvPr/>
        </p:nvSpPr>
        <p:spPr>
          <a:xfrm>
            <a:off x="7579238" y="2377499"/>
            <a:ext cx="3995596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¿Recuerdas si persona era un Embajador/a del Bienestar y la Salud Mental?</a:t>
            </a:r>
          </a:p>
        </p:txBody>
      </p:sp>
      <p:pic>
        <p:nvPicPr>
          <p:cNvPr id="12" name="Gráfico 11" descr="Maestro con relleno sólido">
            <a:extLst>
              <a:ext uri="{FF2B5EF4-FFF2-40B4-BE49-F238E27FC236}">
                <a16:creationId xmlns:a16="http://schemas.microsoft.com/office/drawing/2014/main" id="{CDAB06D9-1ED0-4835-81FB-8E9909DE8D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24815" y="211636"/>
            <a:ext cx="788893" cy="788893"/>
          </a:xfrm>
          <a:prstGeom prst="rect">
            <a:avLst/>
          </a:prstGeom>
        </p:spPr>
      </p:pic>
      <p:graphicFrame>
        <p:nvGraphicFramePr>
          <p:cNvPr id="10" name="Google Shape;355;p25">
            <a:extLst>
              <a:ext uri="{FF2B5EF4-FFF2-40B4-BE49-F238E27FC236}">
                <a16:creationId xmlns:a16="http://schemas.microsoft.com/office/drawing/2014/main" id="{7A0475B1-3D5E-4E26-B0B5-02AB009CFB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59565316"/>
              </p:ext>
            </p:extLst>
          </p:nvPr>
        </p:nvGraphicFramePr>
        <p:xfrm>
          <a:off x="7846169" y="3368785"/>
          <a:ext cx="3461735" cy="25312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1" name="Google Shape;352;p25">
            <a:extLst>
              <a:ext uri="{FF2B5EF4-FFF2-40B4-BE49-F238E27FC236}">
                <a16:creationId xmlns:a16="http://schemas.microsoft.com/office/drawing/2014/main" id="{43D80E74-3F7B-4003-90E6-9FEBB162022B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Nota: este eje incluye un total de XXXX respuestas.</a:t>
            </a:r>
          </a:p>
        </p:txBody>
      </p:sp>
    </p:spTree>
    <p:extLst>
      <p:ext uri="{BB962C8B-B14F-4D97-AF65-F5344CB8AC3E}">
        <p14:creationId xmlns:p14="http://schemas.microsoft.com/office/powerpoint/2010/main" val="15829455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5"/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 dirty="0">
                <a:solidFill>
                  <a:srgbClr val="3F3F3F"/>
                </a:solidFill>
              </a:rPr>
              <a:t>Atenciones psicológicas</a:t>
            </a:r>
            <a:endParaRPr sz="3200" dirty="0">
              <a:solidFill>
                <a:srgbClr val="0070C0"/>
              </a:solidFill>
            </a:endParaRPr>
          </a:p>
        </p:txBody>
      </p:sp>
      <p:sp>
        <p:nvSpPr>
          <p:cNvPr id="351" name="Google Shape;351;p25"/>
          <p:cNvSpPr txBox="1"/>
          <p:nvPr/>
        </p:nvSpPr>
        <p:spPr>
          <a:xfrm>
            <a:off x="5751560" y="4666434"/>
            <a:ext cx="38985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-136175" y="1375795"/>
            <a:ext cx="5548087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¿Has recibido atención psicológica en el programa de salud mental de Duoc UC?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3" name="Google Shape;353;p25"/>
          <p:cNvGraphicFramePr/>
          <p:nvPr>
            <p:extLst>
              <p:ext uri="{D42A27DB-BD31-4B8C-83A1-F6EECF244321}">
                <p14:modId xmlns:p14="http://schemas.microsoft.com/office/powerpoint/2010/main" val="3589019802"/>
              </p:ext>
            </p:extLst>
          </p:nvPr>
        </p:nvGraphicFramePr>
        <p:xfrm>
          <a:off x="-339648" y="1899015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54" name="Google Shape;354;p25"/>
          <p:cNvSpPr txBox="1"/>
          <p:nvPr/>
        </p:nvSpPr>
        <p:spPr>
          <a:xfrm>
            <a:off x="6961680" y="561364"/>
            <a:ext cx="3995596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¿Qué tan satisfecho/a te encuentras con las atenciones que has recibido?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356" name="Google Shape;356;p25"/>
          <p:cNvSpPr/>
          <p:nvPr/>
        </p:nvSpPr>
        <p:spPr>
          <a:xfrm>
            <a:off x="3768298" y="3957919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7F7F7F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5"/>
          <p:cNvSpPr txBox="1"/>
          <p:nvPr/>
        </p:nvSpPr>
        <p:spPr>
          <a:xfrm>
            <a:off x="1853305" y="4694468"/>
            <a:ext cx="55480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3" name="Google Shape;354;p25">
            <a:extLst>
              <a:ext uri="{FF2B5EF4-FFF2-40B4-BE49-F238E27FC236}">
                <a16:creationId xmlns:a16="http://schemas.microsoft.com/office/drawing/2014/main" id="{A6CE897F-3EE9-4809-86CA-43423642C230}"/>
              </a:ext>
            </a:extLst>
          </p:cNvPr>
          <p:cNvSpPr txBox="1"/>
          <p:nvPr/>
        </p:nvSpPr>
        <p:spPr>
          <a:xfrm>
            <a:off x="6096000" y="5481181"/>
            <a:ext cx="3995596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¿Recomendarías a un compañero/a usar las atenciones psicológicas del programa de salud mental Duoc UC?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pic>
        <p:nvPicPr>
          <p:cNvPr id="6" name="Gráfico 5" descr="Cerebro en la cabeza con relleno sólido">
            <a:extLst>
              <a:ext uri="{FF2B5EF4-FFF2-40B4-BE49-F238E27FC236}">
                <a16:creationId xmlns:a16="http://schemas.microsoft.com/office/drawing/2014/main" id="{DBC26442-7E3B-44F6-BDA3-1BA5CCB59E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117256" y="190682"/>
            <a:ext cx="796452" cy="796452"/>
          </a:xfrm>
          <a:prstGeom prst="rect">
            <a:avLst/>
          </a:prstGeom>
        </p:spPr>
      </p:pic>
      <p:graphicFrame>
        <p:nvGraphicFramePr>
          <p:cNvPr id="15" name="Google Shape;355;p25">
            <a:extLst>
              <a:ext uri="{FF2B5EF4-FFF2-40B4-BE49-F238E27FC236}">
                <a16:creationId xmlns:a16="http://schemas.microsoft.com/office/drawing/2014/main" id="{63C467E0-9AA7-46E5-A81A-0DA2603FEDE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33155318"/>
              </p:ext>
            </p:extLst>
          </p:nvPr>
        </p:nvGraphicFramePr>
        <p:xfrm>
          <a:off x="6622807" y="1222225"/>
          <a:ext cx="4673343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17" name="Google Shape;355;p25">
            <a:extLst>
              <a:ext uri="{FF2B5EF4-FFF2-40B4-BE49-F238E27FC236}">
                <a16:creationId xmlns:a16="http://schemas.microsoft.com/office/drawing/2014/main" id="{8A1D3D71-A9C2-4366-A645-81B3965CD56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01442259"/>
              </p:ext>
            </p:extLst>
          </p:nvPr>
        </p:nvGraphicFramePr>
        <p:xfrm>
          <a:off x="8910117" y="4935319"/>
          <a:ext cx="3671609" cy="19226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4" name="Google Shape;352;p25">
            <a:extLst>
              <a:ext uri="{FF2B5EF4-FFF2-40B4-BE49-F238E27FC236}">
                <a16:creationId xmlns:a16="http://schemas.microsoft.com/office/drawing/2014/main" id="{234E88FB-D38E-4557-B143-D444BA337034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Nota: este eje incluye un total de XXXX respuestas.</a:t>
            </a:r>
          </a:p>
        </p:txBody>
      </p:sp>
    </p:spTree>
    <p:extLst>
      <p:ext uri="{BB962C8B-B14F-4D97-AF65-F5344CB8AC3E}">
        <p14:creationId xmlns:p14="http://schemas.microsoft.com/office/powerpoint/2010/main" val="24471271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5"/>
          <p:cNvSpPr txBox="1">
            <a:spLocks noGrp="1"/>
          </p:cNvSpPr>
          <p:nvPr>
            <p:ph type="title"/>
          </p:nvPr>
        </p:nvSpPr>
        <p:spPr>
          <a:xfrm>
            <a:off x="491319" y="214997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 dirty="0">
                <a:solidFill>
                  <a:srgbClr val="3F3F3F"/>
                </a:solidFill>
              </a:rPr>
              <a:t>Bienestar integral en movimiento</a:t>
            </a:r>
            <a:endParaRPr sz="3200" dirty="0">
              <a:solidFill>
                <a:srgbClr val="0070C0"/>
              </a:solidFill>
            </a:endParaRPr>
          </a:p>
        </p:txBody>
      </p:sp>
      <p:sp>
        <p:nvSpPr>
          <p:cNvPr id="351" name="Google Shape;351;p25"/>
          <p:cNvSpPr txBox="1"/>
          <p:nvPr/>
        </p:nvSpPr>
        <p:spPr>
          <a:xfrm>
            <a:off x="5751560" y="4666434"/>
            <a:ext cx="38985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 b="1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37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264865" y="1324321"/>
            <a:ext cx="5548087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¿Has participado de los talleres y/o intervenciones en sala de bienestar integral en movimiento?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graphicFrame>
        <p:nvGraphicFramePr>
          <p:cNvPr id="353" name="Google Shape;353;p25"/>
          <p:cNvGraphicFramePr/>
          <p:nvPr/>
        </p:nvGraphicFramePr>
        <p:xfrm>
          <a:off x="61392" y="1847541"/>
          <a:ext cx="5486400" cy="30522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54" name="Google Shape;354;p25"/>
          <p:cNvSpPr txBox="1"/>
          <p:nvPr/>
        </p:nvSpPr>
        <p:spPr>
          <a:xfrm>
            <a:off x="7195118" y="420780"/>
            <a:ext cx="3995596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¿En qué medida estos talleres o intervenciones han aportado a tu bienestar?</a:t>
            </a:r>
          </a:p>
        </p:txBody>
      </p:sp>
      <p:sp>
        <p:nvSpPr>
          <p:cNvPr id="356" name="Google Shape;356;p25"/>
          <p:cNvSpPr/>
          <p:nvPr/>
        </p:nvSpPr>
        <p:spPr>
          <a:xfrm>
            <a:off x="5149779" y="3743952"/>
            <a:ext cx="1983262" cy="6604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7F7F7F"/>
          </a:solidFill>
          <a:ln w="12700" cap="flat" cmpd="sng">
            <a:solidFill>
              <a:srgbClr val="7F7F7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5"/>
          <p:cNvSpPr txBox="1"/>
          <p:nvPr/>
        </p:nvSpPr>
        <p:spPr>
          <a:xfrm>
            <a:off x="3234786" y="4480501"/>
            <a:ext cx="5548087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4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Entre quienes respondieron que SÍ</a:t>
            </a:r>
            <a:endParaRPr sz="14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sp>
        <p:nvSpPr>
          <p:cNvPr id="13" name="Google Shape;354;p25">
            <a:extLst>
              <a:ext uri="{FF2B5EF4-FFF2-40B4-BE49-F238E27FC236}">
                <a16:creationId xmlns:a16="http://schemas.microsoft.com/office/drawing/2014/main" id="{A6CE897F-3EE9-4809-86CA-43423642C230}"/>
              </a:ext>
            </a:extLst>
          </p:cNvPr>
          <p:cNvSpPr txBox="1"/>
          <p:nvPr/>
        </p:nvSpPr>
        <p:spPr>
          <a:xfrm>
            <a:off x="6155799" y="5416397"/>
            <a:ext cx="3995596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¿Recomendarías estos talleres o intervenciones a un compañero/a de Duoc UC?</a:t>
            </a:r>
            <a:endParaRPr sz="1600" dirty="0">
              <a:solidFill>
                <a:srgbClr val="595959"/>
              </a:solidFill>
              <a:latin typeface="Calibri Light" panose="020F0302020204030204" pitchFamily="34" charset="0"/>
              <a:ea typeface="Calibri"/>
              <a:cs typeface="Calibri Light" panose="020F0302020204030204" pitchFamily="34" charset="0"/>
              <a:sym typeface="Calibri"/>
            </a:endParaRPr>
          </a:p>
        </p:txBody>
      </p:sp>
      <p:pic>
        <p:nvPicPr>
          <p:cNvPr id="4" name="Gráfico 3" descr="Corazón con pulso con relleno sólido">
            <a:extLst>
              <a:ext uri="{FF2B5EF4-FFF2-40B4-BE49-F238E27FC236}">
                <a16:creationId xmlns:a16="http://schemas.microsoft.com/office/drawing/2014/main" id="{A755F92F-F1CB-41A6-8BA9-C571CB7AFB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52067" y="171541"/>
            <a:ext cx="817188" cy="817188"/>
          </a:xfrm>
          <a:prstGeom prst="rect">
            <a:avLst/>
          </a:prstGeom>
        </p:spPr>
      </p:pic>
      <p:graphicFrame>
        <p:nvGraphicFramePr>
          <p:cNvPr id="16" name="Google Shape;355;p25">
            <a:extLst>
              <a:ext uri="{FF2B5EF4-FFF2-40B4-BE49-F238E27FC236}">
                <a16:creationId xmlns:a16="http://schemas.microsoft.com/office/drawing/2014/main" id="{E083B0BE-F40A-4DA8-99A8-1BB1A5FE04D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90034336"/>
              </p:ext>
            </p:extLst>
          </p:nvPr>
        </p:nvGraphicFramePr>
        <p:xfrm>
          <a:off x="7200439" y="1152556"/>
          <a:ext cx="3671610" cy="2550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17" name="Google Shape;355;p25">
            <a:extLst>
              <a:ext uri="{FF2B5EF4-FFF2-40B4-BE49-F238E27FC236}">
                <a16:creationId xmlns:a16="http://schemas.microsoft.com/office/drawing/2014/main" id="{2C55B24B-8049-42C6-8E5E-F7DDDD8A90C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01442259"/>
              </p:ext>
            </p:extLst>
          </p:nvPr>
        </p:nvGraphicFramePr>
        <p:xfrm>
          <a:off x="8910117" y="4935319"/>
          <a:ext cx="3671609" cy="192268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4" name="Google Shape;352;p25">
            <a:extLst>
              <a:ext uri="{FF2B5EF4-FFF2-40B4-BE49-F238E27FC236}">
                <a16:creationId xmlns:a16="http://schemas.microsoft.com/office/drawing/2014/main" id="{7C56A666-3BD6-4DAA-9F10-4A5300EDC186}"/>
              </a:ext>
            </a:extLst>
          </p:cNvPr>
          <p:cNvSpPr txBox="1"/>
          <p:nvPr/>
        </p:nvSpPr>
        <p:spPr>
          <a:xfrm>
            <a:off x="2335484" y="6492874"/>
            <a:ext cx="6744347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200" dirty="0">
                <a:solidFill>
                  <a:srgbClr val="595959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Nota: este eje incluye un total de XXXX respuestas.</a:t>
            </a:r>
          </a:p>
        </p:txBody>
      </p:sp>
    </p:spTree>
    <p:extLst>
      <p:ext uri="{BB962C8B-B14F-4D97-AF65-F5344CB8AC3E}">
        <p14:creationId xmlns:p14="http://schemas.microsoft.com/office/powerpoint/2010/main" val="2225050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p82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Síntesis global y conclusiones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Google Shape;980;p85"/>
          <p:cNvSpPr txBox="1">
            <a:spLocks noGrp="1"/>
          </p:cNvSpPr>
          <p:nvPr>
            <p:ph type="title"/>
          </p:nvPr>
        </p:nvSpPr>
        <p:spPr>
          <a:xfrm>
            <a:off x="491319" y="210715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200"/>
              <a:buFont typeface="Calibri"/>
              <a:buNone/>
            </a:pPr>
            <a:r>
              <a:rPr lang="es-CL" sz="3200">
                <a:solidFill>
                  <a:srgbClr val="3F3F3F"/>
                </a:solidFill>
              </a:rPr>
              <a:t>Conclusiones</a:t>
            </a:r>
            <a:endParaRPr sz="3200">
              <a:solidFill>
                <a:srgbClr val="E30613"/>
              </a:solidFill>
            </a:endParaRPr>
          </a:p>
        </p:txBody>
      </p:sp>
      <p:sp>
        <p:nvSpPr>
          <p:cNvPr id="981" name="Google Shape;981;p85"/>
          <p:cNvSpPr txBox="1">
            <a:spLocks noGrp="1"/>
          </p:cNvSpPr>
          <p:nvPr>
            <p:ph type="body" idx="1"/>
          </p:nvPr>
        </p:nvSpPr>
        <p:spPr>
          <a:xfrm>
            <a:off x="491319" y="1288472"/>
            <a:ext cx="11250112" cy="4950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12897" lvl="0" indent="-285750" algn="just">
              <a:lnSpc>
                <a:spcPct val="150000"/>
              </a:lnSpc>
              <a:buClr>
                <a:schemeClr val="dk1"/>
              </a:buClr>
              <a:buSzPct val="105555"/>
              <a:buFont typeface="Arial" panose="020B0604020202020204" pitchFamily="34" charset="0"/>
              <a:buChar char="•"/>
            </a:pPr>
            <a:r>
              <a:rPr lang="es-ES" sz="1800" dirty="0">
                <a:solidFill>
                  <a:srgbClr val="3F3F3F"/>
                </a:solidFill>
              </a:rPr>
              <a:t>XXX</a:t>
            </a:r>
            <a:endParaRPr lang="es-ES" sz="1800" dirty="0">
              <a:solidFill>
                <a:srgbClr val="3F3F3F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D00FDE6-70C2-4D7B-A270-DE0D8F289D64}"/>
              </a:ext>
            </a:extLst>
          </p:cNvPr>
          <p:cNvSpPr txBox="1"/>
          <p:nvPr/>
        </p:nvSpPr>
        <p:spPr>
          <a:xfrm>
            <a:off x="9278471" y="365125"/>
            <a:ext cx="1532963" cy="52322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CL" dirty="0"/>
              <a:t>Texto por redactar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Google Shape;1031;p89"/>
          <p:cNvSpPr/>
          <p:nvPr/>
        </p:nvSpPr>
        <p:spPr>
          <a:xfrm>
            <a:off x="279127" y="665853"/>
            <a:ext cx="1121490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600"/>
              <a:buFont typeface="Noto Sans Symbols"/>
              <a:buChar char="✔"/>
            </a:pPr>
            <a:r>
              <a:rPr lang="es-CL" sz="1600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Junto al reporte global se entregan </a:t>
            </a:r>
            <a:r>
              <a:rPr lang="es-CL" sz="1600" b="1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29 reportes</a:t>
            </a:r>
            <a:r>
              <a:rPr lang="es-CL" sz="1600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:</a:t>
            </a:r>
            <a:endParaRPr dirty="0">
              <a:solidFill>
                <a:srgbClr val="3F3F3F"/>
              </a:solidFill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032" name="Google Shape;1032;p89"/>
          <p:cNvSpPr txBox="1">
            <a:spLocks noGrp="1"/>
          </p:cNvSpPr>
          <p:nvPr>
            <p:ph type="title"/>
          </p:nvPr>
        </p:nvSpPr>
        <p:spPr>
          <a:xfrm>
            <a:off x="279127" y="-161253"/>
            <a:ext cx="1163928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3400"/>
              <a:buFont typeface="Calibri"/>
              <a:buNone/>
            </a:pPr>
            <a:r>
              <a:rPr lang="es-CL" dirty="0">
                <a:solidFill>
                  <a:srgbClr val="3F3F3F"/>
                </a:solidFill>
              </a:rPr>
              <a:t>Reportes específicos</a:t>
            </a:r>
            <a:endParaRPr sz="2400" dirty="0">
              <a:solidFill>
                <a:srgbClr val="E30613"/>
              </a:solidFill>
            </a:endParaRPr>
          </a:p>
        </p:txBody>
      </p:sp>
      <p:grpSp>
        <p:nvGrpSpPr>
          <p:cNvPr id="1033" name="Google Shape;1033;p89"/>
          <p:cNvGrpSpPr/>
          <p:nvPr/>
        </p:nvGrpSpPr>
        <p:grpSpPr>
          <a:xfrm>
            <a:off x="2463839" y="1249254"/>
            <a:ext cx="8127920" cy="5160361"/>
            <a:chOff x="39" y="13611"/>
            <a:chExt cx="8127920" cy="5160361"/>
          </a:xfrm>
        </p:grpSpPr>
        <p:sp>
          <p:nvSpPr>
            <p:cNvPr id="1034" name="Google Shape;1034;p89"/>
            <p:cNvSpPr/>
            <p:nvPr/>
          </p:nvSpPr>
          <p:spPr>
            <a:xfrm>
              <a:off x="39" y="13611"/>
              <a:ext cx="3798093" cy="616248"/>
            </a:xfrm>
            <a:prstGeom prst="rect">
              <a:avLst/>
            </a:prstGeom>
            <a:solidFill>
              <a:schemeClr val="accent2"/>
            </a:solidFill>
            <a:ln w="12700" cap="flat" cmpd="sng">
              <a:solidFill>
                <a:schemeClr val="accent2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89"/>
            <p:cNvSpPr txBox="1"/>
            <p:nvPr/>
          </p:nvSpPr>
          <p:spPr>
            <a:xfrm>
              <a:off x="39" y="13611"/>
              <a:ext cx="3798093" cy="6162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77800" tIns="101600" rIns="177800" bIns="1016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500"/>
                <a:buFont typeface="Calibri"/>
                <a:buNone/>
              </a:pPr>
              <a:r>
                <a:rPr lang="es-CL" sz="25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Sedes</a:t>
              </a:r>
              <a:endParaRPr/>
            </a:p>
          </p:txBody>
        </p:sp>
        <p:sp>
          <p:nvSpPr>
            <p:cNvPr id="1036" name="Google Shape;1036;p89"/>
            <p:cNvSpPr/>
            <p:nvPr/>
          </p:nvSpPr>
          <p:spPr>
            <a:xfrm>
              <a:off x="39" y="624135"/>
              <a:ext cx="3798093" cy="4549837"/>
            </a:xfrm>
            <a:prstGeom prst="rect">
              <a:avLst/>
            </a:prstGeom>
            <a:solidFill>
              <a:srgbClr val="F7D5CB">
                <a:alpha val="89803"/>
              </a:srgbClr>
            </a:solidFill>
            <a:ln w="12700" cap="flat" cmpd="sng">
              <a:solidFill>
                <a:srgbClr val="F7D5CB">
                  <a:alpha val="89803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89"/>
            <p:cNvSpPr txBox="1"/>
            <p:nvPr/>
          </p:nvSpPr>
          <p:spPr>
            <a:xfrm>
              <a:off x="39" y="624135"/>
              <a:ext cx="3798093" cy="45498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74675" tIns="74675" rIns="99550" bIns="112000" anchor="t" anchorCtr="0">
              <a:noAutofit/>
            </a:bodyPr>
            <a:lstStyle/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Alameda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Antonio Varas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Campus Arauco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Campus Villarrica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Comunicaciones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Concepción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Maipú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Melipilla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Online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Padre Alonso de Ovalle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Plaza Norte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Plaza Oeste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Plaza Vespucio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Puente Alto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Puerto Montt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San Bernardo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San Carlos de Apoquindo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San Joaquín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Valparaíso</a:t>
              </a:r>
            </a:p>
            <a:p>
              <a:pPr marL="114300" lvl="1" indent="-114300">
                <a:lnSpc>
                  <a:spcPct val="90000"/>
                </a:lnSpc>
                <a:buClr>
                  <a:schemeClr val="dk1"/>
                </a:buClr>
                <a:buSzPts val="1400"/>
                <a:buFont typeface="Calibri"/>
                <a:buChar char="•"/>
              </a:pPr>
              <a:r>
                <a:rPr lang="es-CL" sz="16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Viña del Mar</a:t>
              </a:r>
            </a:p>
          </p:txBody>
        </p:sp>
        <p:sp>
          <p:nvSpPr>
            <p:cNvPr id="1038" name="Google Shape;1038;p89"/>
            <p:cNvSpPr/>
            <p:nvPr/>
          </p:nvSpPr>
          <p:spPr>
            <a:xfrm>
              <a:off x="4329866" y="13611"/>
              <a:ext cx="3798093" cy="616248"/>
            </a:xfrm>
            <a:prstGeom prst="rect">
              <a:avLst/>
            </a:prstGeom>
            <a:solidFill>
              <a:schemeClr val="accent3"/>
            </a:solidFill>
            <a:ln w="12700" cap="flat" cmpd="sng">
              <a:solidFill>
                <a:schemeClr val="accent3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89"/>
            <p:cNvSpPr txBox="1"/>
            <p:nvPr/>
          </p:nvSpPr>
          <p:spPr>
            <a:xfrm>
              <a:off x="4329866" y="13611"/>
              <a:ext cx="3798093" cy="61624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77800" tIns="101600" rIns="177800" bIns="101600" anchor="ctr" anchorCtr="0">
              <a:noAutofit/>
            </a:bodyPr>
            <a:lstStyle/>
            <a:p>
              <a:pPr marL="0" marR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500"/>
                <a:buFont typeface="Calibri"/>
                <a:buNone/>
              </a:pPr>
              <a:r>
                <a:rPr lang="es-CL" sz="2500" b="1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Escuelas</a:t>
              </a:r>
              <a:endParaRPr/>
            </a:p>
          </p:txBody>
        </p:sp>
        <p:sp>
          <p:nvSpPr>
            <p:cNvPr id="1040" name="Google Shape;1040;p89"/>
            <p:cNvSpPr/>
            <p:nvPr/>
          </p:nvSpPr>
          <p:spPr>
            <a:xfrm>
              <a:off x="4329866" y="624135"/>
              <a:ext cx="3798093" cy="4549837"/>
            </a:xfrm>
            <a:prstGeom prst="rect">
              <a:avLst/>
            </a:prstGeom>
            <a:solidFill>
              <a:srgbClr val="E0E0E0">
                <a:alpha val="89803"/>
              </a:srgbClr>
            </a:solidFill>
            <a:ln w="12700" cap="flat" cmpd="sng">
              <a:solidFill>
                <a:srgbClr val="E0E0E0">
                  <a:alpha val="89803"/>
                </a:srgb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89"/>
            <p:cNvSpPr txBox="1"/>
            <p:nvPr/>
          </p:nvSpPr>
          <p:spPr>
            <a:xfrm>
              <a:off x="4329866" y="624135"/>
              <a:ext cx="3798093" cy="454983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12000" tIns="112000" rIns="149350" bIns="168000" anchor="t" anchorCtr="0">
              <a:noAutofit/>
            </a:bodyPr>
            <a:lstStyle/>
            <a:p>
              <a:pPr marL="228600" lvl="1" indent="-228600">
                <a:lnSpc>
                  <a:spcPct val="90000"/>
                </a:lnSpc>
                <a:buClr>
                  <a:schemeClr val="dk1"/>
                </a:buClr>
                <a:buSzPts val="2100"/>
                <a:buFont typeface="Calibri"/>
                <a:buChar char="•"/>
              </a:pPr>
              <a:r>
                <a:rPr lang="es-ES" sz="18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Administración y Negocios</a:t>
              </a:r>
            </a:p>
            <a:p>
              <a:pPr marL="228600" lvl="1" indent="-228600">
                <a:lnSpc>
                  <a:spcPct val="90000"/>
                </a:lnSpc>
                <a:buClr>
                  <a:schemeClr val="dk1"/>
                </a:buClr>
                <a:buSzPts val="2100"/>
                <a:buFont typeface="Calibri"/>
                <a:buChar char="•"/>
              </a:pPr>
              <a:r>
                <a:rPr lang="es-ES" sz="18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Comunicación</a:t>
              </a:r>
            </a:p>
            <a:p>
              <a:pPr marL="228600" lvl="1" indent="-228600">
                <a:lnSpc>
                  <a:spcPct val="90000"/>
                </a:lnSpc>
                <a:buClr>
                  <a:schemeClr val="dk1"/>
                </a:buClr>
                <a:buSzPts val="2100"/>
                <a:buFont typeface="Calibri"/>
                <a:buChar char="•"/>
              </a:pPr>
              <a:r>
                <a:rPr lang="es-ES" sz="18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Construcción</a:t>
              </a:r>
            </a:p>
            <a:p>
              <a:pPr marL="228600" lvl="1" indent="-228600">
                <a:lnSpc>
                  <a:spcPct val="90000"/>
                </a:lnSpc>
                <a:buClr>
                  <a:schemeClr val="dk1"/>
                </a:buClr>
                <a:buSzPts val="2100"/>
                <a:buFont typeface="Calibri"/>
                <a:buChar char="•"/>
              </a:pPr>
              <a:r>
                <a:rPr lang="es-ES" sz="18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Diseño</a:t>
              </a:r>
            </a:p>
            <a:p>
              <a:pPr marL="228600" lvl="1" indent="-228600">
                <a:lnSpc>
                  <a:spcPct val="90000"/>
                </a:lnSpc>
                <a:buClr>
                  <a:schemeClr val="dk1"/>
                </a:buClr>
                <a:buSzPts val="2100"/>
                <a:buFont typeface="Calibri"/>
                <a:buChar char="•"/>
              </a:pPr>
              <a:r>
                <a:rPr lang="es-ES" sz="18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Gastronomía</a:t>
              </a:r>
            </a:p>
            <a:p>
              <a:pPr marL="228600" lvl="1" indent="-228600">
                <a:lnSpc>
                  <a:spcPct val="90000"/>
                </a:lnSpc>
                <a:buClr>
                  <a:schemeClr val="dk1"/>
                </a:buClr>
                <a:buSzPts val="2100"/>
                <a:buFont typeface="Calibri"/>
                <a:buChar char="•"/>
              </a:pPr>
              <a:r>
                <a:rPr lang="es-ES" sz="18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Informática y Telecomunicaciones</a:t>
              </a:r>
            </a:p>
            <a:p>
              <a:pPr marL="228600" lvl="1" indent="-228600">
                <a:lnSpc>
                  <a:spcPct val="90000"/>
                </a:lnSpc>
                <a:buClr>
                  <a:schemeClr val="dk1"/>
                </a:buClr>
                <a:buSzPts val="2100"/>
                <a:buFont typeface="Calibri"/>
                <a:buChar char="•"/>
              </a:pPr>
              <a:r>
                <a:rPr lang="es-ES" sz="18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Ingeniería, Medio Ambiente y Recursos Naturales</a:t>
              </a:r>
            </a:p>
            <a:p>
              <a:pPr marL="228600" lvl="1" indent="-228600">
                <a:lnSpc>
                  <a:spcPct val="90000"/>
                </a:lnSpc>
                <a:buClr>
                  <a:schemeClr val="dk1"/>
                </a:buClr>
                <a:buSzPts val="2100"/>
                <a:buFont typeface="Calibri"/>
                <a:buChar char="•"/>
              </a:pPr>
              <a:r>
                <a:rPr lang="es-ES" sz="1800" dirty="0">
                  <a:solidFill>
                    <a:srgbClr val="3F3F3F"/>
                  </a:solidFill>
                  <a:latin typeface="Calibri Light"/>
                  <a:ea typeface="Calibri"/>
                  <a:cs typeface="Calibri Light"/>
                  <a:sym typeface="Calibri"/>
                </a:rPr>
                <a:t>Salud y Bienestar</a:t>
              </a:r>
              <a:endParaRPr lang="es-ES" sz="1800" dirty="0">
                <a:solidFill>
                  <a:srgbClr val="3F3F3F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</a:endParaRPr>
            </a:p>
            <a:p>
              <a:pPr marL="228600" lvl="1" indent="-228600">
                <a:lnSpc>
                  <a:spcPct val="90000"/>
                </a:lnSpc>
                <a:buClr>
                  <a:schemeClr val="dk1"/>
                </a:buClr>
                <a:buSzPts val="2100"/>
                <a:buFont typeface="Calibri"/>
                <a:buChar char="•"/>
              </a:pPr>
              <a:r>
                <a:rPr lang="es-ES" sz="1800" dirty="0">
                  <a:solidFill>
                    <a:srgbClr val="3F3F3F"/>
                  </a:solidFill>
                  <a:latin typeface="Calibri Light" panose="020F0302020204030204" pitchFamily="34" charset="0"/>
                  <a:ea typeface="Calibri"/>
                  <a:cs typeface="Calibri Light" panose="020F0302020204030204" pitchFamily="34" charset="0"/>
                  <a:sym typeface="Calibri"/>
                </a:rPr>
                <a:t>Turismo y Hotelería</a:t>
              </a:r>
            </a:p>
          </p:txBody>
        </p:sp>
      </p:grpSp>
      <p:sp>
        <p:nvSpPr>
          <p:cNvPr id="13" name="CuadroTexto 12">
            <a:extLst>
              <a:ext uri="{FF2B5EF4-FFF2-40B4-BE49-F238E27FC236}">
                <a16:creationId xmlns:a16="http://schemas.microsoft.com/office/drawing/2014/main" id="{4C4BE4B2-5DA3-407E-AF87-08AB689F523B}"/>
              </a:ext>
            </a:extLst>
          </p:cNvPr>
          <p:cNvSpPr txBox="1"/>
          <p:nvPr/>
        </p:nvSpPr>
        <p:spPr>
          <a:xfrm>
            <a:off x="9278471" y="365125"/>
            <a:ext cx="1532963" cy="52322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s-CL" dirty="0"/>
              <a:t>Texto por redactar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"/>
          <p:cNvSpPr txBox="1">
            <a:spLocks noGrp="1"/>
          </p:cNvSpPr>
          <p:nvPr>
            <p:ph type="ctrTitle"/>
          </p:nvPr>
        </p:nvSpPr>
        <p:spPr>
          <a:xfrm>
            <a:off x="336645" y="2377934"/>
            <a:ext cx="11518709" cy="21021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libri"/>
              <a:buNone/>
            </a:pPr>
            <a:br>
              <a:rPr lang="es-CL" sz="5400" b="1" cap="small" dirty="0">
                <a:solidFill>
                  <a:schemeClr val="lt1"/>
                </a:solidFill>
                <a:sym typeface="Calibri"/>
              </a:rPr>
            </a:br>
            <a:r>
              <a:rPr lang="es-CL" sz="4400" b="1" cap="small" dirty="0">
                <a:solidFill>
                  <a:schemeClr val="lt1"/>
                </a:solidFill>
                <a:sym typeface="Calibri"/>
              </a:rPr>
              <a:t>Radiografía del Bienestar y la Salud Mental </a:t>
            </a:r>
            <a:br>
              <a:rPr lang="es-CL" sz="4400" b="1" cap="small" dirty="0">
                <a:solidFill>
                  <a:schemeClr val="lt1"/>
                </a:solidFill>
                <a:sym typeface="Calibri"/>
              </a:rPr>
            </a:br>
            <a:r>
              <a:rPr lang="es-CL" sz="4400" b="1" cap="small" dirty="0">
                <a:solidFill>
                  <a:schemeClr val="lt1"/>
                </a:solidFill>
                <a:sym typeface="Calibri"/>
              </a:rPr>
              <a:t>2025</a:t>
            </a:r>
            <a:br>
              <a:rPr lang="es-CL" sz="4400" b="1" cap="small" dirty="0">
                <a:solidFill>
                  <a:schemeClr val="lt1"/>
                </a:solidFill>
                <a:sym typeface="Calibri"/>
              </a:rPr>
            </a:br>
            <a:br>
              <a:rPr lang="es-CL" sz="4400" b="1" cap="small" dirty="0">
                <a:solidFill>
                  <a:schemeClr val="lt1"/>
                </a:solidFill>
                <a:sym typeface="Calibri"/>
              </a:rPr>
            </a:br>
            <a:r>
              <a:rPr lang="es-CL" sz="4400" b="1" cap="small" dirty="0">
                <a:solidFill>
                  <a:schemeClr val="lt1"/>
                </a:solidFill>
                <a:sym typeface="Calibri"/>
              </a:rPr>
              <a:t>Duoc UC</a:t>
            </a:r>
            <a:endParaRPr sz="4400" dirty="0"/>
          </a:p>
        </p:txBody>
      </p:sp>
      <p:sp>
        <p:nvSpPr>
          <p:cNvPr id="50" name="Google Shape;50;p1" descr="Francisco Urdinez @ PUC Chile - Portfolio de curso de master China-Am.Latina"/>
          <p:cNvSpPr/>
          <p:nvPr/>
        </p:nvSpPr>
        <p:spPr>
          <a:xfrm>
            <a:off x="155574" y="-144463"/>
            <a:ext cx="1836779" cy="1836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1" descr="Francisco Urdinez @ PUC Chile - Portfolio de curso de master China-Am.Latina"/>
          <p:cNvSpPr/>
          <p:nvPr/>
        </p:nvSpPr>
        <p:spPr>
          <a:xfrm>
            <a:off x="155575" y="-144463"/>
            <a:ext cx="304800" cy="304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6AE343CB-8787-4608-975F-885D0F5E7B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645" y="5116057"/>
            <a:ext cx="2008093" cy="1128293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775435ED-B307-42EA-9874-9FCE3BFE7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4738" y="5116056"/>
            <a:ext cx="1922034" cy="1128293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29D393B4-F575-4F80-BEE5-ADDE360BD8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027" y="5107231"/>
            <a:ext cx="1824526" cy="1137117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939009F9-0C94-40D2-AFFE-9A5B3B21D6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6773" y="5116054"/>
            <a:ext cx="2014813" cy="1128295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32562DBC-C7EE-421E-915C-CB124164BB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8724" y="5116055"/>
            <a:ext cx="2033630" cy="1128293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1B5CE52-3FF0-47FC-BB74-A93CAF11E464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5026"/>
          <a:stretch/>
        </p:blipFill>
        <p:spPr>
          <a:xfrm>
            <a:off x="9923929" y="5096181"/>
            <a:ext cx="1931425" cy="1142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49634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7" name="Google Shape;1047;p90"/>
          <p:cNvSpPr txBox="1"/>
          <p:nvPr/>
        </p:nvSpPr>
        <p:spPr>
          <a:xfrm>
            <a:off x="354843" y="2006221"/>
            <a:ext cx="11505061" cy="2893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alibri"/>
              <a:buNone/>
            </a:pPr>
            <a:r>
              <a:rPr lang="es-CL" sz="4000" b="1" cap="small" dirty="0">
                <a:solidFill>
                  <a:schemeClr val="lt1"/>
                </a:solidFill>
                <a:latin typeface="Calibri Light" panose="020F0302020204030204" pitchFamily="34" charset="0"/>
                <a:ea typeface="Calibri"/>
                <a:cs typeface="Calibri Light" panose="020F0302020204030204" pitchFamily="34" charset="0"/>
                <a:sym typeface="Calibri"/>
              </a:rPr>
              <a:t>Anexos: otros datos de interés</a:t>
            </a:r>
            <a:endParaRPr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69" name="Google Shape;1069;p93"/>
          <p:cNvGraphicFramePr/>
          <p:nvPr>
            <p:extLst>
              <p:ext uri="{D42A27DB-BD31-4B8C-83A1-F6EECF244321}">
                <p14:modId xmlns:p14="http://schemas.microsoft.com/office/powerpoint/2010/main" val="1767397548"/>
              </p:ext>
            </p:extLst>
          </p:nvPr>
        </p:nvGraphicFramePr>
        <p:xfrm>
          <a:off x="6096000" y="1774682"/>
          <a:ext cx="5872973" cy="346527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070" name="Google Shape;1070;p93"/>
          <p:cNvGraphicFramePr/>
          <p:nvPr>
            <p:extLst>
              <p:ext uri="{D42A27DB-BD31-4B8C-83A1-F6EECF244321}">
                <p14:modId xmlns:p14="http://schemas.microsoft.com/office/powerpoint/2010/main" val="1127330587"/>
              </p:ext>
            </p:extLst>
          </p:nvPr>
        </p:nvGraphicFramePr>
        <p:xfrm>
          <a:off x="491318" y="1228726"/>
          <a:ext cx="4998357" cy="45571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71" name="Google Shape;1071;p93"/>
          <p:cNvSpPr/>
          <p:nvPr/>
        </p:nvSpPr>
        <p:spPr>
          <a:xfrm>
            <a:off x="2650671" y="1774682"/>
            <a:ext cx="2324101" cy="2914650"/>
          </a:xfrm>
          <a:prstGeom prst="rightBracket">
            <a:avLst>
              <a:gd name="adj" fmla="val 8333"/>
            </a:avLst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72" name="Google Shape;1072;p93"/>
          <p:cNvCxnSpPr/>
          <p:nvPr/>
        </p:nvCxnSpPr>
        <p:spPr>
          <a:xfrm>
            <a:off x="5127172" y="3212957"/>
            <a:ext cx="1142999" cy="0"/>
          </a:xfrm>
          <a:prstGeom prst="straightConnector1">
            <a:avLst/>
          </a:prstGeom>
          <a:noFill/>
          <a:ln w="57150" cap="flat" cmpd="sng">
            <a:solidFill>
              <a:schemeClr val="accent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1073" name="Google Shape;1073;p93"/>
          <p:cNvSpPr txBox="1">
            <a:spLocks noGrp="1"/>
          </p:cNvSpPr>
          <p:nvPr>
            <p:ph type="title"/>
          </p:nvPr>
        </p:nvSpPr>
        <p:spPr>
          <a:xfrm>
            <a:off x="490538" y="365125"/>
            <a:ext cx="11639550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Personas al cuidado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79" name="Google Shape;1079;p94"/>
          <p:cNvGraphicFramePr/>
          <p:nvPr>
            <p:extLst>
              <p:ext uri="{D42A27DB-BD31-4B8C-83A1-F6EECF244321}">
                <p14:modId xmlns:p14="http://schemas.microsoft.com/office/powerpoint/2010/main" val="289917196"/>
              </p:ext>
            </p:extLst>
          </p:nvPr>
        </p:nvGraphicFramePr>
        <p:xfrm>
          <a:off x="2393949" y="1228725"/>
          <a:ext cx="7559676" cy="45571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80" name="Google Shape;1080;p94"/>
          <p:cNvSpPr txBox="1">
            <a:spLocks noGrp="1"/>
          </p:cNvSpPr>
          <p:nvPr>
            <p:ph type="title"/>
          </p:nvPr>
        </p:nvSpPr>
        <p:spPr>
          <a:xfrm>
            <a:off x="490538" y="365125"/>
            <a:ext cx="11639550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Situación de empleo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92" name="Google Shape;1092;p96"/>
          <p:cNvGraphicFramePr/>
          <p:nvPr>
            <p:extLst>
              <p:ext uri="{D42A27DB-BD31-4B8C-83A1-F6EECF244321}">
                <p14:modId xmlns:p14="http://schemas.microsoft.com/office/powerpoint/2010/main" val="4037156662"/>
              </p:ext>
            </p:extLst>
          </p:nvPr>
        </p:nvGraphicFramePr>
        <p:xfrm>
          <a:off x="491319" y="1225868"/>
          <a:ext cx="11283329" cy="45571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93" name="Google Shape;1093;p96"/>
          <p:cNvSpPr txBox="1">
            <a:spLocks noGrp="1"/>
          </p:cNvSpPr>
          <p:nvPr>
            <p:ph type="title"/>
          </p:nvPr>
        </p:nvSpPr>
        <p:spPr>
          <a:xfrm>
            <a:off x="491319" y="365126"/>
            <a:ext cx="11639289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Condiciones para la actividad académica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79" name="Google Shape;1079;p94"/>
          <p:cNvGraphicFramePr/>
          <p:nvPr>
            <p:extLst>
              <p:ext uri="{D42A27DB-BD31-4B8C-83A1-F6EECF244321}">
                <p14:modId xmlns:p14="http://schemas.microsoft.com/office/powerpoint/2010/main" val="832067760"/>
              </p:ext>
            </p:extLst>
          </p:nvPr>
        </p:nvGraphicFramePr>
        <p:xfrm>
          <a:off x="394447" y="1703294"/>
          <a:ext cx="5371538" cy="418595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80" name="Google Shape;1080;p94"/>
          <p:cNvSpPr txBox="1">
            <a:spLocks noGrp="1"/>
          </p:cNvSpPr>
          <p:nvPr>
            <p:ph type="title"/>
          </p:nvPr>
        </p:nvSpPr>
        <p:spPr>
          <a:xfrm>
            <a:off x="490538" y="365125"/>
            <a:ext cx="11639550" cy="8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A434C"/>
              </a:buClr>
              <a:buSzPts val="3400"/>
              <a:buFont typeface="Calibri"/>
              <a:buNone/>
            </a:pPr>
            <a:r>
              <a:rPr lang="es-CL" dirty="0"/>
              <a:t>Uso de espacios sedes Duoc UC</a:t>
            </a:r>
            <a:endParaRPr dirty="0"/>
          </a:p>
        </p:txBody>
      </p:sp>
      <p:graphicFrame>
        <p:nvGraphicFramePr>
          <p:cNvPr id="4" name="Google Shape;1079;p94">
            <a:extLst>
              <a:ext uri="{FF2B5EF4-FFF2-40B4-BE49-F238E27FC236}">
                <a16:creationId xmlns:a16="http://schemas.microsoft.com/office/drawing/2014/main" id="{859778A9-F63C-449A-BA9D-FEBAB633942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24304576"/>
              </p:ext>
            </p:extLst>
          </p:nvPr>
        </p:nvGraphicFramePr>
        <p:xfrm>
          <a:off x="6310313" y="1650066"/>
          <a:ext cx="5371538" cy="42391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" name="CuadroTexto 1">
            <a:extLst>
              <a:ext uri="{FF2B5EF4-FFF2-40B4-BE49-F238E27FC236}">
                <a16:creationId xmlns:a16="http://schemas.microsoft.com/office/drawing/2014/main" id="{7B6FDD2D-F84E-47DF-BF7B-8406A0B1C918}"/>
              </a:ext>
            </a:extLst>
          </p:cNvPr>
          <p:cNvSpPr txBox="1"/>
          <p:nvPr/>
        </p:nvSpPr>
        <p:spPr>
          <a:xfrm>
            <a:off x="1838604" y="1220321"/>
            <a:ext cx="24832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1800" b="1" kern="1200" dirty="0">
                <a:solidFill>
                  <a:srgbClr val="000000">
                    <a:lumMod val="65000"/>
                    <a:lumOff val="35000"/>
                  </a:srgb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Sedes</a:t>
            </a:r>
            <a:r>
              <a:rPr lang="es-CL" sz="18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s-CL" sz="1800" b="1" kern="1200" dirty="0">
                <a:solidFill>
                  <a:srgbClr val="000000">
                    <a:lumMod val="65000"/>
                    <a:lumOff val="35000"/>
                  </a:srgb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presenciales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6D16981D-DBE7-4150-9841-99AC7262C74A}"/>
              </a:ext>
            </a:extLst>
          </p:cNvPr>
          <p:cNvSpPr txBox="1"/>
          <p:nvPr/>
        </p:nvSpPr>
        <p:spPr>
          <a:xfrm>
            <a:off x="7870173" y="1199491"/>
            <a:ext cx="24832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1800" b="1" kern="1200" dirty="0">
                <a:solidFill>
                  <a:srgbClr val="000000">
                    <a:lumMod val="65000"/>
                    <a:lumOff val="35000"/>
                  </a:srgb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Sedes</a:t>
            </a:r>
            <a:r>
              <a:rPr lang="es-CL" sz="1800" b="1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s-CL" sz="1800" b="1" kern="1200" dirty="0">
                <a:solidFill>
                  <a:srgbClr val="000000">
                    <a:lumMod val="65000"/>
                    <a:lumOff val="35000"/>
                  </a:srgb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online</a:t>
            </a:r>
          </a:p>
        </p:txBody>
      </p:sp>
      <p:sp>
        <p:nvSpPr>
          <p:cNvPr id="8" name="Google Shape;352;p25">
            <a:extLst>
              <a:ext uri="{FF2B5EF4-FFF2-40B4-BE49-F238E27FC236}">
                <a16:creationId xmlns:a16="http://schemas.microsoft.com/office/drawing/2014/main" id="{F814E454-C5B2-42C8-BEBA-27EE748E9747}"/>
              </a:ext>
            </a:extLst>
          </p:cNvPr>
          <p:cNvSpPr txBox="1"/>
          <p:nvPr/>
        </p:nvSpPr>
        <p:spPr>
          <a:xfrm>
            <a:off x="2335484" y="6492875"/>
            <a:ext cx="8017912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s-MX" sz="1200" dirty="0">
                <a:solidFill>
                  <a:srgbClr val="595959"/>
                </a:solidFill>
                <a:latin typeface="Calibri Light"/>
                <a:ea typeface="Calibri"/>
                <a:cs typeface="Calibri Light"/>
                <a:sym typeface="Calibri"/>
              </a:rPr>
              <a:t>Nota: esta pregunta incluye un total de XXXX respuestas y se desplegó solo a quienes habían profundizado en ideación suicida.</a:t>
            </a:r>
          </a:p>
        </p:txBody>
      </p:sp>
    </p:spTree>
    <p:extLst>
      <p:ext uri="{BB962C8B-B14F-4D97-AF65-F5344CB8AC3E}">
        <p14:creationId xmlns:p14="http://schemas.microsoft.com/office/powerpoint/2010/main" val="11354315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4617</TotalTime>
  <Words>2764</Words>
  <Application>Microsoft Office PowerPoint</Application>
  <PresentationFormat>Panorámica</PresentationFormat>
  <Paragraphs>439</Paragraphs>
  <Slides>74</Slides>
  <Notes>72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74</vt:i4>
      </vt:variant>
    </vt:vector>
  </HeadingPairs>
  <TitlesOfParts>
    <vt:vector size="79" baseType="lpstr">
      <vt:lpstr>Arial</vt:lpstr>
      <vt:lpstr>Calibri</vt:lpstr>
      <vt:lpstr>Calibri Light</vt:lpstr>
      <vt:lpstr>Noto Sans Symbols</vt:lpstr>
      <vt:lpstr>Tema de Office</vt:lpstr>
      <vt:lpstr> Radiografía del Bienestar y la Salud Mental  2025  Duoc UC</vt:lpstr>
      <vt:lpstr>Estructura de la presentación</vt:lpstr>
      <vt:lpstr>Presentación de PowerPoint</vt:lpstr>
      <vt:lpstr>Propósito</vt:lpstr>
      <vt:lpstr>Ficha técnica</vt:lpstr>
      <vt:lpstr>Batería de evaluación</vt:lpstr>
      <vt:lpstr>Caracterización de participantes </vt:lpstr>
      <vt:lpstr>Caracterización de participantes </vt:lpstr>
      <vt:lpstr>Presentación de PowerPoint</vt:lpstr>
      <vt:lpstr>Presentación de PowerPoint</vt:lpstr>
      <vt:lpstr>Presentación de PowerPoint</vt:lpstr>
      <vt:lpstr>Presentación de PowerPoint</vt:lpstr>
      <vt:lpstr>Resultados descriptivos</vt:lpstr>
      <vt:lpstr>Presentación de PowerPoint</vt:lpstr>
      <vt:lpstr>Nivel de estrés percibido</vt:lpstr>
      <vt:lpstr>Estresores ¿Cuáles de las siguientes situaciones presentan un problema que te afecte actualmente?  Resultados por Sexo </vt:lpstr>
      <vt:lpstr>Estresores ¿Cuáles de las siguientes situaciones presentan un problema que te afecte actualmente?  Resultados por Jornada </vt:lpstr>
      <vt:lpstr>Estresores – Exigencia carga académica Entre quienes reportaron como estresor “Carga académica exigente”</vt:lpstr>
      <vt:lpstr>Estresores – Exigencia carga académica ¿Cuáles de las siguientes razones explican que la carga académica te resulte exigente? Entre quienes reportaron como estresor “Carga académica exigente” Resultados por tipo de alumno </vt:lpstr>
      <vt:lpstr>Estresores 2022 - 2025</vt:lpstr>
      <vt:lpstr>Estrategias de afrontamiento  </vt:lpstr>
      <vt:lpstr>Condición de salud crónica</vt:lpstr>
      <vt:lpstr>Presentación de PowerPoint</vt:lpstr>
      <vt:lpstr>Salud mental</vt:lpstr>
      <vt:lpstr>Factor carga de enfermedad</vt:lpstr>
      <vt:lpstr>Patologías recurrentes grupo prevención indicada</vt:lpstr>
      <vt:lpstr>Episodio depresión – Grupo manejo clínico</vt:lpstr>
      <vt:lpstr>Trastorno de ansiedad generalizada – Grupo manejo clínico</vt:lpstr>
      <vt:lpstr>Trastorno de la personalidad – Grupo manejo clínico</vt:lpstr>
      <vt:lpstr>Uso problemático de marihuana – Grupo manejo clínico</vt:lpstr>
      <vt:lpstr>Uso problemático de marihuana – Grupo manejo clínico</vt:lpstr>
      <vt:lpstr>Uso problemático de alcohol – Grupo manejo clínico</vt:lpstr>
      <vt:lpstr>Ideación suicida – Grupo manejo clínico</vt:lpstr>
      <vt:lpstr>Ideación suicida – Grupo manejo clínico</vt:lpstr>
      <vt:lpstr>Ideación suicida – Grupo manejo clínico</vt:lpstr>
      <vt:lpstr>Presentación de PowerPoint</vt:lpstr>
      <vt:lpstr>Percepción de necesidad y acceso a tratamiento</vt:lpstr>
      <vt:lpstr>Percepción de necesidad y acceso a tratamiento</vt:lpstr>
      <vt:lpstr>Percepción de barreras de acceso a tratamiento</vt:lpstr>
      <vt:lpstr>Presentación de PowerPoint</vt:lpstr>
      <vt:lpstr>Nivel de bienestar</vt:lpstr>
      <vt:lpstr>Perma</vt:lpstr>
      <vt:lpstr>Perma</vt:lpstr>
      <vt:lpstr>Apoyo percibido</vt:lpstr>
      <vt:lpstr>Flow states – Estados de inmersión</vt:lpstr>
      <vt:lpstr>Flow states – Estados de inmersión</vt:lpstr>
      <vt:lpstr>Actividad física</vt:lpstr>
      <vt:lpstr>Alimentación</vt:lpstr>
      <vt:lpstr>Ingesta de líquidos</vt:lpstr>
      <vt:lpstr>Tabaquismo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Resultados inferenciales</vt:lpstr>
      <vt:lpstr>Presentación de PowerPoint</vt:lpstr>
      <vt:lpstr>Presentación de PowerPoint</vt:lpstr>
      <vt:lpstr>App Vivo</vt:lpstr>
      <vt:lpstr>Embajadores de la salud mental</vt:lpstr>
      <vt:lpstr>Embajadores de la salud mental</vt:lpstr>
      <vt:lpstr>Embajadores de la salud mental</vt:lpstr>
      <vt:lpstr>Embajadores de la salud mental</vt:lpstr>
      <vt:lpstr>Atenciones psicológicas</vt:lpstr>
      <vt:lpstr>Bienestar integral en movimiento</vt:lpstr>
      <vt:lpstr>Presentación de PowerPoint</vt:lpstr>
      <vt:lpstr>Conclusiones</vt:lpstr>
      <vt:lpstr>Reportes específicos</vt:lpstr>
      <vt:lpstr> Radiografía del Bienestar y la Salud Mental  2025  Duoc UC</vt:lpstr>
      <vt:lpstr>Presentación de PowerPoint</vt:lpstr>
      <vt:lpstr>Personas al cuidado</vt:lpstr>
      <vt:lpstr>Situación de empleo</vt:lpstr>
      <vt:lpstr>Condiciones para la actividad académica</vt:lpstr>
      <vt:lpstr>Uso de espacios sedes Duoc UC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Reporte Radiografía del Bienestar 2025 Duoc UC</dc:title>
  <dc:creator>Felipe Zapata</dc:creator>
  <cp:lastModifiedBy>Sebastián Eduardo Valenzuela Garrido</cp:lastModifiedBy>
  <cp:revision>321</cp:revision>
  <dcterms:created xsi:type="dcterms:W3CDTF">2021-01-18T15:18:56Z</dcterms:created>
  <dcterms:modified xsi:type="dcterms:W3CDTF">2025-10-20T17:06:49Z</dcterms:modified>
</cp:coreProperties>
</file>