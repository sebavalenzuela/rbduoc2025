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47.xml" ContentType="application/vnd.ms-office.chartcolorstyle+xml"/>
  <Override PartName="/ppt/charts/colors48.xml" ContentType="application/vnd.ms-office.chartcolorstyle+xml"/>
  <Override PartName="/ppt/charts/colors49.xml" ContentType="application/vnd.ms-office.chartcolorstyle+xml"/>
  <Override PartName="/ppt/charts/colors5.xml" ContentType="application/vnd.ms-office.chartcolorstyle+xml"/>
  <Override PartName="/ppt/charts/colors50.xml" ContentType="application/vnd.ms-office.chartcolorstyle+xml"/>
  <Override PartName="/ppt/charts/colors51.xml" ContentType="application/vnd.ms-office.chartcolorstyle+xml"/>
  <Override PartName="/ppt/charts/colors52.xml" ContentType="application/vnd.ms-office.chartcolorstyle+xml"/>
  <Override PartName="/ppt/charts/colors53.xml" ContentType="application/vnd.ms-office.chartcolorstyle+xml"/>
  <Override PartName="/ppt/charts/colors54.xml" ContentType="application/vnd.ms-office.chartcolorstyle+xml"/>
  <Override PartName="/ppt/charts/colors55.xml" ContentType="application/vnd.ms-office.chartcolorstyle+xml"/>
  <Override PartName="/ppt/charts/colors56.xml" ContentType="application/vnd.ms-office.chartcolorstyle+xml"/>
  <Override PartName="/ppt/charts/colors57.xml" ContentType="application/vnd.ms-office.chartcolorstyle+xml"/>
  <Override PartName="/ppt/charts/colors58.xml" ContentType="application/vnd.ms-office.chartcolorstyle+xml"/>
  <Override PartName="/ppt/charts/colors59.xml" ContentType="application/vnd.ms-office.chartcolorstyle+xml"/>
  <Override PartName="/ppt/charts/colors6.xml" ContentType="application/vnd.ms-office.chartcolorstyle+xml"/>
  <Override PartName="/ppt/charts/colors60.xml" ContentType="application/vnd.ms-office.chartcolorstyle+xml"/>
  <Override PartName="/ppt/charts/colors61.xml" ContentType="application/vnd.ms-office.chartcolorstyle+xml"/>
  <Override PartName="/ppt/charts/colors62.xml" ContentType="application/vnd.ms-office.chartcolorstyle+xml"/>
  <Override PartName="/ppt/charts/colors63.xml" ContentType="application/vnd.ms-office.chartcolorstyle+xml"/>
  <Override PartName="/ppt/charts/colors64.xml" ContentType="application/vnd.ms-office.chartcolorstyle+xml"/>
  <Override PartName="/ppt/charts/colors65.xml" ContentType="application/vnd.ms-office.chartcolorstyle+xml"/>
  <Override PartName="/ppt/charts/colors66.xml" ContentType="application/vnd.ms-office.chartcolorstyle+xml"/>
  <Override PartName="/ppt/charts/colors67.xml" ContentType="application/vnd.ms-office.chartcolorstyle+xml"/>
  <Override PartName="/ppt/charts/colors68.xml" ContentType="application/vnd.ms-office.chartcolorstyle+xml"/>
  <Override PartName="/ppt/charts/colors69.xml" ContentType="application/vnd.ms-office.chartcolorstyle+xml"/>
  <Override PartName="/ppt/charts/colors7.xml" ContentType="application/vnd.ms-office.chartcolorstyle+xml"/>
  <Override PartName="/ppt/charts/colors70.xml" ContentType="application/vnd.ms-office.chartcolorstyle+xml"/>
  <Override PartName="/ppt/charts/colors71.xml" ContentType="application/vnd.ms-office.chartcolorstyle+xml"/>
  <Override PartName="/ppt/charts/colors72.xml" ContentType="application/vnd.ms-office.chartcolorstyle+xml"/>
  <Override PartName="/ppt/charts/colors73.xml" ContentType="application/vnd.ms-office.chartcolorstyle+xml"/>
  <Override PartName="/ppt/charts/colors74.xml" ContentType="application/vnd.ms-office.chartcolorstyle+xml"/>
  <Override PartName="/ppt/charts/colors75.xml" ContentType="application/vnd.ms-office.chartcolorstyle+xml"/>
  <Override PartName="/ppt/charts/colors76.xml" ContentType="application/vnd.ms-office.chartcolorstyle+xml"/>
  <Override PartName="/ppt/charts/colors7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47.xml" ContentType="application/vnd.ms-office.chartstyle+xml"/>
  <Override PartName="/ppt/charts/style48.xml" ContentType="application/vnd.ms-office.chartstyle+xml"/>
  <Override PartName="/ppt/charts/style49.xml" ContentType="application/vnd.ms-office.chartstyle+xml"/>
  <Override PartName="/ppt/charts/style5.xml" ContentType="application/vnd.ms-office.chartstyle+xml"/>
  <Override PartName="/ppt/charts/style50.xml" ContentType="application/vnd.ms-office.chartstyle+xml"/>
  <Override PartName="/ppt/charts/style51.xml" ContentType="application/vnd.ms-office.chartstyle+xml"/>
  <Override PartName="/ppt/charts/style52.xml" ContentType="application/vnd.ms-office.chartstyle+xml"/>
  <Override PartName="/ppt/charts/style53.xml" ContentType="application/vnd.ms-office.chartstyle+xml"/>
  <Override PartName="/ppt/charts/style54.xml" ContentType="application/vnd.ms-office.chartstyle+xml"/>
  <Override PartName="/ppt/charts/style55.xml" ContentType="application/vnd.ms-office.chartstyle+xml"/>
  <Override PartName="/ppt/charts/style56.xml" ContentType="application/vnd.ms-office.chartstyle+xml"/>
  <Override PartName="/ppt/charts/style57.xml" ContentType="application/vnd.ms-office.chartstyle+xml"/>
  <Override PartName="/ppt/charts/style58.xml" ContentType="application/vnd.ms-office.chartstyle+xml"/>
  <Override PartName="/ppt/charts/style59.xml" ContentType="application/vnd.ms-office.chartstyle+xml"/>
  <Override PartName="/ppt/charts/style6.xml" ContentType="application/vnd.ms-office.chartstyle+xml"/>
  <Override PartName="/ppt/charts/style60.xml" ContentType="application/vnd.ms-office.chartstyle+xml"/>
  <Override PartName="/ppt/charts/style61.xml" ContentType="application/vnd.ms-office.chartstyle+xml"/>
  <Override PartName="/ppt/charts/style62.xml" ContentType="application/vnd.ms-office.chartstyle+xml"/>
  <Override PartName="/ppt/charts/style63.xml" ContentType="application/vnd.ms-office.chartstyle+xml"/>
  <Override PartName="/ppt/charts/style64.xml" ContentType="application/vnd.ms-office.chartstyle+xml"/>
  <Override PartName="/ppt/charts/style65.xml" ContentType="application/vnd.ms-office.chartstyle+xml"/>
  <Override PartName="/ppt/charts/style66.xml" ContentType="application/vnd.ms-office.chartstyle+xml"/>
  <Override PartName="/ppt/charts/style67.xml" ContentType="application/vnd.ms-office.chartstyle+xml"/>
  <Override PartName="/ppt/charts/style68.xml" ContentType="application/vnd.ms-office.chartstyle+xml"/>
  <Override PartName="/ppt/charts/style69.xml" ContentType="application/vnd.ms-office.chartstyle+xml"/>
  <Override PartName="/ppt/charts/style7.xml" ContentType="application/vnd.ms-office.chartstyle+xml"/>
  <Override PartName="/ppt/charts/style70.xml" ContentType="application/vnd.ms-office.chartstyle+xml"/>
  <Override PartName="/ppt/charts/style71.xml" ContentType="application/vnd.ms-office.chartstyle+xml"/>
  <Override PartName="/ppt/charts/style72.xml" ContentType="application/vnd.ms-office.chartstyle+xml"/>
  <Override PartName="/ppt/charts/style73.xml" ContentType="application/vnd.ms-office.chartstyle+xml"/>
  <Override PartName="/ppt/charts/style74.xml" ContentType="application/vnd.ms-office.chartstyle+xml"/>
  <Override PartName="/ppt/charts/style75.xml" ContentType="application/vnd.ms-office.chartstyle+xml"/>
  <Override PartName="/ppt/charts/style76.xml" ContentType="application/vnd.ms-office.chartstyle+xml"/>
  <Override PartName="/ppt/charts/style7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2.svg" ContentType="image/svg+xml"/>
  <Override PartName="/ppt/media/image14.svg" ContentType="image/svg+xml"/>
  <Override PartName="/ppt/media/image16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463" r:id="rId3"/>
    <p:sldId id="413" r:id="rId4"/>
    <p:sldId id="259" r:id="rId5"/>
    <p:sldId id="261" r:id="rId6"/>
    <p:sldId id="264" r:id="rId7"/>
    <p:sldId id="275" r:id="rId8"/>
    <p:sldId id="276" r:id="rId9"/>
    <p:sldId id="464" r:id="rId10"/>
    <p:sldId id="369" r:id="rId11"/>
    <p:sldId id="371" r:id="rId12"/>
    <p:sldId id="370" r:id="rId13"/>
    <p:sldId id="285" r:id="rId14"/>
    <p:sldId id="277" r:id="rId15"/>
    <p:sldId id="416" r:id="rId16"/>
    <p:sldId id="431" r:id="rId17"/>
    <p:sldId id="462" r:id="rId18"/>
    <p:sldId id="279" r:id="rId19"/>
    <p:sldId id="409" r:id="rId20"/>
    <p:sldId id="278" r:id="rId21"/>
    <p:sldId id="280" r:id="rId22"/>
    <p:sldId id="435" r:id="rId23"/>
    <p:sldId id="436" r:id="rId24"/>
    <p:sldId id="418" r:id="rId25"/>
    <p:sldId id="318" r:id="rId26"/>
    <p:sldId id="427" r:id="rId27"/>
    <p:sldId id="419" r:id="rId28"/>
    <p:sldId id="420" r:id="rId29"/>
    <p:sldId id="421" r:id="rId30"/>
    <p:sldId id="422" r:id="rId31"/>
    <p:sldId id="452" r:id="rId32"/>
    <p:sldId id="423" r:id="rId33"/>
    <p:sldId id="325" r:id="rId34"/>
    <p:sldId id="428" r:id="rId35"/>
    <p:sldId id="460" r:id="rId36"/>
    <p:sldId id="320" r:id="rId37"/>
    <p:sldId id="437" r:id="rId38"/>
    <p:sldId id="438" r:id="rId39"/>
    <p:sldId id="282" r:id="rId40"/>
    <p:sldId id="424" r:id="rId41"/>
    <p:sldId id="283" r:id="rId42"/>
    <p:sldId id="414" r:id="rId43"/>
    <p:sldId id="288" r:id="rId44"/>
    <p:sldId id="290" r:id="rId45"/>
    <p:sldId id="455" r:id="rId46"/>
    <p:sldId id="281" r:id="rId47"/>
    <p:sldId id="439" r:id="rId48"/>
    <p:sldId id="456" r:id="rId49"/>
    <p:sldId id="358" r:id="rId50"/>
    <p:sldId id="374" r:id="rId51"/>
    <p:sldId id="362" r:id="rId52"/>
    <p:sldId id="458" r:id="rId53"/>
    <p:sldId id="465" r:id="rId54"/>
    <p:sldId id="272" r:id="rId55"/>
    <p:sldId id="273" r:id="rId56"/>
    <p:sldId id="426" r:id="rId57"/>
    <p:sldId id="425" r:id="rId58"/>
    <p:sldId id="376" r:id="rId59"/>
    <p:sldId id="377" r:id="rId60"/>
    <p:sldId id="440" r:id="rId61"/>
    <p:sldId id="441" r:id="rId62"/>
    <p:sldId id="442" r:id="rId63"/>
    <p:sldId id="449" r:id="rId64"/>
    <p:sldId id="450" r:id="rId65"/>
    <p:sldId id="451" r:id="rId66"/>
    <p:sldId id="443" r:id="rId67"/>
    <p:sldId id="444" r:id="rId68"/>
    <p:sldId id="339" r:id="rId69"/>
    <p:sldId id="342" r:id="rId70"/>
    <p:sldId id="346" r:id="rId71"/>
    <p:sldId id="448" r:id="rId72"/>
    <p:sldId id="347" r:id="rId73"/>
    <p:sldId id="350" r:id="rId74"/>
    <p:sldId id="351" r:id="rId75"/>
    <p:sldId id="353" r:id="rId76"/>
    <p:sldId id="446" r:id="rId7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7" roundtripDataSignature="AMtx7miPE9wXBn+2MC/JZlwAQYKfkY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A"/>
    <a:srgbClr val="8C8C8E"/>
    <a:srgbClr val="F8961E"/>
    <a:srgbClr val="92D050"/>
    <a:srgbClr val="FFC000"/>
    <a:srgbClr val="ED7D31"/>
    <a:srgbClr val="FFFF99"/>
    <a:srgbClr val="55B296"/>
    <a:srgbClr val="E53C3E"/>
    <a:srgbClr val="3A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751CB-BC3B-D43B-038B-C4F7789A143D}" v="1064" dt="2025-09-29T19:55:58.298"/>
  </p1510:revLst>
</p1510:revInfo>
</file>

<file path=ppt/tableStyles.xml><?xml version="1.0" encoding="utf-8"?>
<a:tblStyleLst xmlns:a="http://schemas.openxmlformats.org/drawingml/2006/main" def="{991015D7-D160-4A9F-BB4E-07FA0D646497}">
  <a:tblStyle styleId="{991015D7-D160-4A9F-BB4E-07FA0D6464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 autoAdjust="0"/>
    <p:restoredTop sz="93979" autoAdjust="0"/>
  </p:normalViewPr>
  <p:slideViewPr>
    <p:cSldViewPr snapToGrid="0">
      <p:cViewPr varScale="1">
        <p:scale>
          <a:sx n="82" d="100"/>
          <a:sy n="82" d="100"/>
        </p:scale>
        <p:origin x="29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137" Type="http://customschemas.google.com/relationships/presentationmetadata" Target="metadata"/><Relationship Id="rId138" Type="http://schemas.openxmlformats.org/officeDocument/2006/relationships/presProps" Target="presProps.xml"/><Relationship Id="rId139" Type="http://schemas.openxmlformats.org/officeDocument/2006/relationships/viewProps" Target="viewProps.xml"/><Relationship Id="rId140" Type="http://schemas.openxmlformats.org/officeDocument/2006/relationships/theme" Target="theme/theme1.xml"/><Relationship Id="rId141" Type="http://schemas.openxmlformats.org/officeDocument/2006/relationships/tableStyles" Target="tableStyles.xml"/><Relationship Id="rId142" Type="http://schemas.microsoft.com/office/2016/11/relationships/changesInfo" Target="changesInfos/changesInfo1.xml"/><Relationship Id="rId1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moralesruiz@ug.uchile.cl" userId="S::urn:spo:guest#pmoralesruiz@ug.uchile.cl::" providerId="AD" clId="Web-{F44751CB-BC3B-D43B-038B-C4F7789A143D}"/>
    <pc:docChg chg="modSld sldOrd">
      <pc:chgData name="pmoralesruiz@ug.uchile.cl" userId="S::urn:spo:guest#pmoralesruiz@ug.uchile.cl::" providerId="AD" clId="Web-{F44751CB-BC3B-D43B-038B-C4F7789A143D}" dt="2025-09-29T19:55:56.142" v="579" actId="20577"/>
      <pc:docMkLst>
        <pc:docMk/>
      </pc:docMkLst>
      <pc:sldChg chg="addSp modSp">
        <pc:chgData name="pmoralesruiz@ug.uchile.cl" userId="S::urn:spo:guest#pmoralesruiz@ug.uchile.cl::" providerId="AD" clId="Web-{F44751CB-BC3B-D43B-038B-C4F7789A143D}" dt="2025-09-29T19:30:34.956" v="19"/>
        <pc:sldMkLst>
          <pc:docMk/>
          <pc:sldMk cId="0" sldId="276"/>
        </pc:sldMkLst>
        <pc:spChg chg="add mod">
          <ac:chgData name="pmoralesruiz@ug.uchile.cl" userId="S::urn:spo:guest#pmoralesruiz@ug.uchile.cl::" providerId="AD" clId="Web-{F44751CB-BC3B-D43B-038B-C4F7789A143D}" dt="2025-09-29T19:30:34.956" v="19"/>
          <ac:spMkLst>
            <pc:docMk/>
            <pc:sldMk cId="0" sldId="276"/>
            <ac:spMk id="2" creationId="{E10BBA97-F9A8-A8B9-0649-333B75BE159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7:20.501" v="451" actId="20577"/>
        <pc:sldMkLst>
          <pc:docMk/>
          <pc:sldMk cId="0" sldId="288"/>
        </pc:sldMkLst>
        <pc:spChg chg="add mod">
          <ac:chgData name="pmoralesruiz@ug.uchile.cl" userId="S::urn:spo:guest#pmoralesruiz@ug.uchile.cl::" providerId="AD" clId="Web-{F44751CB-BC3B-D43B-038B-C4F7789A143D}" dt="2025-09-29T19:47:12.517" v="446" actId="1076"/>
          <ac:spMkLst>
            <pc:docMk/>
            <pc:sldMk cId="0" sldId="288"/>
            <ac:spMk id="2" creationId="{6C63D560-5F7E-79D1-71E2-8846E8A84BCE}"/>
          </ac:spMkLst>
        </pc:spChg>
        <pc:spChg chg="mod">
          <ac:chgData name="pmoralesruiz@ug.uchile.cl" userId="S::urn:spo:guest#pmoralesruiz@ug.uchile.cl::" providerId="AD" clId="Web-{F44751CB-BC3B-D43B-038B-C4F7789A143D}" dt="2025-09-29T19:47:20.501" v="451" actId="20577"/>
          <ac:spMkLst>
            <pc:docMk/>
            <pc:sldMk cId="0" sldId="288"/>
            <ac:spMk id="10" creationId="{00000000-0000-0000-0000-000000000000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5:48.501" v="380" actId="20577"/>
        <pc:sldMkLst>
          <pc:docMk/>
          <pc:sldMk cId="2360770230" sldId="320"/>
        </pc:sldMkLst>
        <pc:spChg chg="add del mod">
          <ac:chgData name="pmoralesruiz@ug.uchile.cl" userId="S::urn:spo:guest#pmoralesruiz@ug.uchile.cl::" providerId="AD" clId="Web-{F44751CB-BC3B-D43B-038B-C4F7789A143D}" dt="2025-09-29T19:45:08.595" v="376"/>
          <ac:spMkLst>
            <pc:docMk/>
            <pc:sldMk cId="2360770230" sldId="320"/>
            <ac:spMk id="3" creationId="{6EAEB634-A22E-B8E5-B970-95FB322137BD}"/>
          </ac:spMkLst>
        </pc:spChg>
        <pc:spChg chg="add mod">
          <ac:chgData name="pmoralesruiz@ug.uchile.cl" userId="S::urn:spo:guest#pmoralesruiz@ug.uchile.cl::" providerId="AD" clId="Web-{F44751CB-BC3B-D43B-038B-C4F7789A143D}" dt="2025-09-29T19:45:48.501" v="380" actId="20577"/>
          <ac:spMkLst>
            <pc:docMk/>
            <pc:sldMk cId="2360770230" sldId="320"/>
            <ac:spMk id="5" creationId="{A8C824A5-4E68-AF01-B39D-8E84DD3EEFDA}"/>
          </ac:spMkLst>
        </pc:spChg>
        <pc:spChg chg="mod">
          <ac:chgData name="pmoralesruiz@ug.uchile.cl" userId="S::urn:spo:guest#pmoralesruiz@ug.uchile.cl::" providerId="AD" clId="Web-{F44751CB-BC3B-D43B-038B-C4F7789A143D}" dt="2025-09-29T19:43:48.580" v="286" actId="20577"/>
          <ac:spMkLst>
            <pc:docMk/>
            <pc:sldMk cId="2360770230" sldId="320"/>
            <ac:spMk id="16" creationId="{0DD7486D-237B-42B2-BCA9-866AB0479A58}"/>
          </ac:spMkLst>
        </pc:spChg>
      </pc:sldChg>
      <pc:sldChg chg="modSp">
        <pc:chgData name="pmoralesruiz@ug.uchile.cl" userId="S::urn:spo:guest#pmoralesruiz@ug.uchile.cl::" providerId="AD" clId="Web-{F44751CB-BC3B-D43B-038B-C4F7789A143D}" dt="2025-09-29T19:54:28.548" v="497" actId="20577"/>
        <pc:sldMkLst>
          <pc:docMk/>
          <pc:sldMk cId="0" sldId="346"/>
        </pc:sldMkLst>
        <pc:spChg chg="mod">
          <ac:chgData name="pmoralesruiz@ug.uchile.cl" userId="S::urn:spo:guest#pmoralesruiz@ug.uchile.cl::" providerId="AD" clId="Web-{F44751CB-BC3B-D43B-038B-C4F7789A143D}" dt="2025-09-29T19:54:28.548" v="497" actId="20577"/>
          <ac:spMkLst>
            <pc:docMk/>
            <pc:sldMk cId="0" sldId="346"/>
            <ac:spMk id="1041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3:56.642" v="488"/>
        <pc:sldMkLst>
          <pc:docMk/>
          <pc:sldMk cId="479603681" sldId="403"/>
        </pc:sldMkLst>
        <pc:spChg chg="add mod">
          <ac:chgData name="pmoralesruiz@ug.uchile.cl" userId="S::urn:spo:guest#pmoralesruiz@ug.uchile.cl::" providerId="AD" clId="Web-{F44751CB-BC3B-D43B-038B-C4F7789A143D}" dt="2025-09-29T19:53:56.642" v="488"/>
          <ac:spMkLst>
            <pc:docMk/>
            <pc:sldMk cId="479603681" sldId="403"/>
            <ac:spMk id="3" creationId="{B6FB5695-1728-C720-4FF5-9799E92D87B5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1:52.831" v="39" actId="20577"/>
        <pc:sldMkLst>
          <pc:docMk/>
          <pc:sldMk cId="3006985062" sldId="416"/>
        </pc:sldMkLst>
        <pc:spChg chg="add mod">
          <ac:chgData name="pmoralesruiz@ug.uchile.cl" userId="S::urn:spo:guest#pmoralesruiz@ug.uchile.cl::" providerId="AD" clId="Web-{F44751CB-BC3B-D43B-038B-C4F7789A143D}" dt="2025-09-29T19:31:28.565" v="21" actId="1076"/>
          <ac:spMkLst>
            <pc:docMk/>
            <pc:sldMk cId="3006985062" sldId="416"/>
            <ac:spMk id="3" creationId="{CA4C0EE7-D175-AF7D-E4D6-E685DF194632}"/>
          </ac:spMkLst>
        </pc:spChg>
        <pc:spChg chg="add mod">
          <ac:chgData name="pmoralesruiz@ug.uchile.cl" userId="S::urn:spo:guest#pmoralesruiz@ug.uchile.cl::" providerId="AD" clId="Web-{F44751CB-BC3B-D43B-038B-C4F7789A143D}" dt="2025-09-29T19:31:52.831" v="39" actId="20577"/>
          <ac:spMkLst>
            <pc:docMk/>
            <pc:sldMk cId="3006985062" sldId="416"/>
            <ac:spMk id="4" creationId="{1B3D275E-11A2-7608-1591-00D1CAE8809D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41:53.611" v="284"/>
        <pc:sldMkLst>
          <pc:docMk/>
          <pc:sldMk cId="1012220188" sldId="419"/>
        </pc:sldMkLst>
        <pc:spChg chg="add del mod">
          <ac:chgData name="pmoralesruiz@ug.uchile.cl" userId="S::urn:spo:guest#pmoralesruiz@ug.uchile.cl::" providerId="AD" clId="Web-{F44751CB-BC3B-D43B-038B-C4F7789A143D}" dt="2025-09-29T19:41:53.611" v="284"/>
          <ac:spMkLst>
            <pc:docMk/>
            <pc:sldMk cId="1012220188" sldId="419"/>
            <ac:spMk id="4" creationId="{C3082D89-D0C0-96A5-693D-DF9A15524AD3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9:56.565" v="277" actId="1076"/>
        <pc:sldMkLst>
          <pc:docMk/>
          <pc:sldMk cId="235619057" sldId="427"/>
        </pc:sldMkLst>
        <pc:spChg chg="add mod">
          <ac:chgData name="pmoralesruiz@ug.uchile.cl" userId="S::urn:spo:guest#pmoralesruiz@ug.uchile.cl::" providerId="AD" clId="Web-{F44751CB-BC3B-D43B-038B-C4F7789A143D}" dt="2025-09-29T19:39:56.565" v="277" actId="1076"/>
          <ac:spMkLst>
            <pc:docMk/>
            <pc:sldMk cId="235619057" sldId="427"/>
            <ac:spMk id="3" creationId="{FC6C4110-BC77-F365-BE6F-6511F3962DDA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33:19.596" v="103" actId="20577"/>
        <pc:sldMkLst>
          <pc:docMk/>
          <pc:sldMk cId="391928943" sldId="431"/>
        </pc:sldMkLst>
        <pc:spChg chg="add mod">
          <ac:chgData name="pmoralesruiz@ug.uchile.cl" userId="S::urn:spo:guest#pmoralesruiz@ug.uchile.cl::" providerId="AD" clId="Web-{F44751CB-BC3B-D43B-038B-C4F7789A143D}" dt="2025-09-29T19:33:19.596" v="103" actId="20577"/>
          <ac:spMkLst>
            <pc:docMk/>
            <pc:sldMk cId="391928943" sldId="431"/>
            <ac:spMk id="3" creationId="{C16525DD-1487-9270-0D9C-49B03147F162}"/>
          </ac:spMkLst>
        </pc:spChg>
      </pc:sldChg>
      <pc:sldChg chg="addSp">
        <pc:chgData name="pmoralesruiz@ug.uchile.cl" userId="S::urn:spo:guest#pmoralesruiz@ug.uchile.cl::" providerId="AD" clId="Web-{F44751CB-BC3B-D43B-038B-C4F7789A143D}" dt="2025-09-29T19:33:34.909" v="104"/>
        <pc:sldMkLst>
          <pc:docMk/>
          <pc:sldMk cId="3091702772" sldId="433"/>
        </pc:sldMkLst>
        <pc:spChg chg="add">
          <ac:chgData name="pmoralesruiz@ug.uchile.cl" userId="S::urn:spo:guest#pmoralesruiz@ug.uchile.cl::" providerId="AD" clId="Web-{F44751CB-BC3B-D43B-038B-C4F7789A143D}" dt="2025-09-29T19:33:34.909" v="104"/>
          <ac:spMkLst>
            <pc:docMk/>
            <pc:sldMk cId="3091702772" sldId="433"/>
            <ac:spMk id="3" creationId="{09F731A5-D0D0-0D79-953D-70652C21F9FD}"/>
          </ac:spMkLst>
        </pc:spChg>
      </pc:sldChg>
      <pc:sldChg chg="addSp modSp ord">
        <pc:chgData name="pmoralesruiz@ug.uchile.cl" userId="S::urn:spo:guest#pmoralesruiz@ug.uchile.cl::" providerId="AD" clId="Web-{F44751CB-BC3B-D43B-038B-C4F7789A143D}" dt="2025-09-29T19:52:51.720" v="469" actId="20577"/>
        <pc:sldMkLst>
          <pc:docMk/>
          <pc:sldMk cId="391977841" sldId="435"/>
        </pc:sldMkLst>
        <pc:spChg chg="add mod">
          <ac:chgData name="pmoralesruiz@ug.uchile.cl" userId="S::urn:spo:guest#pmoralesruiz@ug.uchile.cl::" providerId="AD" clId="Web-{F44751CB-BC3B-D43B-038B-C4F7789A143D}" dt="2025-09-29T19:52:51.720" v="469" actId="20577"/>
          <ac:spMkLst>
            <pc:docMk/>
            <pc:sldMk cId="391977841" sldId="435"/>
            <ac:spMk id="3" creationId="{84778075-D042-C787-5FE4-DE07A0445984}"/>
          </ac:spMkLst>
        </pc:spChg>
        <pc:spChg chg="add mod">
          <ac:chgData name="pmoralesruiz@ug.uchile.cl" userId="S::urn:spo:guest#pmoralesruiz@ug.uchile.cl::" providerId="AD" clId="Web-{F44751CB-BC3B-D43B-038B-C4F7789A143D}" dt="2025-09-29T19:52:23.423" v="464" actId="20577"/>
          <ac:spMkLst>
            <pc:docMk/>
            <pc:sldMk cId="391977841" sldId="435"/>
            <ac:spMk id="5" creationId="{04A490B3-5449-7620-0CCB-915C57BEB288}"/>
          </ac:spMkLst>
        </pc:spChg>
        <pc:spChg chg="mod">
          <ac:chgData name="pmoralesruiz@ug.uchile.cl" userId="S::urn:spo:guest#pmoralesruiz@ug.uchile.cl::" providerId="AD" clId="Web-{F44751CB-BC3B-D43B-038B-C4F7789A143D}" dt="2025-09-29T19:52:30.345" v="466" actId="1076"/>
          <ac:spMkLst>
            <pc:docMk/>
            <pc:sldMk cId="391977841" sldId="435"/>
            <ac:spMk id="352" creationId="{00000000-0000-0000-0000-000000000000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44:55.470" v="373"/>
        <pc:sldMkLst>
          <pc:docMk/>
          <pc:sldMk cId="2351128133" sldId="437"/>
        </pc:sldMkLst>
        <pc:spChg chg="add mod">
          <ac:chgData name="pmoralesruiz@ug.uchile.cl" userId="S::urn:spo:guest#pmoralesruiz@ug.uchile.cl::" providerId="AD" clId="Web-{F44751CB-BC3B-D43B-038B-C4F7789A143D}" dt="2025-09-29T19:44:55.470" v="373"/>
          <ac:spMkLst>
            <pc:docMk/>
            <pc:sldMk cId="2351128133" sldId="437"/>
            <ac:spMk id="2" creationId="{2EC0A6D2-294E-1A82-7359-45C1F595CE77}"/>
          </ac:spMkLst>
        </pc:spChg>
        <pc:spChg chg="mod">
          <ac:chgData name="pmoralesruiz@ug.uchile.cl" userId="S::urn:spo:guest#pmoralesruiz@ug.uchile.cl::" providerId="AD" clId="Web-{F44751CB-BC3B-D43B-038B-C4F7789A143D}" dt="2025-09-29T19:44:00.517" v="288" actId="20577"/>
          <ac:spMkLst>
            <pc:docMk/>
            <pc:sldMk cId="2351128133" sldId="437"/>
            <ac:spMk id="16" creationId="{0DD7486D-237B-42B2-BCA9-866AB0479A58}"/>
          </ac:spMkLst>
        </pc:spChg>
        <pc:spChg chg="mod">
          <ac:chgData name="pmoralesruiz@ug.uchile.cl" userId="S::urn:spo:guest#pmoralesruiz@ug.uchile.cl::" providerId="AD" clId="Web-{F44751CB-BC3B-D43B-038B-C4F7789A143D}" dt="2025-09-29T19:44:05.376" v="290" actId="20577"/>
          <ac:spMkLst>
            <pc:docMk/>
            <pc:sldMk cId="2351128133" sldId="437"/>
            <ac:spMk id="20" creationId="{FFACC3AB-CC36-4F63-8B2F-36DA5A2322C4}"/>
          </ac:spMkLst>
        </pc:spChg>
      </pc:sldChg>
      <pc:sldChg chg="addSp modSp">
        <pc:chgData name="pmoralesruiz@ug.uchile.cl" userId="S::urn:spo:guest#pmoralesruiz@ug.uchile.cl::" providerId="AD" clId="Web-{F44751CB-BC3B-D43B-038B-C4F7789A143D}" dt="2025-09-29T19:55:56.142" v="579" actId="20577"/>
        <pc:sldMkLst>
          <pc:docMk/>
          <pc:sldMk cId="1135431551" sldId="446"/>
        </pc:sldMkLst>
        <pc:spChg chg="add mod">
          <ac:chgData name="pmoralesruiz@ug.uchile.cl" userId="S::urn:spo:guest#pmoralesruiz@ug.uchile.cl::" providerId="AD" clId="Web-{F44751CB-BC3B-D43B-038B-C4F7789A143D}" dt="2025-09-29T19:55:56.142" v="579" actId="20577"/>
          <ac:spMkLst>
            <pc:docMk/>
            <pc:sldMk cId="1135431551" sldId="446"/>
            <ac:spMk id="3" creationId="{D2D2A4D6-0F7F-9CB9-86B4-2B52E4F49A74}"/>
          </ac:spMkLst>
        </pc:spChg>
      </pc:sldChg>
      <pc:sldChg chg="addSp delSp modSp">
        <pc:chgData name="pmoralesruiz@ug.uchile.cl" userId="S::urn:spo:guest#pmoralesruiz@ug.uchile.cl::" providerId="AD" clId="Web-{F44751CB-BC3B-D43B-038B-C4F7789A143D}" dt="2025-09-29T19:51:14.704" v="458"/>
        <pc:sldMkLst>
          <pc:docMk/>
          <pc:sldMk cId="806740195" sldId="458"/>
        </pc:sldMkLst>
        <pc:picChg chg="add del mod">
          <ac:chgData name="pmoralesruiz@ug.uchile.cl" userId="S::urn:spo:guest#pmoralesruiz@ug.uchile.cl::" providerId="AD" clId="Web-{F44751CB-BC3B-D43B-038B-C4F7789A143D}" dt="2025-09-29T19:49:46.157" v="453"/>
          <ac:picMkLst>
            <pc:docMk/>
            <pc:sldMk cId="806740195" sldId="458"/>
            <ac:picMk id="2" creationId="{3CA887A3-D19A-1FFF-B830-45968020083E}"/>
          </ac:picMkLst>
        </pc:picChg>
        <pc:picChg chg="add mod">
          <ac:chgData name="pmoralesruiz@ug.uchile.cl" userId="S::urn:spo:guest#pmoralesruiz@ug.uchile.cl::" providerId="AD" clId="Web-{F44751CB-BC3B-D43B-038B-C4F7789A143D}" dt="2025-09-29T19:51:14.704" v="458"/>
          <ac:picMkLst>
            <pc:docMk/>
            <pc:sldMk cId="806740195" sldId="458"/>
            <ac:picMk id="3" creationId="{4EE0938B-A1F5-E213-9763-4E9C39809749}"/>
          </ac:picMkLst>
        </pc:picChg>
        <pc:picChg chg="del">
          <ac:chgData name="pmoralesruiz@ug.uchile.cl" userId="S::urn:spo:guest#pmoralesruiz@ug.uchile.cl::" providerId="AD" clId="Web-{F44751CB-BC3B-D43B-038B-C4F7789A143D}" dt="2025-09-29T19:50:05.845" v="454"/>
          <ac:picMkLst>
            <pc:docMk/>
            <pc:sldMk cId="806740195" sldId="458"/>
            <ac:picMk id="1169" creationId="{00000000-0000-0000-0000-000000000000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microsoft.com/office/2011/relationships/chartStyle" Target="style31.xml"/><Relationship Id="rId2" Type="http://schemas.microsoft.com/office/2011/relationships/chartColorStyle" Target="colors31.xml"/><Relationship Id="rId3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microsoft.com/office/2011/relationships/chartStyle" Target="style32.xml"/><Relationship Id="rId2" Type="http://schemas.microsoft.com/office/2011/relationships/chartColorStyle" Target="colors32.xml"/><Relationship Id="rId3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microsoft.com/office/2011/relationships/chartStyle" Target="style33.xml"/><Relationship Id="rId2" Type="http://schemas.microsoft.com/office/2011/relationships/chartColorStyle" Target="colors33.xml"/><Relationship Id="rId3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microsoft.com/office/2011/relationships/chartStyle" Target="style34.xml"/><Relationship Id="rId2" Type="http://schemas.microsoft.com/office/2011/relationships/chartColorStyle" Target="colors34.xml"/><Relationship Id="rId3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microsoft.com/office/2011/relationships/chartStyle" Target="style35.xml"/><Relationship Id="rId2" Type="http://schemas.microsoft.com/office/2011/relationships/chartColorStyle" Target="colors35.xml"/><Relationship Id="rId3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microsoft.com/office/2011/relationships/chartStyle" Target="style36.xml"/><Relationship Id="rId2" Type="http://schemas.microsoft.com/office/2011/relationships/chartColorStyle" Target="colors36.xml"/><Relationship Id="rId3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microsoft.com/office/2011/relationships/chartStyle" Target="style37.xml"/><Relationship Id="rId2" Type="http://schemas.microsoft.com/office/2011/relationships/chartColorStyle" Target="colors37.xml"/><Relationship Id="rId3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microsoft.com/office/2011/relationships/chartStyle" Target="style38.xml"/><Relationship Id="rId2" Type="http://schemas.microsoft.com/office/2011/relationships/chartColorStyle" Target="colors38.xml"/><Relationship Id="rId3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microsoft.com/office/2011/relationships/chartStyle" Target="style39.xml"/><Relationship Id="rId2" Type="http://schemas.microsoft.com/office/2011/relationships/chartColorStyle" Target="colors39.xml"/><Relationship Id="rId3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microsoft.com/office/2011/relationships/chartStyle" Target="style40.xml"/><Relationship Id="rId2" Type="http://schemas.microsoft.com/office/2011/relationships/chartColorStyle" Target="colors40.xml"/><Relationship Id="rId3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microsoft.com/office/2011/relationships/chartStyle" Target="style41.xml"/><Relationship Id="rId2" Type="http://schemas.microsoft.com/office/2011/relationships/chartColorStyle" Target="colors41.xml"/><Relationship Id="rId3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microsoft.com/office/2011/relationships/chartStyle" Target="style42.xml"/><Relationship Id="rId2" Type="http://schemas.microsoft.com/office/2011/relationships/chartColorStyle" Target="colors42.xml"/><Relationship Id="rId3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microsoft.com/office/2011/relationships/chartStyle" Target="style43.xml"/><Relationship Id="rId2" Type="http://schemas.microsoft.com/office/2011/relationships/chartColorStyle" Target="colors43.xml"/><Relationship Id="rId3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microsoft.com/office/2011/relationships/chartStyle" Target="style44.xml"/><Relationship Id="rId2" Type="http://schemas.microsoft.com/office/2011/relationships/chartColorStyle" Target="colors44.xml"/><Relationship Id="rId3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microsoft.com/office/2011/relationships/chartStyle" Target="style45.xml"/><Relationship Id="rId2" Type="http://schemas.microsoft.com/office/2011/relationships/chartColorStyle" Target="colors45.xml"/><Relationship Id="rId3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microsoft.com/office/2011/relationships/chartStyle" Target="style46.xml"/><Relationship Id="rId2" Type="http://schemas.microsoft.com/office/2011/relationships/chartColorStyle" Target="colors46.xml"/><Relationship Id="rId3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microsoft.com/office/2011/relationships/chartStyle" Target="style47.xml"/><Relationship Id="rId2" Type="http://schemas.microsoft.com/office/2011/relationships/chartColorStyle" Target="colors47.xml"/><Relationship Id="rId3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microsoft.com/office/2011/relationships/chartStyle" Target="style48.xml"/><Relationship Id="rId2" Type="http://schemas.microsoft.com/office/2011/relationships/chartColorStyle" Target="colors48.xml"/><Relationship Id="rId3" Type="http://schemas.openxmlformats.org/officeDocument/2006/relationships/package" Target="../embeddings/Microsoft_Excel_Worksheet47.xlsx"/></Relationships>
</file>

<file path=ppt/charts/_rels/chart49.xml.rels><?xml version='1.0' encoding='UTF-8' standalone='yes'?>
<Relationships xmlns="http://schemas.openxmlformats.org/package/2006/relationships"><Relationship Id="rId1" Type="http://schemas.microsoft.com/office/2011/relationships/chartStyle" Target="style49.xml"/><Relationship Id="rId2" Type="http://schemas.microsoft.com/office/2011/relationships/chartColorStyle" Target="colors49.xml"/><Relationship Id="rId3" Type="http://schemas.openxmlformats.org/officeDocument/2006/relationships/package" Target="../embeddings/Microsoft_Excel_Worksheet48.xlsx"/></Relationships>
</file>

<file path=ppt/charts/_rels/chart50.xml.rels><?xml version='1.0' encoding='UTF-8' standalone='yes'?>
<Relationships xmlns="http://schemas.openxmlformats.org/package/2006/relationships"><Relationship Id="rId1" Type="http://schemas.microsoft.com/office/2011/relationships/chartStyle" Target="style50.xml"/><Relationship Id="rId2" Type="http://schemas.microsoft.com/office/2011/relationships/chartColorStyle" Target="colors50.xml"/><Relationship Id="rId3" Type="http://schemas.openxmlformats.org/officeDocument/2006/relationships/package" Target="../embeddings/Microsoft_Excel_Worksheet49.xlsx"/></Relationships>
</file>

<file path=ppt/charts/_rels/chart51.xml.rels><?xml version='1.0' encoding='UTF-8' standalone='yes'?>
<Relationships xmlns="http://schemas.openxmlformats.org/package/2006/relationships"><Relationship Id="rId1" Type="http://schemas.microsoft.com/office/2011/relationships/chartStyle" Target="style51.xml"/><Relationship Id="rId2" Type="http://schemas.microsoft.com/office/2011/relationships/chartColorStyle" Target="colors51.xml"/><Relationship Id="rId3" Type="http://schemas.openxmlformats.org/officeDocument/2006/relationships/package" Target="../embeddings/Microsoft_Excel_Worksheet50.xlsx"/></Relationships>
</file>

<file path=ppt/charts/_rels/chart52.xml.rels><?xml version='1.0' encoding='UTF-8' standalone='yes'?>
<Relationships xmlns="http://schemas.openxmlformats.org/package/2006/relationships"><Relationship Id="rId1" Type="http://schemas.microsoft.com/office/2011/relationships/chartStyle" Target="style52.xml"/><Relationship Id="rId2" Type="http://schemas.microsoft.com/office/2011/relationships/chartColorStyle" Target="colors52.xml"/><Relationship Id="rId3" Type="http://schemas.openxmlformats.org/officeDocument/2006/relationships/package" Target="../embeddings/Microsoft_Excel_Worksheet51.xlsx"/></Relationships>
</file>

<file path=ppt/charts/_rels/chart53.xml.rels><?xml version='1.0' encoding='UTF-8' standalone='yes'?>
<Relationships xmlns="http://schemas.openxmlformats.org/package/2006/relationships"><Relationship Id="rId1" Type="http://schemas.microsoft.com/office/2011/relationships/chartStyle" Target="style53.xml"/><Relationship Id="rId2" Type="http://schemas.microsoft.com/office/2011/relationships/chartColorStyle" Target="colors53.xml"/><Relationship Id="rId3" Type="http://schemas.openxmlformats.org/officeDocument/2006/relationships/package" Target="../embeddings/Microsoft_Excel_Worksheet52.xlsx"/></Relationships>
</file>

<file path=ppt/charts/_rels/chart54.xml.rels><?xml version='1.0' encoding='UTF-8' standalone='yes'?>
<Relationships xmlns="http://schemas.openxmlformats.org/package/2006/relationships"><Relationship Id="rId1" Type="http://schemas.microsoft.com/office/2011/relationships/chartStyle" Target="style54.xml"/><Relationship Id="rId2" Type="http://schemas.microsoft.com/office/2011/relationships/chartColorStyle" Target="colors54.xml"/><Relationship Id="rId3" Type="http://schemas.openxmlformats.org/officeDocument/2006/relationships/package" Target="../embeddings/Microsoft_Excel_Worksheet53.xlsx"/></Relationships>
</file>

<file path=ppt/charts/_rels/chart55.xml.rels><?xml version='1.0' encoding='UTF-8' standalone='yes'?>
<Relationships xmlns="http://schemas.openxmlformats.org/package/2006/relationships"><Relationship Id="rId1" Type="http://schemas.microsoft.com/office/2011/relationships/chartStyle" Target="style55.xml"/><Relationship Id="rId2" Type="http://schemas.microsoft.com/office/2011/relationships/chartColorStyle" Target="colors55.xml"/><Relationship Id="rId3" Type="http://schemas.openxmlformats.org/officeDocument/2006/relationships/package" Target="../embeddings/Microsoft_Excel_Worksheet54.xlsx"/></Relationships>
</file>

<file path=ppt/charts/_rels/chart56.xml.rels><?xml version='1.0' encoding='UTF-8' standalone='yes'?>
<Relationships xmlns="http://schemas.openxmlformats.org/package/2006/relationships"><Relationship Id="rId1" Type="http://schemas.microsoft.com/office/2011/relationships/chartStyle" Target="style56.xml"/><Relationship Id="rId2" Type="http://schemas.microsoft.com/office/2011/relationships/chartColorStyle" Target="colors56.xml"/><Relationship Id="rId3" Type="http://schemas.openxmlformats.org/officeDocument/2006/relationships/package" Target="../embeddings/Microsoft_Excel_Worksheet55.xlsx"/></Relationships>
</file>

<file path=ppt/charts/_rels/chart57.xml.rels><?xml version='1.0' encoding='UTF-8' standalone='yes'?>
<Relationships xmlns="http://schemas.openxmlformats.org/package/2006/relationships"><Relationship Id="rId1" Type="http://schemas.microsoft.com/office/2011/relationships/chartStyle" Target="style57.xml"/><Relationship Id="rId2" Type="http://schemas.microsoft.com/office/2011/relationships/chartColorStyle" Target="colors57.xml"/><Relationship Id="rId3" Type="http://schemas.openxmlformats.org/officeDocument/2006/relationships/package" Target="../embeddings/Microsoft_Excel_Worksheet56.xlsx"/></Relationships>
</file>

<file path=ppt/charts/_rels/chart58.xml.rels><?xml version='1.0' encoding='UTF-8' standalone='yes'?>
<Relationships xmlns="http://schemas.openxmlformats.org/package/2006/relationships"><Relationship Id="rId1" Type="http://schemas.microsoft.com/office/2011/relationships/chartStyle" Target="style58.xml"/><Relationship Id="rId2" Type="http://schemas.microsoft.com/office/2011/relationships/chartColorStyle" Target="colors58.xml"/><Relationship Id="rId3" Type="http://schemas.openxmlformats.org/officeDocument/2006/relationships/package" Target="../embeddings/Microsoft_Excel_Worksheet57.xlsx"/></Relationships>
</file>

<file path=ppt/charts/_rels/chart59.xml.rels><?xml version='1.0' encoding='UTF-8' standalone='yes'?>
<Relationships xmlns="http://schemas.openxmlformats.org/package/2006/relationships"><Relationship Id="rId1" Type="http://schemas.microsoft.com/office/2011/relationships/chartStyle" Target="style59.xml"/><Relationship Id="rId2" Type="http://schemas.microsoft.com/office/2011/relationships/chartColorStyle" Target="colors59.xml"/><Relationship Id="rId3" Type="http://schemas.openxmlformats.org/officeDocument/2006/relationships/package" Target="../embeddings/Microsoft_Excel_Worksheet58.xlsx"/></Relationships>
</file>

<file path=ppt/charts/_rels/chart60.xml.rels><?xml version='1.0' encoding='UTF-8' standalone='yes'?>
<Relationships xmlns="http://schemas.openxmlformats.org/package/2006/relationships"><Relationship Id="rId1" Type="http://schemas.microsoft.com/office/2011/relationships/chartStyle" Target="style60.xml"/><Relationship Id="rId2" Type="http://schemas.microsoft.com/office/2011/relationships/chartColorStyle" Target="colors60.xml"/><Relationship Id="rId3" Type="http://schemas.openxmlformats.org/officeDocument/2006/relationships/package" Target="../embeddings/Microsoft_Excel_Worksheet59.xlsx"/></Relationships>
</file>

<file path=ppt/charts/_rels/chart61.xml.rels><?xml version='1.0' encoding='UTF-8' standalone='yes'?>
<Relationships xmlns="http://schemas.openxmlformats.org/package/2006/relationships"><Relationship Id="rId1" Type="http://schemas.microsoft.com/office/2011/relationships/chartStyle" Target="style61.xml"/><Relationship Id="rId2" Type="http://schemas.microsoft.com/office/2011/relationships/chartColorStyle" Target="colors61.xml"/><Relationship Id="rId3" Type="http://schemas.openxmlformats.org/officeDocument/2006/relationships/package" Target="../embeddings/Microsoft_Excel_Worksheet60.xlsx"/></Relationships>
</file>

<file path=ppt/charts/_rels/chart62.xml.rels><?xml version='1.0' encoding='UTF-8' standalone='yes'?>
<Relationships xmlns="http://schemas.openxmlformats.org/package/2006/relationships"><Relationship Id="rId1" Type="http://schemas.microsoft.com/office/2011/relationships/chartStyle" Target="style62.xml"/><Relationship Id="rId2" Type="http://schemas.microsoft.com/office/2011/relationships/chartColorStyle" Target="colors62.xml"/><Relationship Id="rId3" Type="http://schemas.openxmlformats.org/officeDocument/2006/relationships/package" Target="../embeddings/Microsoft_Excel_Worksheet61.xlsx"/></Relationships>
</file>

<file path=ppt/charts/_rels/chart63.xml.rels><?xml version='1.0' encoding='UTF-8' standalone='yes'?>
<Relationships xmlns="http://schemas.openxmlformats.org/package/2006/relationships"><Relationship Id="rId1" Type="http://schemas.microsoft.com/office/2011/relationships/chartStyle" Target="style63.xml"/><Relationship Id="rId2" Type="http://schemas.microsoft.com/office/2011/relationships/chartColorStyle" Target="colors63.xml"/><Relationship Id="rId3" Type="http://schemas.openxmlformats.org/officeDocument/2006/relationships/package" Target="../embeddings/Microsoft_Excel_Worksheet62.xlsx"/></Relationships>
</file>

<file path=ppt/charts/_rels/chart64.xml.rels><?xml version='1.0' encoding='UTF-8' standalone='yes'?>
<Relationships xmlns="http://schemas.openxmlformats.org/package/2006/relationships"><Relationship Id="rId1" Type="http://schemas.microsoft.com/office/2011/relationships/chartStyle" Target="style64.xml"/><Relationship Id="rId2" Type="http://schemas.microsoft.com/office/2011/relationships/chartColorStyle" Target="colors64.xml"/><Relationship Id="rId3" Type="http://schemas.openxmlformats.org/officeDocument/2006/relationships/package" Target="../embeddings/Microsoft_Excel_Worksheet63.xlsx"/></Relationships>
</file>

<file path=ppt/charts/_rels/chart65.xml.rels><?xml version='1.0' encoding='UTF-8' standalone='yes'?>
<Relationships xmlns="http://schemas.openxmlformats.org/package/2006/relationships"><Relationship Id="rId1" Type="http://schemas.microsoft.com/office/2011/relationships/chartStyle" Target="style65.xml"/><Relationship Id="rId2" Type="http://schemas.microsoft.com/office/2011/relationships/chartColorStyle" Target="colors65.xml"/><Relationship Id="rId3" Type="http://schemas.openxmlformats.org/officeDocument/2006/relationships/package" Target="../embeddings/Microsoft_Excel_Worksheet64.xlsx"/></Relationships>
</file>

<file path=ppt/charts/_rels/chart66.xml.rels><?xml version='1.0' encoding='UTF-8' standalone='yes'?>
<Relationships xmlns="http://schemas.openxmlformats.org/package/2006/relationships"><Relationship Id="rId1" Type="http://schemas.microsoft.com/office/2011/relationships/chartStyle" Target="style66.xml"/><Relationship Id="rId2" Type="http://schemas.microsoft.com/office/2011/relationships/chartColorStyle" Target="colors66.xml"/><Relationship Id="rId3" Type="http://schemas.openxmlformats.org/officeDocument/2006/relationships/package" Target="../embeddings/Microsoft_Excel_Worksheet65.xlsx"/></Relationships>
</file>

<file path=ppt/charts/_rels/chart67.xml.rels><?xml version='1.0' encoding='UTF-8' standalone='yes'?>
<Relationships xmlns="http://schemas.openxmlformats.org/package/2006/relationships"><Relationship Id="rId1" Type="http://schemas.microsoft.com/office/2011/relationships/chartStyle" Target="style67.xml"/><Relationship Id="rId2" Type="http://schemas.microsoft.com/office/2011/relationships/chartColorStyle" Target="colors67.xml"/><Relationship Id="rId3" Type="http://schemas.openxmlformats.org/officeDocument/2006/relationships/package" Target="../embeddings/Microsoft_Excel_Worksheet66.xlsx"/></Relationships>
</file>

<file path=ppt/charts/_rels/chart68.xml.rels><?xml version='1.0' encoding='UTF-8' standalone='yes'?>
<Relationships xmlns="http://schemas.openxmlformats.org/package/2006/relationships"><Relationship Id="rId1" Type="http://schemas.microsoft.com/office/2011/relationships/chartStyle" Target="style68.xml"/><Relationship Id="rId2" Type="http://schemas.microsoft.com/office/2011/relationships/chartColorStyle" Target="colors68.xml"/><Relationship Id="rId3" Type="http://schemas.openxmlformats.org/officeDocument/2006/relationships/package" Target="../embeddings/Microsoft_Excel_Worksheet67.xlsx"/></Relationships>
</file>

<file path=ppt/charts/_rels/chart69.xml.rels><?xml version='1.0' encoding='UTF-8' standalone='yes'?>
<Relationships xmlns="http://schemas.openxmlformats.org/package/2006/relationships"><Relationship Id="rId1" Type="http://schemas.microsoft.com/office/2011/relationships/chartStyle" Target="style69.xml"/><Relationship Id="rId2" Type="http://schemas.microsoft.com/office/2011/relationships/chartColorStyle" Target="colors69.xml"/><Relationship Id="rId3" Type="http://schemas.openxmlformats.org/officeDocument/2006/relationships/package" Target="../embeddings/Microsoft_Excel_Worksheet68.xlsx"/></Relationships>
</file>

<file path=ppt/charts/_rels/chart70.xml.rels><?xml version='1.0' encoding='UTF-8' standalone='yes'?>
<Relationships xmlns="http://schemas.openxmlformats.org/package/2006/relationships"><Relationship Id="rId1" Type="http://schemas.microsoft.com/office/2011/relationships/chartStyle" Target="style70.xml"/><Relationship Id="rId2" Type="http://schemas.microsoft.com/office/2011/relationships/chartColorStyle" Target="colors70.xml"/><Relationship Id="rId3" Type="http://schemas.openxmlformats.org/officeDocument/2006/relationships/package" Target="../embeddings/Microsoft_Excel_Worksheet69.xlsx"/></Relationships>
</file>

<file path=ppt/charts/_rels/chart71.xml.rels><?xml version='1.0' encoding='UTF-8' standalone='yes'?>
<Relationships xmlns="http://schemas.openxmlformats.org/package/2006/relationships"><Relationship Id="rId1" Type="http://schemas.microsoft.com/office/2011/relationships/chartStyle" Target="style71.xml"/><Relationship Id="rId2" Type="http://schemas.microsoft.com/office/2011/relationships/chartColorStyle" Target="colors71.xml"/><Relationship Id="rId3" Type="http://schemas.openxmlformats.org/officeDocument/2006/relationships/package" Target="../embeddings/Microsoft_Excel_Worksheet70.xlsx"/></Relationships>
</file>

<file path=ppt/charts/_rels/chart72.xml.rels><?xml version='1.0' encoding='UTF-8' standalone='yes'?>
<Relationships xmlns="http://schemas.openxmlformats.org/package/2006/relationships"><Relationship Id="rId1" Type="http://schemas.microsoft.com/office/2011/relationships/chartStyle" Target="style72.xml"/><Relationship Id="rId2" Type="http://schemas.microsoft.com/office/2011/relationships/chartColorStyle" Target="colors72.xml"/><Relationship Id="rId3" Type="http://schemas.openxmlformats.org/officeDocument/2006/relationships/package" Target="../embeddings/Microsoft_Excel_Worksheet71.xlsx"/></Relationships>
</file>

<file path=ppt/charts/_rels/chart73.xml.rels><?xml version='1.0' encoding='UTF-8' standalone='yes'?>
<Relationships xmlns="http://schemas.openxmlformats.org/package/2006/relationships"><Relationship Id="rId1" Type="http://schemas.microsoft.com/office/2011/relationships/chartStyle" Target="style73.xml"/><Relationship Id="rId2" Type="http://schemas.microsoft.com/office/2011/relationships/chartColorStyle" Target="colors73.xml"/><Relationship Id="rId3" Type="http://schemas.openxmlformats.org/officeDocument/2006/relationships/package" Target="../embeddings/Microsoft_Excel_Worksheet72.xlsx"/></Relationships>
</file>

<file path=ppt/charts/_rels/chart74.xml.rels><?xml version='1.0' encoding='UTF-8' standalone='yes'?>
<Relationships xmlns="http://schemas.openxmlformats.org/package/2006/relationships"><Relationship Id="rId1" Type="http://schemas.microsoft.com/office/2011/relationships/chartStyle" Target="style74.xml"/><Relationship Id="rId2" Type="http://schemas.microsoft.com/office/2011/relationships/chartColorStyle" Target="colors74.xml"/><Relationship Id="rId3" Type="http://schemas.openxmlformats.org/officeDocument/2006/relationships/package" Target="../embeddings/Microsoft_Excel_Worksheet73.xlsx"/></Relationships>
</file>

<file path=ppt/charts/_rels/chart75.xml.rels><?xml version='1.0' encoding='UTF-8' standalone='yes'?>
<Relationships xmlns="http://schemas.openxmlformats.org/package/2006/relationships"><Relationship Id="rId1" Type="http://schemas.microsoft.com/office/2011/relationships/chartStyle" Target="style75.xml"/><Relationship Id="rId2" Type="http://schemas.microsoft.com/office/2011/relationships/chartColorStyle" Target="colors75.xml"/><Relationship Id="rId3" Type="http://schemas.openxmlformats.org/officeDocument/2006/relationships/package" Target="../embeddings/Microsoft_Excel_Worksheet74.xlsx"/></Relationships>
</file>

<file path=ppt/charts/_rels/chart76.xml.rels><?xml version='1.0' encoding='UTF-8' standalone='yes'?>
<Relationships xmlns="http://schemas.openxmlformats.org/package/2006/relationships"><Relationship Id="rId1" Type="http://schemas.microsoft.com/office/2011/relationships/chartStyle" Target="style76.xml"/><Relationship Id="rId2" Type="http://schemas.microsoft.com/office/2011/relationships/chartColorStyle" Target="colors76.xml"/><Relationship Id="rId3" Type="http://schemas.openxmlformats.org/officeDocument/2006/relationships/package" Target="../embeddings/Microsoft_Excel_Worksheet75.xlsx"/></Relationships>
</file>

<file path=ppt/charts/_rels/chart77.xml.rels><?xml version='1.0' encoding='UTF-8' standalone='yes'?>
<Relationships xmlns="http://schemas.openxmlformats.org/package/2006/relationships"><Relationship Id="rId1" Type="http://schemas.microsoft.com/office/2011/relationships/chartStyle" Target="style77.xml"/><Relationship Id="rId2" Type="http://schemas.microsoft.com/office/2011/relationships/chartColorStyle" Target="colors77.xml"/><Relationship Id="rId3" Type="http://schemas.openxmlformats.org/officeDocument/2006/relationships/package" Target="../embeddings/Microsoft_Excel_Worksheet7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3A-4C7D-A204-E84331F9C94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3A-4C7D-A204-E84331F9C94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3A-4C7D-A204-E84331F9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Jornada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6F-494C-8179-25AFB7FDEBB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6F-494C-8179-25AFB7FDEBBE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Diurno</c:v>
                </c:pt>
                <c:pt idx="1">
                  <c:v>Vespertino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0.83</c:v>
                </c:pt>
                <c:pt idx="1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F-494C-8179-25AFB7FDE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Tipo de alumno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9804100723760052"/>
          <c:y val="0.1662291116218764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7E-4323-9B09-A4AFCD3C5E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7E-4323-9B09-A4AFCD3C5E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7E-4323-9B09-A4AFCD3C5E8B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Inicio</c:v>
                </c:pt>
                <c:pt idx="1">
                  <c:v>Continuidad</c:v>
                </c:pt>
                <c:pt idx="2">
                  <c:v>Admisión Especial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</c:v>
                </c:pt>
                <c:pt idx="1">
                  <c:v>0.48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7E-4323-9B09-A4AFCD3C5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s-CL" sz="2000" b="0" dirty="0">
                <a:effectLst/>
              </a:rPr>
              <a:t>Escuelas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Administración y Negocios</c:v>
                </c:pt>
                <c:pt idx="1">
                  <c:v>Ingeniería, Medio Ambiente y Recursos Naturales</c:v>
                </c:pt>
                <c:pt idx="2">
                  <c:v>Informática y Telecomunicaciones</c:v>
                </c:pt>
                <c:pt idx="3">
                  <c:v>Salud y Bienestar</c:v>
                </c:pt>
                <c:pt idx="4">
                  <c:v>Turismo y Hospitalidad</c:v>
                </c:pt>
                <c:pt idx="5">
                  <c:v>Comunicación</c:v>
                </c:pt>
                <c:pt idx="6">
                  <c:v>Construcción</c:v>
                </c:pt>
                <c:pt idx="7">
                  <c:v>Diseño</c:v>
                </c:pt>
                <c:pt idx="8">
                  <c:v>Gastronomía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0.28</c:v>
                </c:pt>
                <c:pt idx="1">
                  <c:v>0.21</c:v>
                </c:pt>
                <c:pt idx="2">
                  <c:v>0.13</c:v>
                </c:pt>
                <c:pt idx="3">
                  <c:v>0.08</c:v>
                </c:pt>
                <c:pt idx="4">
                  <c:v>0.07</c:v>
                </c:pt>
                <c:pt idx="5">
                  <c:v>0.07</c:v>
                </c:pt>
                <c:pt idx="6">
                  <c:v>0.07</c:v>
                </c:pt>
                <c:pt idx="7">
                  <c:v>0.05</c:v>
                </c:pt>
                <c:pt idx="8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Campus y Sedes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PUENTE ALTO</c:v>
                </c:pt>
                <c:pt idx="1">
                  <c:v>ANTONIO VARAS</c:v>
                </c:pt>
                <c:pt idx="2">
                  <c:v>ALAMEDA</c:v>
                </c:pt>
                <c:pt idx="3">
                  <c:v>PADRE ALONSO DE OVALLE</c:v>
                </c:pt>
                <c:pt idx="4">
                  <c:v>SAN CARLOS DE APOQUINDO</c:v>
                </c:pt>
                <c:pt idx="5">
                  <c:v>MAIPÚ</c:v>
                </c:pt>
                <c:pt idx="6">
                  <c:v>CONCEPCIÓN</c:v>
                </c:pt>
                <c:pt idx="7">
                  <c:v>CAMPUS VILLARRICA</c:v>
                </c:pt>
                <c:pt idx="8">
                  <c:v>VALPARAÍSO</c:v>
                </c:pt>
                <c:pt idx="9">
                  <c:v>MELIPILLA</c:v>
                </c:pt>
                <c:pt idx="10">
                  <c:v>PLAZA VESPUCIO</c:v>
                </c:pt>
                <c:pt idx="11">
                  <c:v>PLAZA OESTE</c:v>
                </c:pt>
                <c:pt idx="12">
                  <c:v>CAMPUS NACIMIENTO</c:v>
                </c:pt>
                <c:pt idx="13">
                  <c:v>PLAZA NORTE</c:v>
                </c:pt>
                <c:pt idx="14">
                  <c:v>VIÑA DEL MAR</c:v>
                </c:pt>
                <c:pt idx="15">
                  <c:v>SAN BERNARDO</c:v>
                </c:pt>
                <c:pt idx="16">
                  <c:v>SAN JOAQUÍN</c:v>
                </c:pt>
                <c:pt idx="17">
                  <c:v>PUERTO MONTT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0.21</c:v>
                </c:pt>
                <c:pt idx="1">
                  <c:v>0.12</c:v>
                </c:pt>
                <c:pt idx="2">
                  <c:v>0.1</c:v>
                </c:pt>
                <c:pt idx="3">
                  <c:v>0.08</c:v>
                </c:pt>
                <c:pt idx="4">
                  <c:v>0.07</c:v>
                </c:pt>
                <c:pt idx="5">
                  <c:v>0.06</c:v>
                </c:pt>
                <c:pt idx="6">
                  <c:v>0.06</c:v>
                </c:pt>
                <c:pt idx="7">
                  <c:v>0.06</c:v>
                </c:pt>
                <c:pt idx="8">
                  <c:v>0.05</c:v>
                </c:pt>
                <c:pt idx="9">
                  <c:v>0.04</c:v>
                </c:pt>
                <c:pt idx="10">
                  <c:v>0.03</c:v>
                </c:pt>
                <c:pt idx="11">
                  <c:v>0.03</c:v>
                </c:pt>
                <c:pt idx="12">
                  <c:v>0.03</c:v>
                </c:pt>
                <c:pt idx="13">
                  <c:v>0.02</c:v>
                </c:pt>
                <c:pt idx="14">
                  <c:v>0.02</c:v>
                </c:pt>
                <c:pt idx="15">
                  <c:v>0.02</c:v>
                </c:pt>
                <c:pt idx="16">
                  <c:v>0.01</c:v>
                </c:pt>
                <c:pt idx="17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7-44AE-A7F4-269D5B6FB4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Femenino</c:v>
                </c:pt>
                <c:pt idx="1">
                  <c:v>Masculino</c:v>
                </c:pt>
                <c:pt idx="2">
                  <c:v>Diurno</c:v>
                </c:pt>
                <c:pt idx="3">
                  <c:v>Vespertino</c:v>
                </c:pt>
                <c:pt idx="4">
                  <c:v>Admisión Especial</c:v>
                </c:pt>
                <c:pt idx="5">
                  <c:v>Continuidad</c:v>
                </c:pt>
                <c:pt idx="6">
                  <c:v>Inicio</c:v>
                </c:pt>
                <c:pt idx="7">
                  <c:v>Administración y Negocios</c:v>
                </c:pt>
                <c:pt idx="8">
                  <c:v>Comunicación</c:v>
                </c:pt>
                <c:pt idx="9">
                  <c:v>Construcción</c:v>
                </c:pt>
                <c:pt idx="10">
                  <c:v>Diseño</c:v>
                </c:pt>
                <c:pt idx="11">
                  <c:v>Gastronomía</c:v>
                </c:pt>
                <c:pt idx="12">
                  <c:v>Informática y Telecomunicaciones</c:v>
                </c:pt>
                <c:pt idx="13">
                  <c:v>Ingeniería, Medio Ambiente y Recursos Naturales</c:v>
                </c:pt>
                <c:pt idx="14">
                  <c:v>Salud y Bienestar</c:v>
                </c:pt>
                <c:pt idx="15">
                  <c:v>Turismo y Hospitalidad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0.4622991347342398</c:v>
                </c:pt>
                <c:pt idx="1">
                  <c:v>0.40773367952522255</c:v>
                </c:pt>
                <c:pt idx="2">
                  <c:v>0.4411283728536386</c:v>
                </c:pt>
                <c:pt idx="3">
                  <c:v>0.4204326923076923</c:v>
                </c:pt>
                <c:pt idx="4">
                  <c:v>0.4166666666666667</c:v>
                </c:pt>
                <c:pt idx="5">
                  <c:v>0.43890252454417955</c:v>
                </c:pt>
                <c:pt idx="6">
                  <c:v>0.436277705345502</c:v>
                </c:pt>
                <c:pt idx="7">
                  <c:v>0.41148399014778325</c:v>
                </c:pt>
                <c:pt idx="8">
                  <c:v>0.46875</c:v>
                </c:pt>
                <c:pt idx="9">
                  <c:v>0.4253472222222222</c:v>
                </c:pt>
                <c:pt idx="10">
                  <c:v>0.45803571428571427</c:v>
                </c:pt>
                <c:pt idx="11">
                  <c:v>0.4609375</c:v>
                </c:pt>
                <c:pt idx="12">
                  <c:v>0.45248724489795916</c:v>
                </c:pt>
                <c:pt idx="13">
                  <c:v>0.4450367647058823</c:v>
                </c:pt>
                <c:pt idx="14">
                  <c:v>0.4380165289256198</c:v>
                </c:pt>
                <c:pt idx="15">
                  <c:v>0.4451530612244898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B-48F1-B16D-CC858EED68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ALAMEDA</c:v>
                </c:pt>
                <c:pt idx="1">
                  <c:v>ANTONIO VARAS</c:v>
                </c:pt>
                <c:pt idx="2">
                  <c:v>CAMPUS NACIMIENTO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PADRE ALONSO DE OVALLE</c:v>
                </c:pt>
                <c:pt idx="8">
                  <c:v>PLAZA NORTE</c:v>
                </c:pt>
                <c:pt idx="9">
                  <c:v>PLAZA OESTE</c:v>
                </c:pt>
                <c:pt idx="10">
                  <c:v>PLAZA VESPUCIO</c:v>
                </c:pt>
                <c:pt idx="11">
                  <c:v>PUENTE ALTO</c:v>
                </c:pt>
                <c:pt idx="12">
                  <c:v>PUERTO MONTT</c:v>
                </c:pt>
                <c:pt idx="13">
                  <c:v>SAN BERNARDO</c:v>
                </c:pt>
                <c:pt idx="14">
                  <c:v>SAN CARLOS DE APOQUINDO</c:v>
                </c:pt>
                <c:pt idx="15">
                  <c:v>SAN JOAQUÍN</c:v>
                </c:pt>
                <c:pt idx="16">
                  <c:v>VALPARAÍSO</c:v>
                </c:pt>
                <c:pt idx="17">
                  <c:v>VIÑA DEL MAR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0.4046610169491525</c:v>
                </c:pt>
                <c:pt idx="1">
                  <c:v>0.4776490066225166</c:v>
                </c:pt>
                <c:pt idx="2">
                  <c:v>0.39305555555555555</c:v>
                </c:pt>
                <c:pt idx="3">
                  <c:v>0.3743556701030928</c:v>
                </c:pt>
                <c:pt idx="4">
                  <c:v>0.414612676056338</c:v>
                </c:pt>
                <c:pt idx="5">
                  <c:v>0.4089506172839506</c:v>
                </c:pt>
                <c:pt idx="6">
                  <c:v>0.4682203389830508</c:v>
                </c:pt>
                <c:pt idx="7">
                  <c:v>0.42613636363636365</c:v>
                </c:pt>
                <c:pt idx="8">
                  <c:v>0.438953488372093</c:v>
                </c:pt>
                <c:pt idx="9">
                  <c:v>0.4423076923076923</c:v>
                </c:pt>
                <c:pt idx="10">
                  <c:v>0.453125</c:v>
                </c:pt>
                <c:pt idx="11">
                  <c:v>0.4647335423197492</c:v>
                </c:pt>
                <c:pt idx="12">
                  <c:v>0.5</c:v>
                </c:pt>
                <c:pt idx="13">
                  <c:v>0.43333333333333335</c:v>
                </c:pt>
                <c:pt idx="14">
                  <c:v>0.4527027027027027</c:v>
                </c:pt>
                <c:pt idx="15">
                  <c:v>0.4875</c:v>
                </c:pt>
                <c:pt idx="16">
                  <c:v>0.4085820895522388</c:v>
                </c:pt>
                <c:pt idx="17">
                  <c:v>0.47413793103448276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C-422B-932E-773831900C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Femenino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Crisis climática y desastres naturales</c:v>
                </c:pt>
                <c:pt idx="1">
                  <c:v>Aislamiento</c:v>
                </c:pt>
                <c:pt idx="2">
                  <c:v>Problemas en la relación con profesores</c:v>
                </c:pt>
                <c:pt idx="3">
                  <c:v>Futuro laboral</c:v>
                </c:pt>
                <c:pt idx="4">
                  <c:v>Experiencias de discriminación en Duoc UC</c:v>
                </c:pt>
                <c:pt idx="5">
                  <c:v>Problemas en la relación con compañeros</c:v>
                </c:pt>
                <c:pt idx="6">
                  <c:v>Recursos de la universidad poco actualizados</c:v>
                </c:pt>
                <c:pt idx="7">
                  <c:v>Problemas de inseguridad en tu barrio</c:v>
                </c:pt>
                <c:pt idx="8">
                  <c:v>Problemas de salud de un ser querido</c:v>
                </c:pt>
                <c:pt idx="9">
                  <c:v>Carga académica exigente</c:v>
                </c:pt>
                <c:pt idx="10">
                  <c:v>Duelos/pérdidas</c:v>
                </c:pt>
                <c:pt idx="11">
                  <c:v>Panorama político internacional o cambios en el mundo</c:v>
                </c:pt>
                <c:pt idx="12">
                  <c:v>Problemas de inseguridad al entrar y salir de la sede (delincuencia)</c:v>
                </c:pt>
                <c:pt idx="13">
                  <c:v>Problemas de salud personales</c:v>
                </c:pt>
                <c:pt idx="14">
                  <c:v>Problemas en relaciones familiares</c:v>
                </c:pt>
                <c:pt idx="15">
                  <c:v>Problemas de autoestima</c:v>
                </c:pt>
                <c:pt idx="16">
                  <c:v>Panorama político y social del país</c:v>
                </c:pt>
                <c:pt idx="17">
                  <c:v>Situación económica compleja</c:v>
                </c:pt>
                <c:pt idx="18">
                  <c:v>Espacios de clase no adecuados en Duoc UC</c:v>
                </c:pt>
                <c:pt idx="19">
                  <c:v>Dificultad para compatibilizar trabajo y estudios</c:v>
                </c:pt>
                <c:pt idx="20">
                  <c:v>Problemas en relación sentimental</c:v>
                </c:pt>
                <c:pt idx="21">
                  <c:v>Dificultades de transporte y desplazamiento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0.5534591194968553</c:v>
                </c:pt>
                <c:pt idx="1">
                  <c:v>0.5471698113207547</c:v>
                </c:pt>
                <c:pt idx="2">
                  <c:v>0.519496855345912</c:v>
                </c:pt>
                <c:pt idx="3">
                  <c:v>0.4830188679245283</c:v>
                </c:pt>
                <c:pt idx="4">
                  <c:v>0.4742138364779874</c:v>
                </c:pt>
                <c:pt idx="5">
                  <c:v>0.43522012578616354</c:v>
                </c:pt>
                <c:pt idx="6">
                  <c:v>0.3471698113207547</c:v>
                </c:pt>
                <c:pt idx="7">
                  <c:v>0.2993710691823899</c:v>
                </c:pt>
                <c:pt idx="8">
                  <c:v>0.28176100628930817</c:v>
                </c:pt>
                <c:pt idx="9">
                  <c:v>0.2440251572327044</c:v>
                </c:pt>
                <c:pt idx="10">
                  <c:v>0.22515723270440252</c:v>
                </c:pt>
                <c:pt idx="11">
                  <c:v>0.21635220125786164</c:v>
                </c:pt>
                <c:pt idx="12">
                  <c:v>0.19119496855345913</c:v>
                </c:pt>
                <c:pt idx="13">
                  <c:v>0.1811320754716981</c:v>
                </c:pt>
                <c:pt idx="14">
                  <c:v>0.1761006289308176</c:v>
                </c:pt>
                <c:pt idx="15">
                  <c:v>0.17232704402515722</c:v>
                </c:pt>
                <c:pt idx="16">
                  <c:v>0.14968553459119496</c:v>
                </c:pt>
                <c:pt idx="17">
                  <c:v>0.13962264150943396</c:v>
                </c:pt>
                <c:pt idx="18">
                  <c:v>0.06540880503144654</c:v>
                </c:pt>
                <c:pt idx="19">
                  <c:v>0.061635220125786164</c:v>
                </c:pt>
                <c:pt idx="20">
                  <c:v>0.0440251572327044</c:v>
                </c:pt>
                <c:pt idx="21">
                  <c:v>0.042767295597484274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Crisis climática y desastres naturales</c:v>
                </c:pt>
                <c:pt idx="1">
                  <c:v>Aislamiento</c:v>
                </c:pt>
                <c:pt idx="2">
                  <c:v>Problemas en la relación con profesores</c:v>
                </c:pt>
                <c:pt idx="3">
                  <c:v>Futuro laboral</c:v>
                </c:pt>
                <c:pt idx="4">
                  <c:v>Experiencias de discriminación en Duoc UC</c:v>
                </c:pt>
                <c:pt idx="5">
                  <c:v>Problemas en la relación con compañeros</c:v>
                </c:pt>
                <c:pt idx="6">
                  <c:v>Recursos de la universidad poco actualizados</c:v>
                </c:pt>
                <c:pt idx="7">
                  <c:v>Problemas de inseguridad en tu barrio</c:v>
                </c:pt>
                <c:pt idx="8">
                  <c:v>Problemas de salud de un ser querido</c:v>
                </c:pt>
                <c:pt idx="9">
                  <c:v>Carga académica exigente</c:v>
                </c:pt>
                <c:pt idx="10">
                  <c:v>Duelos/pérdidas</c:v>
                </c:pt>
                <c:pt idx="11">
                  <c:v>Panorama político internacional o cambios en el mundo</c:v>
                </c:pt>
                <c:pt idx="12">
                  <c:v>Problemas de inseguridad al entrar y salir de la sede (delincuencia)</c:v>
                </c:pt>
                <c:pt idx="13">
                  <c:v>Problemas de salud personales</c:v>
                </c:pt>
                <c:pt idx="14">
                  <c:v>Problemas en relaciones familiares</c:v>
                </c:pt>
                <c:pt idx="15">
                  <c:v>Problemas de autoestima</c:v>
                </c:pt>
                <c:pt idx="16">
                  <c:v>Panorama político y social del país</c:v>
                </c:pt>
                <c:pt idx="17">
                  <c:v>Situación económica compleja</c:v>
                </c:pt>
                <c:pt idx="18">
                  <c:v>Espacios de clase no adecuados en Duoc UC</c:v>
                </c:pt>
                <c:pt idx="19">
                  <c:v>Dificultad para compatibilizar trabajo y estudios</c:v>
                </c:pt>
                <c:pt idx="20">
                  <c:v>Problemas en relación sentimental</c:v>
                </c:pt>
                <c:pt idx="21">
                  <c:v>Dificultades de transporte y desplazamiento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0.43093093093093093</c:v>
                </c:pt>
                <c:pt idx="1">
                  <c:v>0.42042042042042044</c:v>
                </c:pt>
                <c:pt idx="2">
                  <c:v>0.33933933933933935</c:v>
                </c:pt>
                <c:pt idx="3">
                  <c:v>0.44594594594594594</c:v>
                </c:pt>
                <c:pt idx="4">
                  <c:v>0.3738738738738739</c:v>
                </c:pt>
                <c:pt idx="5">
                  <c:v>0.25375375375375375</c:v>
                </c:pt>
                <c:pt idx="6">
                  <c:v>0.34234234234234234</c:v>
                </c:pt>
                <c:pt idx="7">
                  <c:v>0.2852852852852853</c:v>
                </c:pt>
                <c:pt idx="8">
                  <c:v>0.25375375375375375</c:v>
                </c:pt>
                <c:pt idx="9">
                  <c:v>0.23873873873873874</c:v>
                </c:pt>
                <c:pt idx="10">
                  <c:v>0.17417417417417416</c:v>
                </c:pt>
                <c:pt idx="11">
                  <c:v>0.15765765765765766</c:v>
                </c:pt>
                <c:pt idx="12">
                  <c:v>0.1111111111111111</c:v>
                </c:pt>
                <c:pt idx="13">
                  <c:v>0.14714714714714713</c:v>
                </c:pt>
                <c:pt idx="14">
                  <c:v>0.16666666666666666</c:v>
                </c:pt>
                <c:pt idx="15">
                  <c:v>0.12762762762762764</c:v>
                </c:pt>
                <c:pt idx="16">
                  <c:v>0.0945945945945946</c:v>
                </c:pt>
                <c:pt idx="17">
                  <c:v>0.11261261261261261</c:v>
                </c:pt>
                <c:pt idx="18">
                  <c:v>0.07207207207207207</c:v>
                </c:pt>
                <c:pt idx="19">
                  <c:v>0.07807807807807808</c:v>
                </c:pt>
                <c:pt idx="20">
                  <c:v>0.04954954954954955</c:v>
                </c:pt>
                <c:pt idx="21">
                  <c:v>0.036036036036036036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Aislamiento</c:v>
                </c:pt>
                <c:pt idx="1">
                  <c:v>Crisis climática y desastres naturales</c:v>
                </c:pt>
                <c:pt idx="2">
                  <c:v>Futuro laboral</c:v>
                </c:pt>
                <c:pt idx="3">
                  <c:v>Problemas en la relación con profesores</c:v>
                </c:pt>
                <c:pt idx="4">
                  <c:v>Experiencias de discriminación en Duoc UC</c:v>
                </c:pt>
                <c:pt idx="5">
                  <c:v>Problemas en la relación con compañeros</c:v>
                </c:pt>
                <c:pt idx="6">
                  <c:v>Recursos de la universidad poco actualizados</c:v>
                </c:pt>
                <c:pt idx="7">
                  <c:v>Problemas de inseguridad en tu barrio</c:v>
                </c:pt>
                <c:pt idx="8">
                  <c:v>Problemas de salud de un ser querido</c:v>
                </c:pt>
                <c:pt idx="9">
                  <c:v>Carga académica exigente</c:v>
                </c:pt>
                <c:pt idx="10">
                  <c:v>Duelos/pérdidas</c:v>
                </c:pt>
                <c:pt idx="11">
                  <c:v>Panorama político internacional o cambios en el mundo</c:v>
                </c:pt>
                <c:pt idx="12">
                  <c:v>Problemas en relaciones familiares</c:v>
                </c:pt>
                <c:pt idx="13">
                  <c:v>Problemas de inseguridad al entrar y salir de la sede (delincuencia)</c:v>
                </c:pt>
                <c:pt idx="14">
                  <c:v>Problemas de autoestima</c:v>
                </c:pt>
                <c:pt idx="15">
                  <c:v>Problemas de salud personales</c:v>
                </c:pt>
                <c:pt idx="16">
                  <c:v>Situación económica compleja</c:v>
                </c:pt>
                <c:pt idx="17">
                  <c:v>Panorama político y social del país</c:v>
                </c:pt>
                <c:pt idx="18">
                  <c:v>Espacios de clase no adecuados en Duoc UC</c:v>
                </c:pt>
                <c:pt idx="19">
                  <c:v>Dificultad para compatibilizar trabajo y estudios</c:v>
                </c:pt>
                <c:pt idx="20">
                  <c:v>Problemas en relación sentimental</c:v>
                </c:pt>
                <c:pt idx="21">
                  <c:v>Dificultades de transporte y desplazamiento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0.5016528925619834</c:v>
                </c:pt>
                <c:pt idx="1">
                  <c:v>0.4834710743801653</c:v>
                </c:pt>
                <c:pt idx="2">
                  <c:v>0.46033057851239667</c:v>
                </c:pt>
                <c:pt idx="3">
                  <c:v>0.4446280991735537</c:v>
                </c:pt>
                <c:pt idx="4">
                  <c:v>0.43140495867768597</c:v>
                </c:pt>
                <c:pt idx="5">
                  <c:v>0.3487603305785124</c:v>
                </c:pt>
                <c:pt idx="6">
                  <c:v>0.33801652892561984</c:v>
                </c:pt>
                <c:pt idx="7">
                  <c:v>0.26694214876033057</c:v>
                </c:pt>
                <c:pt idx="8">
                  <c:v>0.2636363636363636</c:v>
                </c:pt>
                <c:pt idx="9">
                  <c:v>0.23471074380165288</c:v>
                </c:pt>
                <c:pt idx="10">
                  <c:v>0.19917355371900827</c:v>
                </c:pt>
                <c:pt idx="11">
                  <c:v>0.19008264462809918</c:v>
                </c:pt>
                <c:pt idx="12">
                  <c:v>0.17355371900826447</c:v>
                </c:pt>
                <c:pt idx="13">
                  <c:v>0.16033057851239668</c:v>
                </c:pt>
                <c:pt idx="14">
                  <c:v>0.15867768595041323</c:v>
                </c:pt>
                <c:pt idx="15">
                  <c:v>0.1578512396694215</c:v>
                </c:pt>
                <c:pt idx="16">
                  <c:v>0.12975206611570247</c:v>
                </c:pt>
                <c:pt idx="17">
                  <c:v>0.12644628099173555</c:v>
                </c:pt>
                <c:pt idx="18">
                  <c:v>0.06776859504132231</c:v>
                </c:pt>
                <c:pt idx="19">
                  <c:v>0.06198347107438017</c:v>
                </c:pt>
                <c:pt idx="20">
                  <c:v>0.04132231404958678</c:v>
                </c:pt>
                <c:pt idx="21">
                  <c:v>0.04132231404958678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numFmt formatCode="0%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Aislamiento</c:v>
                </c:pt>
                <c:pt idx="1">
                  <c:v>Crisis climática y desastres naturales</c:v>
                </c:pt>
                <c:pt idx="2">
                  <c:v>Futuro laboral</c:v>
                </c:pt>
                <c:pt idx="3">
                  <c:v>Problemas en la relación con profesores</c:v>
                </c:pt>
                <c:pt idx="4">
                  <c:v>Experiencias de discriminación en Duoc UC</c:v>
                </c:pt>
                <c:pt idx="5">
                  <c:v>Problemas en la relación con compañeros</c:v>
                </c:pt>
                <c:pt idx="6">
                  <c:v>Recursos de la universidad poco actualizados</c:v>
                </c:pt>
                <c:pt idx="7">
                  <c:v>Problemas de inseguridad en tu barrio</c:v>
                </c:pt>
                <c:pt idx="8">
                  <c:v>Problemas de salud de un ser querido</c:v>
                </c:pt>
                <c:pt idx="9">
                  <c:v>Carga académica exigente</c:v>
                </c:pt>
                <c:pt idx="10">
                  <c:v>Duelos/pérdidas</c:v>
                </c:pt>
                <c:pt idx="11">
                  <c:v>Panorama político internacional o cambios en el mundo</c:v>
                </c:pt>
                <c:pt idx="12">
                  <c:v>Problemas en relaciones familiares</c:v>
                </c:pt>
                <c:pt idx="13">
                  <c:v>Problemas de inseguridad al entrar y salir de la sede (delincuencia)</c:v>
                </c:pt>
                <c:pt idx="14">
                  <c:v>Problemas de autoestima</c:v>
                </c:pt>
                <c:pt idx="15">
                  <c:v>Problemas de salud personales</c:v>
                </c:pt>
                <c:pt idx="16">
                  <c:v>Situación económica compleja</c:v>
                </c:pt>
                <c:pt idx="17">
                  <c:v>Panorama político y social del país</c:v>
                </c:pt>
                <c:pt idx="18">
                  <c:v>Espacios de clase no adecuados en Duoc UC</c:v>
                </c:pt>
                <c:pt idx="19">
                  <c:v>Dificultad para compatibilizar trabajo y estudios</c:v>
                </c:pt>
                <c:pt idx="20">
                  <c:v>Problemas en relación sentimental</c:v>
                </c:pt>
                <c:pt idx="21">
                  <c:v>Dificultades de transporte y desplazamiento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0.4302788844621514</c:v>
                </c:pt>
                <c:pt idx="1">
                  <c:v>0.5657370517928287</c:v>
                </c:pt>
                <c:pt idx="2">
                  <c:v>0.4940239043824701</c:v>
                </c:pt>
                <c:pt idx="3">
                  <c:v>0.40239043824701193</c:v>
                </c:pt>
                <c:pt idx="4">
                  <c:v>0.41434262948207173</c:v>
                </c:pt>
                <c:pt idx="5">
                  <c:v>0.3705179282868526</c:v>
                </c:pt>
                <c:pt idx="6">
                  <c:v>0.3784860557768924</c:v>
                </c:pt>
                <c:pt idx="7">
                  <c:v>0.41832669322709165</c:v>
                </c:pt>
                <c:pt idx="8">
                  <c:v>0.2948207171314741</c:v>
                </c:pt>
                <c:pt idx="9">
                  <c:v>0.2749003984063745</c:v>
                </c:pt>
                <c:pt idx="10">
                  <c:v>0.2151394422310757</c:v>
                </c:pt>
                <c:pt idx="11">
                  <c:v>0.18725099601593626</c:v>
                </c:pt>
                <c:pt idx="12">
                  <c:v>0.16334661354581673</c:v>
                </c:pt>
                <c:pt idx="13">
                  <c:v>0.12749003984063745</c:v>
                </c:pt>
                <c:pt idx="14">
                  <c:v>0.11952191235059761</c:v>
                </c:pt>
                <c:pt idx="15">
                  <c:v>0.20318725099601595</c:v>
                </c:pt>
                <c:pt idx="16">
                  <c:v>0.11553784860557768</c:v>
                </c:pt>
                <c:pt idx="17">
                  <c:v>0.11553784860557768</c:v>
                </c:pt>
                <c:pt idx="18">
                  <c:v>0.07171314741035857</c:v>
                </c:pt>
                <c:pt idx="19">
                  <c:v>0.10358565737051793</c:v>
                </c:pt>
                <c:pt idx="20">
                  <c:v>0.07171314741035857</c:v>
                </c:pt>
                <c:pt idx="21">
                  <c:v>0.03187250996015936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razones explican que la carga académica 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te resulte exigente?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Mi trabajo me quita más tiempo del que desearía</c:v>
                </c:pt>
                <c:pt idx="1">
                  <c:v>Tengo muchas responsabilidades en el hogar</c:v>
                </c:pt>
                <c:pt idx="2">
                  <c:v>Tengo dificultades para entender la materia</c:v>
                </c:pt>
                <c:pt idx="3">
                  <c:v>Tengo dificultades para concentrarme</c:v>
                </c:pt>
                <c:pt idx="4">
                  <c:v>Me faltan hábitos de estudio</c:v>
                </c:pt>
                <c:pt idx="5">
                  <c:v>Otro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0.29338842975206614</c:v>
                </c:pt>
                <c:pt idx="1">
                  <c:v>0.39669421487603307</c:v>
                </c:pt>
                <c:pt idx="2">
                  <c:v>0.48760330578512395</c:v>
                </c:pt>
                <c:pt idx="3">
                  <c:v>0.6115702479338843</c:v>
                </c:pt>
                <c:pt idx="4">
                  <c:v>0.4297520661157025</c:v>
                </c:pt>
                <c:pt idx="5">
                  <c:v>0.19008264462809918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Mi trabajo me quita más tiempo del que desearía</c:v>
                </c:pt>
                <c:pt idx="1">
                  <c:v>Tengo muchas responsabilidades en el hogar</c:v>
                </c:pt>
                <c:pt idx="2">
                  <c:v>Tengo dificultades para entender la materia</c:v>
                </c:pt>
                <c:pt idx="3">
                  <c:v>Tengo dificultades para concentrarme</c:v>
                </c:pt>
                <c:pt idx="4">
                  <c:v>Me faltan hábitos de estudio</c:v>
                </c:pt>
                <c:pt idx="5">
                  <c:v>Otro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0.25663716814159293</c:v>
                </c:pt>
                <c:pt idx="1">
                  <c:v>0.37168141592920356</c:v>
                </c:pt>
                <c:pt idx="2">
                  <c:v>0.504424778761062</c:v>
                </c:pt>
                <c:pt idx="3">
                  <c:v>0.6106194690265486</c:v>
                </c:pt>
                <c:pt idx="4">
                  <c:v>0.40707964601769914</c:v>
                </c:pt>
                <c:pt idx="5">
                  <c:v>0.168141592920354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Continuidad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Mi trabajo me quita más tiempo del que desearía</c:v>
                </c:pt>
                <c:pt idx="1">
                  <c:v>Tengo muchas responsabilidades en el hogar</c:v>
                </c:pt>
                <c:pt idx="2">
                  <c:v>Tengo dificultades para entender la materia</c:v>
                </c:pt>
                <c:pt idx="3">
                  <c:v>Tengo dificultades para concentrarme</c:v>
                </c:pt>
                <c:pt idx="4">
                  <c:v>Me faltan hábitos de estudio</c:v>
                </c:pt>
                <c:pt idx="5">
                  <c:v>Otro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0.328125</c:v>
                </c:pt>
                <c:pt idx="1">
                  <c:v>0.4140625</c:v>
                </c:pt>
                <c:pt idx="2">
                  <c:v>0.4765625</c:v>
                </c:pt>
                <c:pt idx="3">
                  <c:v>0.6171875</c:v>
                </c:pt>
                <c:pt idx="4">
                  <c:v>0.453125</c:v>
                </c:pt>
                <c:pt idx="5">
                  <c:v>0.2109375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0-452D-8DBF-0EDCDE950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Admisión especial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Mi trabajo me quita más tiempo del que desearía</c:v>
                </c:pt>
                <c:pt idx="1">
                  <c:v>Tengo muchas responsabilidades en el hogar</c:v>
                </c:pt>
                <c:pt idx="2">
                  <c:v>Tengo dificultades para entender la materia</c:v>
                </c:pt>
                <c:pt idx="3">
                  <c:v>Tengo dificultades para concentrarme</c:v>
                </c:pt>
                <c:pt idx="4">
                  <c:v>Me faltan hábitos de estudio</c:v>
                </c:pt>
                <c:pt idx="5">
                  <c:v>Otro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F-4BB7-B3BC-20A7CF282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FF-4693-967B-B77EDD1001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FF-4693-967B-B77EDD1001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FF-4693-967B-B77EDD1001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2FF-4693-967B-B77EDD1001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2FF-4693-967B-B77EDD1001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2FF-4693-967B-B77EDD10012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2FF-4693-967B-B77EDD100121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E04-4ABE-8F43-686DF35E780A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04-4ABE-8F43-686DF35E780A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04-4ABE-8F43-686DF35E780A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4-4ABE-8F43-686DF35E780A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04-4ABE-8F43-686DF35E780A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4-4ABE-8F43-686DF35E780A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E04-4ABE-8F43-686DF35E780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Problemas de autoestima</c:v>
                </c:pt>
                <c:pt idx="1">
                  <c:v>Situación económica compleja</c:v>
                </c:pt>
                <c:pt idx="2">
                  <c:v>Problemas en relaciones familiares</c:v>
                </c:pt>
                <c:pt idx="3">
                  <c:v>Futuro laboral</c:v>
                </c:pt>
                <c:pt idx="4">
                  <c:v>Problemas de salud personales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</c:v>
                </c:pt>
                <c:pt idx="1">
                  <c:v>0.4</c:v>
                </c:pt>
                <c:pt idx="2">
                  <c:v>0.34</c:v>
                </c:pt>
                <c:pt idx="3">
                  <c:v>0.31</c:v>
                </c:pt>
                <c:pt idx="4">
                  <c:v>0.28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8-49D9-A8E1-E35B4B824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E4C-4D5F-ACDA-088BECD01F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4C-4D5F-ACDA-088BECD01F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E4C-4D5F-ACDA-088BECD01F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E4C-4D5F-ACDA-088BECD01F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E4C-4D5F-ACDA-088BECD01F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E4C-4D5F-ACDA-088BECD01F3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9E4C-4D5F-ACDA-088BECD01F37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E4C-4D5F-ACDA-088BECD01F37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9E4C-4D5F-ACDA-088BECD01F37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E4C-4D5F-ACDA-088BECD01F37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E4C-4D5F-ACDA-088BECD01F37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E4C-4D5F-ACDA-088BECD01F37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E4C-4D5F-ACDA-088BECD01F37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E4C-4D5F-ACDA-088BECD01F3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Crisis climática y desastres naturales</c:v>
                </c:pt>
                <c:pt idx="1">
                  <c:v>Aislamiento</c:v>
                </c:pt>
                <c:pt idx="2">
                  <c:v>Futuro laboral</c:v>
                </c:pt>
                <c:pt idx="3">
                  <c:v>Problemas en la relación con profesores</c:v>
                </c:pt>
                <c:pt idx="4">
                  <c:v>Experiencias de discriminación en Duoc 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0.4976043805612594</c:v>
                </c:pt>
                <c:pt idx="1">
                  <c:v>0.4893908281998631</c:v>
                </c:pt>
                <c:pt idx="2">
                  <c:v>0.46611909650924027</c:v>
                </c:pt>
                <c:pt idx="3">
                  <c:v>0.43737166324435317</c:v>
                </c:pt>
                <c:pt idx="4">
                  <c:v>0.42847364818617384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E4C-4D5F-ACDA-088BECD01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181850106691046"/>
          <c:y val="9.5580515670835253E-2"/>
          <c:w val="0.37281891897910296"/>
          <c:h val="0.64956384325428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Pienso detenidamente escenarios de cómo solucionarlo.</c:v>
                </c:pt>
                <c:pt idx="1">
                  <c:v>Aprendo a vivir con ello.</c:v>
                </c:pt>
                <c:pt idx="2">
                  <c:v>Busco distraerme haciendo otras cosas agradables para mí.</c:v>
                </c:pt>
                <c:pt idx="3">
                  <c:v>Me hago cargo de solucionar el problema tomando acciones concretas.</c:v>
                </c:pt>
                <c:pt idx="4">
                  <c:v>Intento verlo con otros ojos, para hacer que parezca más positivo.</c:v>
                </c:pt>
                <c:pt idx="5">
                  <c:v>Me digo a mí mismo 'esto no es real'.</c:v>
                </c:pt>
                <c:pt idx="6">
                  <c:v>Me rindo a intentar ocuparme del problema.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0.2598314606741573</c:v>
                </c:pt>
                <c:pt idx="1">
                  <c:v>0.25491573033707865</c:v>
                </c:pt>
                <c:pt idx="2">
                  <c:v>0.23665730337078653</c:v>
                </c:pt>
                <c:pt idx="3">
                  <c:v>0.22612359550561797</c:v>
                </c:pt>
                <c:pt idx="4">
                  <c:v>0.2127808988764045</c:v>
                </c:pt>
                <c:pt idx="5">
                  <c:v>0.11867977528089887</c:v>
                </c:pt>
                <c:pt idx="6">
                  <c:v>0.07865168539325842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6-44F1-89B2-5684F8CF25B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¿Con qué frecuencia dejas para después tareas que te parecen desagradables?</a:t>
            </a:r>
            <a:endParaRPr lang="es-CL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7E-466C-8388-09CC44045D5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 menudo + Muy a menudo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0.37104708362614197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7E-466C-8388-09CC44045D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EA-4A29-A563-86A5ECC015FB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</c:v>
                </c:pt>
                <c:pt idx="1">
                  <c:v>Sí</c:v>
                </c:pt>
                <c:pt idx="2">
                  <c:v>Prefiero no responder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0.7225170583775588</c:v>
                </c:pt>
                <c:pt idx="1">
                  <c:v>0.2175890826383624</c:v>
                </c:pt>
                <c:pt idx="2">
                  <c:v>0.05989385898407885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D-4C51-BC82-04D8E4E389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D-4C51-BC82-04D8E4E3896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Sí, en tratamiento médico regular</c:v>
                </c:pt>
                <c:pt idx="1">
                  <c:v>No, pero la condición está diagnosticada</c:v>
                </c:pt>
                <c:pt idx="2">
                  <c:v>No estoy seguro/a</c:v>
                </c:pt>
                <c:pt idx="3">
                  <c:v>Prefiero no responder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0.578397212543554</c:v>
                </c:pt>
                <c:pt idx="1">
                  <c:v>0.32752613240418116</c:v>
                </c:pt>
                <c:pt idx="2">
                  <c:v>0.06620209059233449</c:v>
                </c:pt>
                <c:pt idx="3">
                  <c:v>0.027874564459930314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83811310153025"/>
          <c:y val="5.6494222131277895E-2"/>
          <c:w val="0.63097649562716396"/>
          <c:h val="0.88355128463190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Trastornos de personalidad</c:v>
                </c:pt>
                <c:pt idx="1">
                  <c:v>Uso problemático marihuana</c:v>
                </c:pt>
                <c:pt idx="2">
                  <c:v>Uso problemático alcohol</c:v>
                </c:pt>
                <c:pt idx="3">
                  <c:v>Depresión</c:v>
                </c:pt>
                <c:pt idx="4">
                  <c:v>Ansiedad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0.03</c:v>
                </c:pt>
                <c:pt idx="1">
                  <c:v>0.13</c:v>
                </c:pt>
                <c:pt idx="2">
                  <c:v>0.16</c:v>
                </c:pt>
                <c:pt idx="3">
                  <c:v>0.35</c:v>
                </c:pt>
                <c:pt idx="4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DD-44CE-B899-3B6D1EAEE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9916351"/>
        <c:axId val="1139913855"/>
      </c:barChart>
      <c:catAx>
        <c:axId val="1139916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139913855"/>
        <c:crosses val="autoZero"/>
        <c:auto val="1"/>
        <c:lblAlgn val="ctr"/>
        <c:lblOffset val="100"/>
        <c:noMultiLvlLbl val="0"/>
      </c:catAx>
      <c:valAx>
        <c:axId val="11399138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3991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depresión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ALAMEDA</c:v>
                </c:pt>
                <c:pt idx="1">
                  <c:v>ANTONIO VARAS</c:v>
                </c:pt>
                <c:pt idx="2">
                  <c:v>CAMPUS NACIMIENTO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PADRE ALONSO DE OVALLE</c:v>
                </c:pt>
                <c:pt idx="8">
                  <c:v>PLAZA NORTE</c:v>
                </c:pt>
                <c:pt idx="9">
                  <c:v>PLAZA OESTE</c:v>
                </c:pt>
                <c:pt idx="10">
                  <c:v>PLAZA VESPUCIO</c:v>
                </c:pt>
                <c:pt idx="11">
                  <c:v>PUENTE ALTO</c:v>
                </c:pt>
                <c:pt idx="12">
                  <c:v>PUERTO MONTT</c:v>
                </c:pt>
                <c:pt idx="13">
                  <c:v>SAN BERNARDO</c:v>
                </c:pt>
                <c:pt idx="14">
                  <c:v>SAN CARLOS DE APOQUINDO</c:v>
                </c:pt>
                <c:pt idx="15">
                  <c:v>SAN JOAQUÍN</c:v>
                </c:pt>
                <c:pt idx="16">
                  <c:v>VALPARAÍSO</c:v>
                </c:pt>
                <c:pt idx="17">
                  <c:v>VIÑA DEL MAR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0.03720019579050416</c:v>
                </c:pt>
                <c:pt idx="1">
                  <c:v>0.04405286343612335</c:v>
                </c:pt>
                <c:pt idx="2">
                  <c:v>0.006363191385217817</c:v>
                </c:pt>
                <c:pt idx="3">
                  <c:v>0.016642192853646598</c:v>
                </c:pt>
                <c:pt idx="4">
                  <c:v>0.021047479197258932</c:v>
                </c:pt>
                <c:pt idx="5">
                  <c:v>0.020558002936857563</c:v>
                </c:pt>
                <c:pt idx="6">
                  <c:v>0.016642192853646598</c:v>
                </c:pt>
                <c:pt idx="7">
                  <c:v>0.03132648066568772</c:v>
                </c:pt>
                <c:pt idx="8">
                  <c:v>0.00881057268722467</c:v>
                </c:pt>
                <c:pt idx="9">
                  <c:v>0.011747430249632892</c:v>
                </c:pt>
                <c:pt idx="10">
                  <c:v>0.014194811551639746</c:v>
                </c:pt>
                <c:pt idx="11">
                  <c:v>0.07831620166421928</c:v>
                </c:pt>
                <c:pt idx="12">
                  <c:v>0.0014684287812041115</c:v>
                </c:pt>
                <c:pt idx="13">
                  <c:v>0.004405286343612335</c:v>
                </c:pt>
                <c:pt idx="14">
                  <c:v>0.032794909446891826</c:v>
                </c:pt>
                <c:pt idx="15">
                  <c:v>0.004405286343612335</c:v>
                </c:pt>
                <c:pt idx="16">
                  <c:v>0.014684287812041116</c:v>
                </c:pt>
                <c:pt idx="17">
                  <c:v>0.008321096426823299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E7-4452-80E1-E20429A4E3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4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depresión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Femenino</c:v>
                </c:pt>
                <c:pt idx="1">
                  <c:v>Masculino</c:v>
                </c:pt>
                <c:pt idx="2">
                  <c:v>Diurno</c:v>
                </c:pt>
                <c:pt idx="3">
                  <c:v>Vespertino</c:v>
                </c:pt>
                <c:pt idx="4">
                  <c:v>Admisión Especial</c:v>
                </c:pt>
                <c:pt idx="5">
                  <c:v>Continuidad</c:v>
                </c:pt>
                <c:pt idx="6">
                  <c:v>Inicio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0.2261380323054332</c:v>
                </c:pt>
                <c:pt idx="1">
                  <c:v>0.14684287812041116</c:v>
                </c:pt>
                <c:pt idx="2">
                  <c:v>0.31179637787567305</c:v>
                </c:pt>
                <c:pt idx="3">
                  <c:v>0.06118453255017132</c:v>
                </c:pt>
                <c:pt idx="4">
                  <c:v>0.0004894762604013706</c:v>
                </c:pt>
                <c:pt idx="5">
                  <c:v>0.18551150269211944</c:v>
                </c:pt>
                <c:pt idx="6">
                  <c:v>0.18697993147332354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2E-4E42-93C1-E1F389557D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ansiedad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Sheet1!$A$2:$A$19</c:f>
              <c:strCache>
                <c:ptCount val="18"/>
                <c:pt idx="0">
                  <c:v>ALAMEDA</c:v>
                </c:pt>
                <c:pt idx="1">
                  <c:v>ANTONIO VARAS</c:v>
                </c:pt>
                <c:pt idx="2">
                  <c:v>CAMPUS NACIMIENTO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PADRE ALONSO DE OVALLE</c:v>
                </c:pt>
                <c:pt idx="8">
                  <c:v>PLAZA NORTE</c:v>
                </c:pt>
                <c:pt idx="9">
                  <c:v>PLAZA OESTE</c:v>
                </c:pt>
                <c:pt idx="10">
                  <c:v>PLAZA VESPUCIO</c:v>
                </c:pt>
                <c:pt idx="11">
                  <c:v>PUENTE ALTO</c:v>
                </c:pt>
                <c:pt idx="12">
                  <c:v>PUERTO MONTT</c:v>
                </c:pt>
                <c:pt idx="13">
                  <c:v>SAN BERNARDO</c:v>
                </c:pt>
                <c:pt idx="14">
                  <c:v>SAN CARLOS DE APOQUINDO</c:v>
                </c:pt>
                <c:pt idx="15">
                  <c:v>SAN JOAQUÍN</c:v>
                </c:pt>
                <c:pt idx="16">
                  <c:v>VALPARAÍSO</c:v>
                </c:pt>
                <c:pt idx="17">
                  <c:v>VIÑA DEL MAR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0.024963289280469897</c:v>
                </c:pt>
                <c:pt idx="1">
                  <c:v>0.03720019579050416</c:v>
                </c:pt>
                <c:pt idx="2">
                  <c:v>0.004894762604013705</c:v>
                </c:pt>
                <c:pt idx="3">
                  <c:v>0.010279001468428781</c:v>
                </c:pt>
                <c:pt idx="4">
                  <c:v>0.014194811551639746</c:v>
                </c:pt>
                <c:pt idx="5">
                  <c:v>0.011257953989231522</c:v>
                </c:pt>
                <c:pt idx="6">
                  <c:v>0.014684287812041116</c:v>
                </c:pt>
                <c:pt idx="7">
                  <c:v>0.023494860499265784</c:v>
                </c:pt>
                <c:pt idx="8">
                  <c:v>0.0053842388644150755</c:v>
                </c:pt>
                <c:pt idx="9">
                  <c:v>0.010279001468428781</c:v>
                </c:pt>
                <c:pt idx="10">
                  <c:v>0.010768477728830151</c:v>
                </c:pt>
                <c:pt idx="11">
                  <c:v>0.06558981889378365</c:v>
                </c:pt>
                <c:pt idx="12">
                  <c:v>0.0004894762604013706</c:v>
                </c:pt>
                <c:pt idx="13">
                  <c:v>0.004894762604013705</c:v>
                </c:pt>
                <c:pt idx="14">
                  <c:v>0.02741067058247675</c:v>
                </c:pt>
                <c:pt idx="15">
                  <c:v>0.0024473813020068525</c:v>
                </c:pt>
                <c:pt idx="16">
                  <c:v>0.011747430249632892</c:v>
                </c:pt>
                <c:pt idx="17">
                  <c:v>0.005873715124816446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DB-4660-904B-725A31C792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ansiedad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Femenino</c:v>
                </c:pt>
                <c:pt idx="1">
                  <c:v>Masculino</c:v>
                </c:pt>
                <c:pt idx="2">
                  <c:v>Diurno</c:v>
                </c:pt>
                <c:pt idx="3">
                  <c:v>Vespertino</c:v>
                </c:pt>
                <c:pt idx="4">
                  <c:v>Continuidad</c:v>
                </c:pt>
                <c:pt idx="5">
                  <c:v>Inicio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0.18208516886930984</c:v>
                </c:pt>
                <c:pt idx="1">
                  <c:v>0.10376896720509056</c:v>
                </c:pt>
                <c:pt idx="2">
                  <c:v>0.2393538913362702</c:v>
                </c:pt>
                <c:pt idx="3">
                  <c:v>0.0465002447381302</c:v>
                </c:pt>
                <c:pt idx="4">
                  <c:v>0.14145863925599608</c:v>
                </c:pt>
                <c:pt idx="5">
                  <c:v>0.1443954968184043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B-4254-B72D-39B3489FE6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trastorno de personalidad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ALAMEDA</c:v>
                </c:pt>
                <c:pt idx="1">
                  <c:v>ANTONIO VARAS</c:v>
                </c:pt>
                <c:pt idx="2">
                  <c:v>CAMPUS NACIMIENTO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PADRE ALONSO DE OVALLE</c:v>
                </c:pt>
                <c:pt idx="8">
                  <c:v>PLAZA NORTE</c:v>
                </c:pt>
                <c:pt idx="9">
                  <c:v>PLAZA OESTE</c:v>
                </c:pt>
                <c:pt idx="10">
                  <c:v>PLAZA VESPUCIO</c:v>
                </c:pt>
                <c:pt idx="11">
                  <c:v>PUENTE ALTO</c:v>
                </c:pt>
                <c:pt idx="12">
                  <c:v>SAN BERNARDO</c:v>
                </c:pt>
                <c:pt idx="13">
                  <c:v>SAN CARLOS DE APOQUINDO</c:v>
                </c:pt>
                <c:pt idx="14">
                  <c:v>SAN JOAQUÍN</c:v>
                </c:pt>
                <c:pt idx="15">
                  <c:v>VALPARAÍSO</c:v>
                </c:pt>
                <c:pt idx="16">
                  <c:v>VIÑA DEL MAR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0.003915810083210965</c:v>
                </c:pt>
                <c:pt idx="1">
                  <c:v>0.006852667645619187</c:v>
                </c:pt>
                <c:pt idx="2">
                  <c:v>0.0019579050416054823</c:v>
                </c:pt>
                <c:pt idx="3">
                  <c:v>0.0019579050416054823</c:v>
                </c:pt>
                <c:pt idx="4">
                  <c:v>0.0019579050416054823</c:v>
                </c:pt>
                <c:pt idx="5">
                  <c:v>0.0019579050416054823</c:v>
                </c:pt>
                <c:pt idx="6">
                  <c:v>0.0009789525208027412</c:v>
                </c:pt>
                <c:pt idx="7">
                  <c:v>0.004894762604013705</c:v>
                </c:pt>
                <c:pt idx="8">
                  <c:v>0.0019579050416054823</c:v>
                </c:pt>
                <c:pt idx="9">
                  <c:v>0.0014684287812041115</c:v>
                </c:pt>
                <c:pt idx="10">
                  <c:v>0.0009789525208027412</c:v>
                </c:pt>
                <c:pt idx="11">
                  <c:v>0.015173764072442487</c:v>
                </c:pt>
                <c:pt idx="12">
                  <c:v>0.0004894762604013706</c:v>
                </c:pt>
                <c:pt idx="13">
                  <c:v>0.0053842388644150755</c:v>
                </c:pt>
                <c:pt idx="14">
                  <c:v>0.0004894762604013706</c:v>
                </c:pt>
                <c:pt idx="15">
                  <c:v>0.002936857562408223</c:v>
                </c:pt>
                <c:pt idx="16">
                  <c:v>0.0009789525208027412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6E-425A-98EF-74EABCB8E8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en trastorno de personalidad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Femenino</c:v>
                </c:pt>
                <c:pt idx="1">
                  <c:v>Masculino</c:v>
                </c:pt>
                <c:pt idx="2">
                  <c:v>Diurno</c:v>
                </c:pt>
                <c:pt idx="3">
                  <c:v>Vespertino</c:v>
                </c:pt>
                <c:pt idx="4">
                  <c:v>Continuidad</c:v>
                </c:pt>
                <c:pt idx="5">
                  <c:v>Inicio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0.03720019579050416</c:v>
                </c:pt>
                <c:pt idx="1">
                  <c:v>0.017131669114047968</c:v>
                </c:pt>
                <c:pt idx="2">
                  <c:v>0.047968673519334315</c:v>
                </c:pt>
                <c:pt idx="3">
                  <c:v>0.006363191385217817</c:v>
                </c:pt>
                <c:pt idx="4">
                  <c:v>0.024963289280469897</c:v>
                </c:pt>
                <c:pt idx="5">
                  <c:v>0.02936857562408223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9-44D9-9B13-349A905948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por uso problemático de marihuana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ALAMEDA</c:v>
                </c:pt>
                <c:pt idx="1">
                  <c:v>ANTONIO VARAS</c:v>
                </c:pt>
                <c:pt idx="2">
                  <c:v>CAMPUS NACIMIENTO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PADRE ALONSO DE OVALLE</c:v>
                </c:pt>
                <c:pt idx="8">
                  <c:v>PLAZA NORTE</c:v>
                </c:pt>
                <c:pt idx="9">
                  <c:v>PLAZA OESTE</c:v>
                </c:pt>
                <c:pt idx="10">
                  <c:v>PLAZA VESPUCIO</c:v>
                </c:pt>
                <c:pt idx="11">
                  <c:v>PUENTE ALTO</c:v>
                </c:pt>
                <c:pt idx="12">
                  <c:v>SAN BERNARDO</c:v>
                </c:pt>
                <c:pt idx="13">
                  <c:v>SAN CARLOS DE APOQUINDO</c:v>
                </c:pt>
                <c:pt idx="14">
                  <c:v>VALPARAÍSO</c:v>
                </c:pt>
                <c:pt idx="15">
                  <c:v>VIÑA DEL MAR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0.010768477728830151</c:v>
                </c:pt>
                <c:pt idx="1">
                  <c:v>0.021536955457660302</c:v>
                </c:pt>
                <c:pt idx="2">
                  <c:v>0.0014684287812041115</c:v>
                </c:pt>
                <c:pt idx="3">
                  <c:v>0.0034263338228095936</c:v>
                </c:pt>
                <c:pt idx="4">
                  <c:v>0.008321096426823299</c:v>
                </c:pt>
                <c:pt idx="5">
                  <c:v>0.0034263338228095936</c:v>
                </c:pt>
                <c:pt idx="6">
                  <c:v>0.0053842388644150755</c:v>
                </c:pt>
                <c:pt idx="7">
                  <c:v>0.00783162016642193</c:v>
                </c:pt>
                <c:pt idx="8">
                  <c:v>0.0009789525208027412</c:v>
                </c:pt>
                <c:pt idx="9">
                  <c:v>0.0019579050416054823</c:v>
                </c:pt>
                <c:pt idx="10">
                  <c:v>0.0024473813020068525</c:v>
                </c:pt>
                <c:pt idx="11">
                  <c:v>0.023005384238864415</c:v>
                </c:pt>
                <c:pt idx="12">
                  <c:v>0.0004894762604013706</c:v>
                </c:pt>
                <c:pt idx="13">
                  <c:v>0.008321096426823299</c:v>
                </c:pt>
                <c:pt idx="14">
                  <c:v>0.004405286343612335</c:v>
                </c:pt>
                <c:pt idx="15">
                  <c:v>0.0019579050416054823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B-4EE7-8739-DCC7D076C0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1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por uso problemático de marihuana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Femenino</c:v>
                </c:pt>
                <c:pt idx="1">
                  <c:v>Masculino</c:v>
                </c:pt>
                <c:pt idx="2">
                  <c:v>Diurno</c:v>
                </c:pt>
                <c:pt idx="3">
                  <c:v>Vespertino</c:v>
                </c:pt>
                <c:pt idx="4">
                  <c:v>Admisión Especial</c:v>
                </c:pt>
                <c:pt idx="5">
                  <c:v>Continuidad</c:v>
                </c:pt>
                <c:pt idx="6">
                  <c:v>Inicio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0.04698972099853157</c:v>
                </c:pt>
                <c:pt idx="1">
                  <c:v>0.05873715124816446</c:v>
                </c:pt>
                <c:pt idx="2">
                  <c:v>0.08712677435144396</c:v>
                </c:pt>
                <c:pt idx="3">
                  <c:v>0.01860009789525208</c:v>
                </c:pt>
                <c:pt idx="4">
                  <c:v>0.0004894762604013706</c:v>
                </c:pt>
                <c:pt idx="5">
                  <c:v>0.0597161037689672</c:v>
                </c:pt>
                <c:pt idx="6">
                  <c:v>0.04552129221732746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5-4001-94E5-151DB6C20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por uso problemático de alcohol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ALAMEDA</c:v>
                </c:pt>
                <c:pt idx="1">
                  <c:v>ANTONIO VARAS</c:v>
                </c:pt>
                <c:pt idx="2">
                  <c:v>CAMPUS NACIMIENTO</c:v>
                </c:pt>
                <c:pt idx="3">
                  <c:v>CAMPUS VILLARRICA</c:v>
                </c:pt>
                <c:pt idx="4">
                  <c:v>CONCEPCIÓN</c:v>
                </c:pt>
                <c:pt idx="5">
                  <c:v>MAIPÚ</c:v>
                </c:pt>
                <c:pt idx="6">
                  <c:v>MELIPILLA</c:v>
                </c:pt>
                <c:pt idx="7">
                  <c:v>PADRE ALONSO DE OVALLE</c:v>
                </c:pt>
                <c:pt idx="8">
                  <c:v>PLAZA NORTE</c:v>
                </c:pt>
                <c:pt idx="9">
                  <c:v>PLAZA VESPUCIO</c:v>
                </c:pt>
                <c:pt idx="10">
                  <c:v>PUENTE ALTO</c:v>
                </c:pt>
                <c:pt idx="11">
                  <c:v>SAN BERNARDO</c:v>
                </c:pt>
                <c:pt idx="12">
                  <c:v>SAN CARLOS DE APOQUINDO</c:v>
                </c:pt>
                <c:pt idx="13">
                  <c:v>VALPARAÍSO</c:v>
                </c:pt>
                <c:pt idx="14">
                  <c:v>VIÑA DEL 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0.0034263338228095936</c:v>
                </c:pt>
                <c:pt idx="1">
                  <c:v>0.012726382770435633</c:v>
                </c:pt>
                <c:pt idx="2">
                  <c:v>0.0004894762604013706</c:v>
                </c:pt>
                <c:pt idx="3">
                  <c:v>0.0004894762604013706</c:v>
                </c:pt>
                <c:pt idx="4">
                  <c:v>0.004405286343612335</c:v>
                </c:pt>
                <c:pt idx="5">
                  <c:v>0.0009789525208027412</c:v>
                </c:pt>
                <c:pt idx="6">
                  <c:v>0.0034263338228095936</c:v>
                </c:pt>
                <c:pt idx="7">
                  <c:v>0.0034263338228095936</c:v>
                </c:pt>
                <c:pt idx="8">
                  <c:v>0.0014684287812041115</c:v>
                </c:pt>
                <c:pt idx="9">
                  <c:v>0.0009789525208027412</c:v>
                </c:pt>
                <c:pt idx="10">
                  <c:v>0.010279001468428781</c:v>
                </c:pt>
                <c:pt idx="11">
                  <c:v>0.0009789525208027412</c:v>
                </c:pt>
                <c:pt idx="12">
                  <c:v>0.003915810083210965</c:v>
                </c:pt>
                <c:pt idx="13">
                  <c:v>0.0004894762604013706</c:v>
                </c:pt>
                <c:pt idx="14">
                  <c:v>0.0004894762604013706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B-4882-BC41-37D9F80174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9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Malestar clínico por uso problemático de alcohol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Femenino</c:v>
                </c:pt>
                <c:pt idx="1">
                  <c:v>Masculino</c:v>
                </c:pt>
                <c:pt idx="2">
                  <c:v>Diurno</c:v>
                </c:pt>
                <c:pt idx="3">
                  <c:v>Vespertino</c:v>
                </c:pt>
                <c:pt idx="4">
                  <c:v>Continuidad</c:v>
                </c:pt>
                <c:pt idx="5">
                  <c:v>Inicio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0.015173764072442487</c:v>
                </c:pt>
                <c:pt idx="1">
                  <c:v>0.032794909446891826</c:v>
                </c:pt>
                <c:pt idx="2">
                  <c:v>0.03915810083210964</c:v>
                </c:pt>
                <c:pt idx="3">
                  <c:v>0.00881057268722467</c:v>
                </c:pt>
                <c:pt idx="4">
                  <c:v>0.02936857562408223</c:v>
                </c:pt>
                <c:pt idx="5">
                  <c:v>0.01860009789525208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4-4C52-9F64-81B4188B4A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0.45733788395904434</c:v>
                </c:pt>
                <c:pt idx="1">
                  <c:v>0.48369565217391303</c:v>
                </c:pt>
                <c:pt idx="2">
                  <c:v>0.38461538461538464</c:v>
                </c:pt>
                <c:pt idx="3">
                  <c:v>0.35483870967741937</c:v>
                </c:pt>
                <c:pt idx="4">
                  <c:v>0.4</c:v>
                </c:pt>
                <c:pt idx="5">
                  <c:v>0.52040816326530615</c:v>
                </c:pt>
                <c:pt idx="6">
                  <c:v>0.46031746031746029</c:v>
                </c:pt>
                <c:pt idx="7">
                  <c:v>0.40388007054673719</c:v>
                </c:pt>
                <c:pt idx="8">
                  <c:v>0.32</c:v>
                </c:pt>
                <c:pt idx="9">
                  <c:v>0.45033860045146729</c:v>
                </c:pt>
                <c:pt idx="10">
                  <c:v>0.48816568047337278</c:v>
                </c:pt>
                <c:pt idx="11">
                  <c:v>0.48490945674044267</c:v>
                </c:pt>
                <c:pt idx="12">
                  <c:v>0.46319018404907975</c:v>
                </c:pt>
                <c:pt idx="13">
                  <c:v>0.49213483146067416</c:v>
                </c:pt>
                <c:pt idx="14">
                  <c:v>0.57272727272727275</c:v>
                </c:pt>
                <c:pt idx="15">
                  <c:v>0.48087431693989069</c:v>
                </c:pt>
                <c:pt idx="16">
                  <c:v>0.59468438538205981</c:v>
                </c:pt>
                <c:pt idx="17">
                  <c:v>0.45331325301204817</c:v>
                </c:pt>
                <c:pt idx="18">
                  <c:v>0.42983651226158037</c:v>
                </c:pt>
                <c:pt idx="19">
                  <c:v>0.50931677018633537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244-A036-D829C6D500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  <c:max val="0.70000000000000007"/>
        </c:scaling>
        <c:delete val="1"/>
        <c:axPos val="l"/>
        <c:numFmt formatCode="0%" sourceLinked="1"/>
        <c:majorTickMark val="out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0.50485236423704316</c:v>
                </c:pt>
                <c:pt idx="1">
                  <c:v>0.4220941883767535</c:v>
                </c:pt>
                <c:pt idx="3">
                  <c:v>0.49084756191355178</c:v>
                </c:pt>
                <c:pt idx="4">
                  <c:v>0.39991463935125909</c:v>
                </c:pt>
                <c:pt idx="6">
                  <c:v>0.46141767608793183</c:v>
                </c:pt>
                <c:pt idx="7">
                  <c:v>0.47033358798064678</c:v>
                </c:pt>
                <c:pt idx="8">
                  <c:v>0.48922413793103448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5-48D2-A2DA-018007FC96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4-407E-A310-D2856421DBE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4-407E-A310-D2856421DB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0.51039290240811197</c:v>
                </c:pt>
                <c:pt idx="1">
                  <c:v>0.48960709759188797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4-407E-A310-D2856421D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45-4FA5-B234-845B1F50F89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45-4FA5-B234-845B1F50F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0564719"/>
        <c:axId val="1771217823"/>
      </c:barChart>
      <c:catAx>
        <c:axId val="17705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771217823"/>
        <c:crosses val="autoZero"/>
        <c:auto val="1"/>
        <c:lblAlgn val="ctr"/>
        <c:lblOffset val="100"/>
        <c:noMultiLvlLbl val="0"/>
      </c:catAx>
      <c:valAx>
        <c:axId val="177121782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705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C-47D9-80D0-B6E43C10738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C-47D9-80D0-B6E43C1073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C-47D9-80D0-B6E43C1073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0.32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AC-47D9-80D0-B6E43C107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0.41039290240811155</c:v>
                </c:pt>
                <c:pt idx="1">
                  <c:v>0.58960709759188845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Dentro de Duoc UC</c:v>
                </c:pt>
                <c:pt idx="1">
                  <c:v>Fuera de Duoc UC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0.72</c:v>
                </c:pt>
                <c:pt idx="1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21-4616-B0FC-616CC97A5B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Psicológico</c:v>
                </c:pt>
                <c:pt idx="1">
                  <c:v>Médico/psiquiátrico</c:v>
                </c:pt>
                <c:pt idx="2">
                  <c:v>Ambos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0.25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Si crees haber necesitado apoyo o tratamiento en salud mental pero no has accedido a él, ¿qué tan importantes fueron las siguientes razones para no buscar ayuda?* (Importante + Muy importante)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Importante + Muy importante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AFB-4D12-9DE7-7B8A9AF6AB9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AFB-4D12-9DE7-7B8A9AF6AB9A}"/>
              </c:ext>
            </c:extLst>
          </c:dPt>
          <c:dPt>
            <c:idx val="7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FB-4D12-9DE7-7B8A9AF6AB9A}"/>
              </c:ext>
            </c:extLst>
          </c:dPt>
          <c:dPt>
            <c:idx val="8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7FF-46DC-AA1D-CCCF1222E3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Preferiste hablarlo con amigos o parientes. </c:v>
                </c:pt>
                <c:pt idx="1">
                  <c:v>No estabas seguro de que los tratamientos disponibles fueran muy eficaces. </c:v>
                </c:pt>
                <c:pt idx="2">
                  <c:v>Te preocupaba que la gente te tratara diferente si supiera que estabas en tratamiento.</c:v>
                </c:pt>
                <c:pt idx="3">
                  <c:v>Te daba demasiada vergüenza. </c:v>
                </c:pt>
                <c:pt idx="4">
                  <c:v>Temías que pudiese perjudicar tu carrera académica. </c:v>
                </c:pt>
                <c:pt idx="5">
                  <c:v>Tuviste problemas de tiempo, desplazamientos o de horario. </c:v>
                </c:pt>
                <c:pt idx="6">
                  <c:v>Querías afrontar el problema por tu cuenta. </c:v>
                </c:pt>
                <c:pt idx="7">
                  <c:v>No estabas seguro de a dónde ir o a quién consultar. </c:v>
                </c:pt>
                <c:pt idx="8">
                  <c:v>Costaba demasiado dinero. </c:v>
                </c:pt>
              </c:strCache>
            </c:strRef>
          </c:cat>
          <c:val>
            <c:numRef>
              <c:f>Hoja1!$B$2:$B$10</c:f>
              <c:numCache>
                <c:formatCode>0%</c:formatCode>
                <c:ptCount val="9"/>
                <c:pt idx="0">
                  <c:v>0.24247635425623387</c:v>
                </c:pt>
                <c:pt idx="1">
                  <c:v>0.27687016337059328</c:v>
                </c:pt>
                <c:pt idx="2">
                  <c:v>0.2936371453138435</c:v>
                </c:pt>
                <c:pt idx="3">
                  <c:v>0.34307824591573521</c:v>
                </c:pt>
                <c:pt idx="4">
                  <c:v>0.39036973344797932</c:v>
                </c:pt>
                <c:pt idx="5">
                  <c:v>0.48753224419604474</c:v>
                </c:pt>
                <c:pt idx="6">
                  <c:v>0.5438521066208083</c:v>
                </c:pt>
                <c:pt idx="7">
                  <c:v>0.64531384350816845</c:v>
                </c:pt>
                <c:pt idx="8">
                  <c:v>0.71066208082545146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7-43BC-9E2C-F8AC3E6A72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Villarrica</c:v>
                </c:pt>
                <c:pt idx="4">
                  <c:v>Comunicaciones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0.0</c:formatCode>
                <c:ptCount val="20"/>
                <c:pt idx="0">
                  <c:v>6.625</c:v>
                </c:pt>
                <c:pt idx="1">
                  <c:v>6.34375</c:v>
                </c:pt>
                <c:pt idx="2">
                  <c:v>6.875</c:v>
                </c:pt>
                <c:pt idx="3">
                  <c:v>4.625</c:v>
                </c:pt>
                <c:pt idx="4">
                  <c:v>4.5</c:v>
                </c:pt>
                <c:pt idx="5">
                  <c:v>6.875</c:v>
                </c:pt>
                <c:pt idx="6">
                  <c:v>5.0625</c:v>
                </c:pt>
                <c:pt idx="7">
                  <c:v>4.65625</c:v>
                </c:pt>
                <c:pt idx="8">
                  <c:v>5.5</c:v>
                </c:pt>
                <c:pt idx="9">
                  <c:v>6</c:v>
                </c:pt>
                <c:pt idx="10">
                  <c:v>4.15625</c:v>
                </c:pt>
                <c:pt idx="11">
                  <c:v>5.59375</c:v>
                </c:pt>
                <c:pt idx="12">
                  <c:v>6.5625</c:v>
                </c:pt>
                <c:pt idx="13">
                  <c:v>6</c:v>
                </c:pt>
                <c:pt idx="14">
                  <c:v>5.6</c:v>
                </c:pt>
                <c:pt idx="15">
                  <c:v>4.6875</c:v>
                </c:pt>
                <c:pt idx="16">
                  <c:v>4.6875</c:v>
                </c:pt>
                <c:pt idx="17">
                  <c:v>6.0625</c:v>
                </c:pt>
                <c:pt idx="18">
                  <c:v>5.375</c:v>
                </c:pt>
                <c:pt idx="19">
                  <c:v>5.875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Hoja1!$B$2:$B$19</c:f>
              <c:strCache>
                <c:ptCount val="18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Construcción</c:v>
                </c:pt>
                <c:pt idx="12">
                  <c:v>Diseño</c:v>
                </c:pt>
                <c:pt idx="13">
                  <c:v>Gastronomía</c:v>
                </c:pt>
                <c:pt idx="14">
                  <c:v>Informática y Telecomunicaciones</c:v>
                </c:pt>
                <c:pt idx="15">
                  <c:v>Ingeniería, Medio Ambiente y Recursos Naturales</c:v>
                </c:pt>
                <c:pt idx="16">
                  <c:v>Salud</c:v>
                </c:pt>
                <c:pt idx="17">
                  <c:v>Turismo y Hotelería</c:v>
                </c:pt>
              </c:strCache>
            </c:strRef>
          </c:cat>
          <c:val>
            <c:numRef>
              <c:f>Hoja1!$C$2:$C$19</c:f>
              <c:numCache>
                <c:formatCode>0.0</c:formatCode>
                <c:ptCount val="18"/>
                <c:pt idx="0">
                  <c:v>5.90625</c:v>
                </c:pt>
                <c:pt idx="1">
                  <c:v>5.5</c:v>
                </c:pt>
                <c:pt idx="3">
                  <c:v>5.6875</c:v>
                </c:pt>
                <c:pt idx="4">
                  <c:v>5.5625</c:v>
                </c:pt>
                <c:pt idx="6">
                  <c:v>5.625</c:v>
                </c:pt>
                <c:pt idx="7">
                  <c:v>5.9375</c:v>
                </c:pt>
                <c:pt idx="8">
                  <c:v>5.0625</c:v>
                </c:pt>
                <c:pt idx="10">
                  <c:v>5.96875</c:v>
                </c:pt>
                <c:pt idx="11">
                  <c:v>5.5</c:v>
                </c:pt>
                <c:pt idx="12">
                  <c:v>6</c:v>
                </c:pt>
                <c:pt idx="13">
                  <c:v>5.4375</c:v>
                </c:pt>
                <c:pt idx="14">
                  <c:v>5.53125</c:v>
                </c:pt>
                <c:pt idx="15">
                  <c:v>4.75</c:v>
                </c:pt>
                <c:pt idx="16">
                  <c:v>5.875</c:v>
                </c:pt>
                <c:pt idx="17">
                  <c:v>6.03125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Hoja1!$B$3:$B$7</c:f>
              <c:numCache>
                <c:formatCode>General</c:formatCode>
                <c:ptCount val="5"/>
                <c:pt idx="0">
                  <c:v>5.7</c:v>
                </c:pt>
                <c:pt idx="1">
                  <c:v>5.3</c:v>
                </c:pt>
                <c:pt idx="2">
                  <c:v>5.7</c:v>
                </c:pt>
                <c:pt idx="3" formatCode="0.00">
                  <c:v>6</c:v>
                </c:pt>
                <c:pt idx="4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Hoja1!$C$3:$C$7</c:f>
              <c:numCache>
                <c:formatCode>General</c:formatCode>
                <c:ptCount val="5"/>
                <c:pt idx="0" formatCode="0.0">
                  <c:v>6</c:v>
                </c:pt>
                <c:pt idx="1">
                  <c:v>5.4</c:v>
                </c:pt>
                <c:pt idx="2">
                  <c:v>5.9</c:v>
                </c:pt>
                <c:pt idx="3">
                  <c:v>5.4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Hoja1!$B$3:$B$5</c:f>
              <c:numCache>
                <c:formatCode>General</c:formatCode>
                <c:ptCount val="3"/>
                <c:pt idx="0" formatCode="0.0">
                  <c:v>3</c:v>
                </c:pt>
                <c:pt idx="1">
                  <c:v>5.3</c:v>
                </c:pt>
                <c:pt idx="2" formatCode="0.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Hoja1!$C$3:$C$5</c:f>
              <c:numCache>
                <c:formatCode>General</c:formatCode>
                <c:ptCount val="3"/>
                <c:pt idx="0" formatCode="0.0">
                  <c:v>2.7</c:v>
                </c:pt>
                <c:pt idx="1">
                  <c:v>5.8</c:v>
                </c:pt>
                <c:pt idx="2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Durante el último año, ¿cuán satisfecho/a te has sentido con el apoyo que has recibido por parte de…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insatisfecho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5.6051531246468528E-2</c:v>
                </c:pt>
                <c:pt idx="1">
                  <c:v>5.6051531246468528E-2</c:v>
                </c:pt>
                <c:pt idx="2">
                  <c:v>5.0966210871284889E-2</c:v>
                </c:pt>
                <c:pt idx="3">
                  <c:v>9.0744716917165777E-2</c:v>
                </c:pt>
                <c:pt idx="4">
                  <c:v>6.6900214713526945E-2</c:v>
                </c:pt>
                <c:pt idx="5">
                  <c:v>3.2320036162278222E-2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F-4212-9B4D-168CAC2258B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Insatisfecho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5.8989716352130184E-2</c:v>
                </c:pt>
                <c:pt idx="1">
                  <c:v>5.8989716352130184E-2</c:v>
                </c:pt>
                <c:pt idx="2">
                  <c:v>6.7804271669115151E-2</c:v>
                </c:pt>
                <c:pt idx="3">
                  <c:v>0.11639733303198102</c:v>
                </c:pt>
                <c:pt idx="4">
                  <c:v>9.481297321731269E-2</c:v>
                </c:pt>
                <c:pt idx="5">
                  <c:v>4.0682563001469094E-2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F-4212-9B4D-168CAC2258B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Ni satisfecho ni insatisfecho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Hoja1!$D$2:$D$7</c:f>
              <c:numCache>
                <c:formatCode>0%</c:formatCode>
                <c:ptCount val="6"/>
                <c:pt idx="0">
                  <c:v>0.13</c:v>
                </c:pt>
                <c:pt idx="1">
                  <c:v>0.23302068030285908</c:v>
                </c:pt>
                <c:pt idx="2">
                  <c:v>0.1785512487286699</c:v>
                </c:pt>
                <c:pt idx="3">
                  <c:v>0.47519493728104872</c:v>
                </c:pt>
                <c:pt idx="4">
                  <c:v>0.41665724940671262</c:v>
                </c:pt>
                <c:pt idx="5">
                  <c:v>0.27200813651260031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F-4212-9B4D-168CAC2258B7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Satisfecho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Hoja1!$E$2:$E$7</c:f>
              <c:numCache>
                <c:formatCode>0%</c:formatCode>
                <c:ptCount val="6"/>
                <c:pt idx="0">
                  <c:v>0.18</c:v>
                </c:pt>
                <c:pt idx="1">
                  <c:v>0.37518363656910386</c:v>
                </c:pt>
                <c:pt idx="2">
                  <c:v>0.34455870719855353</c:v>
                </c:pt>
                <c:pt idx="3">
                  <c:v>0.23686292236410894</c:v>
                </c:pt>
                <c:pt idx="4">
                  <c:v>0.31370776358910613</c:v>
                </c:pt>
                <c:pt idx="5">
                  <c:v>0.43790258786303538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F-4212-9B4D-168CAC2258B7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Muy satisfecho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Hoja1!$F$2:$F$7</c:f>
              <c:numCache>
                <c:formatCode>0%</c:formatCode>
                <c:ptCount val="6"/>
                <c:pt idx="0">
                  <c:v>0.38</c:v>
                </c:pt>
                <c:pt idx="1">
                  <c:v>0.27675443552943835</c:v>
                </c:pt>
                <c:pt idx="2">
                  <c:v>0.35811956153237656</c:v>
                </c:pt>
                <c:pt idx="3">
                  <c:v>8.0800090405695565E-2</c:v>
                </c:pt>
                <c:pt idx="4">
                  <c:v>0.10792179907334162</c:v>
                </c:pt>
                <c:pt idx="5">
                  <c:v>0.21708667646061702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BF-4212-9B4D-168CAC2258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3522976889398519"/>
          <c:y val="8.7589237262095474E-3"/>
          <c:w val="0.34693910847549336"/>
          <c:h val="0.85236668634009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Apreciación negativa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5.6234845860755098E-2</c:v>
                </c:pt>
                <c:pt idx="1">
                  <c:v>0.22099064773120891</c:v>
                </c:pt>
                <c:pt idx="2">
                  <c:v>0.10350883269830199</c:v>
                </c:pt>
                <c:pt idx="3">
                  <c:v>0.123900242466227</c:v>
                </c:pt>
                <c:pt idx="4">
                  <c:v>0.21939729823345999</c:v>
                </c:pt>
                <c:pt idx="5">
                  <c:v>0.13775545549012799</c:v>
                </c:pt>
                <c:pt idx="6">
                  <c:v>0.1905091790786283</c:v>
                </c:pt>
                <c:pt idx="7">
                  <c:v>0.2105992379632837</c:v>
                </c:pt>
                <c:pt idx="8">
                  <c:v>0.13775545549012799</c:v>
                </c:pt>
                <c:pt idx="9">
                  <c:v>0.22099064773120891</c:v>
                </c:pt>
                <c:pt idx="10">
                  <c:v>0.13775545549012799</c:v>
                </c:pt>
                <c:pt idx="11">
                  <c:v>0.24260478004849301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9-4A59-BD93-ACABDE7B54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Apreciación neutra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9079978829267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9-4A59-BD93-ACABDE7B54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4.6414963630065822E-2</c:v>
                </c:pt>
                <c:pt idx="1">
                  <c:v>0.32455836508486319</c:v>
                </c:pt>
                <c:pt idx="2">
                  <c:v>9.0751645306546586E-2</c:v>
                </c:pt>
                <c:pt idx="3">
                  <c:v>0.14409421544856249</c:v>
                </c:pt>
                <c:pt idx="4">
                  <c:v>0.1236577762383097</c:v>
                </c:pt>
                <c:pt idx="5">
                  <c:v>9.9168687218566004E-2</c:v>
                </c:pt>
                <c:pt idx="6">
                  <c:v>0.31763075857291312</c:v>
                </c:pt>
                <c:pt idx="7">
                  <c:v>0.35885001731901628</c:v>
                </c:pt>
                <c:pt idx="8">
                  <c:v>0.19916868721856601</c:v>
                </c:pt>
                <c:pt idx="9">
                  <c:v>0.32455836508486319</c:v>
                </c:pt>
                <c:pt idx="10">
                  <c:v>9.9168687218566004E-2</c:v>
                </c:pt>
                <c:pt idx="11">
                  <c:v>0.16522341531001039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9-4A59-BD93-ACABDE7B54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Apreciación positiva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0.89735019050917897</c:v>
                </c:pt>
                <c:pt idx="1">
                  <c:v>0.45445098718392801</c:v>
                </c:pt>
                <c:pt idx="2">
                  <c:v>0.79573952199515097</c:v>
                </c:pt>
                <c:pt idx="3">
                  <c:v>0.73200554208520996</c:v>
                </c:pt>
                <c:pt idx="4">
                  <c:v>0.65694492552823003</c:v>
                </c:pt>
                <c:pt idx="5">
                  <c:v>0.76307585729130589</c:v>
                </c:pt>
                <c:pt idx="6">
                  <c:v>0.49186006234845858</c:v>
                </c:pt>
                <c:pt idx="7">
                  <c:v>0.43055074471770011</c:v>
                </c:pt>
                <c:pt idx="8">
                  <c:v>0.66307585729130603</c:v>
                </c:pt>
                <c:pt idx="9">
                  <c:v>0.45445098718392801</c:v>
                </c:pt>
                <c:pt idx="10">
                  <c:v>0.76307585729130589</c:v>
                </c:pt>
                <c:pt idx="11">
                  <c:v>0.59217180464149599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9-4A59-BD93-ACABDE7B54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348736048"/>
        <c:axId val="171021936"/>
      </c:barChart>
      <c:catAx>
        <c:axId val="34873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chemeClr val="tx2">
                    <a:lumMod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ctr"/>
        <c:lblOffset val="100"/>
        <c:noMultiLvlLbl val="0"/>
      </c:catAx>
      <c:valAx>
        <c:axId val="17102193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Típicamente, ¿con qué frecuencia realizas ejercicio o actividad física durante al menos 30 minutos?</a:t>
            </a:r>
            <a:endParaRPr lang="es-CL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7-4F7D-BBC4-5086159EAB5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7-4F7D-BBC4-5086159EAB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7-4F7D-BBC4-5086159EAB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7-4F7D-BBC4-5086159EAB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Nunca</c:v>
                </c:pt>
                <c:pt idx="1">
                  <c:v>1 vez por semana</c:v>
                </c:pt>
                <c:pt idx="2">
                  <c:v>2 veces por semana</c:v>
                </c:pt>
                <c:pt idx="3">
                  <c:v>3 o más veces por semana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0.375893697083725</c:v>
                </c:pt>
                <c:pt idx="1">
                  <c:v>0.25119002822201297</c:v>
                </c:pt>
                <c:pt idx="2">
                  <c:v>0.111933207902164</c:v>
                </c:pt>
                <c:pt idx="3">
                  <c:v>0.26098306679209798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7-4F7D-BBC4-5086159EA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6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800" b="0" i="0" u="none" strike="noStrike" baseline="0" dirty="0">
                <a:effectLst/>
              </a:rPr>
              <a:t>En una semana habitual, con qué frecuencia:</a:t>
            </a:r>
            <a:endParaRPr lang="es-C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0.15666901905434016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8AD-9110-AB5F9FC58C8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0.41766643142789933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8AD-9110-AB5F9FC58C8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0.27205363443895553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8AD-9110-AB5F9FC58C83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0.15361091507880498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6-48AD-9110-AB5F9FC58C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6.5741502998941548E-2</c:v>
                </c:pt>
                <c:pt idx="1">
                  <c:v>0.19204986475361638</c:v>
                </c:pt>
                <c:pt idx="2">
                  <c:v>0.19760056457304165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C34-8869-54A49A9EFCA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0.69163824532517937</c:v>
                </c:pt>
                <c:pt idx="1">
                  <c:v>0.50076443608138299</c:v>
                </c:pt>
                <c:pt idx="2">
                  <c:v>0.42695836273817928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C0-4C34-8869-54A49A9EFCA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0.20122309773021288</c:v>
                </c:pt>
                <c:pt idx="1">
                  <c:v>0.20686816417734918</c:v>
                </c:pt>
                <c:pt idx="2">
                  <c:v>0.23147494707127736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C0-4C34-8869-54A49A9EFCAF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4.1397153945666239E-2</c:v>
                </c:pt>
                <c:pt idx="1">
                  <c:v>0.10031753498765142</c:v>
                </c:pt>
                <c:pt idx="2">
                  <c:v>0.14396612561750177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C0-4C34-8869-54A49A9EFC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 un día habitual, ¿cuántos vasos de agua, té o juegos no azucarados ingieres?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Ninguno</c:v>
                </c:pt>
                <c:pt idx="1">
                  <c:v>Entre 1 y 3</c:v>
                </c:pt>
                <c:pt idx="2">
                  <c:v>Entre 4 y 8</c:v>
                </c:pt>
                <c:pt idx="3">
                  <c:v>Entre 9 y 12</c:v>
                </c:pt>
                <c:pt idx="4">
                  <c:v>Más de 12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3B-407A-ACC9-436A3ACF9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Durante las últimas dos semanas, ¿con qué frecuencia has fumado cigarrillos, puros o pipas, o usado rapé o tabaco para mascar?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Muy poco</c:v>
                </c:pt>
                <c:pt idx="2">
                  <c:v>Levemente</c:v>
                </c:pt>
                <c:pt idx="3">
                  <c:v>Moderadamente</c:v>
                </c:pt>
                <c:pt idx="4">
                  <c:v>Severamente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9-411B-8080-77E3FB9FA8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27-4FBD-B015-90E80FB2EA7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A8-48EF-B7C4-459A9335C2F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A8-48EF-B7C4-459A9335C2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A8-48EF-B7C4-459A9335C2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A8-48EF-B7C4-459A9335C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A8-43CD-8471-ACB30C339F5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A8-43CD-8471-ACB30C339F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A8-43CD-8471-ACB30C339F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A8-43CD-8471-ACB30C339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F8961E"/>
            </a:solidFill>
            <a:ln w="19050">
              <a:solidFill>
                <a:srgbClr val="F8961E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4D-4A87-8D3A-6B57251F2291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4D-4A87-8D3A-6B57251F2291}"/>
              </c:ext>
            </c:extLst>
          </c:dPt>
          <c:dPt>
            <c:idx val="4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4D-4A87-8D3A-6B57251F22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0</c:v>
                </c:pt>
                <c:pt idx="1">
                  <c:v>Entre 1 y 3</c:v>
                </c:pt>
                <c:pt idx="2">
                  <c:v>Entre 4 y 6</c:v>
                </c:pt>
                <c:pt idx="3">
                  <c:v>Entre 7 y 9</c:v>
                </c:pt>
                <c:pt idx="4">
                  <c:v>10 o más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0.14581308622443201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0.35418691377556799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21395472"/>
        <c:axId val="1721401296"/>
      </c:barChart>
      <c:catAx>
        <c:axId val="17213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401296"/>
        <c:crossesAt val="0"/>
        <c:auto val="1"/>
        <c:lblAlgn val="ctr"/>
        <c:lblOffset val="100"/>
        <c:noMultiLvlLbl val="0"/>
      </c:catAx>
      <c:valAx>
        <c:axId val="1721401296"/>
        <c:scaling>
          <c:orientation val="minMax"/>
          <c:max val="0.30000000000000004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17213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D3-4286-BAA3-0777F2FDFF11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F26-498F-AC27-E91068B6FEC9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F26-498F-AC27-E91068B6FE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39-4F2A-95CB-0F8DDB7132DB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39-4F2A-95CB-0F8DDB7132DB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39-4F2A-95CB-0F8DDB7132DB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39-4F2A-95CB-0F8DDB7132DB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939-4F2A-95CB-0F8DDB7132DB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939-4F2A-95CB-0F8DDB7132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39-4F2A-95CB-0F8DDB713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B0-4353-887C-C9753F839E53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B0-4353-887C-C9753F839E53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B0-4353-887C-C9753F839E53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B0-4353-887C-C9753F839E53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B0-4353-887C-C9753F839E53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B0-4353-887C-C9753F839E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No lo recuerdo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</c:v>
                </c:pt>
                <c:pt idx="1">
                  <c:v>0.1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B0-4353-887C-C9753F839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F6-4377-80DE-CCB974E0DAB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F6-4377-80DE-CCB974E0DA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F6-4377-80DE-CCB974E0DA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F6-4377-80DE-CCB974E0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9-480B-8A33-449EDF440EB2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E9-480B-8A33-449EDF440E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E9-480B-8A33-449EDF440E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9-480B-8A33-449EDF440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B3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Hoja1!$B$2:$B$6</c:f>
              <c:strCache>
                <c:ptCount val="5"/>
                <c:pt idx="0">
                  <c:v>Sí, de algún familiar</c:v>
                </c:pt>
                <c:pt idx="1">
                  <c:v>Sí, de su padre/madre</c:v>
                </c:pt>
                <c:pt idx="2">
                  <c:v>Sí, una institución de cuidados (sala cuna, jardín, guardería, escuela, etc.)</c:v>
                </c:pt>
                <c:pt idx="3">
                  <c:v>Sí, pago para servicios de cuidado en casa (servicio doméstico, enfermera, etc.)</c:v>
                </c:pt>
                <c:pt idx="4">
                  <c:v>No cuento con apoyo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0.40291852452371302</c:v>
                </c:pt>
                <c:pt idx="1">
                  <c:v>0.28820429671665992</c:v>
                </c:pt>
                <c:pt idx="2">
                  <c:v>9.0393190109444674E-2</c:v>
                </c:pt>
                <c:pt idx="3">
                  <c:v>2.3510336441021483E-2</c:v>
                </c:pt>
                <c:pt idx="4">
                  <c:v>0.19497365220916094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C-4BEA-B37D-8CA8E97BE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¿Tienes a alguna persona a tu cuidado?</a:t>
            </a:r>
            <a:endParaRPr lang="en-US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No, ninguna.</c:v>
                </c:pt>
                <c:pt idx="1">
                  <c:v>Sí, hijo/a(s).</c:v>
                </c:pt>
                <c:pt idx="2">
                  <c:v>Sí, hermano/a ó sobrino/a.</c:v>
                </c:pt>
                <c:pt idx="3">
                  <c:v>Sí, adulto/a mayor.</c:v>
                </c:pt>
                <c:pt idx="4">
                  <c:v>Sí, persona enferma o con alguna discapacidad.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0.72121143632048823</c:v>
                </c:pt>
                <c:pt idx="1">
                  <c:v>0.17312690699514069</c:v>
                </c:pt>
                <c:pt idx="2">
                  <c:v>4.9610125437902587E-2</c:v>
                </c:pt>
                <c:pt idx="3">
                  <c:v>3.4806192790145782E-2</c:v>
                </c:pt>
                <c:pt idx="4">
                  <c:v>2.1245338456322749E-2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B-48C4-AAF6-D226B4BCE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 de estas situaciones refleja de mejor forma tu trabajo actual?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Trabajo de jornada completa todos los días</c:v>
                </c:pt>
                <c:pt idx="1">
                  <c:v>Media jornada todos los días</c:v>
                </c:pt>
                <c:pt idx="2">
                  <c:v>Trabajo solo algunos días a la semana</c:v>
                </c:pt>
                <c:pt idx="3">
                  <c:v>Solo fines de semana</c:v>
                </c:pt>
                <c:pt idx="4">
                  <c:v>No trabajo ningún día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De acuerdo a las condiciones que tienes para desarrollar tus actividades académicas, ¿Cuán de acuerdo estás con las siguientes afirmaciones? 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0.21403548423550683</c:v>
                </c:pt>
                <c:pt idx="1">
                  <c:v>8.4190303989151311E-2</c:v>
                </c:pt>
                <c:pt idx="2">
                  <c:v>7.2437563566504687E-2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C8-4668-84B5-748FA07A9DC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0.36975929483557463</c:v>
                </c:pt>
                <c:pt idx="1">
                  <c:v>0.22443213922477115</c:v>
                </c:pt>
                <c:pt idx="2">
                  <c:v>0.16340829472256752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C8-4668-84B5-748FA07A9DC8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0.30794440049723132</c:v>
                </c:pt>
                <c:pt idx="1">
                  <c:v>0.50265566730704037</c:v>
                </c:pt>
                <c:pt idx="2">
                  <c:v>0.51090518702678267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C8-4668-84B5-748FA07A9DC8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Necesito apoyo y/o capacitación para utilizar las plataformas o herramientas tecnológicas requeridas en mi carrera (softwares, plataforma estudiantil, programas, etc.)</c:v>
                </c:pt>
                <c:pt idx="1">
                  <c:v>En Duoc UC, cuento con un espacio adecuado para estudiar o hacer mis trabajos</c:v>
                </c:pt>
                <c:pt idx="2">
                  <c:v>En mi casa, cuento con un espacio adecuado para estudiar o hacer mis trabajos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0.10826082043168719</c:v>
                </c:pt>
                <c:pt idx="1">
                  <c:v>0.18872188947903717</c:v>
                </c:pt>
                <c:pt idx="2">
                  <c:v>0.2532489546841451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C8-4668-84B5-748FA07A9DC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Áreas verdes</c:v>
                </c:pt>
                <c:pt idx="1">
                  <c:v>Otros espacios cercanos externos</c:v>
                </c:pt>
                <c:pt idx="2">
                  <c:v>Punto estudiantil</c:v>
                </c:pt>
                <c:pt idx="3">
                  <c:v>Biblioteca</c:v>
                </c:pt>
                <c:pt idx="4">
                  <c:v>Casino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A-4BAA-AB20-E40A7BF1A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Portal VIVO Duoc</c:v>
                </c:pt>
                <c:pt idx="1">
                  <c:v>AVA</c:v>
                </c:pt>
                <c:pt idx="2">
                  <c:v>Portal de acceso a clases</c:v>
                </c:pt>
                <c:pt idx="3">
                  <c:v>No utilizo los espacios Duoc UC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6.7702565261611003E-2</c:v>
                </c:pt>
                <c:pt idx="1">
                  <c:v>5.3678381738049494E-2</c:v>
                </c:pt>
                <c:pt idx="2">
                  <c:v>5.6401853316759003E-2</c:v>
                </c:pt>
                <c:pt idx="3">
                  <c:v>0.66762346027799802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CD-4592-85F3-89A7F47A3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9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6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8" name="Google Shape;29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90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057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254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003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610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33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064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6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938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265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901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40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439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0" name="Google Shape;540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17221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953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5694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4985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18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689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3318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55457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19400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9444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262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0" name="Google Shape;3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4890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2607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9655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01416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7620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660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2760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7849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5204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3873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9070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74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489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8168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5978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0182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1872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68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69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8" name="Google Shape;1028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70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2873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72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67" name="Google Shape;1067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73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74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0" name="Google Shape;1090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75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9863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1"/>
          <p:cNvSpPr/>
          <p:nvPr/>
        </p:nvSpPr>
        <p:spPr>
          <a:xfrm>
            <a:off x="336644" y="1265614"/>
            <a:ext cx="11518711" cy="3944202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19;p111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1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D9C4BF-0687-46AD-B39A-6837DF05B3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2"/>
          <p:cNvSpPr txBox="1">
            <a:spLocks noGrp="1"/>
          </p:cNvSpPr>
          <p:nvPr>
            <p:ph type="body" idx="1"/>
          </p:nvPr>
        </p:nvSpPr>
        <p:spPr>
          <a:xfrm>
            <a:off x="491319" y="1825625"/>
            <a:ext cx="112501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492874"/>
            <a:ext cx="808563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4655F7-05A0-442D-A5FC-983F51D08A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165" y="6410387"/>
            <a:ext cx="1156447" cy="386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3"/>
          <p:cNvSpPr/>
          <p:nvPr/>
        </p:nvSpPr>
        <p:spPr>
          <a:xfrm>
            <a:off x="341193" y="2006221"/>
            <a:ext cx="11518711" cy="2879678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oogle Shape;25;p112" descr="Logotipo&#10;&#10;Descripción generada automáticamente">
            <a:extLst>
              <a:ext uri="{FF2B5EF4-FFF2-40B4-BE49-F238E27FC236}">
                <a16:creationId xmlns:a16="http://schemas.microsoft.com/office/drawing/2014/main" id="{F7800445-CEF5-4F97-A48B-9608A8DFD0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378858"/>
            <a:ext cx="926601" cy="2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4E2D06-B1BD-4EB9-A44D-B8D10B152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1238" y="6230240"/>
            <a:ext cx="1572495" cy="5252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5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5"/>
          <p:cNvSpPr/>
          <p:nvPr/>
        </p:nvSpPr>
        <p:spPr>
          <a:xfrm>
            <a:off x="336644" y="2543175"/>
            <a:ext cx="11518711" cy="1685926"/>
          </a:xfrm>
          <a:prstGeom prst="rect">
            <a:avLst/>
          </a:prstGeom>
          <a:solidFill>
            <a:srgbClr val="F8B3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8" name="Google Shape;38;p115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15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CC69DE7-6545-4CBA-9723-11EC6CE393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31" name="Google Shape;31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3542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8.xml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9.xml"/><Relationship Id="rId4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0.xml"/><Relationship Id="rId4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1.xml"/><Relationship Id="rId4" Type="http://schemas.openxmlformats.org/officeDocument/2006/relationships/image" Target="../media/image36.png"/><Relationship Id="rId5" Type="http://schemas.openxmlformats.org/officeDocument/2006/relationships/chart" Target="../charts/chart12.xml"/><Relationship Id="rId6" Type="http://schemas.openxmlformats.org/officeDocument/2006/relationships/chart" Target="../charts/char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4.xml"/><Relationship Id="rId4" Type="http://schemas.openxmlformats.org/officeDocument/2006/relationships/image" Target="../media/image35.png"/><Relationship Id="rId5" Type="http://schemas.openxmlformats.org/officeDocument/2006/relationships/chart" Target="../charts/char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29.xml"/><Relationship Id="rId4" Type="http://schemas.openxmlformats.org/officeDocument/2006/relationships/chart" Target="../charts/chart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35.xml"/><Relationship Id="rId4" Type="http://schemas.openxmlformats.org/officeDocument/2006/relationships/chart" Target="../charts/chart36.xml"/><Relationship Id="rId5" Type="http://schemas.openxmlformats.org/officeDocument/2006/relationships/chart" Target="../charts/chart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chart" Target="../charts/chart40.xml"/><Relationship Id="rId4" Type="http://schemas.openxmlformats.org/officeDocument/2006/relationships/chart" Target="../charts/chart41.xml"/><Relationship Id="rId5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42.xml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43.xml"/><Relationship Id="rId4" Type="http://schemas.openxmlformats.org/officeDocument/2006/relationships/chart" Target="../charts/chart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Relationship Id="rId4" Type="http://schemas.openxmlformats.org/officeDocument/2006/relationships/chart" Target="../charts/chart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Relationship Id="rId4" Type="http://schemas.openxmlformats.org/officeDocument/2006/relationships/chart" Target="../charts/chart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chart" Target="../charts/chart47.xml"/><Relationship Id="rId4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Relationship Id="rId4" Type="http://schemas.openxmlformats.org/officeDocument/2006/relationships/chart" Target="../charts/chart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Relationship Id="rId4" Type="http://schemas.openxmlformats.org/officeDocument/2006/relationships/chart" Target="../charts/chart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chart" Target="../charts/chart50.xml"/><Relationship Id="rId4" Type="http://schemas.openxmlformats.org/officeDocument/2006/relationships/image" Target="../media/image43.png"/><Relationship Id="rId5" Type="http://schemas.openxmlformats.org/officeDocument/2006/relationships/chart" Target="../charts/chart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chart" Target="../charts/chart52.xml"/><Relationship Id="rId4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chart" Target="../charts/chart53.xml"/><Relationship Id="rId4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chart" Target="../charts/chart54.xml"/><Relationship Id="rId4" Type="http://schemas.openxmlformats.org/officeDocument/2006/relationships/chart" Target="../charts/chart55.xml"/><Relationship Id="rId5" Type="http://schemas.openxmlformats.org/officeDocument/2006/relationships/image" Target="../media/image49.png"/><Relationship Id="rId6" Type="http://schemas.openxmlformats.org/officeDocument/2006/relationships/image" Target="../media/image50.svg"/><Relationship Id="rId7" Type="http://schemas.openxmlformats.org/officeDocument/2006/relationships/chart" Target="../charts/chart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7.xml"/><Relationship Id="rId3" Type="http://schemas.openxmlformats.org/officeDocument/2006/relationships/chart" Target="../charts/chart58.xml"/><Relationship Id="rId4" Type="http://schemas.openxmlformats.org/officeDocument/2006/relationships/image" Target="../media/image51.png"/><Relationship Id="rId5" Type="http://schemas.openxmlformats.org/officeDocument/2006/relationships/image" Target="../media/image52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chart" Target="../charts/chart59.xml"/><Relationship Id="rId4" Type="http://schemas.openxmlformats.org/officeDocument/2006/relationships/chart" Target="../charts/chart60.xml"/><Relationship Id="rId5" Type="http://schemas.openxmlformats.org/officeDocument/2006/relationships/chart" Target="../charts/chart61.xml"/><Relationship Id="rId6" Type="http://schemas.openxmlformats.org/officeDocument/2006/relationships/image" Target="../media/image51.png"/><Relationship Id="rId7" Type="http://schemas.openxmlformats.org/officeDocument/2006/relationships/image" Target="../media/image52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62.xml"/><Relationship Id="rId4" Type="http://schemas.openxmlformats.org/officeDocument/2006/relationships/image" Target="../media/image51.png"/><Relationship Id="rId5" Type="http://schemas.openxmlformats.org/officeDocument/2006/relationships/image" Target="../media/image52.svg"/><Relationship Id="rId6" Type="http://schemas.openxmlformats.org/officeDocument/2006/relationships/chart" Target="../charts/chart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4.xml"/><Relationship Id="rId3" Type="http://schemas.openxmlformats.org/officeDocument/2006/relationships/image" Target="../media/image51.png"/><Relationship Id="rId4" Type="http://schemas.openxmlformats.org/officeDocument/2006/relationships/image" Target="../media/image52.svg"/><Relationship Id="rId5" Type="http://schemas.openxmlformats.org/officeDocument/2006/relationships/chart" Target="../charts/chart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chart" Target="../charts/chart66.xml"/><Relationship Id="rId4" Type="http://schemas.openxmlformats.org/officeDocument/2006/relationships/image" Target="../media/image53.png"/><Relationship Id="rId5" Type="http://schemas.openxmlformats.org/officeDocument/2006/relationships/image" Target="../media/image54.svg"/><Relationship Id="rId6" Type="http://schemas.openxmlformats.org/officeDocument/2006/relationships/chart" Target="../charts/chart67.xml"/><Relationship Id="rId7" Type="http://schemas.openxmlformats.org/officeDocument/2006/relationships/chart" Target="../charts/chart6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chart" Target="../charts/chart69.xml"/><Relationship Id="rId4" Type="http://schemas.openxmlformats.org/officeDocument/2006/relationships/image" Target="../media/image55.png"/><Relationship Id="rId5" Type="http://schemas.openxmlformats.org/officeDocument/2006/relationships/image" Target="../media/image56.svg"/><Relationship Id="rId6" Type="http://schemas.openxmlformats.org/officeDocument/2006/relationships/chart" Target="../charts/chart70.xml"/><Relationship Id="rId7" Type="http://schemas.openxmlformats.org/officeDocument/2006/relationships/chart" Target="../charts/chart7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chart" Target="../charts/chart72.xml"/><Relationship Id="rId4" Type="http://schemas.openxmlformats.org/officeDocument/2006/relationships/chart" Target="../charts/chart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chart" Target="../charts/chart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chart" Target="../charts/chart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chart" Target="../charts/chart76.xml"/><Relationship Id="rId4" Type="http://schemas.openxmlformats.org/officeDocument/2006/relationships/chart" Target="../charts/char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Estructura de la presentación</a:t>
            </a:r>
            <a:endParaRPr dirty="0">
              <a:solidFill>
                <a:srgbClr val="E30613"/>
              </a:solidFill>
            </a:endParaRP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1D625237-B128-4B8B-9FB7-5B83A2FE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85846"/>
              </p:ext>
            </p:extLst>
          </p:nvPr>
        </p:nvGraphicFramePr>
        <p:xfrm>
          <a:off x="489884" y="1523074"/>
          <a:ext cx="7966362" cy="37084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532009">
                  <a:extLst>
                    <a:ext uri="{9D8B030D-6E8A-4147-A177-3AD203B41FA5}">
                      <a16:colId xmlns:a16="http://schemas.microsoft.com/office/drawing/2014/main" val="216704049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798159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Lámina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Introducción al estudio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Principales hallazgos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1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riegos de salud mental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5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bienestar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9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experiencia emocional e insights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4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inferenciales 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11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eje iniciativas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72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Síntesis y conclusiones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0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Anexos: otros datos de interés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600" b="0" i="0" u="none" strike="noStrike" cap="none" dirty="0">
                        <a:solidFill>
                          <a:srgbClr val="3F3F3F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153354"/>
                  </a:ext>
                </a:extLst>
              </a:tr>
            </a:tbl>
          </a:graphicData>
        </a:graphic>
      </p:graphicFrame>
      <p:pic>
        <p:nvPicPr>
          <p:cNvPr id="6" name="Gráfico 5" descr="Corazón con pulso con relleno sólido">
            <a:extLst>
              <a:ext uri="{FF2B5EF4-FFF2-40B4-BE49-F238E27FC236}">
                <a16:creationId xmlns:a16="http://schemas.microsoft.com/office/drawing/2014/main" id="{2A98E4D6-A245-40EF-911C-78CB010A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227" y="1523074"/>
            <a:ext cx="914400" cy="914400"/>
          </a:xfrm>
          <a:prstGeom prst="rect">
            <a:avLst/>
          </a:prstGeom>
        </p:spPr>
      </p:pic>
      <p:pic>
        <p:nvPicPr>
          <p:cNvPr id="9" name="Gráfico 8" descr="Cabeza con engranajes con relleno sólido">
            <a:extLst>
              <a:ext uri="{FF2B5EF4-FFF2-40B4-BE49-F238E27FC236}">
                <a16:creationId xmlns:a16="http://schemas.microsoft.com/office/drawing/2014/main" id="{3A2789FA-E0C8-41E1-A2BB-EEAF69177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227" y="2920074"/>
            <a:ext cx="914400" cy="914400"/>
          </a:xfrm>
          <a:prstGeom prst="rect">
            <a:avLst/>
          </a:prstGeom>
        </p:spPr>
      </p:pic>
      <p:pic>
        <p:nvPicPr>
          <p:cNvPr id="13" name="Gráfico 12" descr="Cerebro con relleno sólido">
            <a:extLst>
              <a:ext uri="{FF2B5EF4-FFF2-40B4-BE49-F238E27FC236}">
                <a16:creationId xmlns:a16="http://schemas.microsoft.com/office/drawing/2014/main" id="{83EDAE06-759D-4EDD-81D6-5B9486D7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9900" y="4317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Introducción al estudio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Propósito</a:t>
            </a:r>
            <a:endParaRPr dirty="0">
              <a:solidFill>
                <a:srgbClr val="E30613"/>
              </a:solidFill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91319" y="1358019"/>
            <a:ext cx="1123395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El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propósito de este estudio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fue conocer la opinión de alumnas y alumnos pertenecientes a Duoc UC, en dimensiones relativas a su bienestar emocional y salud mental, de modo de diseñar una estrategia articulada para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reforzar, ampliar y focalizar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apoyos que Duoc UC entrega a sus estudiantes. 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marR="0" lvl="0" indent="-107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ES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el fin de que los resultados del estudio puedan ser utilizados para informar una arquitectura básica de intervención, los </a:t>
            </a:r>
            <a:r>
              <a:rPr lang="es-ES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hallazgos se presentarán…</a:t>
            </a: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75DAC-21B3-40F5-9C39-9C87B7DBBE12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Ficha técnica</a:t>
            </a:r>
            <a:endParaRPr dirty="0"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1"/>
          </p:nvPr>
        </p:nvSpPr>
        <p:spPr>
          <a:xfrm>
            <a:off x="491319" y="1270002"/>
            <a:ext cx="11250112" cy="490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Estudio de carácter censal. Toda la población de estudiantes fue invitada a participar. 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Universo total: 94.402 estudiantes.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que ingresaron a la plataforma: 19.632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con respuestas parciales: 12.231</a:t>
            </a:r>
            <a:endParaRPr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Estudiantes con respuestas completas que se consideraron como casos válidos para análisis: 8.849 (corresponden a un 9% del universo total de estudiantes).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Trabajo de campo: encuestas aplicadas entre 29 de septiembre y el 13 de octubre, modalidad online.</a:t>
            </a:r>
            <a:endParaRPr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Todas las evaluaciones se realizaron mediante </a:t>
            </a:r>
            <a:r>
              <a:rPr lang="es-CL" dirty="0" err="1">
                <a:solidFill>
                  <a:srgbClr val="3F3F3F"/>
                </a:solidFill>
              </a:rPr>
              <a:t>auto-reportes</a:t>
            </a:r>
            <a:r>
              <a:rPr lang="es-CL" dirty="0">
                <a:solidFill>
                  <a:srgbClr val="3F3F3F"/>
                </a:solidFill>
              </a:rPr>
              <a:t>. Se prefirieron instrumentos con propiedades psicométricas conocidas para la población chilena. </a:t>
            </a:r>
            <a:endParaRPr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dirty="0">
                <a:solidFill>
                  <a:srgbClr val="3F3F3F"/>
                </a:solidFill>
              </a:rPr>
              <a:t>La estructura de medición de trastornos mentales fue adaptativa y personalizada.</a:t>
            </a:r>
            <a:endParaRPr dirty="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B99EFC-346B-44E8-8D1B-0EA4EA7775A1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Batería de evaluación</a:t>
            </a:r>
            <a:endParaRPr dirty="0"/>
          </a:p>
        </p:txBody>
      </p:sp>
      <p:graphicFrame>
        <p:nvGraphicFramePr>
          <p:cNvPr id="171" name="Google Shape;171;p7"/>
          <p:cNvGraphicFramePr/>
          <p:nvPr>
            <p:extLst>
              <p:ext uri="{D42A27DB-BD31-4B8C-83A1-F6EECF244321}">
                <p14:modId xmlns:p14="http://schemas.microsoft.com/office/powerpoint/2010/main" val="3246087290"/>
              </p:ext>
            </p:extLst>
          </p:nvPr>
        </p:nvGraphicFramePr>
        <p:xfrm>
          <a:off x="491319" y="1320256"/>
          <a:ext cx="10998851" cy="4856530"/>
        </p:xfrm>
        <a:graphic>
          <a:graphicData uri="http://schemas.openxmlformats.org/drawingml/2006/table">
            <a:tbl>
              <a:tblPr firstRow="1" bandRow="1">
                <a:noFill/>
                <a:tableStyleId>{991015D7-D160-4A9F-BB4E-07FA0D646497}</a:tableStyleId>
              </a:tblPr>
              <a:tblGrid>
                <a:gridCol w="27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</a:t>
                      </a:r>
                      <a:endParaRPr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¿Qué evalúa?</a:t>
                      </a:r>
                      <a:endParaRPr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riesgos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DSM-5	</a:t>
                      </a:r>
                      <a:r>
                        <a:rPr lang="es-CL" sz="140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(S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creening de síntomas)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ED-15	(Screening de síntomas asociados a 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PSS4 	(</a:t>
                      </a: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</a:t>
                      </a: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strés percibido</a:t>
                      </a: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ED-15 	(Trastornos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PHQ9	(Profundización en depresión)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GAD7	(Profundización en ansiedad)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LPFS-BF 2.0	(Profundización en trastornos en el funcionamiento de la personalidad)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CAST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CUPIT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AUDIT	(Profundización en consumo de alcohol)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C-SSRS	(Profundización en ideación suicida)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Otros	Estresores / Exigencia carga académica / Estrategias de afrontamiento / Procrastinación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recursos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PERMA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Apoyo percibido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Flow </a:t>
                      </a:r>
                      <a:r>
                        <a:rPr lang="es-CL" sz="1400" u="none" strike="noStrike" cap="none" dirty="0" err="1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states</a:t>
                      </a:r>
                      <a:endParaRPr lang="es-CL"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Estilo de vida saludable (Actividad física, Alimentación, Ingesta de líquidos)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9822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variables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contextuales</a:t>
                      </a:r>
                      <a:endParaRPr sz="1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Personas al cuidado / Situación de empleo / Condiciones para la actividad académica / Necesidad y acceso de tratamiento en salud mental / Lugar, tipo y barreras de acceso a tratamiento / Condición de salud física crónica </a:t>
                      </a:r>
                      <a:endParaRPr lang="es-MX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iniciativas</a:t>
                      </a: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strike="noStrike" cap="none" dirty="0">
                          <a:solidFill>
                            <a:srgbClr val="3A434C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APP Vivo / Embajadores de la Salud Mental / Atenciones psicológicas / Bienestar Integral en Movimiento</a:t>
                      </a:r>
                      <a:endParaRPr sz="1400" u="none" strike="noStrike" cap="none" dirty="0">
                        <a:solidFill>
                          <a:srgbClr val="3A434C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graphicFrame>
        <p:nvGraphicFramePr>
          <p:cNvPr id="291" name="gender_pie_chart"/>
          <p:cNvGraphicFramePr/>
          <p:nvPr>
            <p:extLst>
              <p:ext uri="{D42A27DB-BD31-4B8C-83A1-F6EECF244321}">
                <p14:modId xmlns:p14="http://schemas.microsoft.com/office/powerpoint/2010/main" val="1840723605"/>
              </p:ext>
            </p:extLst>
          </p:nvPr>
        </p:nvGraphicFramePr>
        <p:xfrm>
          <a:off x="804568" y="2363337"/>
          <a:ext cx="3025342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2" name="student_day_pie_chart"/>
          <p:cNvGraphicFramePr/>
          <p:nvPr>
            <p:extLst>
              <p:ext uri="{D42A27DB-BD31-4B8C-83A1-F6EECF244321}">
                <p14:modId xmlns:p14="http://schemas.microsoft.com/office/powerpoint/2010/main" val="1811007523"/>
              </p:ext>
            </p:extLst>
          </p:nvPr>
        </p:nvGraphicFramePr>
        <p:xfrm>
          <a:off x="4692496" y="2363338"/>
          <a:ext cx="2807007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3" name="student_type_pie_chart"/>
          <p:cNvGraphicFramePr/>
          <p:nvPr>
            <p:extLst>
              <p:ext uri="{D42A27DB-BD31-4B8C-83A1-F6EECF244321}">
                <p14:modId xmlns:p14="http://schemas.microsoft.com/office/powerpoint/2010/main" val="3237093768"/>
              </p:ext>
            </p:extLst>
          </p:nvPr>
        </p:nvGraphicFramePr>
        <p:xfrm>
          <a:off x="8362089" y="2134373"/>
          <a:ext cx="2807007" cy="3010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otal_participantes">
            <a:extLst>
              <a:ext uri="{FF2B5EF4-FFF2-40B4-BE49-F238E27FC236}">
                <a16:creationId xmlns:a16="http://schemas.microsoft.com/office/drawing/2014/main" id="{FD6594E2-3B12-FB73-4BD3-7B79F0E7FDB7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casos válidos </a:t>
            </a:r>
            <a:r>
              <a:rPr lang="es-CL" sz="1200" dirty="0"/>
              <a:t>(N=8.849)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escuelas_bar_chart"/>
          <p:cNvGraphicFramePr/>
          <p:nvPr>
            <p:extLst>
              <p:ext uri="{D42A27DB-BD31-4B8C-83A1-F6EECF244321}">
                <p14:modId xmlns:p14="http://schemas.microsoft.com/office/powerpoint/2010/main" val="2439517272"/>
              </p:ext>
            </p:extLst>
          </p:nvPr>
        </p:nvGraphicFramePr>
        <p:xfrm>
          <a:off x="1858210" y="1416783"/>
          <a:ext cx="8628929" cy="2495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2" name="sedes_bar_chart"/>
          <p:cNvGraphicFramePr/>
          <p:nvPr>
            <p:extLst>
              <p:ext uri="{D42A27DB-BD31-4B8C-83A1-F6EECF244321}">
                <p14:modId xmlns:p14="http://schemas.microsoft.com/office/powerpoint/2010/main" val="1126109642"/>
              </p:ext>
            </p:extLst>
          </p:nvPr>
        </p:nvGraphicFramePr>
        <p:xfrm>
          <a:off x="1165225" y="4100597"/>
          <a:ext cx="10291476" cy="2193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Google Shape;290;p18">
            <a:extLst>
              <a:ext uri="{FF2B5EF4-FFF2-40B4-BE49-F238E27FC236}">
                <a16:creationId xmlns:a16="http://schemas.microsoft.com/office/drawing/2014/main" id="{A0121B43-BDE4-4EA8-B1D2-962DBEEA7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sp>
        <p:nvSpPr>
          <p:cNvPr id="2" name="total_participantes">
            <a:extLst>
              <a:ext uri="{FF2B5EF4-FFF2-40B4-BE49-F238E27FC236}">
                <a16:creationId xmlns:a16="http://schemas.microsoft.com/office/drawing/2014/main" id="{E58931B8-8BCA-499E-1D4B-D021B6210CFF}"/>
              </a:ext>
            </a:extLst>
          </p:cNvPr>
          <p:cNvSpPr txBox="1"/>
          <p:nvPr/>
        </p:nvSpPr>
        <p:spPr>
          <a:xfrm>
            <a:off x="491319" y="890042"/>
            <a:ext cx="2631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3A434C"/>
                </a:solidFill>
                <a:latin typeface="Calibri Light"/>
              </a:rPr>
              <a:t>CASOS VÁLIDOS (N=2,043)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hallazgos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3C3E"/>
          </a:solidFill>
          <a:ln w="12700" cap="flat" cmpd="sng">
            <a:solidFill>
              <a:srgbClr val="E53C3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84049" y="5436109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576018" y="3080785"/>
            <a:ext cx="34941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124373" y="3053024"/>
            <a:ext cx="35845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669221" y="543610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610332" y="544536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91319" y="410031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Principales desafíos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0046" y="3137487"/>
            <a:ext cx="718480" cy="725031"/>
          </a:xfrm>
          <a:prstGeom prst="rect">
            <a:avLst/>
          </a:prstGeom>
          <a:solidFill>
            <a:srgbClr val="E63C3F"/>
          </a:solidFill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2372" y="3116273"/>
            <a:ext cx="852488" cy="76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14" y="4637287"/>
            <a:ext cx="868598" cy="79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48004" y="4504482"/>
            <a:ext cx="895991" cy="931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9084" y="4477122"/>
            <a:ext cx="700087" cy="95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/>
          <p:nvPr/>
        </p:nvSpPr>
        <p:spPr>
          <a:xfrm>
            <a:off x="1689135" y="1427402"/>
            <a:ext cx="35845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962837" y="1449927"/>
            <a:ext cx="339712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2EA514-1EFC-8FB3-D077-5355F553D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51" y="1476719"/>
            <a:ext cx="650863" cy="6934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24FBDE-A207-EA14-4924-512208C054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8004" y="1381810"/>
            <a:ext cx="440826" cy="97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-3977" y="7883"/>
            <a:ext cx="12192000" cy="6858000"/>
          </a:xfrm>
          <a:prstGeom prst="rect">
            <a:avLst/>
          </a:prstGeom>
          <a:solidFill>
            <a:srgbClr val="F8B31C"/>
          </a:solidFill>
          <a:ln w="12700" cap="flat" cmpd="sng">
            <a:solidFill>
              <a:srgbClr val="FFB8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84049" y="5194369"/>
            <a:ext cx="27592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301800" y="2483663"/>
            <a:ext cx="367159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669221" y="5194369"/>
            <a:ext cx="30798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10332" y="5203622"/>
            <a:ext cx="30545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4215" y="1486234"/>
            <a:ext cx="675617" cy="72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6109" y="4200044"/>
            <a:ext cx="851831" cy="90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5190" y="4192381"/>
            <a:ext cx="667875" cy="8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Comparación 2022 - 2025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-80884" y="2482991"/>
            <a:ext cx="4089115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049127" y="2510321"/>
            <a:ext cx="4320000" cy="97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140FE8-4822-276E-E4F7-BE6F4199A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929" y="4397688"/>
            <a:ext cx="708930" cy="7382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F86B05-7DCA-4AD9-8478-76AE5247E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767" y="1458665"/>
            <a:ext cx="722884" cy="779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80746A-2954-0CAA-20F7-E8EE6F2B9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876" y="1486234"/>
            <a:ext cx="535394" cy="8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7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descriptivos</a:t>
            </a:r>
            <a:endParaRPr cap="smal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estrés y afrontamiento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nada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estrés percibido</a:t>
            </a:r>
            <a:endParaRPr dirty="0"/>
          </a:p>
        </p:txBody>
      </p:sp>
      <p:graphicFrame>
        <p:nvGraphicFramePr>
          <p:cNvPr id="428" name="nivel_estres_categorias"/>
          <p:cNvGraphicFramePr/>
          <p:nvPr>
            <p:extLst>
              <p:ext uri="{D42A27DB-BD31-4B8C-83A1-F6EECF244321}">
                <p14:modId xmlns:p14="http://schemas.microsoft.com/office/powerpoint/2010/main" val="2905219155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9" name="nivel_estres_sedes"/>
          <p:cNvGraphicFramePr/>
          <p:nvPr>
            <p:extLst>
              <p:ext uri="{D42A27DB-BD31-4B8C-83A1-F6EECF244321}">
                <p14:modId xmlns:p14="http://schemas.microsoft.com/office/powerpoint/2010/main" val="379272034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37;p33">
            <a:extLst>
              <a:ext uri="{FF2B5EF4-FFF2-40B4-BE49-F238E27FC236}">
                <a16:creationId xmlns:a16="http://schemas.microsoft.com/office/drawing/2014/main" id="{0BFC570E-2A22-DF4E-8EBD-0FE30D76288A}"/>
              </a:ext>
            </a:extLst>
          </p:cNvPr>
          <p:cNvSpPr txBox="1"/>
          <p:nvPr/>
        </p:nvSpPr>
        <p:spPr>
          <a:xfrm>
            <a:off x="541698" y="4659417"/>
            <a:ext cx="287250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 el promedio de </a:t>
            </a:r>
            <a:r>
              <a:rPr lang="es-ES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estrés percibido</a:t>
            </a: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para los estudiantes que participaron en el estudio (considerando un 100% como un nivel de estrés extremo e intolerable).</a:t>
            </a:r>
            <a:endParaRPr lang="es-MX"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nada">
            <a:extLst>
              <a:ext uri="{FF2B5EF4-FFF2-40B4-BE49-F238E27FC236}">
                <a16:creationId xmlns:a16="http://schemas.microsoft.com/office/drawing/2014/main" id="{8F98F07F-704E-4675-B717-3F5937AE6D80}"/>
              </a:ext>
            </a:extLst>
          </p:cNvPr>
          <p:cNvSpPr/>
          <p:nvPr/>
        </p:nvSpPr>
        <p:spPr>
          <a:xfrm>
            <a:off x="547568" y="1413773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AE7F0244-B695-4145-B4BF-C54DBCD1DBF1}"/>
              </a:ext>
            </a:extLst>
          </p:cNvPr>
          <p:cNvSpPr/>
          <p:nvPr/>
        </p:nvSpPr>
        <p:spPr>
          <a:xfrm>
            <a:off x="547568" y="350367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nivel_estres_promedio_2025">
            <a:extLst>
              <a:ext uri="{FF2B5EF4-FFF2-40B4-BE49-F238E27FC236}">
                <a16:creationId xmlns:a16="http://schemas.microsoft.com/office/drawing/2014/main" id="{E1C77E2B-5B74-4EFF-879C-02D40C622499}"/>
              </a:ext>
            </a:extLst>
          </p:cNvPr>
          <p:cNvSpPr/>
          <p:nvPr/>
        </p:nvSpPr>
        <p:spPr>
          <a:xfrm>
            <a:off x="1254201" y="2106829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44%</a:t>
            </a:r>
          </a:p>
        </p:txBody>
      </p:sp>
      <p:sp>
        <p:nvSpPr>
          <p:cNvPr id="2" name="nivel_estres_promedio_2022">
            <a:extLst>
              <a:ext uri="{FF2B5EF4-FFF2-40B4-BE49-F238E27FC236}">
                <a16:creationId xmlns:a16="http://schemas.microsoft.com/office/drawing/2014/main" id="{47E56322-8BBA-B4A3-9149-EB21D1FABE89}"/>
              </a:ext>
            </a:extLst>
          </p:cNvPr>
          <p:cNvSpPr txBox="1"/>
          <p:nvPr/>
        </p:nvSpPr>
        <p:spPr>
          <a:xfrm>
            <a:off x="699796" y="151155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 Light"/>
              </a:rPr>
              <a:t>53%</a:t>
            </a:r>
            <a:endParaRPr lang="es-CL" dirty="0"/>
          </a:p>
        </p:txBody>
      </p:sp>
      <p:sp>
        <p:nvSpPr>
          <p:cNvPr id="3" name="nivel_estres_promedio_2025_2">
            <a:extLst>
              <a:ext uri="{FF2B5EF4-FFF2-40B4-BE49-F238E27FC236}">
                <a16:creationId xmlns:a16="http://schemas.microsoft.com/office/drawing/2014/main" id="{0904F456-94E7-16CA-96D0-43B390A83519}"/>
              </a:ext>
            </a:extLst>
          </p:cNvPr>
          <p:cNvSpPr txBox="1"/>
          <p:nvPr/>
        </p:nvSpPr>
        <p:spPr>
          <a:xfrm>
            <a:off x="625151" y="3634270"/>
            <a:ext cx="849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 Light"/>
              </a:rPr>
              <a:t>44%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06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Sexo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genero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150310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Jornada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jornada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584080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CL" sz="2000" b="0" dirty="0"/>
              <a:t>Entre quienes reportaron como estresor “Carga académica exigente”</a:t>
            </a:r>
            <a:endParaRPr sz="2900" b="0" dirty="0"/>
          </a:p>
        </p:txBody>
      </p:sp>
      <p:graphicFrame>
        <p:nvGraphicFramePr>
          <p:cNvPr id="322" name="exigencia_academica"/>
          <p:cNvGraphicFramePr/>
          <p:nvPr>
            <p:extLst>
              <p:ext uri="{D42A27DB-BD31-4B8C-83A1-F6EECF244321}">
                <p14:modId xmlns:p14="http://schemas.microsoft.com/office/powerpoint/2010/main" val="2296239787"/>
              </p:ext>
            </p:extLst>
          </p:nvPr>
        </p:nvGraphicFramePr>
        <p:xfrm>
          <a:off x="2174875" y="1762125"/>
          <a:ext cx="8128000" cy="4185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7" y="56543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ES" sz="2000" b="0" i="1" dirty="0"/>
              <a:t>¿Cuáles de las siguientes razones explican que la carga académica te resulte exigente?</a:t>
            </a:r>
            <a:br>
              <a:rPr lang="es-ES" sz="2000" b="0" i="1" dirty="0"/>
            </a:br>
            <a:r>
              <a:rPr lang="es-CL" sz="2000" b="0" dirty="0"/>
              <a:t>Entre quienes reportaron como estresor “Carga académica exigente”</a:t>
            </a:r>
            <a:br>
              <a:rPr lang="es-CL" sz="2000" b="0" dirty="0"/>
            </a:br>
            <a:r>
              <a:rPr lang="es-ES" sz="2000" i="1" dirty="0"/>
              <a:t>Resultados por tipo de alumno</a:t>
            </a:r>
            <a:br>
              <a:rPr lang="es-ES" sz="2000" b="0" dirty="0"/>
            </a:br>
            <a:endParaRPr sz="2900" b="0" dirty="0"/>
          </a:p>
        </p:txBody>
      </p:sp>
      <p:graphicFrame>
        <p:nvGraphicFramePr>
          <p:cNvPr id="322" name="exigencia_academica_inicio"/>
          <p:cNvGraphicFramePr/>
          <p:nvPr>
            <p:extLst>
              <p:ext uri="{D42A27DB-BD31-4B8C-83A1-F6EECF244321}">
                <p14:modId xmlns:p14="http://schemas.microsoft.com/office/powerpoint/2010/main" val="2046050906"/>
              </p:ext>
            </p:extLst>
          </p:nvPr>
        </p:nvGraphicFramePr>
        <p:xfrm>
          <a:off x="323679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exigencia_academica_continuidad"/>
          <p:cNvGraphicFramePr/>
          <p:nvPr>
            <p:extLst>
              <p:ext uri="{D42A27DB-BD31-4B8C-83A1-F6EECF244321}">
                <p14:modId xmlns:p14="http://schemas.microsoft.com/office/powerpoint/2010/main" val="389852781"/>
              </p:ext>
            </p:extLst>
          </p:nvPr>
        </p:nvGraphicFramePr>
        <p:xfrm>
          <a:off x="4407782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exigencia_academica_admision_especial"/>
          <p:cNvGraphicFramePr/>
          <p:nvPr>
            <p:extLst>
              <p:ext uri="{D42A27DB-BD31-4B8C-83A1-F6EECF244321}">
                <p14:modId xmlns:p14="http://schemas.microsoft.com/office/powerpoint/2010/main" val="3853227668"/>
              </p:ext>
            </p:extLst>
          </p:nvPr>
        </p:nvGraphicFramePr>
        <p:xfrm>
          <a:off x="8202108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73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2022 - 2025</a:t>
            </a:r>
            <a:endParaRPr dirty="0"/>
          </a:p>
        </p:txBody>
      </p:sp>
      <p:graphicFrame>
        <p:nvGraphicFramePr>
          <p:cNvPr id="315" name="estresores_top5_2022"/>
          <p:cNvGraphicFramePr/>
          <p:nvPr>
            <p:extLst>
              <p:ext uri="{D42A27DB-BD31-4B8C-83A1-F6EECF244321}">
                <p14:modId xmlns:p14="http://schemas.microsoft.com/office/powerpoint/2010/main" val="1727685633"/>
              </p:ext>
            </p:extLst>
          </p:nvPr>
        </p:nvGraphicFramePr>
        <p:xfrm>
          <a:off x="2533127" y="1390650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16" name="Google Shape;3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65A6203E-2A5D-4C3D-B26F-5319B49B28AB}"/>
              </a:ext>
            </a:extLst>
          </p:cNvPr>
          <p:cNvSpPr/>
          <p:nvPr/>
        </p:nvSpPr>
        <p:spPr>
          <a:xfrm>
            <a:off x="394097" y="1834804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7AEECA03-7141-449B-8B7C-8C9A8AFFCBEF}"/>
              </a:ext>
            </a:extLst>
          </p:cNvPr>
          <p:cNvSpPr/>
          <p:nvPr/>
        </p:nvSpPr>
        <p:spPr>
          <a:xfrm>
            <a:off x="394097" y="4401138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" name="estresores_top5_2025">
            <a:extLst>
              <a:ext uri="{FF2B5EF4-FFF2-40B4-BE49-F238E27FC236}">
                <a16:creationId xmlns:a16="http://schemas.microsoft.com/office/drawing/2014/main" id="{62EC4AD2-3B7D-90FC-D213-96859FBC3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8110466"/>
              </p:ext>
            </p:extLst>
          </p:nvPr>
        </p:nvGraphicFramePr>
        <p:xfrm>
          <a:off x="2533126" y="3943133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afrontamiento_estres"/>
          <p:cNvGraphicFramePr/>
          <p:nvPr>
            <p:extLst>
              <p:ext uri="{D42A27DB-BD31-4B8C-83A1-F6EECF244321}">
                <p14:modId xmlns:p14="http://schemas.microsoft.com/office/powerpoint/2010/main" val="2530827904"/>
              </p:ext>
            </p:extLst>
          </p:nvPr>
        </p:nvGraphicFramePr>
        <p:xfrm>
          <a:off x="1171575" y="1797227"/>
          <a:ext cx="6572248" cy="4015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0" name="Google Shape;330;p2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2800"/>
              <a:buFont typeface="Calibri"/>
              <a:buNone/>
            </a:pPr>
            <a:r>
              <a:rPr lang="es-CL" sz="2800" dirty="0"/>
              <a:t>Estrategias de afrontamiento  </a:t>
            </a:r>
            <a:endParaRPr dirty="0"/>
          </a:p>
        </p:txBody>
      </p:sp>
      <p:sp>
        <p:nvSpPr>
          <p:cNvPr id="332" name="Google Shape;332;p23"/>
          <p:cNvSpPr txBox="1"/>
          <p:nvPr/>
        </p:nvSpPr>
        <p:spPr>
          <a:xfrm>
            <a:off x="866775" y="1150938"/>
            <a:ext cx="98488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Respecto a las situaciones que señalaste que representaban un problema para ti, y selecciona qué has hecho al respecto:</a:t>
            </a:r>
            <a:endParaRPr sz="18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8284260" y="4307321"/>
            <a:ext cx="415688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Procrastinación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36" name="procrastinacion"/>
          <p:cNvGraphicFramePr/>
          <p:nvPr>
            <p:extLst>
              <p:ext uri="{D42A27DB-BD31-4B8C-83A1-F6EECF244321}">
                <p14:modId xmlns:p14="http://schemas.microsoft.com/office/powerpoint/2010/main" val="994849556"/>
              </p:ext>
            </p:extLst>
          </p:nvPr>
        </p:nvGraphicFramePr>
        <p:xfrm>
          <a:off x="7266589" y="5211223"/>
          <a:ext cx="5542497" cy="144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7" name="Google Shape;33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1887" y="210455"/>
            <a:ext cx="579947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Condición de salud crónica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3447" y="1711886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¿Tienes actualmente alguna condición médica de </a:t>
            </a:r>
            <a:r>
              <a:rPr lang="es-MX" sz="1600" b="1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larga duración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, diagnosticada por un profesional de salud?</a:t>
            </a:r>
          </a:p>
          <a:p>
            <a:pPr algn="ctr"/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</p:txBody>
      </p:sp>
      <p:graphicFrame>
        <p:nvGraphicFramePr>
          <p:cNvPr id="353" name="salud_cronica1"/>
          <p:cNvGraphicFramePr/>
          <p:nvPr>
            <p:extLst>
              <p:ext uri="{D42A27DB-BD31-4B8C-83A1-F6EECF244321}">
                <p14:modId xmlns:p14="http://schemas.microsoft.com/office/powerpoint/2010/main" val="351922268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¿Te encuentras actualmente en tratamiento médico o bajo control por esta(s) condición(es)?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salud_cronica2"/>
          <p:cNvGraphicFramePr/>
          <p:nvPr>
            <p:extLst>
              <p:ext uri="{D42A27DB-BD31-4B8C-83A1-F6EECF244321}">
                <p14:modId xmlns:p14="http://schemas.microsoft.com/office/powerpoint/2010/main" val="2549886578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52;p25">
            <a:extLst>
              <a:ext uri="{FF2B5EF4-FFF2-40B4-BE49-F238E27FC236}">
                <a16:creationId xmlns:a16="http://schemas.microsoft.com/office/drawing/2014/main" id="{04A490B3-5449-7620-0CCB-915C57BEB288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3919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tamizaje en salud mental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"/>
          <p:cNvSpPr/>
          <p:nvPr/>
        </p:nvSpPr>
        <p:spPr>
          <a:xfrm>
            <a:off x="1000207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3" name="Google Shape;403;p30"/>
          <p:cNvSpPr txBox="1"/>
          <p:nvPr/>
        </p:nvSpPr>
        <p:spPr>
          <a:xfrm>
            <a:off x="910207" y="3381335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promoción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(Sin 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Salud mental</a:t>
            </a:r>
            <a:endParaRPr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964248-D28D-3787-5950-E0B0AC662034}"/>
              </a:ext>
            </a:extLst>
          </p:cNvPr>
          <p:cNvCxnSpPr>
            <a:cxnSpLocks/>
          </p:cNvCxnSpPr>
          <p:nvPr/>
        </p:nvCxnSpPr>
        <p:spPr>
          <a:xfrm>
            <a:off x="4034018" y="902523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402;p30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4986175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4542365" y="3381335"/>
            <a:ext cx="30476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oogle Shape;402;p30">
            <a:extLst>
              <a:ext uri="{FF2B5EF4-FFF2-40B4-BE49-F238E27FC236}">
                <a16:creationId xmlns:a16="http://schemas.microsoft.com/office/drawing/2014/main" id="{A19FAF1E-0939-450A-BBB7-A13B0053E6E9}"/>
              </a:ext>
            </a:extLst>
          </p:cNvPr>
          <p:cNvSpPr/>
          <p:nvPr/>
        </p:nvSpPr>
        <p:spPr>
          <a:xfrm>
            <a:off x="8972143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403;p30">
            <a:extLst>
              <a:ext uri="{FF2B5EF4-FFF2-40B4-BE49-F238E27FC236}">
                <a16:creationId xmlns:a16="http://schemas.microsoft.com/office/drawing/2014/main" id="{C1D92253-5D76-44AD-8A9F-32F07363DA4F}"/>
              </a:ext>
            </a:extLst>
          </p:cNvPr>
          <p:cNvSpPr txBox="1"/>
          <p:nvPr/>
        </p:nvSpPr>
        <p:spPr>
          <a:xfrm>
            <a:off x="8884851" y="338444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C82B94-E2E9-4995-A9B7-10744F0F0732}"/>
              </a:ext>
            </a:extLst>
          </p:cNvPr>
          <p:cNvCxnSpPr>
            <a:cxnSpLocks/>
          </p:cNvCxnSpPr>
          <p:nvPr/>
        </p:nvCxnSpPr>
        <p:spPr>
          <a:xfrm>
            <a:off x="8157783" y="823121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3;p4">
            <a:extLst>
              <a:ext uri="{FF2B5EF4-FFF2-40B4-BE49-F238E27FC236}">
                <a16:creationId xmlns:a16="http://schemas.microsoft.com/office/drawing/2014/main" id="{77C2DFC7-3377-4B6C-9E33-41F089C0521F}"/>
              </a:ext>
            </a:extLst>
          </p:cNvPr>
          <p:cNvSpPr txBox="1"/>
          <p:nvPr/>
        </p:nvSpPr>
        <p:spPr>
          <a:xfrm>
            <a:off x="640207" y="4419077"/>
            <a:ext cx="2880000" cy="1600398"/>
          </a:xfrm>
          <a:prstGeom prst="rect">
            <a:avLst/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hábitos saludables que protegen su salud mental e incrementan su bienestar.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F2D37AC4-D137-4709-BDD7-709B29A578BF}"/>
              </a:ext>
            </a:extLst>
          </p:cNvPr>
          <p:cNvSpPr txBox="1"/>
          <p:nvPr/>
        </p:nvSpPr>
        <p:spPr>
          <a:xfrm>
            <a:off x="4656000" y="4419077"/>
            <a:ext cx="2880000" cy="1600398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que están en riesgo de desarrollar enfermedades mentales, a quienes ofrecer herramientas y/o tratamiento temprano para evitar niveles mayores de malestar.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75;p4">
            <a:extLst>
              <a:ext uri="{FF2B5EF4-FFF2-40B4-BE49-F238E27FC236}">
                <a16:creationId xmlns:a16="http://schemas.microsoft.com/office/drawing/2014/main" id="{67B75A04-E16B-4D29-B0AB-D56411377E48}"/>
              </a:ext>
            </a:extLst>
          </p:cNvPr>
          <p:cNvSpPr txBox="1"/>
          <p:nvPr/>
        </p:nvSpPr>
        <p:spPr>
          <a:xfrm>
            <a:off x="8612143" y="4419077"/>
            <a:ext cx="2880000" cy="1600398"/>
          </a:xfrm>
          <a:prstGeom prst="rect">
            <a:avLst/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trastornos mentales consolidados, a quienes derivar a tratamientos específicos.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55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Factor carga de enfermedad</a:t>
            </a:r>
            <a:endParaRPr dirty="0"/>
          </a:p>
        </p:txBody>
      </p:sp>
      <p:sp>
        <p:nvSpPr>
          <p:cNvPr id="709" name="Google Shape;709;p61"/>
          <p:cNvSpPr txBox="1"/>
          <p:nvPr/>
        </p:nvSpPr>
        <p:spPr>
          <a:xfrm>
            <a:off x="1370550" y="5264728"/>
            <a:ext cx="2903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</p:txBody>
      </p:sp>
      <p:sp>
        <p:nvSpPr>
          <p:cNvPr id="7" name="Google Shape;709;p61">
            <a:extLst>
              <a:ext uri="{FF2B5EF4-FFF2-40B4-BE49-F238E27FC236}">
                <a16:creationId xmlns:a16="http://schemas.microsoft.com/office/drawing/2014/main" id="{CFBB7022-5025-4774-9097-87E08A9ED1BC}"/>
              </a:ext>
            </a:extLst>
          </p:cNvPr>
          <p:cNvSpPr txBox="1"/>
          <p:nvPr/>
        </p:nvSpPr>
        <p:spPr>
          <a:xfrm>
            <a:off x="7144266" y="5264728"/>
            <a:ext cx="30774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278DEE9B-EF82-4385-BBD8-F835392E6A43}"/>
              </a:ext>
            </a:extLst>
          </p:cNvPr>
          <p:cNvSpPr/>
          <p:nvPr/>
        </p:nvSpPr>
        <p:spPr>
          <a:xfrm>
            <a:off x="1370550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99F33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427;p32">
            <a:extLst>
              <a:ext uri="{FF2B5EF4-FFF2-40B4-BE49-F238E27FC236}">
                <a16:creationId xmlns:a16="http://schemas.microsoft.com/office/drawing/2014/main" id="{E4BBEDEC-DACD-4977-AEA8-4A383D6E5C04}"/>
              </a:ext>
            </a:extLst>
          </p:cNvPr>
          <p:cNvSpPr/>
          <p:nvPr/>
        </p:nvSpPr>
        <p:spPr>
          <a:xfrm>
            <a:off x="7144265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86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A7149F2F-3959-4BE5-B5A1-F52D2C0700BF}"/>
              </a:ext>
            </a:extLst>
          </p:cNvPr>
          <p:cNvSpPr/>
          <p:nvPr/>
        </p:nvSpPr>
        <p:spPr>
          <a:xfrm>
            <a:off x="1361332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Google Shape;402;p30">
            <a:extLst>
              <a:ext uri="{FF2B5EF4-FFF2-40B4-BE49-F238E27FC236}">
                <a16:creationId xmlns:a16="http://schemas.microsoft.com/office/drawing/2014/main" id="{7B5B5C0D-75DE-4F83-AEF3-2FEEC3539725}"/>
              </a:ext>
            </a:extLst>
          </p:cNvPr>
          <p:cNvSpPr/>
          <p:nvPr/>
        </p:nvSpPr>
        <p:spPr>
          <a:xfrm>
            <a:off x="2114204" y="250579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E881DA4D-0805-4103-921B-42A54A025554}"/>
              </a:ext>
            </a:extLst>
          </p:cNvPr>
          <p:cNvSpPr/>
          <p:nvPr/>
        </p:nvSpPr>
        <p:spPr>
          <a:xfrm>
            <a:off x="7144265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oogle Shape;708;p61">
            <a:extLst>
              <a:ext uri="{FF2B5EF4-FFF2-40B4-BE49-F238E27FC236}">
                <a16:creationId xmlns:a16="http://schemas.microsoft.com/office/drawing/2014/main" id="{62BF6CA2-8D08-4657-9F6A-94C1E608C434}"/>
              </a:ext>
            </a:extLst>
          </p:cNvPr>
          <p:cNvSpPr/>
          <p:nvPr/>
        </p:nvSpPr>
        <p:spPr>
          <a:xfrm>
            <a:off x="7848618" y="2505790"/>
            <a:ext cx="2373086" cy="1585231"/>
          </a:xfrm>
          <a:prstGeom prst="roundRect">
            <a:avLst>
              <a:gd name="adj" fmla="val 16667"/>
            </a:avLst>
          </a:prstGeom>
          <a:solidFill>
            <a:srgbClr val="E63C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L" dirty="0"/>
              <a:t>Patologías recurrentes grupo prevención indicada</a:t>
            </a:r>
            <a:endParaRPr dirty="0"/>
          </a:p>
        </p:txBody>
      </p:sp>
      <p:sp>
        <p:nvSpPr>
          <p:cNvPr id="9" name="Google Shape;402;p30">
            <a:extLst>
              <a:ext uri="{FF2B5EF4-FFF2-40B4-BE49-F238E27FC236}">
                <a16:creationId xmlns:a16="http://schemas.microsoft.com/office/drawing/2014/main" id="{AB53DA2D-3C68-47E8-9690-479DEB943059}"/>
              </a:ext>
            </a:extLst>
          </p:cNvPr>
          <p:cNvSpPr/>
          <p:nvPr/>
        </p:nvSpPr>
        <p:spPr>
          <a:xfrm>
            <a:off x="924236" y="196886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924236" y="3815351"/>
            <a:ext cx="2160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75773B8-ED6B-42F3-9707-57AEF3B27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8364721"/>
              </p:ext>
            </p:extLst>
          </p:nvPr>
        </p:nvGraphicFramePr>
        <p:xfrm>
          <a:off x="5305097" y="1771330"/>
          <a:ext cx="4947590" cy="359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561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Episodio depresión – Grupo manejo clínico</a:t>
            </a:r>
            <a:endParaRPr dirty="0"/>
          </a:p>
        </p:txBody>
      </p:sp>
      <p:sp>
        <p:nvSpPr>
          <p:cNvPr id="516" name="depresion_manejo_clinico_global"/>
          <p:cNvSpPr/>
          <p:nvPr/>
        </p:nvSpPr>
        <p:spPr>
          <a:xfrm>
            <a:off x="671559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37%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19" name="depresion_manejo_clinico_sede"/>
          <p:cNvGraphicFramePr/>
          <p:nvPr>
            <p:extLst>
              <p:ext uri="{D42A27DB-BD31-4B8C-83A1-F6EECF244321}">
                <p14:modId xmlns:p14="http://schemas.microsoft.com/office/powerpoint/2010/main" val="328082613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BBB57DB-71A5-D147-88A9-C6E8887B06FF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61;p14">
            <a:extLst>
              <a:ext uri="{FF2B5EF4-FFF2-40B4-BE49-F238E27FC236}">
                <a16:creationId xmlns:a16="http://schemas.microsoft.com/office/drawing/2014/main" id="{C4376D5B-F88D-4949-8EC2-E9886A08F7F6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19% de las mujeres que participaron del estudio presentan síntomas clínicos de depresión.</a:t>
            </a:r>
          </a:p>
        </p:txBody>
      </p:sp>
      <p:graphicFrame>
        <p:nvGraphicFramePr>
          <p:cNvPr id="15" name="depresion_manejo_clinico">
            <a:extLst>
              <a:ext uri="{FF2B5EF4-FFF2-40B4-BE49-F238E27FC236}">
                <a16:creationId xmlns:a16="http://schemas.microsoft.com/office/drawing/2014/main" id="{3E291FAC-2870-66F8-18A0-85A22E7FB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704327"/>
              </p:ext>
            </p:extLst>
          </p:nvPr>
        </p:nvGraphicFramePr>
        <p:xfrm>
          <a:off x="3686635" y="2040224"/>
          <a:ext cx="8059387" cy="2188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Google Shape;517;p43"/>
          <p:cNvSpPr txBox="1"/>
          <p:nvPr/>
        </p:nvSpPr>
        <p:spPr>
          <a:xfrm>
            <a:off x="70571" y="4662679"/>
            <a:ext cx="276098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depresión.</a:t>
            </a: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52FB3E6A-36DC-49F0-ADC1-9B11C595FF4C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222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ansiedad generalizada – Grupo manejo clínico</a:t>
            </a:r>
            <a:endParaRPr dirty="0"/>
          </a:p>
        </p:txBody>
      </p:sp>
      <p:graphicFrame>
        <p:nvGraphicFramePr>
          <p:cNvPr id="10" name="ansiedad_manejo_clinico_sede">
            <a:extLst>
              <a:ext uri="{FF2B5EF4-FFF2-40B4-BE49-F238E27FC236}">
                <a16:creationId xmlns:a16="http://schemas.microsoft.com/office/drawing/2014/main" id="{6F353EEF-B7EC-6A63-4655-C82AF302A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505081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Google Shape;261;p14">
            <a:extLst>
              <a:ext uri="{FF2B5EF4-FFF2-40B4-BE49-F238E27FC236}">
                <a16:creationId xmlns:a16="http://schemas.microsoft.com/office/drawing/2014/main" id="{403575CC-2FD9-0129-47F0-02351CE8710B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31% de las mujeres que participaron del estudio presentan síntomas clínicos de ansiedad generalizada.</a:t>
            </a:r>
          </a:p>
        </p:txBody>
      </p:sp>
      <p:graphicFrame>
        <p:nvGraphicFramePr>
          <p:cNvPr id="12" name="ansiedad_manejo_clinico">
            <a:extLst>
              <a:ext uri="{FF2B5EF4-FFF2-40B4-BE49-F238E27FC236}">
                <a16:creationId xmlns:a16="http://schemas.microsoft.com/office/drawing/2014/main" id="{B04CB13E-D1DF-4E02-B884-5DAB2CC89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2386254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4306887-2985-AD1C-9793-5C0B29A40D0A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nsiedad_manejo_clinico_global">
            <a:extLst>
              <a:ext uri="{FF2B5EF4-FFF2-40B4-BE49-F238E27FC236}">
                <a16:creationId xmlns:a16="http://schemas.microsoft.com/office/drawing/2014/main" id="{FAE4E925-CD5B-46FD-8FD8-E56C2E8E82E0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29%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2C60A221-C930-4D48-B68D-439E8C79D62E}"/>
              </a:ext>
            </a:extLst>
          </p:cNvPr>
          <p:cNvSpPr txBox="1"/>
          <p:nvPr/>
        </p:nvSpPr>
        <p:spPr>
          <a:xfrm>
            <a:off x="70571" y="4662679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ansiedad generalizada.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D99100AD-C0D2-4999-AA70-713EEB13DC75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825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la personalidad – Grupo manejo clínico</a:t>
            </a:r>
            <a:endParaRPr dirty="0"/>
          </a:p>
        </p:txBody>
      </p:sp>
      <p:graphicFrame>
        <p:nvGraphicFramePr>
          <p:cNvPr id="10" name="personalidad_manejo_clinico_sede">
            <a:extLst>
              <a:ext uri="{FF2B5EF4-FFF2-40B4-BE49-F238E27FC236}">
                <a16:creationId xmlns:a16="http://schemas.microsoft.com/office/drawing/2014/main" id="{C435C8DB-CE52-4B3A-CA65-DB41F2C36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007469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Google Shape;261;p14">
            <a:extLst>
              <a:ext uri="{FF2B5EF4-FFF2-40B4-BE49-F238E27FC236}">
                <a16:creationId xmlns:a16="http://schemas.microsoft.com/office/drawing/2014/main" id="{A4AA13EC-DF90-A411-4B29-48ED2E1E8DC1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42% de las mujeres que participaron del estudio presentan síntomas clínicos de trastorno de la personalidad.</a:t>
            </a:r>
          </a:p>
        </p:txBody>
      </p:sp>
      <p:graphicFrame>
        <p:nvGraphicFramePr>
          <p:cNvPr id="12" name="personalidad_manejo_clinico">
            <a:extLst>
              <a:ext uri="{FF2B5EF4-FFF2-40B4-BE49-F238E27FC236}">
                <a16:creationId xmlns:a16="http://schemas.microsoft.com/office/drawing/2014/main" id="{F7CD735D-2DF8-D68D-3553-D6EE70A3B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75523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1167CF5-7E7C-DB3C-EACE-4527276F9ACD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ersonalidad_manejo_clinico_global">
            <a:extLst>
              <a:ext uri="{FF2B5EF4-FFF2-40B4-BE49-F238E27FC236}">
                <a16:creationId xmlns:a16="http://schemas.microsoft.com/office/drawing/2014/main" id="{4A15B02A-EADD-4CFD-A16E-8F2F687FDCE6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AAF2B077-D465-4664-A199-9628C809AD07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trastorno de la personalidad.</a:t>
            </a:r>
          </a:p>
        </p:txBody>
      </p:sp>
      <p:sp>
        <p:nvSpPr>
          <p:cNvPr id="14" name="Google Shape;427;p32">
            <a:extLst>
              <a:ext uri="{FF2B5EF4-FFF2-40B4-BE49-F238E27FC236}">
                <a16:creationId xmlns:a16="http://schemas.microsoft.com/office/drawing/2014/main" id="{030BA3F9-B700-4141-897C-07AF8F13467F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81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graphicFrame>
        <p:nvGraphicFramePr>
          <p:cNvPr id="10" name="marihuana_manejo_clinico_sede">
            <a:extLst>
              <a:ext uri="{FF2B5EF4-FFF2-40B4-BE49-F238E27FC236}">
                <a16:creationId xmlns:a16="http://schemas.microsoft.com/office/drawing/2014/main" id="{4476E860-8550-A69C-7C9C-DEFFA4E18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723673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Google Shape;261;p14">
            <a:extLst>
              <a:ext uri="{FF2B5EF4-FFF2-40B4-BE49-F238E27FC236}">
                <a16:creationId xmlns:a16="http://schemas.microsoft.com/office/drawing/2014/main" id="{D5EE1FC8-4C9F-9588-BEAA-C9DBDE333AA9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2% de las mujeres que participaron del estudio presentan síntomas clínicos de consumo problemático de marihuana.</a:t>
            </a:r>
          </a:p>
        </p:txBody>
      </p:sp>
      <p:graphicFrame>
        <p:nvGraphicFramePr>
          <p:cNvPr id="12" name="marihuana_manejo_clinico">
            <a:extLst>
              <a:ext uri="{FF2B5EF4-FFF2-40B4-BE49-F238E27FC236}">
                <a16:creationId xmlns:a16="http://schemas.microsoft.com/office/drawing/2014/main" id="{287C095F-BA3B-8676-D0FD-DF67FC9FB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534391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445420-BD48-4385-0EB7-9F2240401967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ihuana_manejo_clinico_global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70571" y="4662679"/>
            <a:ext cx="275202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 de marihuana.</a:t>
            </a:r>
          </a:p>
        </p:txBody>
      </p:sp>
      <p:sp>
        <p:nvSpPr>
          <p:cNvPr id="15" name="Google Shape;427;p32">
            <a:extLst>
              <a:ext uri="{FF2B5EF4-FFF2-40B4-BE49-F238E27FC236}">
                <a16:creationId xmlns:a16="http://schemas.microsoft.com/office/drawing/2014/main" id="{47B7E482-5A25-4776-939A-DB4D1F21BAC1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SENDA 2025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endParaRPr dirty="0"/>
          </a:p>
        </p:txBody>
      </p:sp>
      <p:sp>
        <p:nvSpPr>
          <p:cNvPr id="16" name="marihuana_manejo_clinico_global">
            <a:extLst>
              <a:ext uri="{FF2B5EF4-FFF2-40B4-BE49-F238E27FC236}">
                <a16:creationId xmlns:a16="http://schemas.microsoft.com/office/drawing/2014/main" id="{6AAD2FCA-01A4-42F3-AD03-3CC5BA51A249}"/>
              </a:ext>
            </a:extLst>
          </p:cNvPr>
          <p:cNvSpPr/>
          <p:nvPr/>
        </p:nvSpPr>
        <p:spPr>
          <a:xfrm>
            <a:off x="5016000" y="277136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11%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4423974" y="4617855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Porcentaje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a la pregunta “</a:t>
            </a:r>
            <a:r>
              <a:rPr lang="es-MX" sz="1600" i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¿Cuántos días has consumido marihuana en los últimos 12 meses?”</a:t>
            </a:r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9E2487C7-8E98-46E2-AFBB-59DE13BF8AD2}"/>
              </a:ext>
            </a:extLst>
          </p:cNvPr>
          <p:cNvSpPr/>
          <p:nvPr/>
        </p:nvSpPr>
        <p:spPr>
          <a:xfrm>
            <a:off x="4423974" y="1973742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(2022)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908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alcohol – Grupo manejo clínico</a:t>
            </a:r>
            <a:endParaRPr dirty="0"/>
          </a:p>
        </p:txBody>
      </p:sp>
      <p:graphicFrame>
        <p:nvGraphicFramePr>
          <p:cNvPr id="10" name="alcohol_manejo_clinico_sede">
            <a:extLst>
              <a:ext uri="{FF2B5EF4-FFF2-40B4-BE49-F238E27FC236}">
                <a16:creationId xmlns:a16="http://schemas.microsoft.com/office/drawing/2014/main" id="{49240F82-8CA3-D94B-D016-C72D375E6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6004330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alcohol_manejo_clinico">
            <a:extLst>
              <a:ext uri="{FF2B5EF4-FFF2-40B4-BE49-F238E27FC236}">
                <a16:creationId xmlns:a16="http://schemas.microsoft.com/office/drawing/2014/main" id="{D796B308-03C5-AE1C-2D66-6C45FE9F8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092776"/>
              </p:ext>
            </p:extLst>
          </p:nvPr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D2BC845-CDD7-EA3A-4D1D-DB1A113B34E2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261;p14">
            <a:extLst>
              <a:ext uri="{FF2B5EF4-FFF2-40B4-BE49-F238E27FC236}">
                <a16:creationId xmlns:a16="http://schemas.microsoft.com/office/drawing/2014/main" id="{F293E2A6-C6F6-E567-0F79-1BC23E493A50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39% de las mujeres que participaron del estudio presentan síntomas clínicos de consumo problemático de alcohol.</a:t>
            </a:r>
          </a:p>
        </p:txBody>
      </p:sp>
      <p:sp>
        <p:nvSpPr>
          <p:cNvPr id="11" name="alcohol_manejo_clinico_global">
            <a:extLst>
              <a:ext uri="{FF2B5EF4-FFF2-40B4-BE49-F238E27FC236}">
                <a16:creationId xmlns:a16="http://schemas.microsoft.com/office/drawing/2014/main" id="{8468DAE6-FCF5-483D-96C6-E50F9934653F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FFFFF"/>
                </a:solidFill>
                <a:latin typeface="Calibri Light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5E47208B-1A02-43B7-917E-B6EE6D7C6A64}"/>
              </a:ext>
            </a:extLst>
          </p:cNvPr>
          <p:cNvSpPr txBox="1"/>
          <p:nvPr/>
        </p:nvSpPr>
        <p:spPr>
          <a:xfrm>
            <a:off x="70571" y="4662679"/>
            <a:ext cx="27520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consumo problemático de alcohol.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89F61867-C384-48B7-A889-7BD5A17C9828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6%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88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graphicFrame>
        <p:nvGraphicFramePr>
          <p:cNvPr id="10" name="Google Shape;519;p43">
            <a:extLst>
              <a:ext uri="{FF2B5EF4-FFF2-40B4-BE49-F238E27FC236}">
                <a16:creationId xmlns:a16="http://schemas.microsoft.com/office/drawing/2014/main" id="{CD8FBB64-7F94-B9A3-C3E7-546AA8E5F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767568"/>
              </p:ext>
            </p:extLst>
          </p:nvPr>
        </p:nvGraphicFramePr>
        <p:xfrm>
          <a:off x="3550761" y="4099389"/>
          <a:ext cx="8298165" cy="27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Google Shape;261;p14">
            <a:extLst>
              <a:ext uri="{FF2B5EF4-FFF2-40B4-BE49-F238E27FC236}">
                <a16:creationId xmlns:a16="http://schemas.microsoft.com/office/drawing/2014/main" id="{5DB4E260-3D29-A0B2-8D2D-BD2DFABCFABC}"/>
              </a:ext>
            </a:extLst>
          </p:cNvPr>
          <p:cNvSpPr txBox="1"/>
          <p:nvPr/>
        </p:nvSpPr>
        <p:spPr>
          <a:xfrm>
            <a:off x="3550761" y="1313105"/>
            <a:ext cx="846719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datos presentados por sexo, jornada, tipo de alumno y sede, corresponden al porcentaje de prevalencia para cada categoría. Por ejemplo, el 50% de las mujeres que participaron del estudio presentan sospecha de  ideación suicida.</a:t>
            </a:r>
          </a:p>
        </p:txBody>
      </p:sp>
      <p:graphicFrame>
        <p:nvGraphicFramePr>
          <p:cNvPr id="13" name="Google Shape;508;p42">
            <a:extLst>
              <a:ext uri="{FF2B5EF4-FFF2-40B4-BE49-F238E27FC236}">
                <a16:creationId xmlns:a16="http://schemas.microsoft.com/office/drawing/2014/main" id="{81869CB5-73A7-DF84-909A-1813CC7BEAE7}"/>
              </a:ext>
            </a:extLst>
          </p:cNvPr>
          <p:cNvGraphicFramePr/>
          <p:nvPr/>
        </p:nvGraphicFramePr>
        <p:xfrm>
          <a:off x="3686635" y="2040224"/>
          <a:ext cx="8059387" cy="1792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7B810F-C4EB-D7EA-5F30-CBDBF088C9C1}"/>
              </a:ext>
            </a:extLst>
          </p:cNvPr>
          <p:cNvCxnSpPr>
            <a:cxnSpLocks/>
          </p:cNvCxnSpPr>
          <p:nvPr/>
        </p:nvCxnSpPr>
        <p:spPr>
          <a:xfrm>
            <a:off x="3164441" y="1123730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516;p43">
            <a:extLst>
              <a:ext uri="{FF2B5EF4-FFF2-40B4-BE49-F238E27FC236}">
                <a16:creationId xmlns:a16="http://schemas.microsoft.com/office/drawing/2014/main" id="{12AB57C7-F7DA-4221-BADE-83670CEE61B7}"/>
              </a:ext>
            </a:extLst>
          </p:cNvPr>
          <p:cNvSpPr/>
          <p:nvPr/>
        </p:nvSpPr>
        <p:spPr>
          <a:xfrm>
            <a:off x="662597" y="2816192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517;p43">
            <a:extLst>
              <a:ext uri="{FF2B5EF4-FFF2-40B4-BE49-F238E27FC236}">
                <a16:creationId xmlns:a16="http://schemas.microsoft.com/office/drawing/2014/main" id="{343DADBB-CAEF-4CEC-9C41-586E2F79E8E1}"/>
              </a:ext>
            </a:extLst>
          </p:cNvPr>
          <p:cNvSpPr txBox="1"/>
          <p:nvPr/>
        </p:nvSpPr>
        <p:spPr>
          <a:xfrm>
            <a:off x="70571" y="4662679"/>
            <a:ext cx="275202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ideación suicida.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CE4D427B-C854-412F-847E-7DC359AAE967}"/>
              </a:ext>
            </a:extLst>
          </p:cNvPr>
          <p:cNvSpPr/>
          <p:nvPr/>
        </p:nvSpPr>
        <p:spPr>
          <a:xfrm>
            <a:off x="70571" y="201856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¿Se te han ocurrido pensamientos de que sería mejor estar muerto/a o de hacerte daño de alguna manera?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Google Shape;353;p25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09551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354;p25">
            <a:extLst>
              <a:ext uri="{FF2B5EF4-FFF2-40B4-BE49-F238E27FC236}">
                <a16:creationId xmlns:a16="http://schemas.microsoft.com/office/drawing/2014/main" id="{0A5FACBF-8CFB-4AFD-868E-DD4F809A0D5D}"/>
              </a:ext>
            </a:extLst>
          </p:cNvPr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deseado estar muerto/a o poder dormir y no despertar? (i1)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Google Shape;355;p25">
            <a:extLst>
              <a:ext uri="{FF2B5EF4-FFF2-40B4-BE49-F238E27FC236}">
                <a16:creationId xmlns:a16="http://schemas.microsoft.com/office/drawing/2014/main" id="{4B9F7D73-BE70-43F4-A9F7-4B70B1ED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401746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352;p25">
            <a:extLst>
              <a:ext uri="{FF2B5EF4-FFF2-40B4-BE49-F238E27FC236}">
                <a16:creationId xmlns:a16="http://schemas.microsoft.com/office/drawing/2014/main" id="{866AC697-A7E5-4C46-9845-DCD8666FDE7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6162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-182011" y="1361403"/>
            <a:ext cx="43864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tenido realmente la idea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suicidarte? (i2)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Google Shape;353;p25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049845"/>
              </p:ext>
            </p:extLst>
          </p:nvPr>
        </p:nvGraphicFramePr>
        <p:xfrm>
          <a:off x="-1039907" y="1872529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3474409" y="281762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886277" y="3573526"/>
            <a:ext cx="315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26100B7-BCF2-4798-8F7B-0F35B259D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386288"/>
              </p:ext>
            </p:extLst>
          </p:nvPr>
        </p:nvGraphicFramePr>
        <p:xfrm>
          <a:off x="6346822" y="1333717"/>
          <a:ext cx="5548086" cy="322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9E05397D-284D-4B8B-984E-159DDDDA70F9}"/>
              </a:ext>
            </a:extLst>
          </p:cNvPr>
          <p:cNvSpPr txBox="1"/>
          <p:nvPr/>
        </p:nvSpPr>
        <p:spPr>
          <a:xfrm>
            <a:off x="3474409" y="5508691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¿Alguna vez has hecho algo, comenzado a hacer algo o te has preparado para hacer algo para terminar tu vida? (i6)</a:t>
            </a:r>
            <a:endParaRPr lang="es-MX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Google Shape;353;p25">
            <a:extLst>
              <a:ext uri="{FF2B5EF4-FFF2-40B4-BE49-F238E27FC236}">
                <a16:creationId xmlns:a16="http://schemas.microsoft.com/office/drawing/2014/main" id="{A0DFB884-61B2-4090-806B-51B9E01C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206490"/>
              </p:ext>
            </p:extLst>
          </p:nvPr>
        </p:nvGraphicFramePr>
        <p:xfrm>
          <a:off x="7920846" y="4753194"/>
          <a:ext cx="3643625" cy="2104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Google Shape;352;p25">
            <a:extLst>
              <a:ext uri="{FF2B5EF4-FFF2-40B4-BE49-F238E27FC236}">
                <a16:creationId xmlns:a16="http://schemas.microsoft.com/office/drawing/2014/main" id="{C0EADD7D-E426-4F32-956A-5B89C71EE33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</p:spTree>
    <p:extLst>
      <p:ext uri="{BB962C8B-B14F-4D97-AF65-F5344CB8AC3E}">
        <p14:creationId xmlns:p14="http://schemas.microsoft.com/office/powerpoint/2010/main" val="2452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Otras áreas de riesgo diagnóstico</a:t>
            </a:r>
            <a:endParaRPr dirty="0"/>
          </a:p>
        </p:txBody>
      </p:sp>
      <p:sp>
        <p:nvSpPr>
          <p:cNvPr id="731" name="Google Shape;731;p63"/>
          <p:cNvSpPr/>
          <p:nvPr/>
        </p:nvSpPr>
        <p:spPr>
          <a:xfrm>
            <a:off x="445978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58%</a:t>
            </a:r>
            <a:endParaRPr sz="6000" b="1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732;p63"/>
          <p:cNvSpPr txBox="1"/>
          <p:nvPr/>
        </p:nvSpPr>
        <p:spPr>
          <a:xfrm>
            <a:off x="100590" y="4186015"/>
            <a:ext cx="250538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al menos síntomas sub umbral de </a:t>
            </a:r>
            <a:r>
              <a:rPr lang="es-ES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control de la </a:t>
            </a:r>
            <a:r>
              <a:rPr lang="es-CL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rabia.</a:t>
            </a:r>
            <a:endParaRPr sz="16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559;p46">
            <a:extLst>
              <a:ext uri="{FF2B5EF4-FFF2-40B4-BE49-F238E27FC236}">
                <a16:creationId xmlns:a16="http://schemas.microsoft.com/office/drawing/2014/main" id="{7D538EB1-8FF3-4170-9878-445C40E1D48A}"/>
              </a:ext>
            </a:extLst>
          </p:cNvPr>
          <p:cNvSpPr/>
          <p:nvPr/>
        </p:nvSpPr>
        <p:spPr>
          <a:xfrm>
            <a:off x="3569829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49%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60;p46">
            <a:extLst>
              <a:ext uri="{FF2B5EF4-FFF2-40B4-BE49-F238E27FC236}">
                <a16:creationId xmlns:a16="http://schemas.microsoft.com/office/drawing/2014/main" id="{0DD7486D-237B-42B2-BCA9-866AB0479A58}"/>
              </a:ext>
            </a:extLst>
          </p:cNvPr>
          <p:cNvSpPr txBox="1"/>
          <p:nvPr/>
        </p:nvSpPr>
        <p:spPr>
          <a:xfrm>
            <a:off x="3251335" y="4186015"/>
            <a:ext cx="2478494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de estudiantes que participaron en el estudio, presentan síntomas sub umbral de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pánico. 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 </a:t>
            </a:r>
            <a:endParaRPr sz="1600" b="1" dirty="0">
              <a:solidFill>
                <a:schemeClr val="dk1"/>
              </a:solidFill>
              <a:latin typeface="Calibri Light"/>
              <a:ea typeface="Calibri"/>
              <a:cs typeface="Calibri Light"/>
              <a:sym typeface="Calibri"/>
            </a:endParaRPr>
          </a:p>
        </p:txBody>
      </p:sp>
      <p:sp>
        <p:nvSpPr>
          <p:cNvPr id="17" name="Google Shape;781;p67">
            <a:extLst>
              <a:ext uri="{FF2B5EF4-FFF2-40B4-BE49-F238E27FC236}">
                <a16:creationId xmlns:a16="http://schemas.microsoft.com/office/drawing/2014/main" id="{A7ED44AF-627F-429F-B6C4-A92F712CB634}"/>
              </a:ext>
            </a:extLst>
          </p:cNvPr>
          <p:cNvSpPr/>
          <p:nvPr/>
        </p:nvSpPr>
        <p:spPr>
          <a:xfrm>
            <a:off x="6693680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782;p67">
            <a:extLst>
              <a:ext uri="{FF2B5EF4-FFF2-40B4-BE49-F238E27FC236}">
                <a16:creationId xmlns:a16="http://schemas.microsoft.com/office/drawing/2014/main" id="{C2E325FB-E356-403A-A192-B2596E4C3B81}"/>
              </a:ext>
            </a:extLst>
          </p:cNvPr>
          <p:cNvSpPr txBox="1"/>
          <p:nvPr/>
        </p:nvSpPr>
        <p:spPr>
          <a:xfrm>
            <a:off x="6310963" y="4186015"/>
            <a:ext cx="254271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al menos nivel sub umbral de </a:t>
            </a:r>
            <a:r>
              <a:rPr lang="es-CL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síntomas somáticos.</a:t>
            </a:r>
            <a:endParaRPr sz="16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816;p70">
            <a:extLst>
              <a:ext uri="{FF2B5EF4-FFF2-40B4-BE49-F238E27FC236}">
                <a16:creationId xmlns:a16="http://schemas.microsoft.com/office/drawing/2014/main" id="{62EA5DA7-C3E9-4FE2-B5B5-8D0733D75223}"/>
              </a:ext>
            </a:extLst>
          </p:cNvPr>
          <p:cNvSpPr/>
          <p:nvPr/>
        </p:nvSpPr>
        <p:spPr>
          <a:xfrm>
            <a:off x="9727531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55%</a:t>
            </a:r>
            <a:endParaRPr sz="6000" b="1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817;p70">
            <a:extLst>
              <a:ext uri="{FF2B5EF4-FFF2-40B4-BE49-F238E27FC236}">
                <a16:creationId xmlns:a16="http://schemas.microsoft.com/office/drawing/2014/main" id="{FFACC3AB-CC36-4F63-8B2F-36DA5A2322C4}"/>
              </a:ext>
            </a:extLst>
          </p:cNvPr>
          <p:cNvSpPr txBox="1"/>
          <p:nvPr/>
        </p:nvSpPr>
        <p:spPr>
          <a:xfrm>
            <a:off x="9370591" y="4186015"/>
            <a:ext cx="251694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al menos síntomas sub umbral de</a:t>
            </a: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</a:t>
            </a:r>
            <a:r>
              <a:rPr lang="es-CL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problemas de sueño.</a:t>
            </a:r>
            <a:endParaRPr sz="16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1" name="Google Shape;427;p32">
            <a:extLst>
              <a:ext uri="{FF2B5EF4-FFF2-40B4-BE49-F238E27FC236}">
                <a16:creationId xmlns:a16="http://schemas.microsoft.com/office/drawing/2014/main" id="{D9763FF2-E3D2-4857-A67F-EC0D8E581005}"/>
              </a:ext>
            </a:extLst>
          </p:cNvPr>
          <p:cNvSpPr/>
          <p:nvPr/>
        </p:nvSpPr>
        <p:spPr>
          <a:xfrm>
            <a:off x="100590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F5A45CAB-2B9D-4F71-9643-51F3EFBE7F7B}"/>
              </a:ext>
            </a:extLst>
          </p:cNvPr>
          <p:cNvSpPr/>
          <p:nvPr/>
        </p:nvSpPr>
        <p:spPr>
          <a:xfrm>
            <a:off x="3251335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41%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Google Shape;427;p32">
            <a:extLst>
              <a:ext uri="{FF2B5EF4-FFF2-40B4-BE49-F238E27FC236}">
                <a16:creationId xmlns:a16="http://schemas.microsoft.com/office/drawing/2014/main" id="{02FEC999-FBBC-4480-85D3-B7867F5D8046}"/>
              </a:ext>
            </a:extLst>
          </p:cNvPr>
          <p:cNvSpPr/>
          <p:nvPr/>
        </p:nvSpPr>
        <p:spPr>
          <a:xfrm>
            <a:off x="6310963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72%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" name="Google Shape;427;p32">
            <a:extLst>
              <a:ext uri="{FF2B5EF4-FFF2-40B4-BE49-F238E27FC236}">
                <a16:creationId xmlns:a16="http://schemas.microsoft.com/office/drawing/2014/main" id="{43A99018-F24C-458C-885C-98A4AA2BEF66}"/>
              </a:ext>
            </a:extLst>
          </p:cNvPr>
          <p:cNvSpPr/>
          <p:nvPr/>
        </p:nvSpPr>
        <p:spPr>
          <a:xfrm>
            <a:off x="9370591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077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Otras áreas de riesgo diagnóstico</a:t>
            </a:r>
            <a:endParaRPr dirty="0"/>
          </a:p>
        </p:txBody>
      </p:sp>
      <p:sp>
        <p:nvSpPr>
          <p:cNvPr id="731" name="Google Shape;731;p63"/>
          <p:cNvSpPr/>
          <p:nvPr/>
        </p:nvSpPr>
        <p:spPr>
          <a:xfrm>
            <a:off x="445978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732;p63"/>
          <p:cNvSpPr txBox="1"/>
          <p:nvPr/>
        </p:nvSpPr>
        <p:spPr>
          <a:xfrm>
            <a:off x="100590" y="4186015"/>
            <a:ext cx="250538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al menos síntomas sub umbral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problemas de memoria.</a:t>
            </a:r>
          </a:p>
        </p:txBody>
      </p:sp>
      <p:sp>
        <p:nvSpPr>
          <p:cNvPr id="15" name="Google Shape;559;p46">
            <a:extLst>
              <a:ext uri="{FF2B5EF4-FFF2-40B4-BE49-F238E27FC236}">
                <a16:creationId xmlns:a16="http://schemas.microsoft.com/office/drawing/2014/main" id="{7D538EB1-8FF3-4170-9878-445C40E1D48A}"/>
              </a:ext>
            </a:extLst>
          </p:cNvPr>
          <p:cNvSpPr/>
          <p:nvPr/>
        </p:nvSpPr>
        <p:spPr>
          <a:xfrm>
            <a:off x="3569829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560;p46">
            <a:extLst>
              <a:ext uri="{FF2B5EF4-FFF2-40B4-BE49-F238E27FC236}">
                <a16:creationId xmlns:a16="http://schemas.microsoft.com/office/drawing/2014/main" id="{0DD7486D-237B-42B2-BCA9-866AB0479A58}"/>
              </a:ext>
            </a:extLst>
          </p:cNvPr>
          <p:cNvSpPr txBox="1"/>
          <p:nvPr/>
        </p:nvSpPr>
        <p:spPr>
          <a:xfrm>
            <a:off x="3251335" y="4186015"/>
            <a:ext cx="247849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de estudiantes que participaron en el estudio, presentan síntomas sub umbral de </a:t>
            </a:r>
            <a:r>
              <a:rPr lang="es-MX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conductas y pensamientos obsesivos</a:t>
            </a:r>
            <a:r>
              <a:rPr lang="es-MX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. </a:t>
            </a:r>
            <a:endParaRPr lang="es-MX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17" name="Google Shape;781;p67">
            <a:extLst>
              <a:ext uri="{FF2B5EF4-FFF2-40B4-BE49-F238E27FC236}">
                <a16:creationId xmlns:a16="http://schemas.microsoft.com/office/drawing/2014/main" id="{A7ED44AF-627F-429F-B6C4-A92F712CB634}"/>
              </a:ext>
            </a:extLst>
          </p:cNvPr>
          <p:cNvSpPr/>
          <p:nvPr/>
        </p:nvSpPr>
        <p:spPr>
          <a:xfrm>
            <a:off x="6693680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782;p67">
            <a:extLst>
              <a:ext uri="{FF2B5EF4-FFF2-40B4-BE49-F238E27FC236}">
                <a16:creationId xmlns:a16="http://schemas.microsoft.com/office/drawing/2014/main" id="{C2E325FB-E356-403A-A192-B2596E4C3B81}"/>
              </a:ext>
            </a:extLst>
          </p:cNvPr>
          <p:cNvSpPr txBox="1"/>
          <p:nvPr/>
        </p:nvSpPr>
        <p:spPr>
          <a:xfrm>
            <a:off x="6310963" y="4186015"/>
            <a:ext cx="254271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al menos síntomas sub umbral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disociación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.</a:t>
            </a:r>
          </a:p>
        </p:txBody>
      </p:sp>
      <p:sp>
        <p:nvSpPr>
          <p:cNvPr id="19" name="Google Shape;816;p70">
            <a:extLst>
              <a:ext uri="{FF2B5EF4-FFF2-40B4-BE49-F238E27FC236}">
                <a16:creationId xmlns:a16="http://schemas.microsoft.com/office/drawing/2014/main" id="{62EA5DA7-C3E9-4FE2-B5B5-8D0733D75223}"/>
              </a:ext>
            </a:extLst>
          </p:cNvPr>
          <p:cNvSpPr/>
          <p:nvPr/>
        </p:nvSpPr>
        <p:spPr>
          <a:xfrm>
            <a:off x="9727531" y="233952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6%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817;p70">
            <a:extLst>
              <a:ext uri="{FF2B5EF4-FFF2-40B4-BE49-F238E27FC236}">
                <a16:creationId xmlns:a16="http://schemas.microsoft.com/office/drawing/2014/main" id="{FFACC3AB-CC36-4F63-8B2F-36DA5A2322C4}"/>
              </a:ext>
            </a:extLst>
          </p:cNvPr>
          <p:cNvSpPr txBox="1"/>
          <p:nvPr/>
        </p:nvSpPr>
        <p:spPr>
          <a:xfrm>
            <a:off x="9370591" y="4186015"/>
            <a:ext cx="251694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de estudiantes que participaron en el estudio, sin consumo problemático de </a:t>
            </a:r>
            <a:r>
              <a:rPr lang="es-MX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trastorno de la conducta alimentaria</a:t>
            </a:r>
            <a:r>
              <a:rPr lang="es-MX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. </a:t>
            </a:r>
            <a:endParaRPr lang="es-MX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23" name="Google Shape;427;p32">
            <a:extLst>
              <a:ext uri="{FF2B5EF4-FFF2-40B4-BE49-F238E27FC236}">
                <a16:creationId xmlns:a16="http://schemas.microsoft.com/office/drawing/2014/main" id="{612466BD-2B8C-40F1-BBDE-7E1B7239E4D0}"/>
              </a:ext>
            </a:extLst>
          </p:cNvPr>
          <p:cNvSpPr/>
          <p:nvPr/>
        </p:nvSpPr>
        <p:spPr>
          <a:xfrm>
            <a:off x="100590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4" name="Google Shape;427;p32">
            <a:extLst>
              <a:ext uri="{FF2B5EF4-FFF2-40B4-BE49-F238E27FC236}">
                <a16:creationId xmlns:a16="http://schemas.microsoft.com/office/drawing/2014/main" id="{C2FB2A7F-678D-4F7B-97C8-E3482F9D4D27}"/>
              </a:ext>
            </a:extLst>
          </p:cNvPr>
          <p:cNvSpPr/>
          <p:nvPr/>
        </p:nvSpPr>
        <p:spPr>
          <a:xfrm>
            <a:off x="3251335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8%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5" name="Google Shape;427;p32">
            <a:extLst>
              <a:ext uri="{FF2B5EF4-FFF2-40B4-BE49-F238E27FC236}">
                <a16:creationId xmlns:a16="http://schemas.microsoft.com/office/drawing/2014/main" id="{B34DADA3-EA81-414D-99A6-619BA12C129F}"/>
              </a:ext>
            </a:extLst>
          </p:cNvPr>
          <p:cNvSpPr/>
          <p:nvPr/>
        </p:nvSpPr>
        <p:spPr>
          <a:xfrm>
            <a:off x="6310963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42%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6" name="Google Shape;427;p32">
            <a:extLst>
              <a:ext uri="{FF2B5EF4-FFF2-40B4-BE49-F238E27FC236}">
                <a16:creationId xmlns:a16="http://schemas.microsoft.com/office/drawing/2014/main" id="{C4605017-789A-42D7-91F2-A8D2057A5F49}"/>
              </a:ext>
            </a:extLst>
          </p:cNvPr>
          <p:cNvSpPr/>
          <p:nvPr/>
        </p:nvSpPr>
        <p:spPr>
          <a:xfrm>
            <a:off x="9370591" y="156042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112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búsqueda de ayuda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 los últimos dos meses, ¿has necesitado algún tipo de apoyo o tratamiento en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278997531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Pudiste acceder al tratamiento que necesitabas</a:t>
            </a: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2201124479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¿Dónde accediste al tratamiento?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854466806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tipo de tratamiento obtuviste?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559259504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4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barreras de acceso a tratamiento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373" name="Google Shape;373;p26"/>
          <p:cNvGraphicFramePr/>
          <p:nvPr>
            <p:extLst>
              <p:ext uri="{D42A27DB-BD31-4B8C-83A1-F6EECF244321}">
                <p14:modId xmlns:p14="http://schemas.microsoft.com/office/powerpoint/2010/main" val="2767031248"/>
              </p:ext>
            </p:extLst>
          </p:nvPr>
        </p:nvGraphicFramePr>
        <p:xfrm>
          <a:off x="491319" y="1338944"/>
          <a:ext cx="11225724" cy="445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4" name="Google Shape;374;p26"/>
          <p:cNvSpPr txBox="1"/>
          <p:nvPr/>
        </p:nvSpPr>
        <p:spPr>
          <a:xfrm>
            <a:off x="2058452" y="6504523"/>
            <a:ext cx="85050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*Entre aquellos que mencionaron no haber tenido acceso a algún apoyo o tratamiento de salud mental.</a:t>
            </a:r>
            <a:endParaRPr dirty="0"/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733269E-93A7-E828-46C8-5215B9D7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34" y="5864487"/>
            <a:ext cx="3371850" cy="36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bienestar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bienestar</a:t>
            </a:r>
            <a:endParaRPr dirty="0"/>
          </a:p>
        </p:txBody>
      </p:sp>
      <p:graphicFrame>
        <p:nvGraphicFramePr>
          <p:cNvPr id="416" name="Google Shape;416;p31"/>
          <p:cNvGraphicFramePr/>
          <p:nvPr>
            <p:extLst>
              <p:ext uri="{D42A27DB-BD31-4B8C-83A1-F6EECF244321}">
                <p14:modId xmlns:p14="http://schemas.microsoft.com/office/powerpoint/2010/main" val="2652988043"/>
              </p:ext>
            </p:extLst>
          </p:nvPr>
        </p:nvGraphicFramePr>
        <p:xfrm>
          <a:off x="3537857" y="3663937"/>
          <a:ext cx="8298165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" name="Google Shape;419;p31"/>
          <p:cNvGraphicFramePr/>
          <p:nvPr>
            <p:extLst>
              <p:ext uri="{D42A27DB-BD31-4B8C-83A1-F6EECF244321}">
                <p14:modId xmlns:p14="http://schemas.microsoft.com/office/powerpoint/2010/main" val="3523129359"/>
              </p:ext>
            </p:extLst>
          </p:nvPr>
        </p:nvGraphicFramePr>
        <p:xfrm>
          <a:off x="3708022" y="819066"/>
          <a:ext cx="8128000" cy="29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418;p31"/>
          <p:cNvSpPr txBox="1"/>
          <p:nvPr/>
        </p:nvSpPr>
        <p:spPr>
          <a:xfrm>
            <a:off x="321370" y="4690834"/>
            <a:ext cx="27244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Es el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nivel de bienestar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para los estudiantes que participaron </a:t>
            </a:r>
            <a:r>
              <a:rPr lang="es-CL" sz="160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en el estudio (de un máximo de 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7 puntos)  .</a:t>
            </a:r>
            <a:endParaRPr lang="es-CL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42259C6-A8AD-4051-AF5D-227E700CD252}"/>
              </a:ext>
            </a:extLst>
          </p:cNvPr>
          <p:cNvSpPr/>
          <p:nvPr/>
        </p:nvSpPr>
        <p:spPr>
          <a:xfrm>
            <a:off x="321370" y="138235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74902"/>
            </a:srgbClr>
          </a:solidFill>
          <a:ln>
            <a:solidFill>
              <a:srgbClr val="55B29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4,8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40DF7B16-764D-4914-823B-140AA1ACE6EB}"/>
              </a:ext>
            </a:extLst>
          </p:cNvPr>
          <p:cNvSpPr/>
          <p:nvPr/>
        </p:nvSpPr>
        <p:spPr>
          <a:xfrm>
            <a:off x="326077" y="35826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Google Shape;417;p31">
            <a:extLst>
              <a:ext uri="{FF2B5EF4-FFF2-40B4-BE49-F238E27FC236}">
                <a16:creationId xmlns:a16="http://schemas.microsoft.com/office/drawing/2014/main" id="{C4A0C148-5530-45DA-B12D-9F270320538C}"/>
              </a:ext>
            </a:extLst>
          </p:cNvPr>
          <p:cNvSpPr/>
          <p:nvPr/>
        </p:nvSpPr>
        <p:spPr>
          <a:xfrm>
            <a:off x="885772" y="2121677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 = Positive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positiva)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Engagement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(Entusiasmo)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Relationships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(Relaciones)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Meaning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(Significado)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Accomplishment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(Logro)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1686367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endParaRPr dirty="0"/>
          </a:p>
        </p:txBody>
      </p:sp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 = Negative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negativa)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Health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(Salud)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Loneliness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(Soledad)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172701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49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Apoyo percibido</a:t>
            </a:r>
            <a:endParaRPr/>
          </a:p>
        </p:txBody>
      </p:sp>
      <p:graphicFrame>
        <p:nvGraphicFramePr>
          <p:cNvPr id="343" name="Google Shape;343;p24"/>
          <p:cNvGraphicFramePr/>
          <p:nvPr>
            <p:extLst>
              <p:ext uri="{D42A27DB-BD31-4B8C-83A1-F6EECF244321}">
                <p14:modId xmlns:p14="http://schemas.microsoft.com/office/powerpoint/2010/main" val="1951455050"/>
              </p:ext>
            </p:extLst>
          </p:nvPr>
        </p:nvGraphicFramePr>
        <p:xfrm>
          <a:off x="981247" y="1547253"/>
          <a:ext cx="10659431" cy="4406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FAAC6B-B4AE-4649-881A-F216154540BE}"/>
              </a:ext>
            </a:extLst>
          </p:cNvPr>
          <p:cNvSpPr/>
          <p:nvPr/>
        </p:nvSpPr>
        <p:spPr>
          <a:xfrm>
            <a:off x="3842551" y="4957200"/>
            <a:ext cx="4579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Clr>
                <a:srgbClr val="3F3F3F"/>
              </a:buClr>
              <a:buSzPts val="1600"/>
            </a:pPr>
            <a:r>
              <a:rPr lang="es-MX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Apreciación positiva total de estados de inmersión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E6B7A8-6B45-4F4D-A905-E693E5A21E61}"/>
              </a:ext>
            </a:extLst>
          </p:cNvPr>
          <p:cNvSpPr/>
          <p:nvPr/>
        </p:nvSpPr>
        <p:spPr>
          <a:xfrm>
            <a:off x="4888800" y="2084400"/>
            <a:ext cx="2520000" cy="2520000"/>
          </a:xfrm>
          <a:prstGeom prst="ellipse">
            <a:avLst/>
          </a:prstGeom>
          <a:noFill/>
          <a:ln w="57150">
            <a:solidFill>
              <a:srgbClr val="27B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CL" sz="6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https://o.remove.bg/downloads/a2fe74ba-119e-4176-840d-2e2a91317f11/image-removebg-preview.png">
            <a:extLst>
              <a:ext uri="{FF2B5EF4-FFF2-40B4-BE49-F238E27FC236}">
                <a16:creationId xmlns:a16="http://schemas.microsoft.com/office/drawing/2014/main" id="{CDF56695-D92C-4F9C-9B2A-16F4B11B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1" y="4240530"/>
            <a:ext cx="1935196" cy="193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FC13E964-DD1E-4C3A-869E-802D0783EA58}"/>
              </a:ext>
            </a:extLst>
          </p:cNvPr>
          <p:cNvSpPr txBox="1">
            <a:spLocks/>
          </p:cNvSpPr>
          <p:nvPr/>
        </p:nvSpPr>
        <p:spPr>
          <a:xfrm>
            <a:off x="4870800" y="2959200"/>
            <a:ext cx="2552351" cy="7634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72%</a:t>
            </a:r>
          </a:p>
        </p:txBody>
      </p:sp>
    </p:spTree>
    <p:extLst>
      <p:ext uri="{BB962C8B-B14F-4D97-AF65-F5344CB8AC3E}">
        <p14:creationId xmlns:p14="http://schemas.microsoft.com/office/powerpoint/2010/main" val="4072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</a:t>
            </a:r>
            <a:endParaRPr dirty="0"/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ráfico 7">
            <a:extLst>
              <a:ext uri="{FF2B5EF4-FFF2-40B4-BE49-F238E27FC236}">
                <a16:creationId xmlns:a16="http://schemas.microsoft.com/office/drawing/2014/main" id="{FC54E293-B2B7-448C-AA1C-9F85ED19D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3444727"/>
              </p:ext>
            </p:extLst>
          </p:nvPr>
        </p:nvGraphicFramePr>
        <p:xfrm>
          <a:off x="-1762024" y="1283027"/>
          <a:ext cx="13790737" cy="521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D964812-2EFF-4587-B3D9-60CE9FB2FA87}"/>
              </a:ext>
            </a:extLst>
          </p:cNvPr>
          <p:cNvSpPr txBox="1">
            <a:spLocks/>
          </p:cNvSpPr>
          <p:nvPr/>
        </p:nvSpPr>
        <p:spPr>
          <a:xfrm>
            <a:off x="5994827" y="6499878"/>
            <a:ext cx="6455708" cy="2826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070" kern="1200" dirty="0" smtClean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ym typeface="Calibri"/>
              </a:rPr>
              <a:t>* La suma de los porcentajes podría no totalizar 100% por la aproximación de decimales</a:t>
            </a:r>
            <a:endParaRPr lang="es-ES" sz="1100" dirty="0">
              <a:solidFill>
                <a:srgbClr val="7F7F7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Actividad física</a:t>
            </a:r>
            <a:endParaRPr dirty="0"/>
          </a:p>
        </p:txBody>
      </p:sp>
      <p:pic>
        <p:nvPicPr>
          <p:cNvPr id="1135" name="Google Shape;1135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9743" y="204482"/>
            <a:ext cx="534146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Google Shape;1128;p101">
            <a:extLst>
              <a:ext uri="{FF2B5EF4-FFF2-40B4-BE49-F238E27FC236}">
                <a16:creationId xmlns:a16="http://schemas.microsoft.com/office/drawing/2014/main" id="{94A38310-71C6-4207-916A-109C05A68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521160"/>
              </p:ext>
            </p:extLst>
          </p:nvPr>
        </p:nvGraphicFramePr>
        <p:xfrm>
          <a:off x="3854075" y="1327178"/>
          <a:ext cx="4913775" cy="450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Alimentación</a:t>
            </a:r>
            <a:endParaRPr/>
          </a:p>
        </p:txBody>
      </p:sp>
      <p:graphicFrame>
        <p:nvGraphicFramePr>
          <p:cNvPr id="1141" name="Google Shape;1141;p102"/>
          <p:cNvGraphicFramePr/>
          <p:nvPr/>
        </p:nvGraphicFramePr>
        <p:xfrm>
          <a:off x="190837" y="1069864"/>
          <a:ext cx="11724937" cy="200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42" name="Google Shape;1142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764" y="169864"/>
            <a:ext cx="1062259" cy="78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102"/>
          <p:cNvSpPr/>
          <p:nvPr/>
        </p:nvSpPr>
        <p:spPr>
          <a:xfrm>
            <a:off x="190837" y="1605303"/>
            <a:ext cx="11565734" cy="819397"/>
          </a:xfrm>
          <a:prstGeom prst="rect">
            <a:avLst/>
          </a:prstGeom>
          <a:noFill/>
          <a:ln w="38100" cap="flat" cmpd="sng">
            <a:solidFill>
              <a:srgbClr val="55B2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2"/>
          <p:cNvSpPr/>
          <p:nvPr/>
        </p:nvSpPr>
        <p:spPr>
          <a:xfrm>
            <a:off x="190837" y="3074874"/>
            <a:ext cx="11565734" cy="36412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Google Shape;1141;p102"/>
          <p:cNvGraphicFramePr/>
          <p:nvPr/>
        </p:nvGraphicFramePr>
        <p:xfrm>
          <a:off x="254879" y="3074873"/>
          <a:ext cx="11682242" cy="334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70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/>
              <a:t>Ingesta de líquidos</a:t>
            </a:r>
            <a:endParaRPr/>
          </a:p>
        </p:txBody>
      </p:sp>
      <p:graphicFrame>
        <p:nvGraphicFramePr>
          <p:cNvPr id="1168" name="Google Shape;1168;p105"/>
          <p:cNvGraphicFramePr/>
          <p:nvPr>
            <p:extLst>
              <p:ext uri="{D42A27DB-BD31-4B8C-83A1-F6EECF244321}">
                <p14:modId xmlns:p14="http://schemas.microsoft.com/office/powerpoint/2010/main" val="1438025513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69" name="Google Shape;1169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6150" y="119748"/>
            <a:ext cx="903030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5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Tabaquismo</a:t>
            </a:r>
            <a:endParaRPr dirty="0"/>
          </a:p>
        </p:txBody>
      </p:sp>
      <p:graphicFrame>
        <p:nvGraphicFramePr>
          <p:cNvPr id="5" name="Google Shape;1168;p105">
            <a:extLst>
              <a:ext uri="{FF2B5EF4-FFF2-40B4-BE49-F238E27FC236}">
                <a16:creationId xmlns:a16="http://schemas.microsoft.com/office/drawing/2014/main" id="{5BBC86A8-A241-4C94-B947-C736276A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7823850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black and white image of a cigarette&#10;&#10;AI-generated content may be incorrect.">
            <a:extLst>
              <a:ext uri="{FF2B5EF4-FFF2-40B4-BE49-F238E27FC236}">
                <a16:creationId xmlns:a16="http://schemas.microsoft.com/office/drawing/2014/main" id="{4EE0938B-A1F5-E213-9763-4E9C3980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650" y="97004"/>
            <a:ext cx="969044" cy="9289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674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Experiencia emocional e insights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3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5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639" y="1801198"/>
            <a:ext cx="6464721" cy="4016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9;p11">
            <a:extLst>
              <a:ext uri="{FF2B5EF4-FFF2-40B4-BE49-F238E27FC236}">
                <a16:creationId xmlns:a16="http://schemas.microsoft.com/office/drawing/2014/main" id="{4EF4A740-ABAE-4AB2-99BC-A93D5DBB2DD7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Mujeres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Hombres</a:t>
            </a:r>
            <a:endParaRPr sz="200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Google Shape;277;p16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219;p11">
            <a:extLst>
              <a:ext uri="{FF2B5EF4-FFF2-40B4-BE49-F238E27FC236}">
                <a16:creationId xmlns:a16="http://schemas.microsoft.com/office/drawing/2014/main" id="{A867D09D-7D5A-41EE-AB42-CAC7999ECCDF}"/>
              </a:ext>
            </a:extLst>
          </p:cNvPr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00223A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¿Cómo es la experiencia emocional de las y los estudiantes?</a:t>
            </a:r>
            <a:endParaRPr dirty="0">
              <a:solidFill>
                <a:srgbClr val="00223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87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B29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796604" y="4882487"/>
            <a:ext cx="32276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657432" y="4882950"/>
            <a:ext cx="33070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83862" y="4861615"/>
            <a:ext cx="3054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491319" y="419556"/>
            <a:ext cx="11639289" cy="61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Insights resultados descriptivos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391729" y="1789881"/>
            <a:ext cx="2372779" cy="9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208329" y="1783754"/>
            <a:ext cx="2449103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lt1"/>
                </a:solidFill>
                <a:latin typeface="Calibri Light" panose="020F0302020204030204" pitchFamily="34" charset="0"/>
                <a:ea typeface="Verdana"/>
                <a:cs typeface="Calibri Light" panose="020F0302020204030204" pitchFamily="34" charset="0"/>
                <a:sym typeface="Verdana"/>
              </a:rPr>
              <a:t>XXX</a:t>
            </a:r>
            <a:endParaRPr dirty="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00A3E5-955F-3CC1-516C-1D3434FC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8" y="1872869"/>
            <a:ext cx="779581" cy="7343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FC49A5-F79E-0434-8679-358EF873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463" y="4122545"/>
            <a:ext cx="637397" cy="61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684C97-F342-C05A-2748-1D45C222A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81" y="4001975"/>
            <a:ext cx="777311" cy="8063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F8DF50-0CFD-D43A-64C4-7BA055DC1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226" y="1872869"/>
            <a:ext cx="1268787" cy="7343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ADE7885-19BF-06E8-3FC0-ABD542D94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971013" y="4001975"/>
            <a:ext cx="878845" cy="8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3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ctrTitle"/>
          </p:nvPr>
        </p:nvSpPr>
        <p:spPr>
          <a:xfrm>
            <a:off x="1523999" y="219233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L" cap="small" dirty="0"/>
              <a:t>Resultados inferenciales</a:t>
            </a:r>
            <a:endParaRPr cap="small" dirty="0"/>
          </a:p>
        </p:txBody>
      </p:sp>
    </p:spTree>
    <p:extLst>
      <p:ext uri="{BB962C8B-B14F-4D97-AF65-F5344CB8AC3E}">
        <p14:creationId xmlns:p14="http://schemas.microsoft.com/office/powerpoint/2010/main" val="270519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1;p2"/>
          <p:cNvSpPr txBox="1">
            <a:spLocks/>
          </p:cNvSpPr>
          <p:nvPr/>
        </p:nvSpPr>
        <p:spPr>
          <a:xfrm>
            <a:off x="379264" y="0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i="0" u="none" strike="noStrike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F3F3F"/>
              </a:buClr>
              <a:buSzPts val="3200"/>
            </a:pPr>
            <a:r>
              <a:rPr lang="es-ES" dirty="0"/>
              <a:t>Metodología: Selección de grupos y predictores</a:t>
            </a:r>
          </a:p>
        </p:txBody>
      </p:sp>
      <p:sp>
        <p:nvSpPr>
          <p:cNvPr id="14" name="Google Shape;102;p2"/>
          <p:cNvSpPr txBox="1"/>
          <p:nvPr/>
        </p:nvSpPr>
        <p:spPr>
          <a:xfrm>
            <a:off x="0" y="876905"/>
            <a:ext cx="11767301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lang="es-CL" sz="1600" b="0" i="0" u="none" strike="noStrike" cap="none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s-MX" sz="1600" b="0" i="0" u="none" strike="noStrike" cap="none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	XXX</a:t>
            </a:r>
            <a:endParaRPr sz="16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marR="0" lvl="0" indent="-1968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rgbClr val="3A434C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D7BB72-E332-4027-AA43-2CAAB5082592}"/>
              </a:ext>
            </a:extLst>
          </p:cNvPr>
          <p:cNvSpPr txBox="1"/>
          <p:nvPr/>
        </p:nvSpPr>
        <p:spPr>
          <a:xfrm>
            <a:off x="9278471" y="365125"/>
            <a:ext cx="1532963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Apartado completo por diseñar</a:t>
            </a:r>
          </a:p>
        </p:txBody>
      </p:sp>
    </p:spTree>
    <p:extLst>
      <p:ext uri="{BB962C8B-B14F-4D97-AF65-F5344CB8AC3E}">
        <p14:creationId xmlns:p14="http://schemas.microsoft.com/office/powerpoint/2010/main" val="329525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iniciativas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App Vivo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2855820774"/>
              </p:ext>
            </p:extLst>
          </p:nvPr>
        </p:nvGraphicFramePr>
        <p:xfrm>
          <a:off x="61392" y="1847541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579239" y="99592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1746136637"/>
              </p:ext>
            </p:extLst>
          </p:nvPr>
        </p:nvGraphicFramePr>
        <p:xfrm>
          <a:off x="7240365" y="1584016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el uso de la APP Vivo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BD9444E5-5C53-4BF1-95A4-B2945CDEC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EBB1B67D-3C61-4669-AB83-031845671B4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52198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96F2476E-E0D6-4966-BCA8-C68C1055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264865" y="1933923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¿Eres un Embajador/a del Bienestar y la Salud Mental en tu sede?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624439"/>
              </p:ext>
            </p:extLst>
          </p:nvPr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6;p25">
            <a:extLst>
              <a:ext uri="{FF2B5EF4-FFF2-40B4-BE49-F238E27FC236}">
                <a16:creationId xmlns:a16="http://schemas.microsoft.com/office/drawing/2014/main" id="{946EBDD2-4718-4BBC-8D0C-05216453049A}"/>
              </a:ext>
            </a:extLst>
          </p:cNvPr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9" y="1883425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el curso de embajadores ha aportado a tu bienestar y salud mental?</a:t>
            </a:r>
          </a:p>
        </p:txBody>
      </p:sp>
      <p:graphicFrame>
        <p:nvGraphicFramePr>
          <p:cNvPr id="9" name="Google Shape;355;p25">
            <a:extLst>
              <a:ext uri="{FF2B5EF4-FFF2-40B4-BE49-F238E27FC236}">
                <a16:creationId xmlns:a16="http://schemas.microsoft.com/office/drawing/2014/main" id="{37ACE16A-3504-4F03-B475-BC352B0B3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7960910"/>
              </p:ext>
            </p:extLst>
          </p:nvPr>
        </p:nvGraphicFramePr>
        <p:xfrm>
          <a:off x="7240365" y="2471521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5E084309-8FF2-4496-AEDF-F99EC463E9A1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4754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1392" y="1582659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Desde que eres Embajador/a, ¿a cuántas personas has podido apoyar en tu rol de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954821951"/>
              </p:ext>
            </p:extLst>
          </p:nvPr>
        </p:nvGraphicFramePr>
        <p:xfrm>
          <a:off x="617165" y="2304740"/>
          <a:ext cx="4770584" cy="270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12319" y="43278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Pensando en cuando te formaste como Embajador/a, ¿qué tan satisfecho/a te encuentras con lo aprendido en el curso?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Google Shape;355;p25"/>
          <p:cNvGraphicFramePr/>
          <p:nvPr>
            <p:extLst>
              <p:ext uri="{D42A27DB-BD31-4B8C-83A1-F6EECF244321}">
                <p14:modId xmlns:p14="http://schemas.microsoft.com/office/powerpoint/2010/main" val="3284221420"/>
              </p:ext>
            </p:extLst>
          </p:nvPr>
        </p:nvGraphicFramePr>
        <p:xfrm>
          <a:off x="6748312" y="1331770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5946485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este curso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29349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1" name="Google Shape;352;p25">
            <a:extLst>
              <a:ext uri="{FF2B5EF4-FFF2-40B4-BE49-F238E27FC236}">
                <a16:creationId xmlns:a16="http://schemas.microsoft.com/office/drawing/2014/main" id="{4B800D6F-1AB2-4122-99CA-643F191AEB4E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60533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582521" y="2142479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¿Cuál de las siguientes alternativas representa la razón por la que no te interesaría ser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411018" y="2842193"/>
            <a:ext cx="295415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la información que acabas de leer sobre el programa, ¿te interesaría ser un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Google Shape;355;p2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1659039"/>
              </p:ext>
            </p:extLst>
          </p:nvPr>
        </p:nvGraphicFramePr>
        <p:xfrm>
          <a:off x="2153256" y="2460840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1" name="Google Shape;356;p25">
            <a:extLst>
              <a:ext uri="{FF2B5EF4-FFF2-40B4-BE49-F238E27FC236}">
                <a16:creationId xmlns:a16="http://schemas.microsoft.com/office/drawing/2014/main" id="{10DA074B-A1FB-4F80-942A-AE4C11D45B52}"/>
              </a:ext>
            </a:extLst>
          </p:cNvPr>
          <p:cNvSpPr/>
          <p:nvPr/>
        </p:nvSpPr>
        <p:spPr>
          <a:xfrm>
            <a:off x="577779" y="105241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57;p25">
            <a:extLst>
              <a:ext uri="{FF2B5EF4-FFF2-40B4-BE49-F238E27FC236}">
                <a16:creationId xmlns:a16="http://schemas.microsoft.com/office/drawing/2014/main" id="{6FB4132F-D76E-4E3E-8E23-53EAC608586D}"/>
              </a:ext>
            </a:extLst>
          </p:cNvPr>
          <p:cNvSpPr txBox="1"/>
          <p:nvPr/>
        </p:nvSpPr>
        <p:spPr>
          <a:xfrm>
            <a:off x="188259" y="1788959"/>
            <a:ext cx="402261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NO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ser Embajadores/as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356;p25">
            <a:extLst>
              <a:ext uri="{FF2B5EF4-FFF2-40B4-BE49-F238E27FC236}">
                <a16:creationId xmlns:a16="http://schemas.microsoft.com/office/drawing/2014/main" id="{A26C57F8-2A87-4EE3-8496-2C95FDD56E54}"/>
              </a:ext>
            </a:extLst>
          </p:cNvPr>
          <p:cNvSpPr/>
          <p:nvPr/>
        </p:nvSpPr>
        <p:spPr>
          <a:xfrm>
            <a:off x="4340452" y="4383521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7;p25">
            <a:extLst>
              <a:ext uri="{FF2B5EF4-FFF2-40B4-BE49-F238E27FC236}">
                <a16:creationId xmlns:a16="http://schemas.microsoft.com/office/drawing/2014/main" id="{4EA7B50B-DE97-4456-B5F5-73463E06EFDE}"/>
              </a:ext>
            </a:extLst>
          </p:cNvPr>
          <p:cNvSpPr txBox="1"/>
          <p:nvPr/>
        </p:nvSpPr>
        <p:spPr>
          <a:xfrm>
            <a:off x="2425459" y="5120070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</a:t>
            </a:r>
            <a:r>
              <a:rPr lang="es-CL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Google Shape;355;p25">
            <a:extLst>
              <a:ext uri="{FF2B5EF4-FFF2-40B4-BE49-F238E27FC236}">
                <a16:creationId xmlns:a16="http://schemas.microsoft.com/office/drawing/2014/main" id="{6290A1D2-8902-43E5-8B1F-E6BE8BE88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880292"/>
              </p:ext>
            </p:extLst>
          </p:nvPr>
        </p:nvGraphicFramePr>
        <p:xfrm>
          <a:off x="7107639" y="3098627"/>
          <a:ext cx="4673343" cy="347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01C0C771-A37A-4258-9408-2FE8102EF8C6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1975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0;p25">
            <a:extLst>
              <a:ext uri="{FF2B5EF4-FFF2-40B4-BE49-F238E27FC236}">
                <a16:creationId xmlns:a16="http://schemas.microsoft.com/office/drawing/2014/main" id="{96F2476E-E0D6-4966-BCA8-C68C10554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Embajadores de la salud mental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264865" y="1933923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algún momento has buscado o recibido apoyo, orientación o información sobre bienestar y salud mental a través de alguien de la comunidad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5" name="Google Shape;353;p25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/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6;p25">
            <a:extLst>
              <a:ext uri="{FF2B5EF4-FFF2-40B4-BE49-F238E27FC236}">
                <a16:creationId xmlns:a16="http://schemas.microsoft.com/office/drawing/2014/main" id="{946EBDD2-4718-4BBC-8D0C-05216453049A}"/>
              </a:ext>
            </a:extLst>
          </p:cNvPr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8" y="2377499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¿Recuerdas si persona era un Embajador/a del Bienestar y la Salud Mental?</a:t>
            </a:r>
          </a:p>
        </p:txBody>
      </p:sp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graphicFrame>
        <p:nvGraphicFramePr>
          <p:cNvPr id="10" name="Google Shape;355;p25">
            <a:extLst>
              <a:ext uri="{FF2B5EF4-FFF2-40B4-BE49-F238E27FC236}">
                <a16:creationId xmlns:a16="http://schemas.microsoft.com/office/drawing/2014/main" id="{7A0475B1-3D5E-4E26-B0B5-02AB009CF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9565316"/>
              </p:ext>
            </p:extLst>
          </p:nvPr>
        </p:nvGraphicFramePr>
        <p:xfrm>
          <a:off x="7846169" y="336878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352;p25">
            <a:extLst>
              <a:ext uri="{FF2B5EF4-FFF2-40B4-BE49-F238E27FC236}">
                <a16:creationId xmlns:a16="http://schemas.microsoft.com/office/drawing/2014/main" id="{43D80E74-3F7B-4003-90E6-9FEBB162022B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15829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Atenciones psicológicas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>
            <p:extLst>
              <p:ext uri="{D42A27DB-BD31-4B8C-83A1-F6EECF244321}">
                <p14:modId xmlns:p14="http://schemas.microsoft.com/office/powerpoint/2010/main" val="3589019802"/>
              </p:ext>
            </p:extLst>
          </p:nvPr>
        </p:nvGraphicFramePr>
        <p:xfrm>
          <a:off x="-339648" y="1899015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61680" y="561364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3768298" y="3957919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1853305" y="4694468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481181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a un compañero/a usar las atenciones psicológicas del programa de salud mental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Google Shape;355;p25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155318"/>
              </p:ext>
            </p:extLst>
          </p:nvPr>
        </p:nvGraphicFramePr>
        <p:xfrm>
          <a:off x="6622807" y="1222225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8A1D3D71-A9C2-4366-A645-81B3965CD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234E88FB-D38E-4557-B143-D444BA337034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4471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Bienestar integral en movimiento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61392" y="1847541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4207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sp>
        <p:nvSpPr>
          <p:cNvPr id="356" name="Google Shape;356;p25"/>
          <p:cNvSpPr/>
          <p:nvPr/>
        </p:nvSpPr>
        <p:spPr>
          <a:xfrm>
            <a:off x="5149779" y="3743952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234786" y="4480501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155799" y="541639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estos talleres o intervenciones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Google Shape;355;p25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034336"/>
              </p:ext>
            </p:extLst>
          </p:nvPr>
        </p:nvGraphicFramePr>
        <p:xfrm>
          <a:off x="7200439" y="1152556"/>
          <a:ext cx="3671610" cy="255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Google Shape;355;p25">
            <a:extLst>
              <a:ext uri="{FF2B5EF4-FFF2-40B4-BE49-F238E27FC236}">
                <a16:creationId xmlns:a16="http://schemas.microsoft.com/office/drawing/2014/main" id="{2C55B24B-8049-42C6-8E5E-F7DDDD8A90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42259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Google Shape;352;p25">
            <a:extLst>
              <a:ext uri="{FF2B5EF4-FFF2-40B4-BE49-F238E27FC236}">
                <a16:creationId xmlns:a16="http://schemas.microsoft.com/office/drawing/2014/main" id="{7C56A666-3BD6-4DAA-9F10-4A5300EDC186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este eje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222505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Síntesis global y conclusiones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>
            <a:spLocks noGrp="1"/>
          </p:cNvSpPr>
          <p:nvPr>
            <p:ph type="title"/>
          </p:nvPr>
        </p:nvSpPr>
        <p:spPr>
          <a:xfrm>
            <a:off x="491319" y="21071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Conclusiones</a:t>
            </a:r>
            <a:endParaRPr sz="3200">
              <a:solidFill>
                <a:srgbClr val="E30613"/>
              </a:solidFill>
            </a:endParaRPr>
          </a:p>
        </p:txBody>
      </p:sp>
      <p:sp>
        <p:nvSpPr>
          <p:cNvPr id="981" name="Google Shape;981;p85"/>
          <p:cNvSpPr txBox="1">
            <a:spLocks noGrp="1"/>
          </p:cNvSpPr>
          <p:nvPr>
            <p:ph type="body" idx="1"/>
          </p:nvPr>
        </p:nvSpPr>
        <p:spPr>
          <a:xfrm>
            <a:off x="491319" y="1288472"/>
            <a:ext cx="11250112" cy="49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2897" lvl="0" indent="-285750" algn="just">
              <a:lnSpc>
                <a:spcPct val="150000"/>
              </a:lnSpc>
              <a:buClr>
                <a:schemeClr val="dk1"/>
              </a:buClr>
              <a:buSzPct val="105555"/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3F3F3F"/>
                </a:solidFill>
              </a:rPr>
              <a:t>XXX</a:t>
            </a:r>
            <a:endParaRPr lang="es-ES" sz="1800"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0FDE6-70C2-4D7B-A270-DE0D8F289D64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9"/>
          <p:cNvSpPr/>
          <p:nvPr/>
        </p:nvSpPr>
        <p:spPr>
          <a:xfrm>
            <a:off x="279127" y="665853"/>
            <a:ext cx="112149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Junto al reporte global se entregan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29 reportes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:</a:t>
            </a:r>
            <a:endParaRPr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32" name="Google Shape;1032;p89"/>
          <p:cNvSpPr txBox="1">
            <a:spLocks noGrp="1"/>
          </p:cNvSpPr>
          <p:nvPr>
            <p:ph type="title"/>
          </p:nvPr>
        </p:nvSpPr>
        <p:spPr>
          <a:xfrm>
            <a:off x="279127" y="-161253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Reportes específicos</a:t>
            </a:r>
            <a:endParaRPr sz="2400" dirty="0">
              <a:solidFill>
                <a:srgbClr val="E30613"/>
              </a:solidFill>
            </a:endParaRPr>
          </a:p>
        </p:txBody>
      </p:sp>
      <p:grpSp>
        <p:nvGrpSpPr>
          <p:cNvPr id="1033" name="Google Shape;1033;p89"/>
          <p:cNvGrpSpPr/>
          <p:nvPr/>
        </p:nvGrpSpPr>
        <p:grpSpPr>
          <a:xfrm>
            <a:off x="2463839" y="1249254"/>
            <a:ext cx="8127920" cy="5160361"/>
            <a:chOff x="39" y="13611"/>
            <a:chExt cx="8127920" cy="5160361"/>
          </a:xfrm>
        </p:grpSpPr>
        <p:sp>
          <p:nvSpPr>
            <p:cNvPr id="1034" name="Google Shape;1034;p89"/>
            <p:cNvSpPr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9"/>
            <p:cNvSpPr txBox="1"/>
            <p:nvPr/>
          </p:nvSpPr>
          <p:spPr>
            <a:xfrm>
              <a:off x="39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Sedes</a:t>
              </a:r>
              <a:endParaRPr/>
            </a:p>
          </p:txBody>
        </p:sp>
        <p:sp>
          <p:nvSpPr>
            <p:cNvPr id="1036" name="Google Shape;1036;p89"/>
            <p:cNvSpPr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w="12700" cap="flat" cmpd="sng">
              <a:solidFill>
                <a:srgbClr val="F7D5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9"/>
            <p:cNvSpPr txBox="1"/>
            <p:nvPr/>
          </p:nvSpPr>
          <p:spPr>
            <a:xfrm>
              <a:off x="39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4675" tIns="74675" rIns="99550" bIns="112000" anchor="t" anchorCtr="0">
              <a:noAutofit/>
            </a:bodyPr>
            <a:lstStyle/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Alameda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Antonio Varas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Arauco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Campus Villarrica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Comunicaciones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Concepción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Maipú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Melipilla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Online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Padre Alonso de Ovalle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Norte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Oeste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Plaza Vespucio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Puente Alto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Puerto Montt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Bernardo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Carlos de Apoquindo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San Joaquín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Valparaíso</a:t>
              </a:r>
            </a:p>
            <a:p>
              <a:pPr marL="114300" lvl="1" indent="-114300">
                <a:lnSpc>
                  <a:spcPct val="90000"/>
                </a:lnSpc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lang="es-CL" sz="16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Viña del Mar</a:t>
              </a:r>
            </a:p>
          </p:txBody>
        </p:sp>
        <p:sp>
          <p:nvSpPr>
            <p:cNvPr id="1038" name="Google Shape;1038;p89"/>
            <p:cNvSpPr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solidFill>
              <a:schemeClr val="accent3"/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9"/>
            <p:cNvSpPr txBox="1"/>
            <p:nvPr/>
          </p:nvSpPr>
          <p:spPr>
            <a:xfrm>
              <a:off x="4329866" y="13611"/>
              <a:ext cx="3798093" cy="61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800" tIns="101600" rIns="177800" bIns="101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Escuelas</a:t>
              </a:r>
              <a:endParaRPr/>
            </a:p>
          </p:txBody>
        </p:sp>
        <p:sp>
          <p:nvSpPr>
            <p:cNvPr id="1040" name="Google Shape;1040;p89"/>
            <p:cNvSpPr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w="12700" cap="flat" cmpd="sng">
              <a:solidFill>
                <a:srgbClr val="E0E0E0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9"/>
            <p:cNvSpPr txBox="1"/>
            <p:nvPr/>
          </p:nvSpPr>
          <p:spPr>
            <a:xfrm>
              <a:off x="4329866" y="624135"/>
              <a:ext cx="3798093" cy="4549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112000" rIns="149350" bIns="168000" anchor="t" anchorCtr="0">
              <a:noAutofit/>
            </a:bodyPr>
            <a:lstStyle/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Administración y Negocios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Comunicación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Construcción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Diseño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Gastronomía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Informática y Telecomunicaciones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Ingeniería, Medio Ambiente y Recursos Naturales</a:t>
              </a: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/>
                  <a:ea typeface="Calibri"/>
                  <a:cs typeface="Calibri Light"/>
                  <a:sym typeface="Calibri"/>
                </a:rPr>
                <a:t>Salud y Bienestar</a:t>
              </a:r>
              <a:endParaRPr lang="es-ES" sz="18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endParaRPr>
            </a:p>
            <a:p>
              <a:pPr marL="228600" lvl="1" indent="-228600">
                <a:lnSpc>
                  <a:spcPct val="90000"/>
                </a:lnSpc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lang="es-ES" sz="1800" dirty="0">
                  <a:solidFill>
                    <a:srgbClr val="3F3F3F"/>
                  </a:solidFill>
                  <a:latin typeface="Calibri Light" panose="020F0302020204030204" pitchFamily="34" charset="0"/>
                  <a:ea typeface="Calibri"/>
                  <a:cs typeface="Calibri Light" panose="020F0302020204030204" pitchFamily="34" charset="0"/>
                  <a:sym typeface="Calibri"/>
                </a:rPr>
                <a:t>Turismo y Hotelería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4BE4B2-5DA3-407E-AF87-08AB689F523B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Duoc UC</a:t>
            </a:r>
            <a:endParaRPr sz="4400" dirty="0"/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Anexos: otros datos de interés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9" name="Google Shape;1069;p93"/>
          <p:cNvGraphicFramePr/>
          <p:nvPr>
            <p:extLst>
              <p:ext uri="{D42A27DB-BD31-4B8C-83A1-F6EECF244321}">
                <p14:modId xmlns:p14="http://schemas.microsoft.com/office/powerpoint/2010/main" val="1767397548"/>
              </p:ext>
            </p:extLst>
          </p:nvPr>
        </p:nvGraphicFramePr>
        <p:xfrm>
          <a:off x="6096000" y="1774682"/>
          <a:ext cx="5872973" cy="346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70" name="Google Shape;1070;p93"/>
          <p:cNvGraphicFramePr/>
          <p:nvPr>
            <p:extLst>
              <p:ext uri="{D42A27DB-BD31-4B8C-83A1-F6EECF244321}">
                <p14:modId xmlns:p14="http://schemas.microsoft.com/office/powerpoint/2010/main" val="1127330587"/>
              </p:ext>
            </p:extLst>
          </p:nvPr>
        </p:nvGraphicFramePr>
        <p:xfrm>
          <a:off x="491318" y="1228726"/>
          <a:ext cx="4998357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71" name="Google Shape;1071;p93"/>
          <p:cNvSpPr/>
          <p:nvPr/>
        </p:nvSpPr>
        <p:spPr>
          <a:xfrm>
            <a:off x="2650671" y="1774682"/>
            <a:ext cx="2324101" cy="2914650"/>
          </a:xfrm>
          <a:prstGeom prst="rightBracket">
            <a:avLst>
              <a:gd name="adj" fmla="val 8333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93"/>
          <p:cNvCxnSpPr/>
          <p:nvPr/>
        </p:nvCxnSpPr>
        <p:spPr>
          <a:xfrm>
            <a:off x="5127172" y="3212957"/>
            <a:ext cx="1142999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3" name="Google Shape;1073;p93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Personas al cuidado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289917196"/>
              </p:ext>
            </p:extLst>
          </p:nvPr>
        </p:nvGraphicFramePr>
        <p:xfrm>
          <a:off x="2393949" y="1228725"/>
          <a:ext cx="755967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Situación de empleo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" name="Google Shape;1092;p96"/>
          <p:cNvGraphicFramePr/>
          <p:nvPr>
            <p:extLst>
              <p:ext uri="{D42A27DB-BD31-4B8C-83A1-F6EECF244321}">
                <p14:modId xmlns:p14="http://schemas.microsoft.com/office/powerpoint/2010/main" val="4037156662"/>
              </p:ext>
            </p:extLst>
          </p:nvPr>
        </p:nvGraphicFramePr>
        <p:xfrm>
          <a:off x="491319" y="1225868"/>
          <a:ext cx="11283329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3" name="Google Shape;1093;p9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Condiciones para la actividad académica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4"/>
          <p:cNvGraphicFramePr/>
          <p:nvPr>
            <p:extLst>
              <p:ext uri="{D42A27DB-BD31-4B8C-83A1-F6EECF244321}">
                <p14:modId xmlns:p14="http://schemas.microsoft.com/office/powerpoint/2010/main" val="832067760"/>
              </p:ext>
            </p:extLst>
          </p:nvPr>
        </p:nvGraphicFramePr>
        <p:xfrm>
          <a:off x="394447" y="1703294"/>
          <a:ext cx="5371538" cy="418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365125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de espacios sedes Duoc UC</a:t>
            </a:r>
            <a:endParaRPr dirty="0"/>
          </a:p>
        </p:txBody>
      </p:sp>
      <p:graphicFrame>
        <p:nvGraphicFramePr>
          <p:cNvPr id="4" name="Google Shape;1079;p94">
            <a:extLst>
              <a:ext uri="{FF2B5EF4-FFF2-40B4-BE49-F238E27FC236}">
                <a16:creationId xmlns:a16="http://schemas.microsoft.com/office/drawing/2014/main" id="{859778A9-F63C-449A-BA9D-FEBAB6339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4304576"/>
              </p:ext>
            </p:extLst>
          </p:nvPr>
        </p:nvGraphicFramePr>
        <p:xfrm>
          <a:off x="6310313" y="1650066"/>
          <a:ext cx="5371538" cy="4239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B6FDD2D-F84E-47DF-BF7B-8406A0B1C918}"/>
              </a:ext>
            </a:extLst>
          </p:cNvPr>
          <p:cNvSpPr txBox="1"/>
          <p:nvPr/>
        </p:nvSpPr>
        <p:spPr>
          <a:xfrm>
            <a:off x="1838604" y="122032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Sedes</a:t>
            </a:r>
            <a:r>
              <a:rPr lang="es-CL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presenciales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16981D-DBE7-4150-9841-99AC7262C74A}"/>
              </a:ext>
            </a:extLst>
          </p:cNvPr>
          <p:cNvSpPr txBox="1"/>
          <p:nvPr/>
        </p:nvSpPr>
        <p:spPr>
          <a:xfrm>
            <a:off x="7870173" y="119949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Sedes</a:t>
            </a:r>
            <a:r>
              <a:rPr lang="es-CL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online</a:t>
            </a:r>
          </a:p>
        </p:txBody>
      </p:sp>
      <p:sp>
        <p:nvSpPr>
          <p:cNvPr id="8" name="Google Shape;352;p25">
            <a:extLst>
              <a:ext uri="{FF2B5EF4-FFF2-40B4-BE49-F238E27FC236}">
                <a16:creationId xmlns:a16="http://schemas.microsoft.com/office/drawing/2014/main" id="{F814E454-C5B2-42C8-BEBA-27EE748E9747}"/>
              </a:ext>
            </a:extLst>
          </p:cNvPr>
          <p:cNvSpPr txBox="1"/>
          <p:nvPr/>
        </p:nvSpPr>
        <p:spPr>
          <a:xfrm>
            <a:off x="2335484" y="6492875"/>
            <a:ext cx="80179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 y se desplegó solo a quienes habían profundizado en ideación suicida.</a:t>
            </a:r>
          </a:p>
        </p:txBody>
      </p:sp>
    </p:spTree>
    <p:extLst>
      <p:ext uri="{BB962C8B-B14F-4D97-AF65-F5344CB8AC3E}">
        <p14:creationId xmlns:p14="http://schemas.microsoft.com/office/powerpoint/2010/main" val="113543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4416</TotalTime>
  <Words>2958</Words>
  <Application>Microsoft Office PowerPoint</Application>
  <PresentationFormat>Panorámica</PresentationFormat>
  <Paragraphs>473</Paragraphs>
  <Slides>76</Slides>
  <Notes>74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76</vt:i4>
      </vt:variant>
    </vt:vector>
  </HeadingPairs>
  <TitlesOfParts>
    <vt:vector size="81" baseType="lpstr">
      <vt:lpstr>Arial</vt:lpstr>
      <vt:lpstr>Calibri</vt:lpstr>
      <vt:lpstr>Calibri Light</vt:lpstr>
      <vt:lpstr>Noto Sans Symbols</vt:lpstr>
      <vt:lpstr>Tema de Office</vt:lpstr>
      <vt:lpstr> Radiografía del Bienestar y la Salud Mental  2025  Duoc UC</vt:lpstr>
      <vt:lpstr>Estructura de la presentación</vt:lpstr>
      <vt:lpstr>Presentación de PowerPoint</vt:lpstr>
      <vt:lpstr>Propósito</vt:lpstr>
      <vt:lpstr>Ficha técnica</vt:lpstr>
      <vt:lpstr>Batería de evaluación</vt:lpstr>
      <vt:lpstr>Caracterización de participantes </vt:lpstr>
      <vt:lpstr>Caracterización de participantes </vt:lpstr>
      <vt:lpstr>Presentación de PowerPoint</vt:lpstr>
      <vt:lpstr>Presentación de PowerPoint</vt:lpstr>
      <vt:lpstr>Presentación de PowerPoint</vt:lpstr>
      <vt:lpstr>Presentación de PowerPoint</vt:lpstr>
      <vt:lpstr>Resultados descriptivos</vt:lpstr>
      <vt:lpstr>Presentación de PowerPoint</vt:lpstr>
      <vt:lpstr>Nivel de estrés percibido</vt:lpstr>
      <vt:lpstr>Estresores ¿Cuáles de las siguientes situaciones presentan un problema que te afecte actualmente?  Resultados por Sexo </vt:lpstr>
      <vt:lpstr>Estresores ¿Cuáles de las siguientes situaciones presentan un problema que te afecte actualmente?  Resultados por Jornada </vt:lpstr>
      <vt:lpstr>Estresores – Exigencia carga académica Entre quienes reportaron como estresor “Carga académica exigente”</vt:lpstr>
      <vt:lpstr>Estresores – Exigencia carga académica ¿Cuáles de las siguientes razones explican que la carga académica te resulte exigente? Entre quienes reportaron como estresor “Carga académica exigente” Resultados por tipo de alumno </vt:lpstr>
      <vt:lpstr>Estresores 2022 - 2025</vt:lpstr>
      <vt:lpstr>Estrategias de afrontamiento  </vt:lpstr>
      <vt:lpstr>Condición de salud crónica</vt:lpstr>
      <vt:lpstr>Presentación de PowerPoint</vt:lpstr>
      <vt:lpstr>Salud mental</vt:lpstr>
      <vt:lpstr>Factor carga de enfermedad</vt:lpstr>
      <vt:lpstr>Patologías recurrentes grupo prevención indicada</vt:lpstr>
      <vt:lpstr>Episodio depresión – Grupo manejo clínico</vt:lpstr>
      <vt:lpstr>Trastorno de ansiedad generalizada – Grupo manejo clínico</vt:lpstr>
      <vt:lpstr>Trastorno de la personalidad – Grupo manejo clínico</vt:lpstr>
      <vt:lpstr>Uso problemático de marihuana – Grupo manejo clínico</vt:lpstr>
      <vt:lpstr>Uso problemático de marihuana – Grupo manejo clínico</vt:lpstr>
      <vt:lpstr>Uso problemático de alcohol – Grupo manejo clínico</vt:lpstr>
      <vt:lpstr>Ideación suicida – Grupo manejo clínico</vt:lpstr>
      <vt:lpstr>Ideación suicida – Grupo manejo clínico</vt:lpstr>
      <vt:lpstr>Ideación suicida – Grupo manejo clínico</vt:lpstr>
      <vt:lpstr>Otras áreas de riesgo diagnóstico</vt:lpstr>
      <vt:lpstr>Otras áreas de riesgo diagnóstico</vt:lpstr>
      <vt:lpstr>Presentación de PowerPoint</vt:lpstr>
      <vt:lpstr>Percepción de necesidad y acceso a tratamiento</vt:lpstr>
      <vt:lpstr>Percepción de necesidad y acceso a tratamiento</vt:lpstr>
      <vt:lpstr>Percepción de barreras de acceso a tratamiento</vt:lpstr>
      <vt:lpstr>Presentación de PowerPoint</vt:lpstr>
      <vt:lpstr>Nivel de bienestar</vt:lpstr>
      <vt:lpstr>Perma</vt:lpstr>
      <vt:lpstr>Perma</vt:lpstr>
      <vt:lpstr>Apoyo percibido</vt:lpstr>
      <vt:lpstr>Flow states – Estados de inmersión</vt:lpstr>
      <vt:lpstr>Flow states – Estados de inmersión</vt:lpstr>
      <vt:lpstr>Actividad física</vt:lpstr>
      <vt:lpstr>Alimentación</vt:lpstr>
      <vt:lpstr>Ingesta de líquidos</vt:lpstr>
      <vt:lpstr>Tabaquismo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inferenciales</vt:lpstr>
      <vt:lpstr>Presentación de PowerPoint</vt:lpstr>
      <vt:lpstr>Presentación de PowerPoint</vt:lpstr>
      <vt:lpstr>App Vivo</vt:lpstr>
      <vt:lpstr>Embajadores de la salud mental</vt:lpstr>
      <vt:lpstr>Embajadores de la salud mental</vt:lpstr>
      <vt:lpstr>Embajadores de la salud mental</vt:lpstr>
      <vt:lpstr>Embajadores de la salud mental</vt:lpstr>
      <vt:lpstr>Atenciones psicológicas</vt:lpstr>
      <vt:lpstr>Bienestar integral en movimiento</vt:lpstr>
      <vt:lpstr>Presentación de PowerPoint</vt:lpstr>
      <vt:lpstr>Conclusiones</vt:lpstr>
      <vt:lpstr>Reportes específicos</vt:lpstr>
      <vt:lpstr> Radiografía del Bienestar y la Salud Mental  2025  Duoc UC</vt:lpstr>
      <vt:lpstr>Presentación de PowerPoint</vt:lpstr>
      <vt:lpstr>Personas al cuidado</vt:lpstr>
      <vt:lpstr>Situación de empleo</vt:lpstr>
      <vt:lpstr>Condiciones para la actividad académica</vt:lpstr>
      <vt:lpstr>Uso de espacios sedes Duoc UC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Radiografía del Bienestar 2025 Duoc UC</dc:title>
  <dc:creator>Felipe Zapata</dc:creator>
  <cp:lastModifiedBy>Sebastián Eduardo Valenzuela Garrido</cp:lastModifiedBy>
  <cp:revision>303</cp:revision>
  <dcterms:created xsi:type="dcterms:W3CDTF">2021-01-18T15:18:56Z</dcterms:created>
  <dcterms:modified xsi:type="dcterms:W3CDTF">2025-10-12T21:55:49Z</dcterms:modified>
</cp:coreProperties>
</file>