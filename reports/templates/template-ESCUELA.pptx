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5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6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21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2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23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24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notesSlides/notesSlide27.xml" ContentType="application/vnd.openxmlformats-officedocument.presentationml.notesSl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28.xml" ContentType="application/vnd.openxmlformats-officedocument.presentationml.notesSl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29.xml" ContentType="application/vnd.openxmlformats-officedocument.presentationml.notesSlid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32.xml" ContentType="application/vnd.openxmlformats-officedocument.presentationml.notesSl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33.xml" ContentType="application/vnd.openxmlformats-officedocument.presentationml.notesSlid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notesSlides/notesSlide36.xml" ContentType="application/vnd.openxmlformats-officedocument.presentationml.notesSlid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37.xml" ContentType="application/vnd.openxmlformats-officedocument.presentationml.notesSlid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notesSlides/notesSlide38.xml" ContentType="application/vnd.openxmlformats-officedocument.presentationml.notesSlid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notesSlides/notesSlide41.xml" ContentType="application/vnd.openxmlformats-officedocument.presentationml.notesSlid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notesSlides/notesSlide42.xml" ContentType="application/vnd.openxmlformats-officedocument.presentationml.notesSlid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notesSlides/notesSlide43.xml" ContentType="application/vnd.openxmlformats-officedocument.presentationml.notesSlid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notesSlides/notesSlide44.xml" ContentType="application/vnd.openxmlformats-officedocument.presentationml.notesSlid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notesSlides/notesSlide50.xml" ContentType="application/vnd.openxmlformats-officedocument.presentationml.notesSlid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notesSlides/notesSlide51.xml" ContentType="application/vnd.openxmlformats-officedocument.presentationml.notesSlid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notesSlides/notesSlide52.xml" ContentType="application/vnd.openxmlformats-officedocument.presentationml.notesSlid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notesSlides/notesSlide53.xml" ContentType="application/vnd.openxmlformats-officedocument.presentationml.notesSlid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notesSlides/notesSlide54.xml" ContentType="application/vnd.openxmlformats-officedocument.presentationml.notesSlid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notesSlides/notesSlide55.xml" ContentType="application/vnd.openxmlformats-officedocument.presentationml.notesSlide+xml"/>
  <Override PartName="/ppt/charts/chart79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charts/chart80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81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notesSlides/notesSlide56.xml" ContentType="application/vnd.openxmlformats-officedocument.presentationml.notesSlide+xml"/>
  <Override PartName="/ppt/charts/chart82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charts/chart83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charts/chart84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charts/chart85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rts/chart86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charts/chart87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notesSlides/notesSlide62.xml" ContentType="application/vnd.openxmlformats-officedocument.presentationml.notesSlide+xml"/>
  <Override PartName="/ppt/charts/chart88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notesSlides/notesSlide63.xml" ContentType="application/vnd.openxmlformats-officedocument.presentationml.notesSlide+xml"/>
  <Override PartName="/ppt/charts/chart89.xml" ContentType="application/vnd.openxmlformats-officedocument.drawingml.chart+xml"/>
  <Override PartName="/ppt/charts/style89.xml" ContentType="application/vnd.ms-office.chartstyle+xml"/>
  <Override PartName="/ppt/charts/colors89.xml" ContentType="application/vnd.ms-office.chartcolorstyle+xml"/>
  <Override PartName="/ppt/charts/chart90.xml" ContentType="application/vnd.openxmlformats-officedocument.drawingml.chart+xml"/>
  <Override PartName="/ppt/charts/style90.xml" ContentType="application/vnd.ms-office.chartstyle+xml"/>
  <Override PartName="/ppt/charts/colors90.xml" ContentType="application/vnd.ms-office.chartcolorstyle+xml"/>
  <Override PartName="/ppt/notesSlides/notesSlide64.xml" ContentType="application/vnd.openxmlformats-officedocument.presentationml.notesSlide+xml"/>
  <Override PartName="/ppt/charts/chart91.xml" ContentType="application/vnd.openxmlformats-officedocument.drawingml.chart+xml"/>
  <Override PartName="/ppt/charts/style91.xml" ContentType="application/vnd.ms-office.chartstyle+xml"/>
  <Override PartName="/ppt/charts/colors91.xml" ContentType="application/vnd.ms-office.chartcolorstyle+xml"/>
  <Override PartName="/ppt/charts/chart92.xml" ContentType="application/vnd.openxmlformats-officedocument.drawingml.chart+xml"/>
  <Override PartName="/ppt/charts/style92.xml" ContentType="application/vnd.ms-office.chartstyle+xml"/>
  <Override PartName="/ppt/charts/colors9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463" r:id="rId3"/>
    <p:sldId id="413" r:id="rId4"/>
    <p:sldId id="259" r:id="rId5"/>
    <p:sldId id="261" r:id="rId6"/>
    <p:sldId id="264" r:id="rId7"/>
    <p:sldId id="275" r:id="rId8"/>
    <p:sldId id="277" r:id="rId9"/>
    <p:sldId id="416" r:id="rId10"/>
    <p:sldId id="431" r:id="rId11"/>
    <p:sldId id="462" r:id="rId12"/>
    <p:sldId id="279" r:id="rId13"/>
    <p:sldId id="409" r:id="rId14"/>
    <p:sldId id="278" r:id="rId15"/>
    <p:sldId id="280" r:id="rId16"/>
    <p:sldId id="435" r:id="rId17"/>
    <p:sldId id="436" r:id="rId18"/>
    <p:sldId id="418" r:id="rId19"/>
    <p:sldId id="318" r:id="rId20"/>
    <p:sldId id="427" r:id="rId21"/>
    <p:sldId id="419" r:id="rId22"/>
    <p:sldId id="420" r:id="rId23"/>
    <p:sldId id="421" r:id="rId24"/>
    <p:sldId id="422" r:id="rId25"/>
    <p:sldId id="452" r:id="rId26"/>
    <p:sldId id="423" r:id="rId27"/>
    <p:sldId id="325" r:id="rId28"/>
    <p:sldId id="428" r:id="rId29"/>
    <p:sldId id="460" r:id="rId30"/>
    <p:sldId id="438" r:id="rId31"/>
    <p:sldId id="282" r:id="rId32"/>
    <p:sldId id="424" r:id="rId33"/>
    <p:sldId id="283" r:id="rId34"/>
    <p:sldId id="414" r:id="rId35"/>
    <p:sldId id="288" r:id="rId36"/>
    <p:sldId id="290" r:id="rId37"/>
    <p:sldId id="455" r:id="rId38"/>
    <p:sldId id="281" r:id="rId39"/>
    <p:sldId id="439" r:id="rId40"/>
    <p:sldId id="456" r:id="rId41"/>
    <p:sldId id="358" r:id="rId42"/>
    <p:sldId id="374" r:id="rId43"/>
    <p:sldId id="362" r:id="rId44"/>
    <p:sldId id="458" r:id="rId45"/>
    <p:sldId id="465" r:id="rId46"/>
    <p:sldId id="272" r:id="rId47"/>
    <p:sldId id="273" r:id="rId48"/>
    <p:sldId id="440" r:id="rId49"/>
    <p:sldId id="441" r:id="rId50"/>
    <p:sldId id="466" r:id="rId51"/>
    <p:sldId id="442" r:id="rId52"/>
    <p:sldId id="449" r:id="rId53"/>
    <p:sldId id="450" r:id="rId54"/>
    <p:sldId id="451" r:id="rId55"/>
    <p:sldId id="443" r:id="rId56"/>
    <p:sldId id="467" r:id="rId57"/>
    <p:sldId id="444" r:id="rId58"/>
    <p:sldId id="468" r:id="rId59"/>
    <p:sldId id="339" r:id="rId60"/>
    <p:sldId id="342" r:id="rId61"/>
    <p:sldId id="448" r:id="rId62"/>
    <p:sldId id="347" r:id="rId63"/>
    <p:sldId id="350" r:id="rId64"/>
    <p:sldId id="351" r:id="rId65"/>
    <p:sldId id="487" r:id="rId66"/>
    <p:sldId id="488" r:id="rId6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7" roundtripDataSignature="AMtx7miPE9wXBn+2MC/JZlwAQYKfkY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A"/>
    <a:srgbClr val="ED7D31"/>
    <a:srgbClr val="7C7C7C"/>
    <a:srgbClr val="8C8C8E"/>
    <a:srgbClr val="F8961E"/>
    <a:srgbClr val="92D050"/>
    <a:srgbClr val="FFC000"/>
    <a:srgbClr val="FFFF99"/>
    <a:srgbClr val="55B296"/>
    <a:srgbClr val="E53C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603C0-8BBE-A18C-36C3-C3BC2374A711}" v="28" dt="2025-10-22T19:55:01.466"/>
  </p1510:revLst>
</p1510:revInfo>
</file>

<file path=ppt/tableStyles.xml><?xml version="1.0" encoding="utf-8"?>
<a:tblStyleLst xmlns:a="http://schemas.openxmlformats.org/drawingml/2006/main" def="{991015D7-D160-4A9F-BB4E-07FA0D646497}">
  <a:tblStyle styleId="{991015D7-D160-4A9F-BB4E-07FA0D6464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 autoAdjust="0"/>
    <p:restoredTop sz="93979" autoAdjust="0"/>
  </p:normalViewPr>
  <p:slideViewPr>
    <p:cSldViewPr snapToGrid="0">
      <p:cViewPr varScale="1">
        <p:scale>
          <a:sx n="28" d="100"/>
          <a:sy n="28" d="100"/>
        </p:scale>
        <p:origin x="43" y="12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13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14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3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14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moralesruiz@ug.uchile.cl" userId="S::urn:spo:guest#pmoralesruiz@ug.uchile.cl::" providerId="AD" clId="Web-{F44751CB-BC3B-D43B-038B-C4F7789A143D}"/>
    <pc:docChg chg="modSld sldOrd">
      <pc:chgData name="pmoralesruiz@ug.uchile.cl" userId="S::urn:spo:guest#pmoralesruiz@ug.uchile.cl::" providerId="AD" clId="Web-{F44751CB-BC3B-D43B-038B-C4F7789A143D}" dt="2025-09-29T19:55:56.142" v="579" actId="20577"/>
      <pc:docMkLst>
        <pc:docMk/>
      </pc:docMkLst>
      <pc:sldChg chg="addSp modSp">
        <pc:chgData name="pmoralesruiz@ug.uchile.cl" userId="S::urn:spo:guest#pmoralesruiz@ug.uchile.cl::" providerId="AD" clId="Web-{F44751CB-BC3B-D43B-038B-C4F7789A143D}" dt="2025-09-29T19:47:20.501" v="451" actId="20577"/>
        <pc:sldMkLst>
          <pc:docMk/>
          <pc:sldMk cId="0" sldId="288"/>
        </pc:sldMkLst>
        <pc:spChg chg="mod">
          <ac:chgData name="pmoralesruiz@ug.uchile.cl" userId="S::urn:spo:guest#pmoralesruiz@ug.uchile.cl::" providerId="AD" clId="Web-{F44751CB-BC3B-D43B-038B-C4F7789A143D}" dt="2025-09-29T19:47:20.501" v="451" actId="20577"/>
          <ac:spMkLst>
            <pc:docMk/>
            <pc:sldMk cId="0" sldId="288"/>
            <ac:spMk id="10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1:52.831" v="39" actId="20577"/>
        <pc:sldMkLst>
          <pc:docMk/>
          <pc:sldMk cId="3006985062" sldId="416"/>
        </pc:sldMkLst>
      </pc:sldChg>
      <pc:sldChg chg="addSp delSp modSp">
        <pc:chgData name="pmoralesruiz@ug.uchile.cl" userId="S::urn:spo:guest#pmoralesruiz@ug.uchile.cl::" providerId="AD" clId="Web-{F44751CB-BC3B-D43B-038B-C4F7789A143D}" dt="2025-09-29T19:41:53.611" v="284"/>
        <pc:sldMkLst>
          <pc:docMk/>
          <pc:sldMk cId="1012220188" sldId="419"/>
        </pc:sldMkLst>
      </pc:sldChg>
      <pc:sldChg chg="addSp modSp">
        <pc:chgData name="pmoralesruiz@ug.uchile.cl" userId="S::urn:spo:guest#pmoralesruiz@ug.uchile.cl::" providerId="AD" clId="Web-{F44751CB-BC3B-D43B-038B-C4F7789A143D}" dt="2025-09-29T19:39:56.565" v="277" actId="1076"/>
        <pc:sldMkLst>
          <pc:docMk/>
          <pc:sldMk cId="235619057" sldId="427"/>
        </pc:sldMkLst>
      </pc:sldChg>
      <pc:sldChg chg="addSp modSp">
        <pc:chgData name="pmoralesruiz@ug.uchile.cl" userId="S::urn:spo:guest#pmoralesruiz@ug.uchile.cl::" providerId="AD" clId="Web-{F44751CB-BC3B-D43B-038B-C4F7789A143D}" dt="2025-09-29T19:33:19.596" v="103" actId="20577"/>
        <pc:sldMkLst>
          <pc:docMk/>
          <pc:sldMk cId="391928943" sldId="431"/>
        </pc:sldMkLst>
      </pc:sldChg>
      <pc:sldChg chg="addSp modSp ord">
        <pc:chgData name="pmoralesruiz@ug.uchile.cl" userId="S::urn:spo:guest#pmoralesruiz@ug.uchile.cl::" providerId="AD" clId="Web-{F44751CB-BC3B-D43B-038B-C4F7789A143D}" dt="2025-09-29T19:52:51.720" v="469" actId="20577"/>
        <pc:sldMkLst>
          <pc:docMk/>
          <pc:sldMk cId="391977841" sldId="435"/>
        </pc:sldMkLst>
        <pc:spChg chg="add mod">
          <ac:chgData name="pmoralesruiz@ug.uchile.cl" userId="S::urn:spo:guest#pmoralesruiz@ug.uchile.cl::" providerId="AD" clId="Web-{F44751CB-BC3B-D43B-038B-C4F7789A143D}" dt="2025-09-29T19:52:23.423" v="464" actId="20577"/>
          <ac:spMkLst>
            <pc:docMk/>
            <pc:sldMk cId="391977841" sldId="435"/>
            <ac:spMk id="5" creationId="{04A490B3-5449-7620-0CCB-915C57BEB288}"/>
          </ac:spMkLst>
        </pc:spChg>
        <pc:spChg chg="mod">
          <ac:chgData name="pmoralesruiz@ug.uchile.cl" userId="S::urn:spo:guest#pmoralesruiz@ug.uchile.cl::" providerId="AD" clId="Web-{F44751CB-BC3B-D43B-038B-C4F7789A143D}" dt="2025-09-29T19:52:30.345" v="466" actId="1076"/>
          <ac:spMkLst>
            <pc:docMk/>
            <pc:sldMk cId="391977841" sldId="435"/>
            <ac:spMk id="352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5:56.142" v="579" actId="20577"/>
        <pc:sldMkLst>
          <pc:docMk/>
          <pc:sldMk cId="1135431551" sldId="446"/>
        </pc:sldMkLst>
      </pc:sldChg>
      <pc:sldChg chg="addSp delSp modSp">
        <pc:chgData name="pmoralesruiz@ug.uchile.cl" userId="S::urn:spo:guest#pmoralesruiz@ug.uchile.cl::" providerId="AD" clId="Web-{F44751CB-BC3B-D43B-038B-C4F7789A143D}" dt="2025-09-29T19:51:14.704" v="458"/>
        <pc:sldMkLst>
          <pc:docMk/>
          <pc:sldMk cId="806740195" sldId="458"/>
        </pc:sldMkLst>
        <pc:picChg chg="add mod">
          <ac:chgData name="pmoralesruiz@ug.uchile.cl" userId="S::urn:spo:guest#pmoralesruiz@ug.uchile.cl::" providerId="AD" clId="Web-{F44751CB-BC3B-D43B-038B-C4F7789A143D}" dt="2025-09-29T19:51:14.704" v="458"/>
          <ac:picMkLst>
            <pc:docMk/>
            <pc:sldMk cId="806740195" sldId="458"/>
            <ac:picMk id="3" creationId="{4EE0938B-A1F5-E213-9763-4E9C39809749}"/>
          </ac:picMkLst>
        </pc:picChg>
      </pc:sldChg>
    </pc:docChg>
  </pc:docChgLst>
  <pc:docChgLst>
    <pc:chgData name="Felipe Sebastian Zapata Munoz" userId="S::fzapata@uc.cl::299de65d-9b4f-4d1e-af45-08cf0c9f42d1" providerId="AD" clId="Web-{3C9603C0-8BBE-A18C-36C3-C3BC2374A711}"/>
    <pc:docChg chg="modSld">
      <pc:chgData name="Felipe Sebastian Zapata Munoz" userId="S::fzapata@uc.cl::299de65d-9b4f-4d1e-af45-08cf0c9f42d1" providerId="AD" clId="Web-{3C9603C0-8BBE-A18C-36C3-C3BC2374A711}" dt="2025-10-22T19:55:01.466" v="26"/>
      <pc:docMkLst>
        <pc:docMk/>
      </pc:docMkLst>
      <pc:sldChg chg="addSp delSp">
        <pc:chgData name="Felipe Sebastian Zapata Munoz" userId="S::fzapata@uc.cl::299de65d-9b4f-4d1e-af45-08cf0c9f42d1" providerId="AD" clId="Web-{3C9603C0-8BBE-A18C-36C3-C3BC2374A711}" dt="2025-10-22T19:48:05.834" v="1"/>
        <pc:sldMkLst>
          <pc:docMk/>
          <pc:sldMk cId="521981233" sldId="441"/>
        </pc:sldMkLst>
        <pc:spChg chg="add">
          <ac:chgData name="Felipe Sebastian Zapata Munoz" userId="S::fzapata@uc.cl::299de65d-9b4f-4d1e-af45-08cf0c9f42d1" providerId="AD" clId="Web-{3C9603C0-8BBE-A18C-36C3-C3BC2374A711}" dt="2025-10-22T19:48:05.834" v="1"/>
          <ac:spMkLst>
            <pc:docMk/>
            <pc:sldMk cId="521981233" sldId="441"/>
            <ac:spMk id="2" creationId="{35F89B47-793C-C5A0-6F4F-0AABA5FB7DC2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48:04.256" v="0"/>
          <ac:spMkLst>
            <pc:docMk/>
            <pc:sldMk cId="521981233" sldId="441"/>
            <ac:spMk id="14" creationId="{EBB1B67D-3C61-4669-AB83-031845671B43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51:36.789" v="19"/>
        <pc:sldMkLst>
          <pc:docMk/>
          <pc:sldMk cId="475492067" sldId="442"/>
        </pc:sldMkLst>
        <pc:spChg chg="add">
          <ac:chgData name="Felipe Sebastian Zapata Munoz" userId="S::fzapata@uc.cl::299de65d-9b4f-4d1e-af45-08cf0c9f42d1" providerId="AD" clId="Web-{3C9603C0-8BBE-A18C-36C3-C3BC2374A711}" dt="2025-10-22T19:51:36.789" v="19"/>
          <ac:spMkLst>
            <pc:docMk/>
            <pc:sldMk cId="475492067" sldId="442"/>
            <ac:spMk id="2" creationId="{2E56C581-1558-470F-99EE-A5203AFEE9DE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1:24.492" v="17"/>
          <ac:spMkLst>
            <pc:docMk/>
            <pc:sldMk cId="475492067" sldId="442"/>
            <ac:spMk id="3" creationId="{2E56C581-1558-470F-99EE-A5203AFEE9DE}"/>
          </ac:spMkLst>
        </pc:spChg>
        <pc:spChg chg="add">
          <ac:chgData name="Felipe Sebastian Zapata Munoz" userId="S::fzapata@uc.cl::299de65d-9b4f-4d1e-af45-08cf0c9f42d1" providerId="AD" clId="Web-{3C9603C0-8BBE-A18C-36C3-C3BC2374A711}" dt="2025-10-22T19:51:36.789" v="19"/>
          <ac:spMkLst>
            <pc:docMk/>
            <pc:sldMk cId="475492067" sldId="442"/>
            <ac:spMk id="4" creationId="{B60CEC6B-0A92-467C-9B01-CBB762D01254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1:26.070" v="18"/>
          <ac:spMkLst>
            <pc:docMk/>
            <pc:sldMk cId="475492067" sldId="442"/>
            <ac:spMk id="8" creationId="{B60CEC6B-0A92-467C-9B01-CBB762D01254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49:41.256" v="4"/>
          <ac:spMkLst>
            <pc:docMk/>
            <pc:sldMk cId="475492067" sldId="442"/>
            <ac:spMk id="10" creationId="{5E084309-8FF2-4496-AEDF-F99EC463E9A1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50:41.616" v="10"/>
        <pc:sldMkLst>
          <pc:docMk/>
          <pc:sldMk cId="2447127170" sldId="443"/>
        </pc:sldMkLst>
        <pc:spChg chg="add">
          <ac:chgData name="Felipe Sebastian Zapata Munoz" userId="S::fzapata@uc.cl::299de65d-9b4f-4d1e-af45-08cf0c9f42d1" providerId="AD" clId="Web-{3C9603C0-8BBE-A18C-36C3-C3BC2374A711}" dt="2025-10-22T19:50:41.616" v="10"/>
          <ac:spMkLst>
            <pc:docMk/>
            <pc:sldMk cId="2447127170" sldId="443"/>
            <ac:spMk id="3" creationId="{05D43BD2-865F-4F9D-A220-7E6365DA983D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0:40.303" v="9"/>
          <ac:spMkLst>
            <pc:docMk/>
            <pc:sldMk cId="2447127170" sldId="443"/>
            <ac:spMk id="14" creationId="{234E88FB-D38E-4557-B143-D444BA337034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51:00.663" v="14"/>
        <pc:sldMkLst>
          <pc:docMk/>
          <pc:sldMk cId="2225050755" sldId="444"/>
        </pc:sldMkLst>
        <pc:spChg chg="add">
          <ac:chgData name="Felipe Sebastian Zapata Munoz" userId="S::fzapata@uc.cl::299de65d-9b4f-4d1e-af45-08cf0c9f42d1" providerId="AD" clId="Web-{3C9603C0-8BBE-A18C-36C3-C3BC2374A711}" dt="2025-10-22T19:51:00.663" v="14"/>
          <ac:spMkLst>
            <pc:docMk/>
            <pc:sldMk cId="2225050755" sldId="444"/>
            <ac:spMk id="3" creationId="{73F928AB-C093-8C1F-CDED-2689FB333763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0:59.210" v="13"/>
          <ac:spMkLst>
            <pc:docMk/>
            <pc:sldMk cId="2225050755" sldId="444"/>
            <ac:spMk id="14" creationId="{7C56A666-3BD6-4DAA-9F10-4A5300EDC186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49:48.084" v="6"/>
        <pc:sldMkLst>
          <pc:docMk/>
          <pc:sldMk cId="1605333088" sldId="449"/>
        </pc:sldMkLst>
        <pc:spChg chg="add">
          <ac:chgData name="Felipe Sebastian Zapata Munoz" userId="S::fzapata@uc.cl::299de65d-9b4f-4d1e-af45-08cf0c9f42d1" providerId="AD" clId="Web-{3C9603C0-8BBE-A18C-36C3-C3BC2374A711}" dt="2025-10-22T19:49:48.084" v="6"/>
          <ac:spMkLst>
            <pc:docMk/>
            <pc:sldMk cId="1605333088" sldId="449"/>
            <ac:spMk id="3" creationId="{8497B1A3-95A6-B858-F8D1-E885D5CCB805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49:46.647" v="5"/>
          <ac:spMkLst>
            <pc:docMk/>
            <pc:sldMk cId="1605333088" sldId="449"/>
            <ac:spMk id="11" creationId="{4B800D6F-1AB2-4122-99CA-643F191AEB4E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53:30.995" v="22"/>
        <pc:sldMkLst>
          <pc:docMk/>
          <pc:sldMk cId="2197535171" sldId="450"/>
        </pc:sldMkLst>
        <pc:spChg chg="add">
          <ac:chgData name="Felipe Sebastian Zapata Munoz" userId="S::fzapata@uc.cl::299de65d-9b4f-4d1e-af45-08cf0c9f42d1" providerId="AD" clId="Web-{3C9603C0-8BBE-A18C-36C3-C3BC2374A711}" dt="2025-10-22T19:53:30.995" v="22"/>
          <ac:spMkLst>
            <pc:docMk/>
            <pc:sldMk cId="2197535171" sldId="450"/>
            <ac:spMk id="2" creationId="{DE84A2A7-D4BF-0BFC-D278-CCEA72CA9DB2}"/>
          </ac:spMkLst>
        </pc:spChg>
        <pc:spChg chg="add">
          <ac:chgData name="Felipe Sebastian Zapata Munoz" userId="S::fzapata@uc.cl::299de65d-9b4f-4d1e-af45-08cf0c9f42d1" providerId="AD" clId="Web-{3C9603C0-8BBE-A18C-36C3-C3BC2374A711}" dt="2025-10-22T19:53:30.995" v="22"/>
          <ac:spMkLst>
            <pc:docMk/>
            <pc:sldMk cId="2197535171" sldId="450"/>
            <ac:spMk id="3" creationId="{A6CE897F-3EE9-4809-86CA-43423642C230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3:22.276" v="20"/>
          <ac:spMkLst>
            <pc:docMk/>
            <pc:sldMk cId="2197535171" sldId="450"/>
            <ac:spMk id="13" creationId="{A6CE897F-3EE9-4809-86CA-43423642C230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0:27.272" v="7"/>
          <ac:spMkLst>
            <pc:docMk/>
            <pc:sldMk cId="2197535171" sldId="450"/>
            <ac:spMk id="19" creationId="{01C0C771-A37A-4258-9408-2FE8102EF8C6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3:24.573" v="21"/>
          <ac:spMkLst>
            <pc:docMk/>
            <pc:sldMk cId="2197535171" sldId="450"/>
            <ac:spMk id="352" creationId="{00000000-0000-0000-0000-000000000000}"/>
          </ac:spMkLst>
        </pc:spChg>
      </pc:sldChg>
      <pc:sldChg chg="addSp delSp modSp">
        <pc:chgData name="Felipe Sebastian Zapata Munoz" userId="S::fzapata@uc.cl::299de65d-9b4f-4d1e-af45-08cf0c9f42d1" providerId="AD" clId="Web-{3C9603C0-8BBE-A18C-36C3-C3BC2374A711}" dt="2025-10-22T19:55:01.466" v="26"/>
        <pc:sldMkLst>
          <pc:docMk/>
          <pc:sldMk cId="1582945556" sldId="451"/>
        </pc:sldMkLst>
        <pc:spChg chg="add">
          <ac:chgData name="Felipe Sebastian Zapata Munoz" userId="S::fzapata@uc.cl::299de65d-9b4f-4d1e-af45-08cf0c9f42d1" providerId="AD" clId="Web-{3C9603C0-8BBE-A18C-36C3-C3BC2374A711}" dt="2025-10-22T19:55:01.466" v="26"/>
          <ac:spMkLst>
            <pc:docMk/>
            <pc:sldMk cId="1582945556" sldId="451"/>
            <ac:spMk id="2" creationId="{2E56C581-1558-470F-99EE-A5203AFEE9DE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4:53.591" v="23"/>
          <ac:spMkLst>
            <pc:docMk/>
            <pc:sldMk cId="1582945556" sldId="451"/>
            <ac:spMk id="3" creationId="{2E56C581-1558-470F-99EE-A5203AFEE9DE}"/>
          </ac:spMkLst>
        </pc:spChg>
        <pc:spChg chg="add">
          <ac:chgData name="Felipe Sebastian Zapata Munoz" userId="S::fzapata@uc.cl::299de65d-9b4f-4d1e-af45-08cf0c9f42d1" providerId="AD" clId="Web-{3C9603C0-8BBE-A18C-36C3-C3BC2374A711}" dt="2025-10-22T19:55:01.466" v="26"/>
          <ac:spMkLst>
            <pc:docMk/>
            <pc:sldMk cId="1582945556" sldId="451"/>
            <ac:spMk id="4" creationId="{B60CEC6B-0A92-467C-9B01-CBB762D01254}"/>
          </ac:spMkLst>
        </pc:spChg>
        <pc:spChg chg="del mod">
          <ac:chgData name="Felipe Sebastian Zapata Munoz" userId="S::fzapata@uc.cl::299de65d-9b4f-4d1e-af45-08cf0c9f42d1" providerId="AD" clId="Web-{3C9603C0-8BBE-A18C-36C3-C3BC2374A711}" dt="2025-10-22T19:54:56.184" v="25"/>
          <ac:spMkLst>
            <pc:docMk/>
            <pc:sldMk cId="1582945556" sldId="451"/>
            <ac:spMk id="8" creationId="{B60CEC6B-0A92-467C-9B01-CBB762D01254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0:33.928" v="8"/>
          <ac:spMkLst>
            <pc:docMk/>
            <pc:sldMk cId="1582945556" sldId="451"/>
            <ac:spMk id="11" creationId="{43D80E74-3F7B-4003-90E6-9FEBB162022B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48:12.756" v="3"/>
        <pc:sldMkLst>
          <pc:docMk/>
          <pc:sldMk cId="733721551" sldId="466"/>
        </pc:sldMkLst>
        <pc:spChg chg="add">
          <ac:chgData name="Felipe Sebastian Zapata Munoz" userId="S::fzapata@uc.cl::299de65d-9b4f-4d1e-af45-08cf0c9f42d1" providerId="AD" clId="Web-{3C9603C0-8BBE-A18C-36C3-C3BC2374A711}" dt="2025-10-22T19:48:12.756" v="3"/>
          <ac:spMkLst>
            <pc:docMk/>
            <pc:sldMk cId="733721551" sldId="466"/>
            <ac:spMk id="2" creationId="{25355AB5-748A-FBC4-D9D0-00792BC5600D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48:12.678" v="2"/>
          <ac:spMkLst>
            <pc:docMk/>
            <pc:sldMk cId="733721551" sldId="466"/>
            <ac:spMk id="14" creationId="{EBB1B67D-3C61-4669-AB83-031845671B43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50:53.022" v="12"/>
        <pc:sldMkLst>
          <pc:docMk/>
          <pc:sldMk cId="63056104" sldId="467"/>
        </pc:sldMkLst>
        <pc:spChg chg="add">
          <ac:chgData name="Felipe Sebastian Zapata Munoz" userId="S::fzapata@uc.cl::299de65d-9b4f-4d1e-af45-08cf0c9f42d1" providerId="AD" clId="Web-{3C9603C0-8BBE-A18C-36C3-C3BC2374A711}" dt="2025-10-22T19:50:53.022" v="12"/>
          <ac:spMkLst>
            <pc:docMk/>
            <pc:sldMk cId="63056104" sldId="467"/>
            <ac:spMk id="3" creationId="{31F8AF59-9D6B-A21B-9467-ECFBB2F7A98D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0:51.788" v="11"/>
          <ac:spMkLst>
            <pc:docMk/>
            <pc:sldMk cId="63056104" sldId="467"/>
            <ac:spMk id="14" creationId="{234E88FB-D38E-4557-B143-D444BA337034}"/>
          </ac:spMkLst>
        </pc:spChg>
      </pc:sldChg>
      <pc:sldChg chg="addSp delSp">
        <pc:chgData name="Felipe Sebastian Zapata Munoz" userId="S::fzapata@uc.cl::299de65d-9b4f-4d1e-af45-08cf0c9f42d1" providerId="AD" clId="Web-{3C9603C0-8BBE-A18C-36C3-C3BC2374A711}" dt="2025-10-22T19:51:06.710" v="16"/>
        <pc:sldMkLst>
          <pc:docMk/>
          <pc:sldMk cId="2255229429" sldId="468"/>
        </pc:sldMkLst>
        <pc:spChg chg="add">
          <ac:chgData name="Felipe Sebastian Zapata Munoz" userId="S::fzapata@uc.cl::299de65d-9b4f-4d1e-af45-08cf0c9f42d1" providerId="AD" clId="Web-{3C9603C0-8BBE-A18C-36C3-C3BC2374A711}" dt="2025-10-22T19:51:06.710" v="16"/>
          <ac:spMkLst>
            <pc:docMk/>
            <pc:sldMk cId="2255229429" sldId="468"/>
            <ac:spMk id="3" creationId="{1958C7A7-BBFC-E21D-EAF3-1510A31BACA2}"/>
          </ac:spMkLst>
        </pc:spChg>
        <pc:spChg chg="del">
          <ac:chgData name="Felipe Sebastian Zapata Munoz" userId="S::fzapata@uc.cl::299de65d-9b4f-4d1e-af45-08cf0c9f42d1" providerId="AD" clId="Web-{3C9603C0-8BBE-A18C-36C3-C3BC2374A711}" dt="2025-10-22T19:51:06.616" v="15"/>
          <ac:spMkLst>
            <pc:docMk/>
            <pc:sldMk cId="2255229429" sldId="468"/>
            <ac:spMk id="14" creationId="{7C56A666-3BD6-4DAA-9F10-4A5300EDC18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9.xlsx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1.xlsx"/><Relationship Id="rId2" Type="http://schemas.microsoft.com/office/2011/relationships/chartColorStyle" Target="colors82.xml"/><Relationship Id="rId1" Type="http://schemas.microsoft.com/office/2011/relationships/chartStyle" Target="style82.xm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2.xlsx"/><Relationship Id="rId2" Type="http://schemas.microsoft.com/office/2011/relationships/chartColorStyle" Target="colors83.xml"/><Relationship Id="rId1" Type="http://schemas.microsoft.com/office/2011/relationships/chartStyle" Target="style83.xm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3.xlsx"/><Relationship Id="rId2" Type="http://schemas.microsoft.com/office/2011/relationships/chartColorStyle" Target="colors84.xml"/><Relationship Id="rId1" Type="http://schemas.microsoft.com/office/2011/relationships/chartStyle" Target="style84.xm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4.xlsx"/><Relationship Id="rId2" Type="http://schemas.microsoft.com/office/2011/relationships/chartColorStyle" Target="colors85.xml"/><Relationship Id="rId1" Type="http://schemas.microsoft.com/office/2011/relationships/chartStyle" Target="style85.xm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5.xlsx"/><Relationship Id="rId2" Type="http://schemas.microsoft.com/office/2011/relationships/chartColorStyle" Target="colors86.xml"/><Relationship Id="rId1" Type="http://schemas.microsoft.com/office/2011/relationships/chartStyle" Target="style86.xm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6.xlsx"/><Relationship Id="rId2" Type="http://schemas.microsoft.com/office/2011/relationships/chartColorStyle" Target="colors87.xml"/><Relationship Id="rId1" Type="http://schemas.microsoft.com/office/2011/relationships/chartStyle" Target="style87.xm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7.xlsx"/><Relationship Id="rId2" Type="http://schemas.microsoft.com/office/2011/relationships/chartColorStyle" Target="colors88.xml"/><Relationship Id="rId1" Type="http://schemas.microsoft.com/office/2011/relationships/chartStyle" Target="style88.xm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8.xlsx"/><Relationship Id="rId2" Type="http://schemas.microsoft.com/office/2011/relationships/chartColorStyle" Target="colors89.xml"/><Relationship Id="rId1" Type="http://schemas.microsoft.com/office/2011/relationships/chartStyle" Target="style89.xm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9.xlsx"/><Relationship Id="rId2" Type="http://schemas.microsoft.com/office/2011/relationships/chartColorStyle" Target="colors90.xml"/><Relationship Id="rId1" Type="http://schemas.microsoft.com/office/2011/relationships/chartStyle" Target="style90.xml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0.xlsx"/><Relationship Id="rId2" Type="http://schemas.microsoft.com/office/2011/relationships/chartColorStyle" Target="colors91.xml"/><Relationship Id="rId1" Type="http://schemas.microsoft.com/office/2011/relationships/chartStyle" Target="style91.xml"/></Relationships>
</file>

<file path=ppt/charts/_rels/chart9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1.xlsx"/><Relationship Id="rId2" Type="http://schemas.microsoft.com/office/2011/relationships/chartColorStyle" Target="colors92.xml"/><Relationship Id="rId1" Type="http://schemas.microsoft.com/office/2011/relationships/chartStyle" Target="style9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3A-4C7D-A204-E84331F9C94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3A-4C7D-A204-E84331F9C9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Mujeres</c:v>
                </c:pt>
                <c:pt idx="1">
                  <c:v>Hombres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0.54729347948920781</c:v>
                </c:pt>
                <c:pt idx="1">
                  <c:v>0.45112442083851284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3A-4C7D-A204-E84331F9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Jornada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6F-494C-8179-25AFB7FDEBB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6F-494C-8179-25AFB7FDEB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Diurna</c:v>
                </c:pt>
                <c:pt idx="1">
                  <c:v>Vespertino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0.73465928353486265</c:v>
                </c:pt>
                <c:pt idx="1">
                  <c:v>0.26477568086789466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F-494C-8179-25AFB7FDE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Tipo de alumno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9804100723760052"/>
          <c:y val="0.1662291116218764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7E-4323-9B09-A4AFCD3C5E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7E-4323-9B09-A4AFCD3C5E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7E-4323-9B09-A4AFCD3C5E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Inicio</c:v>
                </c:pt>
                <c:pt idx="1">
                  <c:v>Continuidad</c:v>
                </c:pt>
                <c:pt idx="2">
                  <c:v>Admisión especial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0.50378573850152564</c:v>
                </c:pt>
                <c:pt idx="1">
                  <c:v>0.44377895807435869</c:v>
                </c:pt>
                <c:pt idx="2">
                  <c:v>5.2435303424115717E-2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7E-4323-9B09-A4AFCD3C5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B-48F1-B16D-CC858EED68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0.23</c:v>
                </c:pt>
                <c:pt idx="1">
                  <c:v>0.12</c:v>
                </c:pt>
                <c:pt idx="2">
                  <c:v>0.171875</c:v>
                </c:pt>
                <c:pt idx="3">
                  <c:v>0.1</c:v>
                </c:pt>
                <c:pt idx="4">
                  <c:v>0.25</c:v>
                </c:pt>
                <c:pt idx="5">
                  <c:v>0.25</c:v>
                </c:pt>
                <c:pt idx="6">
                  <c:v>0.1</c:v>
                </c:pt>
                <c:pt idx="7">
                  <c:v>0.26190476190476192</c:v>
                </c:pt>
                <c:pt idx="8">
                  <c:v>0.25892857142857145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C-422B-932E-773831900C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9.3985540686048294E-2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0.18335640670666051</c:v>
                </c:pt>
                <c:pt idx="12">
                  <c:v>0.18581756652822642</c:v>
                </c:pt>
                <c:pt idx="13">
                  <c:v>0.20996769727734194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0.26149823104137826</c:v>
                </c:pt>
                <c:pt idx="17">
                  <c:v>0.28164897708044917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0.51099830795262269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Femenino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4.3985540686048291E-2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8.3356406706660502E-2</c:v>
                </c:pt>
                <c:pt idx="12">
                  <c:v>8.5817566528226419E-2</c:v>
                </c:pt>
                <c:pt idx="13">
                  <c:v>0.10996769727734193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0.16149823104137825</c:v>
                </c:pt>
                <c:pt idx="17">
                  <c:v>0.18164897708044916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0.41099830795262271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0.22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0.08</c:v>
                </c:pt>
                <c:pt idx="12">
                  <c:v>0.18581756652822642</c:v>
                </c:pt>
                <c:pt idx="13">
                  <c:v>0.15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0.14000000000000001</c:v>
                </c:pt>
                <c:pt idx="17">
                  <c:v>0.12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0.45099830795262302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0.16999999999999998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0.05</c:v>
                </c:pt>
                <c:pt idx="12">
                  <c:v>8.5817566528226419E-2</c:v>
                </c:pt>
                <c:pt idx="13">
                  <c:v>4.9999999999999989E-2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4.0000000000000008E-2</c:v>
                </c:pt>
                <c:pt idx="17">
                  <c:v>1.999999999999999E-2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0.43099830795262301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razones explican que la carga académica 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te resulte exigente?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Mi trabajo me quita más tiempo del que desearía</c:v>
                </c:pt>
                <c:pt idx="2">
                  <c:v>Me faltan hábitos de estudio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Tengo dificultades para concentrarme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0.20489296636085627</c:v>
                </c:pt>
                <c:pt idx="1">
                  <c:v>0.28728606356968217</c:v>
                </c:pt>
                <c:pt idx="2">
                  <c:v>0.36552567237163813</c:v>
                </c:pt>
                <c:pt idx="3">
                  <c:v>0.38630806845965771</c:v>
                </c:pt>
                <c:pt idx="4">
                  <c:v>0.41136919315403425</c:v>
                </c:pt>
                <c:pt idx="5">
                  <c:v>0.55317848410757942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0.14453781512605043</c:v>
                </c:pt>
                <c:pt idx="1">
                  <c:v>0.46386554621848741</c:v>
                </c:pt>
                <c:pt idx="2">
                  <c:v>0.59663865546218486</c:v>
                </c:pt>
                <c:pt idx="3">
                  <c:v>0.49411764705882355</c:v>
                </c:pt>
                <c:pt idx="4">
                  <c:v>0.35798319327731093</c:v>
                </c:pt>
                <c:pt idx="5">
                  <c:v>0.25714285714285712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Continuidad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0.24574468085106382</c:v>
                </c:pt>
                <c:pt idx="1">
                  <c:v>0.30531914893617024</c:v>
                </c:pt>
                <c:pt idx="2">
                  <c:v>0.51702127659574471</c:v>
                </c:pt>
                <c:pt idx="3">
                  <c:v>0.3202127659574468</c:v>
                </c:pt>
                <c:pt idx="4">
                  <c:v>0.43829787234042555</c:v>
                </c:pt>
                <c:pt idx="5">
                  <c:v>0.30106382978723406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0-452D-8DBF-0EDCDE950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Admisión especial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0.17821782178217821</c:v>
                </c:pt>
                <c:pt idx="1">
                  <c:v>0.34653465346534651</c:v>
                </c:pt>
                <c:pt idx="2">
                  <c:v>0.63366336633663367</c:v>
                </c:pt>
                <c:pt idx="3">
                  <c:v>0.36633663366336633</c:v>
                </c:pt>
                <c:pt idx="4">
                  <c:v>0.47524752475247523</c:v>
                </c:pt>
                <c:pt idx="5">
                  <c:v>0.33663366336633666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F-4BB7-B3BC-20A7CF282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FF-4693-967B-B77EDD1001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FF-4693-967B-B77EDD1001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FF-4693-967B-B77EDD1001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2FF-4693-967B-B77EDD1001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2FF-4693-967B-B77EDD1001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2FF-4693-967B-B77EDD10012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2FF-4693-967B-B77EDD100121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E04-4ABE-8F43-686DF35E780A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04-4ABE-8F43-686DF35E780A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04-4ABE-8F43-686DF35E780A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4-4ABE-8F43-686DF35E780A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04-4ABE-8F43-686DF35E780A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4-4ABE-8F43-686DF35E780A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E04-4ABE-8F43-686DF35E78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8-49D9-A8E1-E35B4B824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181850106691046"/>
          <c:y val="9.5580515670835253E-2"/>
          <c:w val="0.37281891897910296"/>
          <c:h val="0.64956384325428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Me hago cargo de solucionar el problema tomando acciones concretas.</c:v>
                </c:pt>
                <c:pt idx="1">
                  <c:v>Intento verlo con otros ojos, para hacer que parezca más positivo.</c:v>
                </c:pt>
                <c:pt idx="2">
                  <c:v>Aprendo a vivir con ello.</c:v>
                </c:pt>
                <c:pt idx="3">
                  <c:v>Pienso detenidamente escenarios de cómo solucionarlo.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0.18499265453723585</c:v>
                </c:pt>
                <c:pt idx="1">
                  <c:v>0.19527630240705166</c:v>
                </c:pt>
                <c:pt idx="2">
                  <c:v>0.2447734207255057</c:v>
                </c:pt>
                <c:pt idx="3">
                  <c:v>0.26387162391230645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6-44F1-89B2-5684F8CF25B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9832716274318798"/>
          <c:y val="6.3768115942028983E-2"/>
          <c:w val="0.37281891897910296"/>
          <c:h val="0.7910049069953212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Me rindo a intentar ocuparme del problema.</c:v>
                </c:pt>
                <c:pt idx="1">
                  <c:v>Me digo a mí mismo "esto no es real".</c:v>
                </c:pt>
                <c:pt idx="2">
                  <c:v>Busco distraerme haciendo otras cosas agradables para mí.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5.175726070742457E-2</c:v>
                </c:pt>
                <c:pt idx="1">
                  <c:v>8.588541078087919E-2</c:v>
                </c:pt>
                <c:pt idx="2">
                  <c:v>0.1927901457791841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5-4AE2-9D88-BF0102BDDE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¿Con qué frecuencia dejas para después tareas que te parecen desagradables?</a:t>
            </a:r>
            <a:endParaRPr lang="es-CL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7E-466C-8388-09CC44045D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</c:f>
              <c:strCache>
                <c:ptCount val="1"/>
                <c:pt idx="0">
                  <c:v>A menudo + Muy a menudo</c:v>
                </c:pt>
              </c:strCache>
            </c:strRef>
          </c:cat>
          <c:val>
            <c:numRef>
              <c:f>Hoja1!$B$2</c:f>
              <c:numCache>
                <c:formatCode>0%</c:formatCode>
                <c:ptCount val="1"/>
                <c:pt idx="0">
                  <c:v>0.26375861679285795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7E-466C-8388-09CC44045D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EA-4A29-A563-86A5ECC015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Prefiero no responder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0.44581308622443216</c:v>
                </c:pt>
                <c:pt idx="1">
                  <c:v>0.5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D-4C51-BC82-04D8E4E389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D-4C51-BC82-04D8E4E389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Sí, en tratamiento médico regular</c:v>
                </c:pt>
                <c:pt idx="1">
                  <c:v>No, pero la condición está diagnosticada</c:v>
                </c:pt>
                <c:pt idx="2">
                  <c:v>No estoy seguro/a </c:v>
                </c:pt>
                <c:pt idx="3">
                  <c:v>Prefiero no responder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83811310153025"/>
          <c:y val="5.6494222131277895E-2"/>
          <c:w val="0.63097649562716396"/>
          <c:h val="0.88355128463190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Escuela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Malestar en áreas no profundizadas</c:v>
                </c:pt>
                <c:pt idx="1">
                  <c:v>Trastornos de personalidad</c:v>
                </c:pt>
                <c:pt idx="2">
                  <c:v>Uso problemático marihuana</c:v>
                </c:pt>
                <c:pt idx="3">
                  <c:v>Uso problemático alcohol</c:v>
                </c:pt>
                <c:pt idx="4">
                  <c:v>Depresión</c:v>
                </c:pt>
                <c:pt idx="5">
                  <c:v>Ansiedad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0.6</c:v>
                </c:pt>
                <c:pt idx="1">
                  <c:v>7.0000000000000007E-2</c:v>
                </c:pt>
                <c:pt idx="2">
                  <c:v>0.18</c:v>
                </c:pt>
                <c:pt idx="3">
                  <c:v>0.26</c:v>
                </c:pt>
                <c:pt idx="4">
                  <c:v>0.65</c:v>
                </c:pt>
                <c:pt idx="5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4-455A-978C-35259EFCF8D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Duoc UC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Malestar en áreas no profundizadas</c:v>
                </c:pt>
                <c:pt idx="1">
                  <c:v>Trastornos de personalidad</c:v>
                </c:pt>
                <c:pt idx="2">
                  <c:v>Uso problemático marihuana</c:v>
                </c:pt>
                <c:pt idx="3">
                  <c:v>Uso problemático alcohol</c:v>
                </c:pt>
                <c:pt idx="4">
                  <c:v>Depresión</c:v>
                </c:pt>
                <c:pt idx="5">
                  <c:v>Ansiedad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0.7</c:v>
                </c:pt>
                <c:pt idx="1">
                  <c:v>0.03</c:v>
                </c:pt>
                <c:pt idx="2">
                  <c:v>0.13</c:v>
                </c:pt>
                <c:pt idx="3">
                  <c:v>0.16</c:v>
                </c:pt>
                <c:pt idx="4">
                  <c:v>0.35</c:v>
                </c:pt>
                <c:pt idx="5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54-455A-978C-35259EFCF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9916351"/>
        <c:axId val="1139913855"/>
      </c:barChart>
      <c:catAx>
        <c:axId val="1139916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139913855"/>
        <c:crosses val="autoZero"/>
        <c:auto val="1"/>
        <c:lblAlgn val="ctr"/>
        <c:lblOffset val="100"/>
        <c:noMultiLvlLbl val="0"/>
      </c:catAx>
      <c:valAx>
        <c:axId val="113991385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39916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0.19112627986348124</c:v>
                </c:pt>
                <c:pt idx="1">
                  <c:v>0.25</c:v>
                </c:pt>
                <c:pt idx="2">
                  <c:v>0.20471014492753623</c:v>
                </c:pt>
                <c:pt idx="3">
                  <c:v>0.38461538461538464</c:v>
                </c:pt>
                <c:pt idx="4">
                  <c:v>0.16129032258064516</c:v>
                </c:pt>
                <c:pt idx="5">
                  <c:v>0.22</c:v>
                </c:pt>
                <c:pt idx="6">
                  <c:v>0.21938775510204081</c:v>
                </c:pt>
                <c:pt idx="7">
                  <c:v>0.22486772486772486</c:v>
                </c:pt>
                <c:pt idx="8">
                  <c:v>0.26807760141093473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E7-4452-80E1-E20429A4E3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4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0.18645467685319017</c:v>
                </c:pt>
                <c:pt idx="1">
                  <c:v>0.25350701402805609</c:v>
                </c:pt>
                <c:pt idx="3">
                  <c:v>0.21504383940932165</c:v>
                </c:pt>
                <c:pt idx="4">
                  <c:v>0.22193768672641911</c:v>
                </c:pt>
                <c:pt idx="6">
                  <c:v>0.22005383580080753</c:v>
                </c:pt>
                <c:pt idx="7">
                  <c:v>0.21797810033104151</c:v>
                </c:pt>
                <c:pt idx="8">
                  <c:v>0.17672413793103448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2E-4E42-93C1-E1F389557D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0.32764505119453924</c:v>
                </c:pt>
                <c:pt idx="1">
                  <c:v>0.25</c:v>
                </c:pt>
                <c:pt idx="2">
                  <c:v>0.30253623188405798</c:v>
                </c:pt>
                <c:pt idx="3">
                  <c:v>0.34615384615384615</c:v>
                </c:pt>
                <c:pt idx="4">
                  <c:v>0.32258064516129031</c:v>
                </c:pt>
                <c:pt idx="5">
                  <c:v>0.42</c:v>
                </c:pt>
                <c:pt idx="6">
                  <c:v>0.30612244897959184</c:v>
                </c:pt>
                <c:pt idx="7">
                  <c:v>0.36596119929453264</c:v>
                </c:pt>
                <c:pt idx="8">
                  <c:v>0.37918871252204583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DB-4660-904B-725A31C792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0.311170761924427</c:v>
                </c:pt>
                <c:pt idx="1">
                  <c:v>0.36748496993987978</c:v>
                </c:pt>
                <c:pt idx="3">
                  <c:v>0.33625596062144286</c:v>
                </c:pt>
                <c:pt idx="4">
                  <c:v>0.33674775928297057</c:v>
                </c:pt>
                <c:pt idx="6">
                  <c:v>0.35307312696276355</c:v>
                </c:pt>
                <c:pt idx="7">
                  <c:v>0.32543926661573719</c:v>
                </c:pt>
                <c:pt idx="8">
                  <c:v>0.27155172413793105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B-4254-B72D-39B3489FE6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0.38907849829351537</c:v>
                </c:pt>
                <c:pt idx="1">
                  <c:v>0.18</c:v>
                </c:pt>
                <c:pt idx="2">
                  <c:v>0.41485507246376813</c:v>
                </c:pt>
                <c:pt idx="3">
                  <c:v>0.19230769230769232</c:v>
                </c:pt>
                <c:pt idx="4">
                  <c:v>0.45161290322580644</c:v>
                </c:pt>
                <c:pt idx="5">
                  <c:v>0.45</c:v>
                </c:pt>
                <c:pt idx="6">
                  <c:v>0.46938775510204084</c:v>
                </c:pt>
                <c:pt idx="7">
                  <c:v>0.40388007054673719</c:v>
                </c:pt>
                <c:pt idx="8">
                  <c:v>0.38271604938271603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6E-425A-98EF-74EABCB8E8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0.41874870947759651</c:v>
                </c:pt>
                <c:pt idx="1">
                  <c:v>0.39053106212424848</c:v>
                </c:pt>
                <c:pt idx="3">
                  <c:v>0.42485771419781571</c:v>
                </c:pt>
                <c:pt idx="4">
                  <c:v>0.352112676056338</c:v>
                </c:pt>
                <c:pt idx="6">
                  <c:v>0.38784208165096457</c:v>
                </c:pt>
                <c:pt idx="7">
                  <c:v>0.41914947797300739</c:v>
                </c:pt>
                <c:pt idx="8">
                  <c:v>0.46336206896551724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9-44D9-9B13-349A905948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1.7064846416382253E-2</c:v>
                </c:pt>
                <c:pt idx="1">
                  <c:v>0.04</c:v>
                </c:pt>
                <c:pt idx="2">
                  <c:v>9.057971014492754E-3</c:v>
                </c:pt>
                <c:pt idx="3">
                  <c:v>0.03</c:v>
                </c:pt>
                <c:pt idx="4">
                  <c:v>3.2258064516129031E-2</c:v>
                </c:pt>
                <c:pt idx="5">
                  <c:v>0.02</c:v>
                </c:pt>
                <c:pt idx="6">
                  <c:v>2.5510204081632654E-2</c:v>
                </c:pt>
                <c:pt idx="7">
                  <c:v>2.3809523809523808E-2</c:v>
                </c:pt>
                <c:pt idx="8">
                  <c:v>5.2910052910052907E-3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B-4EE7-8739-DCC7D076C0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1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1.7138137518067312E-2</c:v>
                </c:pt>
                <c:pt idx="1">
                  <c:v>1.5280561122244489E-2</c:v>
                </c:pt>
                <c:pt idx="3">
                  <c:v>1.6151361329026302E-2</c:v>
                </c:pt>
                <c:pt idx="4">
                  <c:v>1.6645326504481434E-2</c:v>
                </c:pt>
                <c:pt idx="6">
                  <c:v>1.7720951099147599E-2</c:v>
                </c:pt>
                <c:pt idx="7">
                  <c:v>1.4260249554367201E-2</c:v>
                </c:pt>
                <c:pt idx="8">
                  <c:v>1.9396551724137932E-2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5-4001-94E5-151DB6C20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0.3174061433447099</c:v>
                </c:pt>
                <c:pt idx="1">
                  <c:v>0.45</c:v>
                </c:pt>
                <c:pt idx="2">
                  <c:v>0.38405797101449274</c:v>
                </c:pt>
                <c:pt idx="3">
                  <c:v>0.19230769230769232</c:v>
                </c:pt>
                <c:pt idx="4">
                  <c:v>0.35483870967741937</c:v>
                </c:pt>
                <c:pt idx="5">
                  <c:v>0.4</c:v>
                </c:pt>
                <c:pt idx="6">
                  <c:v>0.42857142857142855</c:v>
                </c:pt>
                <c:pt idx="7">
                  <c:v>0.39065255731922399</c:v>
                </c:pt>
                <c:pt idx="8">
                  <c:v>0.33333333333333331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B-4882-BC41-37D9F80174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0.38880858971711751</c:v>
                </c:pt>
                <c:pt idx="1">
                  <c:v>0.36973947895791581</c:v>
                </c:pt>
                <c:pt idx="3">
                  <c:v>0.36794339332410397</c:v>
                </c:pt>
                <c:pt idx="4">
                  <c:v>0.41357234314980795</c:v>
                </c:pt>
                <c:pt idx="6">
                  <c:v>0.36742934051144011</c:v>
                </c:pt>
                <c:pt idx="7">
                  <c:v>0.39623121976063153</c:v>
                </c:pt>
                <c:pt idx="8">
                  <c:v>0.36637931034482757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C52-9F64-81B4188B4A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0.45733788395904434</c:v>
                </c:pt>
                <c:pt idx="1">
                  <c:v>0.5</c:v>
                </c:pt>
                <c:pt idx="2">
                  <c:v>0.48369565217391303</c:v>
                </c:pt>
                <c:pt idx="3">
                  <c:v>0.38461538461538464</c:v>
                </c:pt>
                <c:pt idx="4">
                  <c:v>0.35483870967741937</c:v>
                </c:pt>
                <c:pt idx="5">
                  <c:v>0.4</c:v>
                </c:pt>
                <c:pt idx="6">
                  <c:v>0.52040816326530615</c:v>
                </c:pt>
                <c:pt idx="7">
                  <c:v>0.46031746031746029</c:v>
                </c:pt>
                <c:pt idx="8">
                  <c:v>0.40388007054673719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244-A036-D829C6D500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70000000000000007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0.50485236423704316</c:v>
                </c:pt>
                <c:pt idx="1">
                  <c:v>0.4220941883767535</c:v>
                </c:pt>
                <c:pt idx="3">
                  <c:v>0.49084756191355178</c:v>
                </c:pt>
                <c:pt idx="4">
                  <c:v>0.39991463935125909</c:v>
                </c:pt>
                <c:pt idx="6">
                  <c:v>0.46141767608793183</c:v>
                </c:pt>
                <c:pt idx="7">
                  <c:v>0.47033358798064678</c:v>
                </c:pt>
                <c:pt idx="8">
                  <c:v>0.48922413793103448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48D2-A2DA-018007FC96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4-407E-A310-D2856421DBE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4-407E-A310-D2856421DB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0.51039290240811197</c:v>
                </c:pt>
                <c:pt idx="1">
                  <c:v>0.48960709759188797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4-407E-A310-D2856421D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Ha pensado cómo (i3)</c:v>
                </c:pt>
                <c:pt idx="1">
                  <c:v>Ha tenido intención de hacerlo (i4)</c:v>
                </c:pt>
                <c:pt idx="2">
                  <c:v>Ha hecho plan detallado y/o intenciones con plan (i5)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5-4FA5-B234-845B1F50F89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Ha pensado cómo (i3)</c:v>
                </c:pt>
                <c:pt idx="1">
                  <c:v>Ha tenido intención de hacerlo (i4)</c:v>
                </c:pt>
                <c:pt idx="2">
                  <c:v>Ha hecho plan detallado y/o intenciones con plan (i5)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45-4FA5-B234-845B1F50F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0564719"/>
        <c:axId val="1771217823"/>
      </c:barChart>
      <c:catAx>
        <c:axId val="17705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771217823"/>
        <c:crosses val="autoZero"/>
        <c:auto val="1"/>
        <c:lblAlgn val="ctr"/>
        <c:lblOffset val="100"/>
        <c:noMultiLvlLbl val="0"/>
      </c:catAx>
      <c:valAx>
        <c:axId val="177121782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705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C-47D9-80D0-B6E43C10738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C-47D9-80D0-B6E43C1073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C-47D9-80D0-B6E43C1073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0.32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AC-47D9-80D0-B6E43C107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0.41039290240811155</c:v>
                </c:pt>
                <c:pt idx="1">
                  <c:v>0.58960709759188845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Dentro de Duoc UC</c:v>
                </c:pt>
                <c:pt idx="1">
                  <c:v>Fuera de Duoc UC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0.72</c:v>
                </c:pt>
                <c:pt idx="1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21-4616-B0FC-616CC97A5B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Psicológico</c:v>
                </c:pt>
                <c:pt idx="1">
                  <c:v>Médico/psiquiátrico</c:v>
                </c:pt>
                <c:pt idx="2">
                  <c:v>Ambos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0.25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Si crees haber necesitado apoyo o tratamiento en salud mental pero no has accedido a él, ¿qué tan importantes fueron las siguientes razones para no buscar ayuda?* (Importante + Muy importante)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Importante + Muy importante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AFB-4D12-9DE7-7B8A9AF6AB9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AFB-4D12-9DE7-7B8A9AF6AB9A}"/>
              </c:ext>
            </c:extLst>
          </c:dPt>
          <c:dPt>
            <c:idx val="7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FB-4D12-9DE7-7B8A9AF6AB9A}"/>
              </c:ext>
            </c:extLst>
          </c:dPt>
          <c:dPt>
            <c:idx val="8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7FF-46DC-AA1D-CCCF1222E3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Preferiste hablarlo con amigos o parientes. </c:v>
                </c:pt>
                <c:pt idx="1">
                  <c:v>No estabas seguro de que los tratamientos disponibles fueran muy eficaces. </c:v>
                </c:pt>
                <c:pt idx="2">
                  <c:v>Te preocupaba que la gente te tratara diferente si supiera que estabas en tratamiento.</c:v>
                </c:pt>
                <c:pt idx="3">
                  <c:v>Te daba demasiada vergüenza. </c:v>
                </c:pt>
                <c:pt idx="4">
                  <c:v>Temías que pudiese perjudicar tu carrera académica. </c:v>
                </c:pt>
                <c:pt idx="5">
                  <c:v>Tuviste problemas de tiempo, desplazamientos o de horario. </c:v>
                </c:pt>
                <c:pt idx="6">
                  <c:v>Querías afrontar el problema por tu cuenta. </c:v>
                </c:pt>
                <c:pt idx="7">
                  <c:v>No estabas seguro de a dónde ir o a quién consultar. </c:v>
                </c:pt>
                <c:pt idx="8">
                  <c:v>Costaba demasiado dinero. </c:v>
                </c:pt>
              </c:strCache>
            </c:strRef>
          </c:cat>
          <c:val>
            <c:numRef>
              <c:f>Hoja1!$B$2:$B$10</c:f>
              <c:numCache>
                <c:formatCode>0%</c:formatCode>
                <c:ptCount val="9"/>
                <c:pt idx="0">
                  <c:v>0.24247635425623387</c:v>
                </c:pt>
                <c:pt idx="1">
                  <c:v>0.27687016337059328</c:v>
                </c:pt>
                <c:pt idx="2">
                  <c:v>0.2936371453138435</c:v>
                </c:pt>
                <c:pt idx="3">
                  <c:v>0.34307824591573521</c:v>
                </c:pt>
                <c:pt idx="4">
                  <c:v>0.39036973344797932</c:v>
                </c:pt>
                <c:pt idx="5">
                  <c:v>0.48753224419604474</c:v>
                </c:pt>
                <c:pt idx="6">
                  <c:v>0.5438521066208083</c:v>
                </c:pt>
                <c:pt idx="7">
                  <c:v>0.64531384350816845</c:v>
                </c:pt>
                <c:pt idx="8">
                  <c:v>0.71066208082545146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7-43BC-9E2C-F8AC3E6A72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0.0</c:formatCode>
                <c:ptCount val="9"/>
                <c:pt idx="0">
                  <c:v>6.625</c:v>
                </c:pt>
                <c:pt idx="1">
                  <c:v>5.8</c:v>
                </c:pt>
                <c:pt idx="2">
                  <c:v>6.34375</c:v>
                </c:pt>
                <c:pt idx="3">
                  <c:v>6.875</c:v>
                </c:pt>
                <c:pt idx="4">
                  <c:v>4.625</c:v>
                </c:pt>
                <c:pt idx="5">
                  <c:v>4.5</c:v>
                </c:pt>
                <c:pt idx="6">
                  <c:v>6.875</c:v>
                </c:pt>
                <c:pt idx="7">
                  <c:v>5.0625</c:v>
                </c:pt>
                <c:pt idx="8">
                  <c:v>4.65625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0.0</c:formatCode>
                <c:ptCount val="9"/>
                <c:pt idx="0">
                  <c:v>5.90625</c:v>
                </c:pt>
                <c:pt idx="1">
                  <c:v>5.5</c:v>
                </c:pt>
                <c:pt idx="3">
                  <c:v>5.6875</c:v>
                </c:pt>
                <c:pt idx="4">
                  <c:v>5.5625</c:v>
                </c:pt>
                <c:pt idx="6">
                  <c:v>5.625</c:v>
                </c:pt>
                <c:pt idx="7">
                  <c:v>5.9375</c:v>
                </c:pt>
                <c:pt idx="8">
                  <c:v>5.0625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Hoja1!$B$3:$B$7</c:f>
              <c:numCache>
                <c:formatCode>General</c:formatCode>
                <c:ptCount val="5"/>
                <c:pt idx="0">
                  <c:v>5.7</c:v>
                </c:pt>
                <c:pt idx="1">
                  <c:v>5.3</c:v>
                </c:pt>
                <c:pt idx="2">
                  <c:v>5.7</c:v>
                </c:pt>
                <c:pt idx="3" formatCode="0.00">
                  <c:v>6</c:v>
                </c:pt>
                <c:pt idx="4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Hoja1!$C$3:$C$7</c:f>
              <c:numCache>
                <c:formatCode>General</c:formatCode>
                <c:ptCount val="5"/>
                <c:pt idx="0" formatCode="0.0">
                  <c:v>6</c:v>
                </c:pt>
                <c:pt idx="1">
                  <c:v>5.4</c:v>
                </c:pt>
                <c:pt idx="2">
                  <c:v>5.9</c:v>
                </c:pt>
                <c:pt idx="3">
                  <c:v>5.4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Hoja1!$B$3:$B$5</c:f>
              <c:numCache>
                <c:formatCode>General</c:formatCode>
                <c:ptCount val="3"/>
                <c:pt idx="0" formatCode="0.0">
                  <c:v>3</c:v>
                </c:pt>
                <c:pt idx="1">
                  <c:v>5.3</c:v>
                </c:pt>
                <c:pt idx="2" formatCode="0.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Hoja1!$C$3:$C$5</c:f>
              <c:numCache>
                <c:formatCode>General</c:formatCode>
                <c:ptCount val="3"/>
                <c:pt idx="0" formatCode="0.0">
                  <c:v>2.7</c:v>
                </c:pt>
                <c:pt idx="1">
                  <c:v>5.8</c:v>
                </c:pt>
                <c:pt idx="2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Durante el último año, ¿cuán satisfecho/a te has sentido con el apoyo que has recibido por parte de…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insatisfecho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5.6051531246468528E-2</c:v>
                </c:pt>
                <c:pt idx="1">
                  <c:v>5.6051531246468528E-2</c:v>
                </c:pt>
                <c:pt idx="2">
                  <c:v>5.0966210871284889E-2</c:v>
                </c:pt>
                <c:pt idx="3">
                  <c:v>9.0744716917165777E-2</c:v>
                </c:pt>
                <c:pt idx="4">
                  <c:v>6.6900214713526945E-2</c:v>
                </c:pt>
                <c:pt idx="5">
                  <c:v>3.2320036162278222E-2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F-4212-9B4D-168CAC2258B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Insatisfecho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5.8989716352130184E-2</c:v>
                </c:pt>
                <c:pt idx="1">
                  <c:v>5.8989716352130184E-2</c:v>
                </c:pt>
                <c:pt idx="2">
                  <c:v>6.7804271669115151E-2</c:v>
                </c:pt>
                <c:pt idx="3">
                  <c:v>0.11639733303198102</c:v>
                </c:pt>
                <c:pt idx="4">
                  <c:v>9.481297321731269E-2</c:v>
                </c:pt>
                <c:pt idx="5">
                  <c:v>4.0682563001469094E-2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F-4212-9B4D-168CAC2258B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Ni satisfecho ni insatisfecho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Hoja1!$D$2:$D$7</c:f>
              <c:numCache>
                <c:formatCode>0%</c:formatCode>
                <c:ptCount val="6"/>
                <c:pt idx="0">
                  <c:v>0.13</c:v>
                </c:pt>
                <c:pt idx="1">
                  <c:v>0.23302068030285908</c:v>
                </c:pt>
                <c:pt idx="2">
                  <c:v>0.1785512487286699</c:v>
                </c:pt>
                <c:pt idx="3">
                  <c:v>0.47519493728104872</c:v>
                </c:pt>
                <c:pt idx="4">
                  <c:v>0.41665724940671262</c:v>
                </c:pt>
                <c:pt idx="5">
                  <c:v>0.27200813651260031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F-4212-9B4D-168CAC2258B7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Satisfecho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Hoja1!$E$2:$E$7</c:f>
              <c:numCache>
                <c:formatCode>0%</c:formatCode>
                <c:ptCount val="6"/>
                <c:pt idx="0">
                  <c:v>0.18</c:v>
                </c:pt>
                <c:pt idx="1">
                  <c:v>0.37518363656910386</c:v>
                </c:pt>
                <c:pt idx="2">
                  <c:v>0.34455870719855353</c:v>
                </c:pt>
                <c:pt idx="3">
                  <c:v>0.23686292236410894</c:v>
                </c:pt>
                <c:pt idx="4">
                  <c:v>0.31370776358910613</c:v>
                </c:pt>
                <c:pt idx="5">
                  <c:v>0.43790258786303538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F-4212-9B4D-168CAC2258B7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Muy satisfecho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Hoja1!$F$2:$F$7</c:f>
              <c:numCache>
                <c:formatCode>0%</c:formatCode>
                <c:ptCount val="6"/>
                <c:pt idx="0">
                  <c:v>0.38</c:v>
                </c:pt>
                <c:pt idx="1">
                  <c:v>0.27675443552943835</c:v>
                </c:pt>
                <c:pt idx="2">
                  <c:v>0.35811956153237656</c:v>
                </c:pt>
                <c:pt idx="3">
                  <c:v>8.0800090405695565E-2</c:v>
                </c:pt>
                <c:pt idx="4">
                  <c:v>0.10792179907334162</c:v>
                </c:pt>
                <c:pt idx="5">
                  <c:v>0.21708667646061702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BF-4212-9B4D-168CAC2258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3522976889398519"/>
          <c:y val="8.7589237262095474E-3"/>
          <c:w val="0.34693910847549336"/>
          <c:h val="0.85236668634009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Apreciación negativa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5.6234845860755098E-2</c:v>
                </c:pt>
                <c:pt idx="1">
                  <c:v>0.22099064773120891</c:v>
                </c:pt>
                <c:pt idx="2">
                  <c:v>0.10350883269830199</c:v>
                </c:pt>
                <c:pt idx="3">
                  <c:v>0.123900242466227</c:v>
                </c:pt>
                <c:pt idx="4">
                  <c:v>0.21939729823345999</c:v>
                </c:pt>
                <c:pt idx="5">
                  <c:v>0.13775545549012799</c:v>
                </c:pt>
                <c:pt idx="6">
                  <c:v>0.1905091790786283</c:v>
                </c:pt>
                <c:pt idx="7">
                  <c:v>0.2105992379632837</c:v>
                </c:pt>
                <c:pt idx="8">
                  <c:v>0.13775545549012799</c:v>
                </c:pt>
                <c:pt idx="9">
                  <c:v>0.22099064773120891</c:v>
                </c:pt>
                <c:pt idx="10">
                  <c:v>0.13775545549012799</c:v>
                </c:pt>
                <c:pt idx="11">
                  <c:v>0.24260478004849301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9-4A59-BD93-ACABDE7B54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Apreciación neutra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9079978829267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9-4A59-BD93-ACABDE7B54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4.6414963630065822E-2</c:v>
                </c:pt>
                <c:pt idx="1">
                  <c:v>0.32455836508486319</c:v>
                </c:pt>
                <c:pt idx="2">
                  <c:v>9.0751645306546586E-2</c:v>
                </c:pt>
                <c:pt idx="3">
                  <c:v>0.14409421544856249</c:v>
                </c:pt>
                <c:pt idx="4">
                  <c:v>0.1236577762383097</c:v>
                </c:pt>
                <c:pt idx="5">
                  <c:v>9.9168687218566004E-2</c:v>
                </c:pt>
                <c:pt idx="6">
                  <c:v>0.31763075857291312</c:v>
                </c:pt>
                <c:pt idx="7">
                  <c:v>0.35885001731901628</c:v>
                </c:pt>
                <c:pt idx="8">
                  <c:v>0.19916868721856601</c:v>
                </c:pt>
                <c:pt idx="9">
                  <c:v>0.32455836508486319</c:v>
                </c:pt>
                <c:pt idx="10">
                  <c:v>9.9168687218566004E-2</c:v>
                </c:pt>
                <c:pt idx="11">
                  <c:v>0.16522341531001039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9-4A59-BD93-ACABDE7B54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Apreciación positiva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0.89735019050917897</c:v>
                </c:pt>
                <c:pt idx="1">
                  <c:v>0.45445098718392801</c:v>
                </c:pt>
                <c:pt idx="2">
                  <c:v>0.79573952199515097</c:v>
                </c:pt>
                <c:pt idx="3">
                  <c:v>0.73200554208520996</c:v>
                </c:pt>
                <c:pt idx="4">
                  <c:v>0.65694492552823003</c:v>
                </c:pt>
                <c:pt idx="5">
                  <c:v>0.76307585729130589</c:v>
                </c:pt>
                <c:pt idx="6">
                  <c:v>0.49186006234845858</c:v>
                </c:pt>
                <c:pt idx="7">
                  <c:v>0.43055074471770011</c:v>
                </c:pt>
                <c:pt idx="8">
                  <c:v>0.66307585729130603</c:v>
                </c:pt>
                <c:pt idx="9">
                  <c:v>0.45445098718392801</c:v>
                </c:pt>
                <c:pt idx="10">
                  <c:v>0.76307585729130589</c:v>
                </c:pt>
                <c:pt idx="11">
                  <c:v>0.59217180464149599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9-4A59-BD93-ACABDE7B54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348736048"/>
        <c:axId val="171021936"/>
      </c:barChart>
      <c:catAx>
        <c:axId val="34873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chemeClr val="tx2">
                    <a:lumMod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ctr"/>
        <c:lblOffset val="100"/>
        <c:noMultiLvlLbl val="0"/>
      </c:catAx>
      <c:valAx>
        <c:axId val="17102193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20232196437362"/>
          <c:y val="0.84871755010829331"/>
          <c:w val="0.35416316038801987"/>
          <c:h val="0.14974263209740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Típicamente, ¿con qué frecuencia realizas ejercicio o actividad física durante al menos 30 minutos?</a:t>
            </a:r>
            <a:endParaRPr lang="es-CL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7-4F7D-BBC4-5086159EAB5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7-4F7D-BBC4-5086159EAB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7-4F7D-BBC4-5086159EAB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7-4F7D-BBC4-5086159EAB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Nunca</c:v>
                </c:pt>
                <c:pt idx="1">
                  <c:v>1 vez por semana</c:v>
                </c:pt>
                <c:pt idx="2">
                  <c:v>2 veces por semana</c:v>
                </c:pt>
                <c:pt idx="3">
                  <c:v>3 o más veces por semana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0.375893697083725</c:v>
                </c:pt>
                <c:pt idx="1">
                  <c:v>0.25119002822201297</c:v>
                </c:pt>
                <c:pt idx="2">
                  <c:v>0.111933207902164</c:v>
                </c:pt>
                <c:pt idx="3">
                  <c:v>0.26098306679209798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7-4F7D-BBC4-5086159EA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6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800" b="0" i="0" u="none" strike="noStrike" baseline="0" dirty="0">
                <a:effectLst/>
              </a:rPr>
              <a:t>En una semana habitual, con qué frecuencia:</a:t>
            </a:r>
            <a:endParaRPr lang="es-C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0.15666901905434016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8AD-9110-AB5F9FC58C8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0.41766643142789933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8AD-9110-AB5F9FC58C8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0.27205363443895553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8AD-9110-AB5F9FC58C83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0.15361091507880498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6-48AD-9110-AB5F9FC58C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6.5741502998941548E-2</c:v>
                </c:pt>
                <c:pt idx="1">
                  <c:v>0.19204986475361638</c:v>
                </c:pt>
                <c:pt idx="2">
                  <c:v>0.19760056457304165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C34-8869-54A49A9EFCA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0.69163824532517937</c:v>
                </c:pt>
                <c:pt idx="1">
                  <c:v>0.50076443608138299</c:v>
                </c:pt>
                <c:pt idx="2">
                  <c:v>0.42695836273817928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C0-4C34-8869-54A49A9EFCA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0.20122309773021288</c:v>
                </c:pt>
                <c:pt idx="1">
                  <c:v>0.20686816417734918</c:v>
                </c:pt>
                <c:pt idx="2">
                  <c:v>0.23147494707127736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C0-4C34-8869-54A49A9EFCAF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4.1397153945666239E-2</c:v>
                </c:pt>
                <c:pt idx="1">
                  <c:v>0.10031753498765142</c:v>
                </c:pt>
                <c:pt idx="2">
                  <c:v>0.14396612561750177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C0-4C34-8869-54A49A9EFC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 un día habitual, ¿cuántos vasos de agua, té o juegos no azucarados ingieres?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Ninguno</c:v>
                </c:pt>
                <c:pt idx="1">
                  <c:v>Entre 1 y 3</c:v>
                </c:pt>
                <c:pt idx="2">
                  <c:v>Entre 4 y 8</c:v>
                </c:pt>
                <c:pt idx="3">
                  <c:v>Entre 9 y 12</c:v>
                </c:pt>
                <c:pt idx="4">
                  <c:v>Más de 12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3B-407A-ACC9-436A3ACF9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Durante las últimas dos semanas, ¿con qué frecuencia has fumado cigarrillos, puros o pipas, o usado rapé o tabaco para mascar?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Muy poco</c:v>
                </c:pt>
                <c:pt idx="2">
                  <c:v>Levemente</c:v>
                </c:pt>
                <c:pt idx="3">
                  <c:v>Moderadamente</c:v>
                </c:pt>
                <c:pt idx="4">
                  <c:v>Severamente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9-411B-8080-77E3FB9FA8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A8-48EF-B7C4-459A9335C2F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A8-48EF-B7C4-459A9335C2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A8-48EF-B7C4-459A9335C2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A8-48EF-B7C4-459A9335C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EC4-48CA-98A1-76B7FCF66FF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EC4-48CA-98A1-76B7FCF66FF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C4-48CA-98A1-76B7FCF66F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05-44F3-A85A-699E826758C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05-44F3-A85A-699E826758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05-44F3-A85A-699E826758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05-44F3-A85A-699E82675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27-4FBD-B015-90E80FB2EA7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7F-4FA5-88D8-4A6FD5A8E321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7F-4FA5-88D8-4A6FD5A8E32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7F-4FA5-88D8-4A6FD5A8E3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04-4251-946D-A3074D02C65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04-4251-946D-A3074D02C6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104-4251-946D-A3074D02C6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104-4251-946D-A3074D02C6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A8-43CD-8471-ACB30C339F5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A8-43CD-8471-ACB30C339F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A8-43CD-8471-ACB30C339F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A8-43CD-8471-ACB30C339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BF-448B-897D-75484F757E2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BF-448B-897D-75484F757E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BF-448B-897D-75484F757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FBA-42A9-A113-0001A67B4741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FBA-42A9-A113-0001A67B474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FBA-42A9-A113-0001A67B47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BA-42A9-A113-0001A67B4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F8961E"/>
            </a:solidFill>
            <a:ln w="19050">
              <a:solidFill>
                <a:srgbClr val="F8961E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4D-4A87-8D3A-6B57251F2291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4D-4A87-8D3A-6B57251F2291}"/>
              </c:ext>
            </c:extLst>
          </c:dPt>
          <c:dPt>
            <c:idx val="4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4D-4A87-8D3A-6B57251F22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0</c:v>
                </c:pt>
                <c:pt idx="1">
                  <c:v>Entre 1 y 3</c:v>
                </c:pt>
                <c:pt idx="2">
                  <c:v>Entre 4 y 6</c:v>
                </c:pt>
                <c:pt idx="3">
                  <c:v>Entre 7 y 9</c:v>
                </c:pt>
                <c:pt idx="4">
                  <c:v>10 o más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0.14581308622443201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0.35418691377556799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21395472"/>
        <c:axId val="1721401296"/>
      </c:barChart>
      <c:catAx>
        <c:axId val="17213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401296"/>
        <c:crossesAt val="0"/>
        <c:auto val="1"/>
        <c:lblAlgn val="ctr"/>
        <c:lblOffset val="100"/>
        <c:noMultiLvlLbl val="0"/>
      </c:catAx>
      <c:valAx>
        <c:axId val="1721401296"/>
        <c:scaling>
          <c:orientation val="minMax"/>
          <c:max val="0.30000000000000004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7213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D3-4286-BAA3-0777F2FDFF11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F26-498F-AC27-E91068B6FEC9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F26-498F-AC27-E91068B6FE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39-4F2A-95CB-0F8DDB7132DB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39-4F2A-95CB-0F8DDB7132DB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39-4F2A-95CB-0F8DDB7132DB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39-4F2A-95CB-0F8DDB7132DB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939-4F2A-95CB-0F8DDB7132DB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939-4F2A-95CB-0F8DDB7132DB}"/>
              </c:ext>
            </c:extLst>
          </c:dPt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39-4F2A-95CB-0F8DDB713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45-4873-9662-817F7F4A1EE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45-4873-9662-817F7F4A1EE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45-4873-9662-817F7F4A1E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45-4873-9662-817F7F4A1E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FF-48A3-81F3-9E65F9719FF0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FF-48A3-81F3-9E65F9719FF0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FF-48A3-81F3-9E65F9719FF0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FF-48A3-81F3-9E65F9719FF0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FF-48A3-81F3-9E65F9719FF0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5FF-48A3-81F3-9E65F9719FF0}"/>
              </c:ext>
            </c:extLst>
          </c:dPt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5FF-48A3-81F3-9E65F9719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B0-4353-887C-C9753F839E53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B0-4353-887C-C9753F839E53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B0-4353-887C-C9753F839E53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B0-4353-887C-C9753F839E53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B0-4353-887C-C9753F839E53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B0-4353-887C-C9753F839E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No lo recuerdo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</c:v>
                </c:pt>
                <c:pt idx="1">
                  <c:v>0.1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B0-4353-887C-C9753F839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F6-4377-80DE-CCB974E0DAB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F6-4377-80DE-CCB974E0DA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F6-4377-80DE-CCB974E0DA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F6-4377-80DE-CCB974E0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CD3-4690-A67F-BB20356C8E03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CD3-4690-A67F-BB20356C8E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D3-4690-A67F-BB20356C8E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ED-4FB5-BDCB-501FF8949BB8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ED-4FB5-BDCB-501FF8949BB8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ED-4FB5-BDCB-501FF8949BB8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7ED-4FB5-BDCB-501FF8949BB8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7ED-4FB5-BDCB-501FF8949BB8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7ED-4FB5-BDCB-501FF8949B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9-480B-8A33-449EDF440EB2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E9-480B-8A33-449EDF440E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E9-480B-8A33-449EDF440E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9-480B-8A33-449EDF440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11-4829-8A78-0593EE82B441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B11-4829-8A78-0593EE82B4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11-4829-8A78-0593EE82B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B8-4E2A-857D-056B328CD43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B8-4E2A-857D-056B328CD43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B8-4E2A-857D-056B328CD435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7B8-4E2A-857D-056B328CD435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7B8-4E2A-857D-056B328CD4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7B8-4E2A-857D-056B328CD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B3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Hoja1!$B$2:$B$6</c:f>
              <c:strCache>
                <c:ptCount val="5"/>
                <c:pt idx="0">
                  <c:v>Sí, de algún familiar</c:v>
                </c:pt>
                <c:pt idx="1">
                  <c:v>Sí, de su padre/madre</c:v>
                </c:pt>
                <c:pt idx="2">
                  <c:v>Sí, una institución de cuidados (sala cuna, jardín, guardería, escuela, etc.)</c:v>
                </c:pt>
                <c:pt idx="3">
                  <c:v>Sí, pago para servicios de cuidado en casa (servicio doméstico, enfermera, etc.)</c:v>
                </c:pt>
                <c:pt idx="4">
                  <c:v>No cuento con apoyo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0.40291852452371302</c:v>
                </c:pt>
                <c:pt idx="1">
                  <c:v>0.28820429671665992</c:v>
                </c:pt>
                <c:pt idx="2">
                  <c:v>9.0393190109444674E-2</c:v>
                </c:pt>
                <c:pt idx="3">
                  <c:v>2.3510336441021483E-2</c:v>
                </c:pt>
                <c:pt idx="4">
                  <c:v>0.19497365220916094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¿Tienes a alguna persona a tu cuidado? N = XXX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No, ninguna.</c:v>
                </c:pt>
                <c:pt idx="1">
                  <c:v>Sí, hijo/a(s).</c:v>
                </c:pt>
                <c:pt idx="2">
                  <c:v>Sí, hermano/a ó sobrino/a.</c:v>
                </c:pt>
                <c:pt idx="3">
                  <c:v>Sí, adulto/a mayor.</c:v>
                </c:pt>
                <c:pt idx="4">
                  <c:v>Sí, persona enferma o con alguna discapacidad.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0.72121143632048823</c:v>
                </c:pt>
                <c:pt idx="1">
                  <c:v>0.17312690699514069</c:v>
                </c:pt>
                <c:pt idx="2">
                  <c:v>4.9610125437902587E-2</c:v>
                </c:pt>
                <c:pt idx="3">
                  <c:v>3.4806192790145782E-2</c:v>
                </c:pt>
                <c:pt idx="4">
                  <c:v>2.1245338456322749E-2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B-48C4-AAF6-D226B4BCE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 de estas situaciones refleja de mejor forma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tu trabajo actual? N = XXX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Trabajo de jornada completa todos los días</c:v>
                </c:pt>
                <c:pt idx="1">
                  <c:v>Media jornada todos los días</c:v>
                </c:pt>
                <c:pt idx="2">
                  <c:v>Trabajo solo algunos días a la semana</c:v>
                </c:pt>
                <c:pt idx="3">
                  <c:v>Solo fines de semana</c:v>
                </c:pt>
                <c:pt idx="4">
                  <c:v>No trabajo ningún día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De acuerdo a las condiciones que tienes para desarrollar tus actividades académicas, ¿cuán de acuerdo estás con las siguientes afirmaciones? N = XXX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8.4190303989151311E-2</c:v>
                </c:pt>
                <c:pt idx="1">
                  <c:v>0.21403548423550683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C8-4668-84B5-748FA07A9DC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Hoja1!$C$2:$C$3</c:f>
              <c:numCache>
                <c:formatCode>0%</c:formatCode>
                <c:ptCount val="2"/>
                <c:pt idx="0">
                  <c:v>0.22443213922477115</c:v>
                </c:pt>
                <c:pt idx="1">
                  <c:v>0.36975929483557463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C8-4668-84B5-748FA07A9DC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Hoja1!$D$2:$D$3</c:f>
              <c:numCache>
                <c:formatCode>0%</c:formatCode>
                <c:ptCount val="2"/>
                <c:pt idx="0">
                  <c:v>0.50265566730704037</c:v>
                </c:pt>
                <c:pt idx="1">
                  <c:v>0.30794440049723132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C8-4668-84B5-748FA07A9DC8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Hoja1!$E$2:$E$3</c:f>
              <c:numCache>
                <c:formatCode>0%</c:formatCode>
                <c:ptCount val="2"/>
                <c:pt idx="0">
                  <c:v>0.18872188947903717</c:v>
                </c:pt>
                <c:pt idx="1">
                  <c:v>0.10826082043168719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C8-4668-84B5-748FA07A9DC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0.272437563566504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D8-499B-978A-755D0147964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0.26340829472256799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D8-499B-978A-755D01479645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0.31090518702678299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D8-499B-978A-755D01479645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0.15324895468414501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D8-499B-978A-755D0147964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Otros espacios cercanos a sede (plazas, malls, etc.)</c:v>
                </c:pt>
                <c:pt idx="1">
                  <c:v>Áreas verdes</c:v>
                </c:pt>
                <c:pt idx="2">
                  <c:v>Espacios deportivos</c:v>
                </c:pt>
                <c:pt idx="3">
                  <c:v>Punto estudiantil</c:v>
                </c:pt>
                <c:pt idx="4">
                  <c:v>Biblioteca</c:v>
                </c:pt>
                <c:pt idx="5">
                  <c:v>Casino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0.353678381738049</c:v>
                </c:pt>
                <c:pt idx="1">
                  <c:v>0.16770256526161148</c:v>
                </c:pt>
                <c:pt idx="2">
                  <c:v>0.25</c:v>
                </c:pt>
                <c:pt idx="3">
                  <c:v>0.15640185331675896</c:v>
                </c:pt>
                <c:pt idx="4">
                  <c:v>0.15459373940558255</c:v>
                </c:pt>
                <c:pt idx="5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Portal VIVO Duoc</c:v>
                </c:pt>
                <c:pt idx="1">
                  <c:v>AVA (Ambiente virtual de aprendizaje)</c:v>
                </c:pt>
                <c:pt idx="2">
                  <c:v>Correo institucional</c:v>
                </c:pt>
                <c:pt idx="3">
                  <c:v>Portal de acceso a clases</c:v>
                </c:pt>
                <c:pt idx="4">
                  <c:v>No utilizo mucho los espacios Duoc UC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6.7702565261611003E-2</c:v>
                </c:pt>
                <c:pt idx="1">
                  <c:v>5.3678381738049494E-2</c:v>
                </c:pt>
                <c:pt idx="2">
                  <c:v>0.22</c:v>
                </c:pt>
                <c:pt idx="3">
                  <c:v>5.6401853316759003E-2</c:v>
                </c:pt>
                <c:pt idx="4">
                  <c:v>0.66762346027799802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CD-4592-85F3-89A7F47A3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9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6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61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33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064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6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938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26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901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40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43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0" name="Google Shape;540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17221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953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569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498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181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6890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3318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944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2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0" name="Google Shape;3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4890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2607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9655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0141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7620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660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2760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74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489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35835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8168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597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018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7369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187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3166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59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60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2873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62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67" name="Google Shape;1067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63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64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0" name="Google Shape;1090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65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9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1"/>
          <p:cNvSpPr/>
          <p:nvPr/>
        </p:nvSpPr>
        <p:spPr>
          <a:xfrm>
            <a:off x="336644" y="1265614"/>
            <a:ext cx="11518711" cy="3944202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19;p111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1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D9C4BF-0687-46AD-B39A-6837DF05B3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2"/>
          <p:cNvSpPr txBox="1">
            <a:spLocks noGrp="1"/>
          </p:cNvSpPr>
          <p:nvPr>
            <p:ph type="body" idx="1"/>
          </p:nvPr>
        </p:nvSpPr>
        <p:spPr>
          <a:xfrm>
            <a:off x="491319" y="1825625"/>
            <a:ext cx="112501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492874"/>
            <a:ext cx="808563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4655F7-05A0-442D-A5FC-983F51D08A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165" y="6410387"/>
            <a:ext cx="1156447" cy="386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3"/>
          <p:cNvSpPr/>
          <p:nvPr/>
        </p:nvSpPr>
        <p:spPr>
          <a:xfrm>
            <a:off x="341193" y="2006221"/>
            <a:ext cx="11518711" cy="2879678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oogle Shape;25;p112" descr="Logotipo&#10;&#10;Descripción generada automáticamente">
            <a:extLst>
              <a:ext uri="{FF2B5EF4-FFF2-40B4-BE49-F238E27FC236}">
                <a16:creationId xmlns:a16="http://schemas.microsoft.com/office/drawing/2014/main" id="{F7800445-CEF5-4F97-A48B-9608A8DFD0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378858"/>
            <a:ext cx="926601" cy="2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4E2D06-B1BD-4EB9-A44D-B8D10B152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1238" y="6230240"/>
            <a:ext cx="1572495" cy="52526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hart" Target="../charts/char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hart" Target="../charts/chart3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hart" Target="../charts/chart3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9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chart" Target="../charts/chart54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3.xml"/><Relationship Id="rId5" Type="http://schemas.openxmlformats.org/officeDocument/2006/relationships/chart" Target="../charts/chart52.xml"/><Relationship Id="rId4" Type="http://schemas.openxmlformats.org/officeDocument/2006/relationships/image" Target="../media/image33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8.xml"/><Relationship Id="rId3" Type="http://schemas.openxmlformats.org/officeDocument/2006/relationships/chart" Target="../charts/chart55.xml"/><Relationship Id="rId7" Type="http://schemas.openxmlformats.org/officeDocument/2006/relationships/chart" Target="../charts/chart57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chart" Target="../charts/chart5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7" Type="http://schemas.openxmlformats.org/officeDocument/2006/relationships/chart" Target="../charts/chart62.xml"/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3.xml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hart" Target="../charts/chart65.xml"/><Relationship Id="rId4" Type="http://schemas.openxmlformats.org/officeDocument/2006/relationships/chart" Target="../charts/chart6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9.xml"/><Relationship Id="rId3" Type="http://schemas.openxmlformats.org/officeDocument/2006/relationships/chart" Target="../charts/chart66.xml"/><Relationship Id="rId7" Type="http://schemas.openxmlformats.org/officeDocument/2006/relationships/chart" Target="../charts/chart68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hart" Target="../charts/chart7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1.xml"/><Relationship Id="rId4" Type="http://schemas.openxmlformats.org/officeDocument/2006/relationships/image" Target="../media/image35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7" Type="http://schemas.openxmlformats.org/officeDocument/2006/relationships/chart" Target="../charts/chart74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3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8.xml"/><Relationship Id="rId3" Type="http://schemas.openxmlformats.org/officeDocument/2006/relationships/chart" Target="../charts/chart75.xml"/><Relationship Id="rId7" Type="http://schemas.openxmlformats.org/officeDocument/2006/relationships/chart" Target="../charts/chart77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6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9.xml"/><Relationship Id="rId7" Type="http://schemas.openxmlformats.org/officeDocument/2006/relationships/chart" Target="../charts/chart81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0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5.xml"/><Relationship Id="rId3" Type="http://schemas.openxmlformats.org/officeDocument/2006/relationships/chart" Target="../charts/chart82.xml"/><Relationship Id="rId7" Type="http://schemas.openxmlformats.org/officeDocument/2006/relationships/chart" Target="../charts/chart84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3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6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8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9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1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endParaRPr sz="4400" dirty="0">
              <a:highlight>
                <a:srgbClr val="ED7D31"/>
              </a:highlight>
            </a:endParaRPr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EBFEFB4F-D755-03E5-41A9-F341EDDDE15E}"/>
              </a:ext>
            </a:extLst>
          </p:cNvPr>
          <p:cNvSpPr txBox="1"/>
          <p:nvPr/>
        </p:nvSpPr>
        <p:spPr>
          <a:xfrm>
            <a:off x="2494459" y="3578705"/>
            <a:ext cx="72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/>
              <a:t>hols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Estructura de la presentación</a:t>
            </a:r>
            <a:endParaRPr dirty="0">
              <a:solidFill>
                <a:srgbClr val="E30613"/>
              </a:solidFill>
            </a:endParaRP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1D625237-B128-4B8B-9FB7-5B83A2FE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293558"/>
              </p:ext>
            </p:extLst>
          </p:nvPr>
        </p:nvGraphicFramePr>
        <p:xfrm>
          <a:off x="489884" y="1523074"/>
          <a:ext cx="7966362" cy="29667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532009">
                  <a:extLst>
                    <a:ext uri="{9D8B030D-6E8A-4147-A177-3AD203B41FA5}">
                      <a16:colId xmlns:a16="http://schemas.microsoft.com/office/drawing/2014/main" val="216704049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798159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Lámina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Introducción al estudio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riegos de salud mental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5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bienestar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9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experiencia emocional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4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eje iniciativas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0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Conclusiones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153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Anexos: otros datos de interés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143621"/>
                  </a:ext>
                </a:extLst>
              </a:tr>
            </a:tbl>
          </a:graphicData>
        </a:graphic>
      </p:graphicFrame>
      <p:pic>
        <p:nvPicPr>
          <p:cNvPr id="6" name="Gráfico 5" descr="Corazón con pulso con relleno sólido">
            <a:extLst>
              <a:ext uri="{FF2B5EF4-FFF2-40B4-BE49-F238E27FC236}">
                <a16:creationId xmlns:a16="http://schemas.microsoft.com/office/drawing/2014/main" id="{2A98E4D6-A245-40EF-911C-78CB010A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227" y="1523074"/>
            <a:ext cx="914400" cy="914400"/>
          </a:xfrm>
          <a:prstGeom prst="rect">
            <a:avLst/>
          </a:prstGeom>
        </p:spPr>
      </p:pic>
      <p:pic>
        <p:nvPicPr>
          <p:cNvPr id="9" name="Gráfico 8" descr="Cabeza con engranajes con relleno sólido">
            <a:extLst>
              <a:ext uri="{FF2B5EF4-FFF2-40B4-BE49-F238E27FC236}">
                <a16:creationId xmlns:a16="http://schemas.microsoft.com/office/drawing/2014/main" id="{3A2789FA-E0C8-41E1-A2BB-EEAF69177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227" y="2920074"/>
            <a:ext cx="914400" cy="914400"/>
          </a:xfrm>
          <a:prstGeom prst="rect">
            <a:avLst/>
          </a:prstGeom>
        </p:spPr>
      </p:pic>
      <p:pic>
        <p:nvPicPr>
          <p:cNvPr id="13" name="Gráfico 12" descr="Cerebro con relleno sólido">
            <a:extLst>
              <a:ext uri="{FF2B5EF4-FFF2-40B4-BE49-F238E27FC236}">
                <a16:creationId xmlns:a16="http://schemas.microsoft.com/office/drawing/2014/main" id="{83EDAE06-759D-4EDD-81D6-5B9486D7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9900" y="4317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Introducción al estudio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Propósito</a:t>
            </a:r>
            <a:endParaRPr dirty="0">
              <a:solidFill>
                <a:srgbClr val="E30613"/>
              </a:solidFill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91319" y="1358019"/>
            <a:ext cx="1123395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El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propósito de este estudio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fue conocer la opinión de alumnas y alumnos pertenecientes a Duoc UC, en dimensiones relativas a su bienestar emocional y salud mental, de modo de diseñar una estrategia articulada para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reforzar, ampliar y focalizar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apoyos que Duoc UC entrega a sus estudiantes. 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marR="0" lvl="0" indent="-107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ES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el fin de que los resultados del estudio puedan ser utilizados para informar una arquitectura básica de intervención, los </a:t>
            </a:r>
            <a:r>
              <a:rPr lang="es-ES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hallazgos se presentarán…</a:t>
            </a: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75DAC-21B3-40F5-9C39-9C87B7DBBE12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Ficha técnica</a:t>
            </a: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B99EFC-346B-44E8-8D1B-0EA4EA7775A1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  <p:sp>
        <p:nvSpPr>
          <p:cNvPr id="8" name="Google Shape;90;p6">
            <a:extLst>
              <a:ext uri="{FF2B5EF4-FFF2-40B4-BE49-F238E27FC236}">
                <a16:creationId xmlns:a16="http://schemas.microsoft.com/office/drawing/2014/main" id="{630691A8-F890-4F3B-91E2-EB43DBBFB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1319" y="1377582"/>
            <a:ext cx="11250112" cy="490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Estudio de carácter censal. Toda la población de estudiantes fue invitada a participar. 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Universo total: 97.000 estudiantes.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Estudiantes considerados como casos válidos para análisis: 18.000 (corresponden a un 19% del universo total de estudiantes).</a:t>
            </a:r>
            <a:endParaRPr sz="1600"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Trabajo de campo: encuestas aplicadas entre 29 de septiembre y el 13 de octubre, modalidad online.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Todas las evaluaciones se realizaron mediante </a:t>
            </a:r>
            <a:r>
              <a:rPr lang="es-CL" sz="1600" dirty="0" err="1">
                <a:solidFill>
                  <a:srgbClr val="3F3F3F"/>
                </a:solidFill>
              </a:rPr>
              <a:t>auto-reportes</a:t>
            </a:r>
            <a:r>
              <a:rPr lang="es-CL" sz="1600" dirty="0">
                <a:solidFill>
                  <a:srgbClr val="3F3F3F"/>
                </a:solidFill>
              </a:rPr>
              <a:t>. Se prefirieron instrumentos con propiedades psicométricas conocidas para la población chilena. 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La estructura de medición de trastornos de salud mental fue adaptativa y personalizada.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Batería de evaluación</a:t>
            </a:r>
            <a:endParaRPr dirty="0"/>
          </a:p>
        </p:txBody>
      </p:sp>
      <p:graphicFrame>
        <p:nvGraphicFramePr>
          <p:cNvPr id="171" name="Google Shape;171;p7"/>
          <p:cNvGraphicFramePr/>
          <p:nvPr>
            <p:extLst>
              <p:ext uri="{D42A27DB-BD31-4B8C-83A1-F6EECF244321}">
                <p14:modId xmlns:p14="http://schemas.microsoft.com/office/powerpoint/2010/main" val="1737144265"/>
              </p:ext>
            </p:extLst>
          </p:nvPr>
        </p:nvGraphicFramePr>
        <p:xfrm>
          <a:off x="491319" y="1320256"/>
          <a:ext cx="10998851" cy="4643170"/>
        </p:xfrm>
        <a:graphic>
          <a:graphicData uri="http://schemas.openxmlformats.org/drawingml/2006/table">
            <a:tbl>
              <a:tblPr firstRow="1" bandRow="1">
                <a:noFill/>
                <a:tableStyleId>{991015D7-D160-4A9F-BB4E-07FA0D646497}</a:tableStyleId>
              </a:tblPr>
              <a:tblGrid>
                <a:gridCol w="27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</a:t>
                      </a:r>
                      <a:endParaRPr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¿Qué evalúa?</a:t>
                      </a:r>
                      <a:endParaRPr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riesgos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DSM-5	</a:t>
                      </a: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(S</a:t>
                      </a: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creening de síntomas)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ED-15	(Screening de síntomas asociados a 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PSS4 	(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strés percibido</a:t>
                      </a: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PHQ9	(Profundización en depresión)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GAD7	(Profundización en ansiedad)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LPFS-BF 2.0	(Profundización en trastornos en el funcionamiento de la personalidad)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CAST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CUPIT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AUDIT	(Profundización en consumo de alcohol)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C-SSRS	(Profundización en ideación suicida)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Otros	Estresores / Exigencia carga académica / Estrategias de afrontamiento / Procrastinación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recursos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PERMA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Apoyo percibido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Flow </a:t>
                      </a:r>
                      <a:r>
                        <a:rPr lang="es-CL" sz="1400" b="0" i="0" u="none" strike="noStrike" cap="none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states</a:t>
                      </a:r>
                      <a:endParaRPr lang="es-CL"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Estilo de vida saludable (Actividad física, Alimentación, Ingesta de líquidos)</a:t>
                      </a:r>
                      <a:endParaRPr lang="es-CL"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9822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variables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contextuales</a:t>
                      </a:r>
                      <a:endParaRPr sz="1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Personas al cuidado / Situación de empleo / Condiciones para la actividad académica / Necesidad y acceso de tratamiento en salud mental / Lugar, tipo y barreras de acceso a tratamiento / Condición de salud física crónica </a:t>
                      </a:r>
                      <a:endParaRPr lang="es-MX"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iniciativas</a:t>
                      </a: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APP Vivo / Embajadores de la Salud Mental / Atenciones psicológicas / Bienestar Integral en Movimiento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ender_pie_chart"/>
          <p:cNvGraphicFramePr/>
          <p:nvPr>
            <p:extLst>
              <p:ext uri="{D42A27DB-BD31-4B8C-83A1-F6EECF244321}">
                <p14:modId xmlns:p14="http://schemas.microsoft.com/office/powerpoint/2010/main" val="3988562594"/>
              </p:ext>
            </p:extLst>
          </p:nvPr>
        </p:nvGraphicFramePr>
        <p:xfrm>
          <a:off x="804568" y="2363337"/>
          <a:ext cx="3025342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2" name="student_day_pie_chart"/>
          <p:cNvGraphicFramePr/>
          <p:nvPr>
            <p:extLst>
              <p:ext uri="{D42A27DB-BD31-4B8C-83A1-F6EECF244321}">
                <p14:modId xmlns:p14="http://schemas.microsoft.com/office/powerpoint/2010/main" val="2306092930"/>
              </p:ext>
            </p:extLst>
          </p:nvPr>
        </p:nvGraphicFramePr>
        <p:xfrm>
          <a:off x="4692496" y="2363338"/>
          <a:ext cx="2807007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3" name="student_type_pie_chart"/>
          <p:cNvGraphicFramePr/>
          <p:nvPr>
            <p:extLst>
              <p:ext uri="{D42A27DB-BD31-4B8C-83A1-F6EECF244321}">
                <p14:modId xmlns:p14="http://schemas.microsoft.com/office/powerpoint/2010/main" val="1822045150"/>
              </p:ext>
            </p:extLst>
          </p:nvPr>
        </p:nvGraphicFramePr>
        <p:xfrm>
          <a:off x="8362089" y="2134373"/>
          <a:ext cx="2807007" cy="3010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Google Shape;290;p18">
            <a:extLst>
              <a:ext uri="{FF2B5EF4-FFF2-40B4-BE49-F238E27FC236}">
                <a16:creationId xmlns:a16="http://schemas.microsoft.com/office/drawing/2014/main" id="{15992BF2-0710-A66A-B657-B9DB92EAD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814" y="260953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sp>
        <p:nvSpPr>
          <p:cNvPr id="5" name="total_participantes">
            <a:extLst>
              <a:ext uri="{FF2B5EF4-FFF2-40B4-BE49-F238E27FC236}">
                <a16:creationId xmlns:a16="http://schemas.microsoft.com/office/drawing/2014/main" id="{8D095920-402F-C91F-3143-AC6ADC61A64B}"/>
              </a:ext>
            </a:extLst>
          </p:cNvPr>
          <p:cNvSpPr txBox="1"/>
          <p:nvPr/>
        </p:nvSpPr>
        <p:spPr>
          <a:xfrm>
            <a:off x="455814" y="1141160"/>
            <a:ext cx="20874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CASOS VÁLIDOS (N=</a:t>
            </a:r>
            <a:r>
              <a:rPr lang="es-CL" sz="1300" b="1" dirty="0">
                <a:highlight>
                  <a:srgbClr val="ED7D31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&lt;3.500&gt;</a:t>
            </a:r>
            <a:r>
              <a:rPr lang="es-CL" sz="1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6" name="subtitulo_sede_1">
            <a:extLst>
              <a:ext uri="{FF2B5EF4-FFF2-40B4-BE49-F238E27FC236}">
                <a16:creationId xmlns:a16="http://schemas.microsoft.com/office/drawing/2014/main" id="{74CCEA49-2675-B970-2730-C0CD892ED888}"/>
              </a:ext>
            </a:extLst>
          </p:cNvPr>
          <p:cNvSpPr txBox="1"/>
          <p:nvPr/>
        </p:nvSpPr>
        <p:spPr>
          <a:xfrm>
            <a:off x="455814" y="696061"/>
            <a:ext cx="800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estrés y afrontamiento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estrés percibido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>
              <a:highlight>
                <a:srgbClr val="ED7D31"/>
              </a:highlight>
            </a:endParaRPr>
          </a:p>
        </p:txBody>
      </p:sp>
      <p:graphicFrame>
        <p:nvGraphicFramePr>
          <p:cNvPr id="428" name="Google Shape;428;p32"/>
          <p:cNvGraphicFramePr/>
          <p:nvPr>
            <p:extLst>
              <p:ext uri="{D42A27DB-BD31-4B8C-83A1-F6EECF244321}">
                <p14:modId xmlns:p14="http://schemas.microsoft.com/office/powerpoint/2010/main" val="3484487777"/>
              </p:ext>
            </p:extLst>
          </p:nvPr>
        </p:nvGraphicFramePr>
        <p:xfrm>
          <a:off x="4132613" y="1228726"/>
          <a:ext cx="8059387" cy="2382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9" name="Google Shape;429;p32"/>
          <p:cNvGraphicFramePr/>
          <p:nvPr>
            <p:extLst>
              <p:ext uri="{D42A27DB-BD31-4B8C-83A1-F6EECF244321}">
                <p14:modId xmlns:p14="http://schemas.microsoft.com/office/powerpoint/2010/main" val="277954004"/>
              </p:ext>
            </p:extLst>
          </p:nvPr>
        </p:nvGraphicFramePr>
        <p:xfrm>
          <a:off x="3788229" y="3800819"/>
          <a:ext cx="8403771" cy="2816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F98F07F-704E-4675-B717-3F5937AE6D80}"/>
              </a:ext>
            </a:extLst>
          </p:cNvPr>
          <p:cNvSpPr/>
          <p:nvPr/>
        </p:nvSpPr>
        <p:spPr>
          <a:xfrm>
            <a:off x="547568" y="1413773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AE7F0244-B695-4145-B4BF-C54DBCD1DBF1}"/>
              </a:ext>
            </a:extLst>
          </p:cNvPr>
          <p:cNvSpPr/>
          <p:nvPr/>
        </p:nvSpPr>
        <p:spPr>
          <a:xfrm>
            <a:off x="547568" y="350367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E1C77E2B-5B74-4EFF-879C-02D40C622499}"/>
              </a:ext>
            </a:extLst>
          </p:cNvPr>
          <p:cNvSpPr/>
          <p:nvPr/>
        </p:nvSpPr>
        <p:spPr>
          <a:xfrm>
            <a:off x="1254201" y="2106829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28%</a:t>
            </a:r>
          </a:p>
        </p:txBody>
      </p:sp>
      <p:sp>
        <p:nvSpPr>
          <p:cNvPr id="9" name="Google Shape;437;p33">
            <a:extLst>
              <a:ext uri="{FF2B5EF4-FFF2-40B4-BE49-F238E27FC236}">
                <a16:creationId xmlns:a16="http://schemas.microsoft.com/office/drawing/2014/main" id="{E4433011-124A-42AB-83E9-24D92C4AC8CA}"/>
              </a:ext>
            </a:extLst>
          </p:cNvPr>
          <p:cNvSpPr txBox="1"/>
          <p:nvPr/>
        </p:nvSpPr>
        <p:spPr>
          <a:xfrm>
            <a:off x="547568" y="4782527"/>
            <a:ext cx="287250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 el promedio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estrés percibido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de los/as estudiantes, considerando un 100% como un nivel de estrés extremo e intolerable.</a:t>
            </a:r>
          </a:p>
        </p:txBody>
      </p:sp>
    </p:spTree>
    <p:extLst>
      <p:ext uri="{BB962C8B-B14F-4D97-AF65-F5344CB8AC3E}">
        <p14:creationId xmlns:p14="http://schemas.microsoft.com/office/powerpoint/2010/main" val="3006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Sexo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2082096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Jornada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623077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CL" sz="2000" b="0" dirty="0"/>
              <a:t>Entre quienes reportaron como estresor “Carga académica exigente”</a:t>
            </a:r>
            <a:endParaRPr sz="2900" b="0" dirty="0"/>
          </a:p>
        </p:txBody>
      </p:sp>
      <p:graphicFrame>
        <p:nvGraphicFramePr>
          <p:cNvPr id="322" name="Google Shape;322;p22"/>
          <p:cNvGraphicFramePr/>
          <p:nvPr>
            <p:extLst>
              <p:ext uri="{D42A27DB-BD31-4B8C-83A1-F6EECF244321}">
                <p14:modId xmlns:p14="http://schemas.microsoft.com/office/powerpoint/2010/main" val="2818473131"/>
              </p:ext>
            </p:extLst>
          </p:nvPr>
        </p:nvGraphicFramePr>
        <p:xfrm>
          <a:off x="2174875" y="1762125"/>
          <a:ext cx="8128000" cy="4185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7" y="56543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ES" sz="2000" b="0" i="1" dirty="0"/>
              <a:t>¿Cuáles de las siguientes razones explican que la carga académica te resulte exigente?</a:t>
            </a:r>
            <a:br>
              <a:rPr lang="es-ES" sz="2000" b="0" i="1" dirty="0"/>
            </a:br>
            <a:r>
              <a:rPr lang="es-CL" sz="2000" b="0" dirty="0"/>
              <a:t>Entre quienes reportaron como estresor “Carga académica exigente”</a:t>
            </a:r>
            <a:br>
              <a:rPr lang="es-CL" sz="2000" b="0" dirty="0"/>
            </a:br>
            <a:r>
              <a:rPr lang="es-ES" sz="2000" i="1" dirty="0"/>
              <a:t>Resultados por tipo de alumno</a:t>
            </a:r>
            <a:br>
              <a:rPr lang="es-ES" sz="2000" b="0" dirty="0"/>
            </a:br>
            <a:endParaRPr sz="2900" b="0" dirty="0"/>
          </a:p>
        </p:txBody>
      </p:sp>
      <p:graphicFrame>
        <p:nvGraphicFramePr>
          <p:cNvPr id="322" name="Google Shape;322;p22"/>
          <p:cNvGraphicFramePr/>
          <p:nvPr>
            <p:extLst>
              <p:ext uri="{D42A27DB-BD31-4B8C-83A1-F6EECF244321}">
                <p14:modId xmlns:p14="http://schemas.microsoft.com/office/powerpoint/2010/main" val="1007096276"/>
              </p:ext>
            </p:extLst>
          </p:nvPr>
        </p:nvGraphicFramePr>
        <p:xfrm>
          <a:off x="323679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Google Shape;322;p22"/>
          <p:cNvGraphicFramePr/>
          <p:nvPr>
            <p:extLst>
              <p:ext uri="{D42A27DB-BD31-4B8C-83A1-F6EECF244321}">
                <p14:modId xmlns:p14="http://schemas.microsoft.com/office/powerpoint/2010/main" val="1443918176"/>
              </p:ext>
            </p:extLst>
          </p:nvPr>
        </p:nvGraphicFramePr>
        <p:xfrm>
          <a:off x="4407782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Google Shape;322;p22"/>
          <p:cNvGraphicFramePr/>
          <p:nvPr>
            <p:extLst>
              <p:ext uri="{D42A27DB-BD31-4B8C-83A1-F6EECF244321}">
                <p14:modId xmlns:p14="http://schemas.microsoft.com/office/powerpoint/2010/main" val="563843658"/>
              </p:ext>
            </p:extLst>
          </p:nvPr>
        </p:nvGraphicFramePr>
        <p:xfrm>
          <a:off x="8202108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73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2022 - 2025</a:t>
            </a:r>
            <a:endParaRPr dirty="0"/>
          </a:p>
        </p:txBody>
      </p:sp>
      <p:graphicFrame>
        <p:nvGraphicFramePr>
          <p:cNvPr id="315" name="Google Shape;315;p21"/>
          <p:cNvGraphicFramePr/>
          <p:nvPr>
            <p:extLst>
              <p:ext uri="{D42A27DB-BD31-4B8C-83A1-F6EECF244321}">
                <p14:modId xmlns:p14="http://schemas.microsoft.com/office/powerpoint/2010/main" val="4089353357"/>
              </p:ext>
            </p:extLst>
          </p:nvPr>
        </p:nvGraphicFramePr>
        <p:xfrm>
          <a:off x="2320664" y="1390650"/>
          <a:ext cx="9597481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16" name="Google Shape;3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6720EBD-3262-4569-876E-EA876B9F3E16}"/>
              </a:ext>
            </a:extLst>
          </p:cNvPr>
          <p:cNvSpPr txBox="1"/>
          <p:nvPr/>
        </p:nvSpPr>
        <p:spPr>
          <a:xfrm>
            <a:off x="1290917" y="2964510"/>
            <a:ext cx="10703859" cy="33617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65A6203E-2A5D-4C3D-B26F-5319B49B28AB}"/>
              </a:ext>
            </a:extLst>
          </p:cNvPr>
          <p:cNvSpPr/>
          <p:nvPr/>
        </p:nvSpPr>
        <p:spPr>
          <a:xfrm>
            <a:off x="394097" y="1834804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7AEECA03-7141-449B-8B7C-8C9A8AFFCBEF}"/>
              </a:ext>
            </a:extLst>
          </p:cNvPr>
          <p:cNvSpPr/>
          <p:nvPr/>
        </p:nvSpPr>
        <p:spPr>
          <a:xfrm>
            <a:off x="394097" y="4401138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8EEE69-1002-4E28-9FE3-4E7E621BD5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533"/>
          <a:stretch/>
        </p:blipFill>
        <p:spPr>
          <a:xfrm>
            <a:off x="2984977" y="4053617"/>
            <a:ext cx="8268854" cy="1608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23"/>
          <p:cNvGraphicFramePr/>
          <p:nvPr>
            <p:extLst>
              <p:ext uri="{D42A27DB-BD31-4B8C-83A1-F6EECF244321}">
                <p14:modId xmlns:p14="http://schemas.microsoft.com/office/powerpoint/2010/main" val="1553325090"/>
              </p:ext>
            </p:extLst>
          </p:nvPr>
        </p:nvGraphicFramePr>
        <p:xfrm>
          <a:off x="1171575" y="1797228"/>
          <a:ext cx="6572248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0" name="Google Shape;330;p2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2800"/>
              <a:buFont typeface="Calibri"/>
              <a:buNone/>
            </a:pPr>
            <a:r>
              <a:rPr lang="es-CL" sz="2800" dirty="0"/>
              <a:t>Estrategias de afrontamiento  </a:t>
            </a:r>
            <a:endParaRPr dirty="0"/>
          </a:p>
        </p:txBody>
      </p:sp>
      <p:graphicFrame>
        <p:nvGraphicFramePr>
          <p:cNvPr id="331" name="Google Shape;331;p23"/>
          <p:cNvGraphicFramePr/>
          <p:nvPr>
            <p:extLst>
              <p:ext uri="{D42A27DB-BD31-4B8C-83A1-F6EECF244321}">
                <p14:modId xmlns:p14="http://schemas.microsoft.com/office/powerpoint/2010/main" val="2539387835"/>
              </p:ext>
            </p:extLst>
          </p:nvPr>
        </p:nvGraphicFramePr>
        <p:xfrm>
          <a:off x="1016221" y="3643746"/>
          <a:ext cx="6572248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2" name="Google Shape;332;p23"/>
          <p:cNvSpPr txBox="1"/>
          <p:nvPr/>
        </p:nvSpPr>
        <p:spPr>
          <a:xfrm>
            <a:off x="866775" y="1150938"/>
            <a:ext cx="98488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Respecto a las situaciones que señalaste que representaban un problema para ti, y selecciona qué has hecho al respecto:</a:t>
            </a:r>
            <a:endParaRPr sz="18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8284260" y="4307321"/>
            <a:ext cx="415688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Procrastinación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36" name="Google Shape;336;p23"/>
          <p:cNvGraphicFramePr/>
          <p:nvPr>
            <p:extLst>
              <p:ext uri="{D42A27DB-BD31-4B8C-83A1-F6EECF244321}">
                <p14:modId xmlns:p14="http://schemas.microsoft.com/office/powerpoint/2010/main" val="2186384913"/>
              </p:ext>
            </p:extLst>
          </p:nvPr>
        </p:nvGraphicFramePr>
        <p:xfrm>
          <a:off x="7266589" y="5211223"/>
          <a:ext cx="5542497" cy="144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37" name="Google Shape;33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1887" y="210455"/>
            <a:ext cx="579947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Condición de salud crónica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3447" y="1711886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¿Tienes actualmente alguna condición médica de </a:t>
            </a:r>
            <a:r>
              <a:rPr lang="es-MX" sz="1600" b="1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larga duración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, diagnosticada por un profesional de salud?</a:t>
            </a:r>
          </a:p>
          <a:p>
            <a:pPr algn="ctr"/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1776323815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¿Te encuentras actualmente en tratamiento médico o bajo control por esta(s) condición(es)?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113838343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52;p25">
            <a:extLst>
              <a:ext uri="{FF2B5EF4-FFF2-40B4-BE49-F238E27FC236}">
                <a16:creationId xmlns:a16="http://schemas.microsoft.com/office/drawing/2014/main" id="{04A490B3-5449-7620-0CCB-915C57BEB288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3919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tamizaje en salud mental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 txBox="1"/>
          <p:nvPr/>
        </p:nvSpPr>
        <p:spPr>
          <a:xfrm>
            <a:off x="910207" y="393263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promoción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(Sin 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Salud mental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>
              <a:highlight>
                <a:srgbClr val="ED7D31"/>
              </a:highlight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964248-D28D-3787-5950-E0B0AC662034}"/>
              </a:ext>
            </a:extLst>
          </p:cNvPr>
          <p:cNvCxnSpPr>
            <a:cxnSpLocks/>
          </p:cNvCxnSpPr>
          <p:nvPr/>
        </p:nvCxnSpPr>
        <p:spPr>
          <a:xfrm>
            <a:off x="4034018" y="1067778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4542365" y="3932630"/>
            <a:ext cx="30476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403;p30">
            <a:extLst>
              <a:ext uri="{FF2B5EF4-FFF2-40B4-BE49-F238E27FC236}">
                <a16:creationId xmlns:a16="http://schemas.microsoft.com/office/drawing/2014/main" id="{C1D92253-5D76-44AD-8A9F-32F07363DA4F}"/>
              </a:ext>
            </a:extLst>
          </p:cNvPr>
          <p:cNvSpPr txBox="1"/>
          <p:nvPr/>
        </p:nvSpPr>
        <p:spPr>
          <a:xfrm>
            <a:off x="8882143" y="393263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C82B94-E2E9-4995-A9B7-10744F0F0732}"/>
              </a:ext>
            </a:extLst>
          </p:cNvPr>
          <p:cNvCxnSpPr>
            <a:cxnSpLocks/>
          </p:cNvCxnSpPr>
          <p:nvPr/>
        </p:nvCxnSpPr>
        <p:spPr>
          <a:xfrm>
            <a:off x="7992529" y="1065495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3;p4">
            <a:extLst>
              <a:ext uri="{FF2B5EF4-FFF2-40B4-BE49-F238E27FC236}">
                <a16:creationId xmlns:a16="http://schemas.microsoft.com/office/drawing/2014/main" id="{77C2DFC7-3377-4B6C-9E33-41F089C0521F}"/>
              </a:ext>
            </a:extLst>
          </p:cNvPr>
          <p:cNvSpPr txBox="1"/>
          <p:nvPr/>
        </p:nvSpPr>
        <p:spPr>
          <a:xfrm>
            <a:off x="640207" y="4738396"/>
            <a:ext cx="2880000" cy="1169511"/>
          </a:xfrm>
          <a:prstGeom prst="rect">
            <a:avLst/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hábitos saludables que protegen su salud mental e incrementan su bienestar.</a:t>
            </a:r>
            <a:endParaRPr lang="es-MX"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F2D37AC4-D137-4709-BDD7-709B29A578BF}"/>
              </a:ext>
            </a:extLst>
          </p:cNvPr>
          <p:cNvSpPr txBox="1"/>
          <p:nvPr/>
        </p:nvSpPr>
        <p:spPr>
          <a:xfrm>
            <a:off x="4656000" y="4738396"/>
            <a:ext cx="2880000" cy="1169511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que están en riesgo de desarrollar enfermedades mentales, a quienes ofrecer herramientas y/o tratamiento temprano para evitar niveles mayores de malestar.</a:t>
            </a: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75;p4">
            <a:extLst>
              <a:ext uri="{FF2B5EF4-FFF2-40B4-BE49-F238E27FC236}">
                <a16:creationId xmlns:a16="http://schemas.microsoft.com/office/drawing/2014/main" id="{67B75A04-E16B-4D29-B0AB-D56411377E48}"/>
              </a:ext>
            </a:extLst>
          </p:cNvPr>
          <p:cNvSpPr txBox="1"/>
          <p:nvPr/>
        </p:nvSpPr>
        <p:spPr>
          <a:xfrm>
            <a:off x="8612143" y="4738396"/>
            <a:ext cx="2880000" cy="1169511"/>
          </a:xfrm>
          <a:prstGeom prst="rect">
            <a:avLst/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trastornos mentales consolidados, a quienes derivar a tratamientos específicos.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5ED8990D-6D15-4512-A8BA-6B38358B3DEE}"/>
              </a:ext>
            </a:extLst>
          </p:cNvPr>
          <p:cNvSpPr/>
          <p:nvPr/>
        </p:nvSpPr>
        <p:spPr>
          <a:xfrm>
            <a:off x="232314" y="28189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402;p30">
            <a:extLst>
              <a:ext uri="{FF2B5EF4-FFF2-40B4-BE49-F238E27FC236}">
                <a16:creationId xmlns:a16="http://schemas.microsoft.com/office/drawing/2014/main" id="{FEF456F3-55B8-43A0-8425-3A813AAF667E}"/>
              </a:ext>
            </a:extLst>
          </p:cNvPr>
          <p:cNvSpPr/>
          <p:nvPr/>
        </p:nvSpPr>
        <p:spPr>
          <a:xfrm>
            <a:off x="1000207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1" name="Google Shape;427;p32">
            <a:extLst>
              <a:ext uri="{FF2B5EF4-FFF2-40B4-BE49-F238E27FC236}">
                <a16:creationId xmlns:a16="http://schemas.microsoft.com/office/drawing/2014/main" id="{6C156002-DFAC-4DE9-94BB-03D495FF9F8F}"/>
              </a:ext>
            </a:extLst>
          </p:cNvPr>
          <p:cNvSpPr/>
          <p:nvPr/>
        </p:nvSpPr>
        <p:spPr>
          <a:xfrm>
            <a:off x="4261816" y="28189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4" name="Google Shape;427;p32">
            <a:extLst>
              <a:ext uri="{FF2B5EF4-FFF2-40B4-BE49-F238E27FC236}">
                <a16:creationId xmlns:a16="http://schemas.microsoft.com/office/drawing/2014/main" id="{D8225C96-C80C-4645-B82F-258438F97008}"/>
              </a:ext>
            </a:extLst>
          </p:cNvPr>
          <p:cNvSpPr/>
          <p:nvPr/>
        </p:nvSpPr>
        <p:spPr>
          <a:xfrm>
            <a:off x="8220326" y="28189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5" name="Google Shape;402;p30">
            <a:extLst>
              <a:ext uri="{FF2B5EF4-FFF2-40B4-BE49-F238E27FC236}">
                <a16:creationId xmlns:a16="http://schemas.microsoft.com/office/drawing/2014/main" id="{EF0FF216-FF5A-4597-9949-B85C42BA9D27}"/>
              </a:ext>
            </a:extLst>
          </p:cNvPr>
          <p:cNvSpPr/>
          <p:nvPr/>
        </p:nvSpPr>
        <p:spPr>
          <a:xfrm>
            <a:off x="8972143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427;p32">
            <a:extLst>
              <a:ext uri="{FF2B5EF4-FFF2-40B4-BE49-F238E27FC236}">
                <a16:creationId xmlns:a16="http://schemas.microsoft.com/office/drawing/2014/main" id="{C9EBBA84-EC97-4740-B0BF-82B80F336F9A}"/>
              </a:ext>
            </a:extLst>
          </p:cNvPr>
          <p:cNvSpPr/>
          <p:nvPr/>
        </p:nvSpPr>
        <p:spPr>
          <a:xfrm>
            <a:off x="129219" y="1009630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3" name="depresion_2022">
            <a:extLst>
              <a:ext uri="{FF2B5EF4-FFF2-40B4-BE49-F238E27FC236}">
                <a16:creationId xmlns:a16="http://schemas.microsoft.com/office/drawing/2014/main" id="{3EECCF0E-E467-4546-881C-9BDC71AE274F}"/>
              </a:ext>
            </a:extLst>
          </p:cNvPr>
          <p:cNvSpPr txBox="1"/>
          <p:nvPr/>
        </p:nvSpPr>
        <p:spPr>
          <a:xfrm>
            <a:off x="252986" y="1133653"/>
            <a:ext cx="774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rgbClr val="FFFFFF"/>
                </a:solidFill>
                <a:latin typeface="Calibri Light"/>
              </a:rPr>
              <a:t>2</a:t>
            </a:r>
            <a:r>
              <a:rPr sz="2500" b="1" dirty="0">
                <a:solidFill>
                  <a:srgbClr val="FFFFFF"/>
                </a:solidFill>
                <a:latin typeface="Calibri Light"/>
              </a:rPr>
              <a:t>%</a:t>
            </a:r>
            <a:endParaRPr lang="es-CL" dirty="0"/>
          </a:p>
        </p:txBody>
      </p:sp>
      <p:sp>
        <p:nvSpPr>
          <p:cNvPr id="26" name="Google Shape;427;p32">
            <a:extLst>
              <a:ext uri="{FF2B5EF4-FFF2-40B4-BE49-F238E27FC236}">
                <a16:creationId xmlns:a16="http://schemas.microsoft.com/office/drawing/2014/main" id="{863F4F98-F9CC-4E50-9084-C1CC0275BB0F}"/>
              </a:ext>
            </a:extLst>
          </p:cNvPr>
          <p:cNvSpPr/>
          <p:nvPr/>
        </p:nvSpPr>
        <p:spPr>
          <a:xfrm>
            <a:off x="4171815" y="1009630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69804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7" name="depresion_2022">
            <a:extLst>
              <a:ext uri="{FF2B5EF4-FFF2-40B4-BE49-F238E27FC236}">
                <a16:creationId xmlns:a16="http://schemas.microsoft.com/office/drawing/2014/main" id="{BBC9A8CC-B910-4390-BA45-F373297C0676}"/>
              </a:ext>
            </a:extLst>
          </p:cNvPr>
          <p:cNvSpPr txBox="1"/>
          <p:nvPr/>
        </p:nvSpPr>
        <p:spPr>
          <a:xfrm>
            <a:off x="4295582" y="1133653"/>
            <a:ext cx="774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rgbClr val="FFFFFF"/>
                </a:solidFill>
                <a:latin typeface="Calibri Light"/>
              </a:rPr>
              <a:t>16</a:t>
            </a:r>
            <a:r>
              <a:rPr sz="2500" b="1" dirty="0">
                <a:solidFill>
                  <a:srgbClr val="FFFFFF"/>
                </a:solidFill>
                <a:latin typeface="Calibri Light"/>
              </a:rPr>
              <a:t>%</a:t>
            </a:r>
            <a:endParaRPr lang="es-CL" dirty="0"/>
          </a:p>
        </p:txBody>
      </p:sp>
      <p:sp>
        <p:nvSpPr>
          <p:cNvPr id="28" name="Google Shape;427;p32">
            <a:extLst>
              <a:ext uri="{FF2B5EF4-FFF2-40B4-BE49-F238E27FC236}">
                <a16:creationId xmlns:a16="http://schemas.microsoft.com/office/drawing/2014/main" id="{61109379-3860-4AAC-A2C0-4DA447E9056F}"/>
              </a:ext>
            </a:extLst>
          </p:cNvPr>
          <p:cNvSpPr/>
          <p:nvPr/>
        </p:nvSpPr>
        <p:spPr>
          <a:xfrm>
            <a:off x="8280105" y="100753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9" name="depresion_2022">
            <a:extLst>
              <a:ext uri="{FF2B5EF4-FFF2-40B4-BE49-F238E27FC236}">
                <a16:creationId xmlns:a16="http://schemas.microsoft.com/office/drawing/2014/main" id="{0D908466-647C-4F7B-8A91-319BB20CA310}"/>
              </a:ext>
            </a:extLst>
          </p:cNvPr>
          <p:cNvSpPr txBox="1"/>
          <p:nvPr/>
        </p:nvSpPr>
        <p:spPr>
          <a:xfrm>
            <a:off x="8403872" y="1131561"/>
            <a:ext cx="774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rgbClr val="FFFFFF"/>
                </a:solidFill>
                <a:latin typeface="Calibri Light"/>
              </a:rPr>
              <a:t>78</a:t>
            </a:r>
            <a:r>
              <a:rPr sz="2500" b="1" dirty="0">
                <a:solidFill>
                  <a:srgbClr val="FFFFFF"/>
                </a:solidFill>
                <a:latin typeface="Calibri Light"/>
              </a:rPr>
              <a:t>%</a:t>
            </a:r>
            <a:endParaRPr lang="es-CL" dirty="0"/>
          </a:p>
        </p:txBody>
      </p:sp>
      <p:sp>
        <p:nvSpPr>
          <p:cNvPr id="30" name="Google Shape;402;p30">
            <a:extLst>
              <a:ext uri="{FF2B5EF4-FFF2-40B4-BE49-F238E27FC236}">
                <a16:creationId xmlns:a16="http://schemas.microsoft.com/office/drawing/2014/main" id="{C3968E3E-2FC3-44DB-A731-A020C4929DFD}"/>
              </a:ext>
            </a:extLst>
          </p:cNvPr>
          <p:cNvSpPr/>
          <p:nvPr/>
        </p:nvSpPr>
        <p:spPr>
          <a:xfrm>
            <a:off x="4986175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55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Factor carga de enfermedad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>
              <a:highlight>
                <a:srgbClr val="ED7D31"/>
              </a:highlight>
            </a:endParaRPr>
          </a:p>
        </p:txBody>
      </p:sp>
      <p:sp>
        <p:nvSpPr>
          <p:cNvPr id="709" name="Google Shape;709;p61"/>
          <p:cNvSpPr txBox="1"/>
          <p:nvPr/>
        </p:nvSpPr>
        <p:spPr>
          <a:xfrm>
            <a:off x="1370550" y="5264728"/>
            <a:ext cx="2903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</p:txBody>
      </p:sp>
      <p:sp>
        <p:nvSpPr>
          <p:cNvPr id="7" name="Google Shape;709;p61">
            <a:extLst>
              <a:ext uri="{FF2B5EF4-FFF2-40B4-BE49-F238E27FC236}">
                <a16:creationId xmlns:a16="http://schemas.microsoft.com/office/drawing/2014/main" id="{CFBB7022-5025-4774-9097-87E08A9ED1BC}"/>
              </a:ext>
            </a:extLst>
          </p:cNvPr>
          <p:cNvSpPr txBox="1"/>
          <p:nvPr/>
        </p:nvSpPr>
        <p:spPr>
          <a:xfrm>
            <a:off x="7144266" y="5264728"/>
            <a:ext cx="30774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278DEE9B-EF82-4385-BBD8-F835392E6A43}"/>
              </a:ext>
            </a:extLst>
          </p:cNvPr>
          <p:cNvSpPr/>
          <p:nvPr/>
        </p:nvSpPr>
        <p:spPr>
          <a:xfrm>
            <a:off x="1370550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99F33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427;p32">
            <a:extLst>
              <a:ext uri="{FF2B5EF4-FFF2-40B4-BE49-F238E27FC236}">
                <a16:creationId xmlns:a16="http://schemas.microsoft.com/office/drawing/2014/main" id="{E4BBEDEC-DACD-4977-AEA8-4A383D6E5C04}"/>
              </a:ext>
            </a:extLst>
          </p:cNvPr>
          <p:cNvSpPr/>
          <p:nvPr/>
        </p:nvSpPr>
        <p:spPr>
          <a:xfrm>
            <a:off x="7144265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86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A7149F2F-3959-4BE5-B5A1-F52D2C0700BF}"/>
              </a:ext>
            </a:extLst>
          </p:cNvPr>
          <p:cNvSpPr/>
          <p:nvPr/>
        </p:nvSpPr>
        <p:spPr>
          <a:xfrm>
            <a:off x="1361332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Google Shape;402;p30">
            <a:extLst>
              <a:ext uri="{FF2B5EF4-FFF2-40B4-BE49-F238E27FC236}">
                <a16:creationId xmlns:a16="http://schemas.microsoft.com/office/drawing/2014/main" id="{7B5B5C0D-75DE-4F83-AEF3-2FEEC3539725}"/>
              </a:ext>
            </a:extLst>
          </p:cNvPr>
          <p:cNvSpPr/>
          <p:nvPr/>
        </p:nvSpPr>
        <p:spPr>
          <a:xfrm>
            <a:off x="2114204" y="250579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39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E881DA4D-0805-4103-921B-42A54A025554}"/>
              </a:ext>
            </a:extLst>
          </p:cNvPr>
          <p:cNvSpPr/>
          <p:nvPr/>
        </p:nvSpPr>
        <p:spPr>
          <a:xfrm>
            <a:off x="7144265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oogle Shape;708;p61">
            <a:extLst>
              <a:ext uri="{FF2B5EF4-FFF2-40B4-BE49-F238E27FC236}">
                <a16:creationId xmlns:a16="http://schemas.microsoft.com/office/drawing/2014/main" id="{62BF6CA2-8D08-4657-9F6A-94C1E608C434}"/>
              </a:ext>
            </a:extLst>
          </p:cNvPr>
          <p:cNvSpPr/>
          <p:nvPr/>
        </p:nvSpPr>
        <p:spPr>
          <a:xfrm>
            <a:off x="7848618" y="2505790"/>
            <a:ext cx="2373086" cy="1585231"/>
          </a:xfrm>
          <a:prstGeom prst="roundRect">
            <a:avLst>
              <a:gd name="adj" fmla="val 16667"/>
            </a:avLst>
          </a:prstGeom>
          <a:solidFill>
            <a:srgbClr val="E63C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82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s-CL" dirty="0"/>
              <a:t>Patologías recurrentes grupo prevención indicada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924236" y="4491748"/>
            <a:ext cx="2160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821BA694-5827-4102-A728-8465761A6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435015"/>
              </p:ext>
            </p:extLst>
          </p:nvPr>
        </p:nvGraphicFramePr>
        <p:xfrm>
          <a:off x="5107874" y="1755681"/>
          <a:ext cx="5703562" cy="359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60AEDF74-82D5-429A-8A30-C40130D060CF}"/>
              </a:ext>
            </a:extLst>
          </p:cNvPr>
          <p:cNvSpPr/>
          <p:nvPr/>
        </p:nvSpPr>
        <p:spPr>
          <a:xfrm>
            <a:off x="207092" y="3383551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02;p30">
            <a:extLst>
              <a:ext uri="{FF2B5EF4-FFF2-40B4-BE49-F238E27FC236}">
                <a16:creationId xmlns:a16="http://schemas.microsoft.com/office/drawing/2014/main" id="{9DFD5993-C6AD-4FFD-A892-A0ABB143CC67}"/>
              </a:ext>
            </a:extLst>
          </p:cNvPr>
          <p:cNvSpPr/>
          <p:nvPr/>
        </p:nvSpPr>
        <p:spPr>
          <a:xfrm>
            <a:off x="924236" y="196886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6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Episodio depresión – Grupo manejo clínico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>
              <a:highlight>
                <a:srgbClr val="ED7D31"/>
              </a:highlight>
            </a:endParaRPr>
          </a:p>
        </p:txBody>
      </p:sp>
      <p:graphicFrame>
        <p:nvGraphicFramePr>
          <p:cNvPr id="519" name="Google Shape;519;p43"/>
          <p:cNvGraphicFramePr/>
          <p:nvPr>
            <p:extLst>
              <p:ext uri="{D42A27DB-BD31-4B8C-83A1-F6EECF244321}">
                <p14:modId xmlns:p14="http://schemas.microsoft.com/office/powerpoint/2010/main" val="2885898306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Google Shape;508;p42">
            <a:extLst>
              <a:ext uri="{FF2B5EF4-FFF2-40B4-BE49-F238E27FC236}">
                <a16:creationId xmlns:a16="http://schemas.microsoft.com/office/drawing/2014/main" id="{3E291FAC-2870-66F8-18A0-85A22E7FB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002915"/>
              </p:ext>
            </p:extLst>
          </p:nvPr>
        </p:nvGraphicFramePr>
        <p:xfrm>
          <a:off x="3670149" y="1910768"/>
          <a:ext cx="8059387" cy="2188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Google Shape;517;p43"/>
          <p:cNvSpPr txBox="1"/>
          <p:nvPr/>
        </p:nvSpPr>
        <p:spPr>
          <a:xfrm>
            <a:off x="383365" y="4993185"/>
            <a:ext cx="276098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depresión.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52FB3E6A-36DC-49F0-ADC1-9B11C595FF4C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Google Shape;427;p32">
            <a:extLst>
              <a:ext uri="{FF2B5EF4-FFF2-40B4-BE49-F238E27FC236}">
                <a16:creationId xmlns:a16="http://schemas.microsoft.com/office/drawing/2014/main" id="{BE7F4166-C23C-447D-B3EF-E5A348A0ECE1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516;p43">
            <a:extLst>
              <a:ext uri="{FF2B5EF4-FFF2-40B4-BE49-F238E27FC236}">
                <a16:creationId xmlns:a16="http://schemas.microsoft.com/office/drawing/2014/main" id="{6C8BC519-503C-4EB4-9649-B2E0D4FE6859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222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5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ansiedad generalizada – Grupo manejo clínico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>
              <a:highlight>
                <a:srgbClr val="ED7D31"/>
              </a:highlight>
            </a:endParaRPr>
          </a:p>
        </p:txBody>
      </p:sp>
      <p:graphicFrame>
        <p:nvGraphicFramePr>
          <p:cNvPr id="10" name="Google Shape;519;p43">
            <a:extLst>
              <a:ext uri="{FF2B5EF4-FFF2-40B4-BE49-F238E27FC236}">
                <a16:creationId xmlns:a16="http://schemas.microsoft.com/office/drawing/2014/main" id="{6F353EEF-B7EC-6A63-4655-C82AF302A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607742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oogle Shape;508;p42">
            <a:extLst>
              <a:ext uri="{FF2B5EF4-FFF2-40B4-BE49-F238E27FC236}">
                <a16:creationId xmlns:a16="http://schemas.microsoft.com/office/drawing/2014/main" id="{B04CB13E-D1DF-4E02-B884-5DAB2CC89A62}"/>
              </a:ext>
            </a:extLst>
          </p:cNvPr>
          <p:cNvGraphicFramePr/>
          <p:nvPr/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2C60A221-C930-4D48-B68D-439E8C79D62E}"/>
              </a:ext>
            </a:extLst>
          </p:cNvPr>
          <p:cNvSpPr txBox="1"/>
          <p:nvPr/>
        </p:nvSpPr>
        <p:spPr>
          <a:xfrm>
            <a:off x="383365" y="4953447"/>
            <a:ext cx="27654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ansiedad generalizada.</a:t>
            </a: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6401D9CD-4423-4DD2-93FB-EC82D94C6354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427;p32">
            <a:extLst>
              <a:ext uri="{FF2B5EF4-FFF2-40B4-BE49-F238E27FC236}">
                <a16:creationId xmlns:a16="http://schemas.microsoft.com/office/drawing/2014/main" id="{9A3FDEF7-98D1-43B0-A439-95E6247BEF0B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51%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516;p43">
            <a:extLst>
              <a:ext uri="{FF2B5EF4-FFF2-40B4-BE49-F238E27FC236}">
                <a16:creationId xmlns:a16="http://schemas.microsoft.com/office/drawing/2014/main" id="{F60A510E-AE61-4B0B-9CE1-E609FC5027BE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825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la personalidad – Grupo manejo clínico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0" name="Google Shape;519;p43">
            <a:extLst>
              <a:ext uri="{FF2B5EF4-FFF2-40B4-BE49-F238E27FC236}">
                <a16:creationId xmlns:a16="http://schemas.microsoft.com/office/drawing/2014/main" id="{C435C8DB-CE52-4B3A-CA65-DB41F2C36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700416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oogle Shape;508;p42">
            <a:extLst>
              <a:ext uri="{FF2B5EF4-FFF2-40B4-BE49-F238E27FC236}">
                <a16:creationId xmlns:a16="http://schemas.microsoft.com/office/drawing/2014/main" id="{F7CD735D-2DF8-D68D-3553-D6EE70A3B6E6}"/>
              </a:ext>
            </a:extLst>
          </p:cNvPr>
          <p:cNvGraphicFramePr/>
          <p:nvPr/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AAF2B077-D465-4664-A199-9628C809AD07}"/>
              </a:ext>
            </a:extLst>
          </p:cNvPr>
          <p:cNvSpPr txBox="1"/>
          <p:nvPr/>
        </p:nvSpPr>
        <p:spPr>
          <a:xfrm>
            <a:off x="383367" y="5019548"/>
            <a:ext cx="27654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trastorno de la personalidad.</a:t>
            </a:r>
          </a:p>
        </p:txBody>
      </p:sp>
      <p:sp>
        <p:nvSpPr>
          <p:cNvPr id="15" name="Google Shape;427;p32">
            <a:extLst>
              <a:ext uri="{FF2B5EF4-FFF2-40B4-BE49-F238E27FC236}">
                <a16:creationId xmlns:a16="http://schemas.microsoft.com/office/drawing/2014/main" id="{9504AEDE-B8BC-407F-8F3A-E77D4D2F2E5C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91C29EDE-5A7C-4090-BB4F-7E72E5348518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516;p43">
            <a:extLst>
              <a:ext uri="{FF2B5EF4-FFF2-40B4-BE49-F238E27FC236}">
                <a16:creationId xmlns:a16="http://schemas.microsoft.com/office/drawing/2014/main" id="{D37E7F32-B0EF-409C-84A0-8064C4FB584D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81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0" name="Google Shape;519;p43">
            <a:extLst>
              <a:ext uri="{FF2B5EF4-FFF2-40B4-BE49-F238E27FC236}">
                <a16:creationId xmlns:a16="http://schemas.microsoft.com/office/drawing/2014/main" id="{4476E860-8550-A69C-7C9C-DEFFA4E18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740967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oogle Shape;508;p42">
            <a:extLst>
              <a:ext uri="{FF2B5EF4-FFF2-40B4-BE49-F238E27FC236}">
                <a16:creationId xmlns:a16="http://schemas.microsoft.com/office/drawing/2014/main" id="{287C095F-BA3B-8676-D0FD-DF67FC9FB447}"/>
              </a:ext>
            </a:extLst>
          </p:cNvPr>
          <p:cNvGraphicFramePr/>
          <p:nvPr/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383365" y="5015219"/>
            <a:ext cx="276542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 de marihuana.</a:t>
            </a: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9C65B5EE-0609-44E1-996D-A0A42EF77717}"/>
              </a:ext>
            </a:extLst>
          </p:cNvPr>
          <p:cNvSpPr/>
          <p:nvPr/>
        </p:nvSpPr>
        <p:spPr>
          <a:xfrm>
            <a:off x="387805" y="155585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SENDA 2025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2E7EEC50-188A-46F9-898B-0909BE13B39D}"/>
              </a:ext>
            </a:extLst>
          </p:cNvPr>
          <p:cNvSpPr/>
          <p:nvPr/>
        </p:nvSpPr>
        <p:spPr>
          <a:xfrm>
            <a:off x="383365" y="3872741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516;p43">
            <a:extLst>
              <a:ext uri="{FF2B5EF4-FFF2-40B4-BE49-F238E27FC236}">
                <a16:creationId xmlns:a16="http://schemas.microsoft.com/office/drawing/2014/main" id="{79C5C734-A0F8-430C-ABC5-D69E0EA1E8A7}"/>
              </a:ext>
            </a:extLst>
          </p:cNvPr>
          <p:cNvSpPr/>
          <p:nvPr/>
        </p:nvSpPr>
        <p:spPr>
          <a:xfrm>
            <a:off x="988793" y="235348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4423974" y="4871243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Porcentaje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a la pregunta “</a:t>
            </a:r>
            <a:r>
              <a:rPr lang="es-MX" sz="1600" i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¿Cuántos días has consumido marihuana en los últimos 12 meses?”</a:t>
            </a:r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9E2487C7-8E98-46E2-AFBB-59DE13BF8AD2}"/>
              </a:ext>
            </a:extLst>
          </p:cNvPr>
          <p:cNvSpPr/>
          <p:nvPr/>
        </p:nvSpPr>
        <p:spPr>
          <a:xfrm>
            <a:off x="4423974" y="1467850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5ECC2C11-C82F-4545-B3F7-F71EF489FDF2}"/>
              </a:ext>
            </a:extLst>
          </p:cNvPr>
          <p:cNvSpPr/>
          <p:nvPr/>
        </p:nvSpPr>
        <p:spPr>
          <a:xfrm>
            <a:off x="4423974" y="374905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516;p43">
            <a:extLst>
              <a:ext uri="{FF2B5EF4-FFF2-40B4-BE49-F238E27FC236}">
                <a16:creationId xmlns:a16="http://schemas.microsoft.com/office/drawing/2014/main" id="{17FB4BAE-955F-4D3F-97F6-F764F8A12E77}"/>
              </a:ext>
            </a:extLst>
          </p:cNvPr>
          <p:cNvSpPr/>
          <p:nvPr/>
        </p:nvSpPr>
        <p:spPr>
          <a:xfrm>
            <a:off x="5016000" y="2265476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08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alcohol – Grupo manejo clínico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0" name="Google Shape;519;p43">
            <a:extLst>
              <a:ext uri="{FF2B5EF4-FFF2-40B4-BE49-F238E27FC236}">
                <a16:creationId xmlns:a16="http://schemas.microsoft.com/office/drawing/2014/main" id="{49240F82-8CA3-D94B-D016-C72D375E6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03897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oogle Shape;508;p42">
            <a:extLst>
              <a:ext uri="{FF2B5EF4-FFF2-40B4-BE49-F238E27FC236}">
                <a16:creationId xmlns:a16="http://schemas.microsoft.com/office/drawing/2014/main" id="{D796B308-03C5-AE1C-2D66-6C45FE9F8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043195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5E47208B-1A02-43B7-917E-B6EE6D7C6A64}"/>
              </a:ext>
            </a:extLst>
          </p:cNvPr>
          <p:cNvSpPr txBox="1"/>
          <p:nvPr/>
        </p:nvSpPr>
        <p:spPr>
          <a:xfrm>
            <a:off x="383365" y="4909380"/>
            <a:ext cx="276542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consumo problemático de alcohol.</a:t>
            </a:r>
          </a:p>
        </p:txBody>
      </p:sp>
      <p:sp>
        <p:nvSpPr>
          <p:cNvPr id="17" name="Google Shape;427;p32">
            <a:extLst>
              <a:ext uri="{FF2B5EF4-FFF2-40B4-BE49-F238E27FC236}">
                <a16:creationId xmlns:a16="http://schemas.microsoft.com/office/drawing/2014/main" id="{A6273159-492D-4FEF-BA47-093EE5DDC8EE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6%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</a:p>
        </p:txBody>
      </p:sp>
      <p:sp>
        <p:nvSpPr>
          <p:cNvPr id="19" name="Google Shape;427;p32">
            <a:extLst>
              <a:ext uri="{FF2B5EF4-FFF2-40B4-BE49-F238E27FC236}">
                <a16:creationId xmlns:a16="http://schemas.microsoft.com/office/drawing/2014/main" id="{5E6E7F85-4314-42AE-86EE-66A5A6BDCCAF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8%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516;p43">
            <a:extLst>
              <a:ext uri="{FF2B5EF4-FFF2-40B4-BE49-F238E27FC236}">
                <a16:creationId xmlns:a16="http://schemas.microsoft.com/office/drawing/2014/main" id="{455E91CB-00A8-4E00-B09D-34E6257AF885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88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0" name="Google Shape;519;p43">
            <a:extLst>
              <a:ext uri="{FF2B5EF4-FFF2-40B4-BE49-F238E27FC236}">
                <a16:creationId xmlns:a16="http://schemas.microsoft.com/office/drawing/2014/main" id="{CD8FBB64-7F94-B9A3-C3E7-546AA8E5F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4494837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oogle Shape;508;p42">
            <a:extLst>
              <a:ext uri="{FF2B5EF4-FFF2-40B4-BE49-F238E27FC236}">
                <a16:creationId xmlns:a16="http://schemas.microsoft.com/office/drawing/2014/main" id="{81869CB5-73A7-DF84-909A-1813CC7BEAE7}"/>
              </a:ext>
            </a:extLst>
          </p:cNvPr>
          <p:cNvGraphicFramePr/>
          <p:nvPr/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Google Shape;427;p32">
            <a:extLst>
              <a:ext uri="{FF2B5EF4-FFF2-40B4-BE49-F238E27FC236}">
                <a16:creationId xmlns:a16="http://schemas.microsoft.com/office/drawing/2014/main" id="{66B0504A-CEEF-4272-8ADF-BE5932DC89A7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1" name="Google Shape;427;p32">
            <a:extLst>
              <a:ext uri="{FF2B5EF4-FFF2-40B4-BE49-F238E27FC236}">
                <a16:creationId xmlns:a16="http://schemas.microsoft.com/office/drawing/2014/main" id="{BB46647C-336E-4679-976C-CE745168431E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" name="Google Shape;516;p43">
            <a:extLst>
              <a:ext uri="{FF2B5EF4-FFF2-40B4-BE49-F238E27FC236}">
                <a16:creationId xmlns:a16="http://schemas.microsoft.com/office/drawing/2014/main" id="{65B616DF-E82C-4720-9380-C8021258BAA5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517;p43">
            <a:extLst>
              <a:ext uri="{FF2B5EF4-FFF2-40B4-BE49-F238E27FC236}">
                <a16:creationId xmlns:a16="http://schemas.microsoft.com/office/drawing/2014/main" id="{6AA0D867-5DFF-4FCC-92B9-B01C93D0D174}"/>
              </a:ext>
            </a:extLst>
          </p:cNvPr>
          <p:cNvSpPr txBox="1"/>
          <p:nvPr/>
        </p:nvSpPr>
        <p:spPr>
          <a:xfrm>
            <a:off x="383365" y="4860056"/>
            <a:ext cx="27654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ideación suicida.</a:t>
            </a:r>
          </a:p>
        </p:txBody>
      </p:sp>
      <p:sp>
        <p:nvSpPr>
          <p:cNvPr id="11" name="respuestas_appvivo">
            <a:extLst>
              <a:ext uri="{FF2B5EF4-FFF2-40B4-BE49-F238E27FC236}">
                <a16:creationId xmlns:a16="http://schemas.microsoft.com/office/drawing/2014/main" id="{5AD4470F-4E94-4079-8AE2-6F6B727196AE}"/>
              </a:ext>
            </a:extLst>
          </p:cNvPr>
          <p:cNvSpPr txBox="1"/>
          <p:nvPr/>
        </p:nvSpPr>
        <p:spPr>
          <a:xfrm>
            <a:off x="383364" y="5936778"/>
            <a:ext cx="276542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200" b="0" dirty="0">
                <a:solidFill>
                  <a:srgbClr val="525252"/>
                </a:solidFill>
                <a:latin typeface="Calibri Light"/>
              </a:rPr>
              <a:t>Nota: </a:t>
            </a:r>
            <a:r>
              <a:rPr lang="es-MX" sz="1200" dirty="0">
                <a:solidFill>
                  <a:srgbClr val="525252"/>
                </a:solidFill>
                <a:latin typeface="Calibri Light"/>
              </a:rPr>
              <a:t>esta sección incluye un total de 12460 respuestas.</a:t>
            </a:r>
            <a:endParaRPr sz="1200" b="0" dirty="0">
              <a:solidFill>
                <a:srgbClr val="525252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¿Se te han ocurrido pensamientos de que sería mejor estar muerto/a o de hacerte daño de alguna manera?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Google Shape;353;p25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09551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354;p25">
            <a:extLst>
              <a:ext uri="{FF2B5EF4-FFF2-40B4-BE49-F238E27FC236}">
                <a16:creationId xmlns:a16="http://schemas.microsoft.com/office/drawing/2014/main" id="{0A5FACBF-8CFB-4AFD-868E-DD4F809A0D5D}"/>
              </a:ext>
            </a:extLst>
          </p:cNvPr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deseado estar muerto/a o poder dormir y no despertar? (i1)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Google Shape;355;p25">
            <a:extLst>
              <a:ext uri="{FF2B5EF4-FFF2-40B4-BE49-F238E27FC236}">
                <a16:creationId xmlns:a16="http://schemas.microsoft.com/office/drawing/2014/main" id="{4B9F7D73-BE70-43F4-A9F7-4B70B1ED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401746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352;p25">
            <a:extLst>
              <a:ext uri="{FF2B5EF4-FFF2-40B4-BE49-F238E27FC236}">
                <a16:creationId xmlns:a16="http://schemas.microsoft.com/office/drawing/2014/main" id="{866AC697-A7E5-4C46-9845-DCD8666FDE7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6162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-182011" y="1361403"/>
            <a:ext cx="43864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tenido realmente la idea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suicidarte? (i2)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Google Shape;353;p25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049845"/>
              </p:ext>
            </p:extLst>
          </p:nvPr>
        </p:nvGraphicFramePr>
        <p:xfrm>
          <a:off x="-1039907" y="1872529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3474409" y="281762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886277" y="3573526"/>
            <a:ext cx="315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26100B7-BCF2-4798-8F7B-0F35B259D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5308811"/>
              </p:ext>
            </p:extLst>
          </p:nvPr>
        </p:nvGraphicFramePr>
        <p:xfrm>
          <a:off x="6346822" y="1333717"/>
          <a:ext cx="5548086" cy="322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9E05397D-284D-4B8B-984E-159DDDDA70F9}"/>
              </a:ext>
            </a:extLst>
          </p:cNvPr>
          <p:cNvSpPr txBox="1"/>
          <p:nvPr/>
        </p:nvSpPr>
        <p:spPr>
          <a:xfrm>
            <a:off x="3474409" y="5508691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¿Alguna vez has hecho algo, comenzado a hacer algo o te has preparado para hacer algo para terminar tu vida? (i6)</a:t>
            </a:r>
            <a:endParaRPr lang="es-MX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Google Shape;353;p25">
            <a:extLst>
              <a:ext uri="{FF2B5EF4-FFF2-40B4-BE49-F238E27FC236}">
                <a16:creationId xmlns:a16="http://schemas.microsoft.com/office/drawing/2014/main" id="{A0DFB884-61B2-4090-806B-51B9E01C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206490"/>
              </p:ext>
            </p:extLst>
          </p:nvPr>
        </p:nvGraphicFramePr>
        <p:xfrm>
          <a:off x="7920846" y="4753194"/>
          <a:ext cx="3643625" cy="2104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Google Shape;352;p25">
            <a:extLst>
              <a:ext uri="{FF2B5EF4-FFF2-40B4-BE49-F238E27FC236}">
                <a16:creationId xmlns:a16="http://schemas.microsoft.com/office/drawing/2014/main" id="{C0EADD7D-E426-4F32-956A-5B89C71EE33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2452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búsqueda de ayuda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 los últimos dos meses, ¿has necesitado algún tipo de apoyo o tratamiento en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278997531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Pudiste acceder al tratamiento que necesitabas</a:t>
            </a: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2201124479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¿Dónde accediste al tratamiento?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854466806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tipo de tratamiento obtuviste?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559259504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4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barreras de acceso a tratamiento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373" name="Google Shape;373;p26"/>
          <p:cNvGraphicFramePr/>
          <p:nvPr>
            <p:extLst>
              <p:ext uri="{D42A27DB-BD31-4B8C-83A1-F6EECF244321}">
                <p14:modId xmlns:p14="http://schemas.microsoft.com/office/powerpoint/2010/main" val="2767031248"/>
              </p:ext>
            </p:extLst>
          </p:nvPr>
        </p:nvGraphicFramePr>
        <p:xfrm>
          <a:off x="491319" y="1338944"/>
          <a:ext cx="11225724" cy="445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4" name="Google Shape;374;p26"/>
          <p:cNvSpPr txBox="1"/>
          <p:nvPr/>
        </p:nvSpPr>
        <p:spPr>
          <a:xfrm>
            <a:off x="2058452" y="6504523"/>
            <a:ext cx="85050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*Entre aquellos que mencionaron no haber tenido acceso a algún apoyo o tratamiento de salud mental.</a:t>
            </a:r>
            <a:endParaRPr dirty="0"/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733269E-93A7-E828-46C8-5215B9D7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34" y="5864487"/>
            <a:ext cx="3371850" cy="36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bienestar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bienestar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416" name="Google Shape;416;p31"/>
          <p:cNvGraphicFramePr/>
          <p:nvPr>
            <p:extLst>
              <p:ext uri="{D42A27DB-BD31-4B8C-83A1-F6EECF244321}">
                <p14:modId xmlns:p14="http://schemas.microsoft.com/office/powerpoint/2010/main" val="266383866"/>
              </p:ext>
            </p:extLst>
          </p:nvPr>
        </p:nvGraphicFramePr>
        <p:xfrm>
          <a:off x="3537857" y="3663937"/>
          <a:ext cx="8298165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" name="Google Shape;419;p31"/>
          <p:cNvGraphicFramePr/>
          <p:nvPr>
            <p:extLst>
              <p:ext uri="{D42A27DB-BD31-4B8C-83A1-F6EECF244321}">
                <p14:modId xmlns:p14="http://schemas.microsoft.com/office/powerpoint/2010/main" val="2197954019"/>
              </p:ext>
            </p:extLst>
          </p:nvPr>
        </p:nvGraphicFramePr>
        <p:xfrm>
          <a:off x="3708022" y="819066"/>
          <a:ext cx="8128000" cy="29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418;p31"/>
          <p:cNvSpPr txBox="1"/>
          <p:nvPr/>
        </p:nvSpPr>
        <p:spPr>
          <a:xfrm>
            <a:off x="321370" y="4830003"/>
            <a:ext cx="27244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es el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nivel de bienestar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para los estudiantes que participaron en el estudio (de un máximo de 7 puntos) .</a:t>
            </a:r>
            <a:endParaRPr lang="es-CL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42259C6-A8AD-4051-AF5D-227E700CD252}"/>
              </a:ext>
            </a:extLst>
          </p:cNvPr>
          <p:cNvSpPr/>
          <p:nvPr/>
        </p:nvSpPr>
        <p:spPr>
          <a:xfrm>
            <a:off x="321370" y="138235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74902"/>
            </a:srgbClr>
          </a:solidFill>
          <a:ln>
            <a:solidFill>
              <a:srgbClr val="55B29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4,8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40DF7B16-764D-4914-823B-140AA1ACE6EB}"/>
              </a:ext>
            </a:extLst>
          </p:cNvPr>
          <p:cNvSpPr/>
          <p:nvPr/>
        </p:nvSpPr>
        <p:spPr>
          <a:xfrm>
            <a:off x="326077" y="35826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Google Shape;417;p31">
            <a:extLst>
              <a:ext uri="{FF2B5EF4-FFF2-40B4-BE49-F238E27FC236}">
                <a16:creationId xmlns:a16="http://schemas.microsoft.com/office/drawing/2014/main" id="{C4A0C148-5530-45DA-B12D-9F270320538C}"/>
              </a:ext>
            </a:extLst>
          </p:cNvPr>
          <p:cNvSpPr/>
          <p:nvPr/>
        </p:nvSpPr>
        <p:spPr>
          <a:xfrm>
            <a:off x="885772" y="2121677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 = Positive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positiva)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Engagement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(Entusiasmo)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Relationships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(Relaciones)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Meaning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(Significado)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Accomplishment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(Logro)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686367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r>
              <a:rPr lang="es-CL" dirty="0"/>
              <a:t>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 = Negative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negativa)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Health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(Salud)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Loneliness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(Soledad)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172701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49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Apoyo percibido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343" name="Google Shape;343;p24"/>
          <p:cNvGraphicFramePr/>
          <p:nvPr>
            <p:extLst>
              <p:ext uri="{D42A27DB-BD31-4B8C-83A1-F6EECF244321}">
                <p14:modId xmlns:p14="http://schemas.microsoft.com/office/powerpoint/2010/main" val="1951455050"/>
              </p:ext>
            </p:extLst>
          </p:nvPr>
        </p:nvGraphicFramePr>
        <p:xfrm>
          <a:off x="981247" y="1547253"/>
          <a:ext cx="10659431" cy="4406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FAAC6B-B4AE-4649-881A-F216154540BE}"/>
              </a:ext>
            </a:extLst>
          </p:cNvPr>
          <p:cNvSpPr/>
          <p:nvPr/>
        </p:nvSpPr>
        <p:spPr>
          <a:xfrm>
            <a:off x="3842551" y="4957200"/>
            <a:ext cx="4579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Clr>
                <a:srgbClr val="3F3F3F"/>
              </a:buClr>
              <a:buSzPts val="1600"/>
            </a:pPr>
            <a:r>
              <a:rPr lang="es-MX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Apreciación positiva total de estados de inmersión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E6B7A8-6B45-4F4D-A905-E693E5A21E61}"/>
              </a:ext>
            </a:extLst>
          </p:cNvPr>
          <p:cNvSpPr/>
          <p:nvPr/>
        </p:nvSpPr>
        <p:spPr>
          <a:xfrm>
            <a:off x="4888800" y="2084400"/>
            <a:ext cx="2520000" cy="2520000"/>
          </a:xfrm>
          <a:prstGeom prst="ellipse">
            <a:avLst/>
          </a:prstGeom>
          <a:noFill/>
          <a:ln w="57150">
            <a:solidFill>
              <a:srgbClr val="27B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CL" sz="6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https://o.remove.bg/downloads/a2fe74ba-119e-4176-840d-2e2a91317f11/image-removebg-preview.png">
            <a:extLst>
              <a:ext uri="{FF2B5EF4-FFF2-40B4-BE49-F238E27FC236}">
                <a16:creationId xmlns:a16="http://schemas.microsoft.com/office/drawing/2014/main" id="{CDF56695-D92C-4F9C-9B2A-16F4B11B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1" y="4240530"/>
            <a:ext cx="1935196" cy="193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FC13E964-DD1E-4C3A-869E-802D0783EA58}"/>
              </a:ext>
            </a:extLst>
          </p:cNvPr>
          <p:cNvSpPr txBox="1">
            <a:spLocks/>
          </p:cNvSpPr>
          <p:nvPr/>
        </p:nvSpPr>
        <p:spPr>
          <a:xfrm>
            <a:off x="4870800" y="2959200"/>
            <a:ext cx="2552351" cy="7634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72%</a:t>
            </a:r>
          </a:p>
        </p:txBody>
      </p:sp>
    </p:spTree>
    <p:extLst>
      <p:ext uri="{BB962C8B-B14F-4D97-AF65-F5344CB8AC3E}">
        <p14:creationId xmlns:p14="http://schemas.microsoft.com/office/powerpoint/2010/main" val="4072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ráfico 7">
            <a:extLst>
              <a:ext uri="{FF2B5EF4-FFF2-40B4-BE49-F238E27FC236}">
                <a16:creationId xmlns:a16="http://schemas.microsoft.com/office/drawing/2014/main" id="{FC54E293-B2B7-448C-AA1C-9F85ED19D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1005391"/>
              </p:ext>
            </p:extLst>
          </p:nvPr>
        </p:nvGraphicFramePr>
        <p:xfrm>
          <a:off x="-1762024" y="1283027"/>
          <a:ext cx="13790737" cy="521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D964812-2EFF-4587-B3D9-60CE9FB2FA87}"/>
              </a:ext>
            </a:extLst>
          </p:cNvPr>
          <p:cNvSpPr txBox="1">
            <a:spLocks/>
          </p:cNvSpPr>
          <p:nvPr/>
        </p:nvSpPr>
        <p:spPr>
          <a:xfrm>
            <a:off x="5994827" y="6499878"/>
            <a:ext cx="6455708" cy="2826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070" kern="1200" dirty="0" smtClean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ym typeface="Calibri"/>
              </a:rPr>
              <a:t>* La suma de los porcentajes podría no totalizar 100% por la aproximación de decimales</a:t>
            </a:r>
            <a:endParaRPr lang="es-ES" sz="1100" dirty="0">
              <a:solidFill>
                <a:srgbClr val="7F7F7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1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Actividad física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pic>
        <p:nvPicPr>
          <p:cNvPr id="1135" name="Google Shape;1135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9743" y="204482"/>
            <a:ext cx="534146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Google Shape;1128;p101">
            <a:extLst>
              <a:ext uri="{FF2B5EF4-FFF2-40B4-BE49-F238E27FC236}">
                <a16:creationId xmlns:a16="http://schemas.microsoft.com/office/drawing/2014/main" id="{94A38310-71C6-4207-916A-109C05A68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521160"/>
              </p:ext>
            </p:extLst>
          </p:nvPr>
        </p:nvGraphicFramePr>
        <p:xfrm>
          <a:off x="3854075" y="1327178"/>
          <a:ext cx="4913775" cy="450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2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Alimentación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141" name="Google Shape;1141;p102"/>
          <p:cNvGraphicFramePr/>
          <p:nvPr/>
        </p:nvGraphicFramePr>
        <p:xfrm>
          <a:off x="190837" y="1069864"/>
          <a:ext cx="11724937" cy="200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42" name="Google Shape;1142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764" y="169864"/>
            <a:ext cx="1062259" cy="78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102"/>
          <p:cNvSpPr/>
          <p:nvPr/>
        </p:nvSpPr>
        <p:spPr>
          <a:xfrm>
            <a:off x="190837" y="1605303"/>
            <a:ext cx="11565734" cy="819397"/>
          </a:xfrm>
          <a:prstGeom prst="rect">
            <a:avLst/>
          </a:prstGeom>
          <a:noFill/>
          <a:ln w="38100" cap="flat" cmpd="sng">
            <a:solidFill>
              <a:srgbClr val="55B2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2"/>
          <p:cNvSpPr/>
          <p:nvPr/>
        </p:nvSpPr>
        <p:spPr>
          <a:xfrm>
            <a:off x="190837" y="3074874"/>
            <a:ext cx="11565734" cy="36412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Google Shape;1141;p102"/>
          <p:cNvGraphicFramePr/>
          <p:nvPr/>
        </p:nvGraphicFramePr>
        <p:xfrm>
          <a:off x="254879" y="3074873"/>
          <a:ext cx="11682242" cy="334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70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Ingesta de líquidos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168" name="Google Shape;1168;p105"/>
          <p:cNvGraphicFramePr/>
          <p:nvPr>
            <p:extLst>
              <p:ext uri="{D42A27DB-BD31-4B8C-83A1-F6EECF244321}">
                <p14:modId xmlns:p14="http://schemas.microsoft.com/office/powerpoint/2010/main" val="1438025513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69" name="Google Shape;1169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6150" y="119748"/>
            <a:ext cx="90303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Tabaquismo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5" name="Google Shape;1168;p105">
            <a:extLst>
              <a:ext uri="{FF2B5EF4-FFF2-40B4-BE49-F238E27FC236}">
                <a16:creationId xmlns:a16="http://schemas.microsoft.com/office/drawing/2014/main" id="{5BBC86A8-A241-4C94-B947-C736276A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7823850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black and white image of a cigarette&#10;&#10;AI-generated content may be incorrect.">
            <a:extLst>
              <a:ext uri="{FF2B5EF4-FFF2-40B4-BE49-F238E27FC236}">
                <a16:creationId xmlns:a16="http://schemas.microsoft.com/office/drawing/2014/main" id="{4EE0938B-A1F5-E213-9763-4E9C3980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650" y="97004"/>
            <a:ext cx="969044" cy="9289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674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Experiencia emocional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3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5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639" y="1801198"/>
            <a:ext cx="6464721" cy="40168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66;p105">
            <a:extLst>
              <a:ext uri="{FF2B5EF4-FFF2-40B4-BE49-F238E27FC236}">
                <a16:creationId xmlns:a16="http://schemas.microsoft.com/office/drawing/2014/main" id="{A3BD3C75-7C46-4CAD-B01D-2368B6D85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¿Cómo es la experiencia emocional de las y los estudiantes?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Mujeres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Hombres</a:t>
            </a:r>
            <a:endParaRPr sz="200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1166;p105">
            <a:extLst>
              <a:ext uri="{FF2B5EF4-FFF2-40B4-BE49-F238E27FC236}">
                <a16:creationId xmlns:a16="http://schemas.microsoft.com/office/drawing/2014/main" id="{D3B45BC2-C9DB-429B-AB91-2D304315C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¿Cómo es la experiencia emocional de las y los estudiantes?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iniciativas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el uso de la APP Vivo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BD9444E5-5C53-4BF1-95A4-B2945CDECC38}"/>
              </a:ext>
            </a:extLst>
          </p:cNvPr>
          <p:cNvGraphicFramePr/>
          <p:nvPr/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81F1EA2A-3BE3-4AB9-8D36-30141931D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App Vivo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7" name="Google Shape;352;p25">
            <a:extLst>
              <a:ext uri="{FF2B5EF4-FFF2-40B4-BE49-F238E27FC236}">
                <a16:creationId xmlns:a16="http://schemas.microsoft.com/office/drawing/2014/main" id="{9E6284DD-F3CF-4C26-AC99-FC14D38C05E5}"/>
              </a:ext>
            </a:extLst>
          </p:cNvPr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Google Shape;353;p25">
            <a:extLst>
              <a:ext uri="{FF2B5EF4-FFF2-40B4-BE49-F238E27FC236}">
                <a16:creationId xmlns:a16="http://schemas.microsoft.com/office/drawing/2014/main" id="{FF30A85B-C107-4491-94FD-3A1583725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3736331"/>
              </p:ext>
            </p:extLst>
          </p:nvPr>
        </p:nvGraphicFramePr>
        <p:xfrm>
          <a:off x="467920" y="1881934"/>
          <a:ext cx="4673343" cy="2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Google Shape;354;p25">
            <a:extLst>
              <a:ext uri="{FF2B5EF4-FFF2-40B4-BE49-F238E27FC236}">
                <a16:creationId xmlns:a16="http://schemas.microsoft.com/office/drawing/2014/main" id="{792FF924-4551-467A-A8DD-3FF6A7A6BEFC}"/>
              </a:ext>
            </a:extLst>
          </p:cNvPr>
          <p:cNvSpPr txBox="1"/>
          <p:nvPr/>
        </p:nvSpPr>
        <p:spPr>
          <a:xfrm>
            <a:off x="7579239" y="99592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0" name="Google Shape;355;p25">
            <a:extLst>
              <a:ext uri="{FF2B5EF4-FFF2-40B4-BE49-F238E27FC236}">
                <a16:creationId xmlns:a16="http://schemas.microsoft.com/office/drawing/2014/main" id="{02AF8DEB-D64E-4254-AA6C-E0533D29475F}"/>
              </a:ext>
            </a:extLst>
          </p:cNvPr>
          <p:cNvGraphicFramePr/>
          <p:nvPr/>
        </p:nvGraphicFramePr>
        <p:xfrm>
          <a:off x="7240365" y="1584016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Google Shape;356;p25">
            <a:extLst>
              <a:ext uri="{FF2B5EF4-FFF2-40B4-BE49-F238E27FC236}">
                <a16:creationId xmlns:a16="http://schemas.microsoft.com/office/drawing/2014/main" id="{3EABC85F-30A0-41B2-9B9F-F91AA9F65510}"/>
              </a:ext>
            </a:extLst>
          </p:cNvPr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57;p25">
            <a:extLst>
              <a:ext uri="{FF2B5EF4-FFF2-40B4-BE49-F238E27FC236}">
                <a16:creationId xmlns:a16="http://schemas.microsoft.com/office/drawing/2014/main" id="{49D8A003-3F12-4C68-9474-2A66325134C6}"/>
              </a:ext>
            </a:extLst>
          </p:cNvPr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Google Shape;352;p25">
            <a:extLst>
              <a:ext uri="{FF2B5EF4-FFF2-40B4-BE49-F238E27FC236}">
                <a16:creationId xmlns:a16="http://schemas.microsoft.com/office/drawing/2014/main" id="{35F89B47-793C-C5A0-6F4F-0AABA5FB7DC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52198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1442108583"/>
              </p:ext>
            </p:extLst>
          </p:nvPr>
        </p:nvGraphicFramePr>
        <p:xfrm>
          <a:off x="467920" y="1881934"/>
          <a:ext cx="4673343" cy="2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579239" y="99592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/>
        </p:nvGraphicFramePr>
        <p:xfrm>
          <a:off x="7240365" y="1584016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81F1EA2A-3BE3-4AB9-8D36-30141931D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App Vivo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graphicFrame>
        <p:nvGraphicFramePr>
          <p:cNvPr id="17" name="Google Shape;353;p25">
            <a:extLst>
              <a:ext uri="{FF2B5EF4-FFF2-40B4-BE49-F238E27FC236}">
                <a16:creationId xmlns:a16="http://schemas.microsoft.com/office/drawing/2014/main" id="{AE2DBC35-3DD1-4BB2-9B66-9F25BEFEE3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559553"/>
              </p:ext>
            </p:extLst>
          </p:nvPr>
        </p:nvGraphicFramePr>
        <p:xfrm>
          <a:off x="1150215" y="4742568"/>
          <a:ext cx="3308752" cy="1764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8" name="Google Shape;355;p25">
            <a:extLst>
              <a:ext uri="{FF2B5EF4-FFF2-40B4-BE49-F238E27FC236}">
                <a16:creationId xmlns:a16="http://schemas.microsoft.com/office/drawing/2014/main" id="{EA855142-DB83-4C46-B04A-58EF42A409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054692"/>
              </p:ext>
            </p:extLst>
          </p:nvPr>
        </p:nvGraphicFramePr>
        <p:xfrm>
          <a:off x="7788840" y="4666434"/>
          <a:ext cx="3864732" cy="2071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93619E9F-5414-4BDD-BFC1-5B68CE951266}"/>
              </a:ext>
            </a:extLst>
          </p:cNvPr>
          <p:cNvSpPr txBox="1"/>
          <p:nvPr/>
        </p:nvSpPr>
        <p:spPr>
          <a:xfrm>
            <a:off x="1130870" y="5003354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2;p25">
            <a:extLst>
              <a:ext uri="{FF2B5EF4-FFF2-40B4-BE49-F238E27FC236}">
                <a16:creationId xmlns:a16="http://schemas.microsoft.com/office/drawing/2014/main" id="{3A3D0701-FB71-4FD4-960E-5A4BD237DFA0}"/>
              </a:ext>
            </a:extLst>
          </p:cNvPr>
          <p:cNvSpPr txBox="1"/>
          <p:nvPr/>
        </p:nvSpPr>
        <p:spPr>
          <a:xfrm>
            <a:off x="7894563" y="500498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AA13B26-9B0E-4158-88E4-CBCCDB073A51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352;p25">
            <a:extLst>
              <a:ext uri="{FF2B5EF4-FFF2-40B4-BE49-F238E27FC236}">
                <a16:creationId xmlns:a16="http://schemas.microsoft.com/office/drawing/2014/main" id="{25355AB5-748A-FBC4-D9D0-00792BC5600D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73372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012933"/>
              </p:ext>
            </p:extLst>
          </p:nvPr>
        </p:nvGraphicFramePr>
        <p:xfrm>
          <a:off x="729130" y="1885301"/>
          <a:ext cx="4673344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oogle Shape;355;p25">
            <a:extLst>
              <a:ext uri="{FF2B5EF4-FFF2-40B4-BE49-F238E27FC236}">
                <a16:creationId xmlns:a16="http://schemas.microsoft.com/office/drawing/2014/main" id="{37ACE16A-3504-4F03-B475-BC352B0B3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0047091"/>
              </p:ext>
            </p:extLst>
          </p:nvPr>
        </p:nvGraphicFramePr>
        <p:xfrm>
          <a:off x="7321047" y="1885300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3" name="Google Shape;1166;p105">
            <a:extLst>
              <a:ext uri="{FF2B5EF4-FFF2-40B4-BE49-F238E27FC236}">
                <a16:creationId xmlns:a16="http://schemas.microsoft.com/office/drawing/2014/main" id="{58336576-4581-4055-838A-8EAD873CF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1" name="Google Shape;356;p25">
            <a:extLst>
              <a:ext uri="{FF2B5EF4-FFF2-40B4-BE49-F238E27FC236}">
                <a16:creationId xmlns:a16="http://schemas.microsoft.com/office/drawing/2014/main" id="{CD6D3C51-9F12-4283-9CAE-437D75340909}"/>
              </a:ext>
            </a:extLst>
          </p:cNvPr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57;p25">
            <a:extLst>
              <a:ext uri="{FF2B5EF4-FFF2-40B4-BE49-F238E27FC236}">
                <a16:creationId xmlns:a16="http://schemas.microsoft.com/office/drawing/2014/main" id="{2C274E48-7748-4E56-BBA2-34DA5DF137E5}"/>
              </a:ext>
            </a:extLst>
          </p:cNvPr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352;p25">
            <a:extLst>
              <a:ext uri="{FF2B5EF4-FFF2-40B4-BE49-F238E27FC236}">
                <a16:creationId xmlns:a16="http://schemas.microsoft.com/office/drawing/2014/main" id="{0F0D1413-C7CE-448D-BEA1-F40A30DDD02E}"/>
              </a:ext>
            </a:extLst>
          </p:cNvPr>
          <p:cNvSpPr txBox="1"/>
          <p:nvPr/>
        </p:nvSpPr>
        <p:spPr>
          <a:xfrm>
            <a:off x="1130870" y="5003354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352;p25">
            <a:extLst>
              <a:ext uri="{FF2B5EF4-FFF2-40B4-BE49-F238E27FC236}">
                <a16:creationId xmlns:a16="http://schemas.microsoft.com/office/drawing/2014/main" id="{6B6DE4BB-110B-4337-8CB3-F316FDE8740C}"/>
              </a:ext>
            </a:extLst>
          </p:cNvPr>
          <p:cNvSpPr txBox="1"/>
          <p:nvPr/>
        </p:nvSpPr>
        <p:spPr>
          <a:xfrm>
            <a:off x="7894563" y="500498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27B0D5C-050E-4739-A87D-0CA99E6A6C01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Google Shape;353;p25">
            <a:extLst>
              <a:ext uri="{FF2B5EF4-FFF2-40B4-BE49-F238E27FC236}">
                <a16:creationId xmlns:a16="http://schemas.microsoft.com/office/drawing/2014/main" id="{4C8B3B4D-17EF-44B9-8A88-A8EE620C9D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067337"/>
              </p:ext>
            </p:extLst>
          </p:nvPr>
        </p:nvGraphicFramePr>
        <p:xfrm>
          <a:off x="1976854" y="4749138"/>
          <a:ext cx="2085664" cy="1769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Google Shape;355;p25">
            <a:extLst>
              <a:ext uri="{FF2B5EF4-FFF2-40B4-BE49-F238E27FC236}">
                <a16:creationId xmlns:a16="http://schemas.microsoft.com/office/drawing/2014/main" id="{9C97FFB2-6F97-441D-B667-9065D3DA93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772586"/>
              </p:ext>
            </p:extLst>
          </p:nvPr>
        </p:nvGraphicFramePr>
        <p:xfrm>
          <a:off x="8118898" y="4738546"/>
          <a:ext cx="3317610" cy="1791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946603" y="1418295"/>
            <a:ext cx="425030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¿Eres un Embajador/a del Bienestar y la Salud Mental en tu sede?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945670" y="1121971"/>
            <a:ext cx="365031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¿En qué medida el curso de embajadores ha aportado a tu bienestar y salud mental? N = XXX</a:t>
            </a:r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54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1392" y="1582659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Desde que eres Embajador/a, ¿a cuántas personas has podido apoyar en tu rol de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617165" y="2304740"/>
          <a:ext cx="4770584" cy="270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12319" y="43278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Pensando en cuando te formaste como Embajador/a, ¿qué tan satisfecho/a te encuentras con lo aprendido en el curso?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/>
        </p:nvGraphicFramePr>
        <p:xfrm>
          <a:off x="6748312" y="1331770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5946485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este curso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/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4E48A228-AF66-4C10-A18A-3D08EBB8F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8497B1A3-95A6-B858-F8D1-E885D5CCB805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60533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0630360"/>
              </p:ext>
            </p:extLst>
          </p:nvPr>
        </p:nvGraphicFramePr>
        <p:xfrm>
          <a:off x="2075741" y="1894496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2" name="Google Shape;357;p25">
            <a:extLst>
              <a:ext uri="{FF2B5EF4-FFF2-40B4-BE49-F238E27FC236}">
                <a16:creationId xmlns:a16="http://schemas.microsoft.com/office/drawing/2014/main" id="{6FB4132F-D76E-4E3E-8E23-53EAC608586D}"/>
              </a:ext>
            </a:extLst>
          </p:cNvPr>
          <p:cNvSpPr txBox="1"/>
          <p:nvPr/>
        </p:nvSpPr>
        <p:spPr>
          <a:xfrm>
            <a:off x="2335484" y="1279709"/>
            <a:ext cx="310178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NO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ser Embajadores/as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357;p25">
            <a:extLst>
              <a:ext uri="{FF2B5EF4-FFF2-40B4-BE49-F238E27FC236}">
                <a16:creationId xmlns:a16="http://schemas.microsoft.com/office/drawing/2014/main" id="{4EA7B50B-DE97-4456-B5F5-73463E06EFDE}"/>
              </a:ext>
            </a:extLst>
          </p:cNvPr>
          <p:cNvSpPr txBox="1"/>
          <p:nvPr/>
        </p:nvSpPr>
        <p:spPr>
          <a:xfrm>
            <a:off x="4207240" y="4128784"/>
            <a:ext cx="30008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</a:t>
            </a:r>
            <a:r>
              <a:rPr lang="es-CL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Google Shape;355;p25">
            <a:extLst>
              <a:ext uri="{FF2B5EF4-FFF2-40B4-BE49-F238E27FC236}">
                <a16:creationId xmlns:a16="http://schemas.microsoft.com/office/drawing/2014/main" id="{6290A1D2-8902-43E5-8B1F-E6BE8BE88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299771"/>
              </p:ext>
            </p:extLst>
          </p:nvPr>
        </p:nvGraphicFramePr>
        <p:xfrm>
          <a:off x="7260562" y="1545008"/>
          <a:ext cx="3864253" cy="262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Google Shape;1166;p105">
            <a:extLst>
              <a:ext uri="{FF2B5EF4-FFF2-40B4-BE49-F238E27FC236}">
                <a16:creationId xmlns:a16="http://schemas.microsoft.com/office/drawing/2014/main" id="{F937248A-F5C0-47A0-B025-E8B55537A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21" name="Google Shape;356;p25">
            <a:extLst>
              <a:ext uri="{FF2B5EF4-FFF2-40B4-BE49-F238E27FC236}">
                <a16:creationId xmlns:a16="http://schemas.microsoft.com/office/drawing/2014/main" id="{6AE62054-D3C7-4E73-AD00-5E3D54C75F28}"/>
              </a:ext>
            </a:extLst>
          </p:cNvPr>
          <p:cNvSpPr/>
          <p:nvPr/>
        </p:nvSpPr>
        <p:spPr>
          <a:xfrm>
            <a:off x="4716025" y="3458709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56;p25">
            <a:extLst>
              <a:ext uri="{FF2B5EF4-FFF2-40B4-BE49-F238E27FC236}">
                <a16:creationId xmlns:a16="http://schemas.microsoft.com/office/drawing/2014/main" id="{5DAFBBE3-A19E-4504-90B3-CFED33DE2AAD}"/>
              </a:ext>
            </a:extLst>
          </p:cNvPr>
          <p:cNvSpPr/>
          <p:nvPr/>
        </p:nvSpPr>
        <p:spPr>
          <a:xfrm>
            <a:off x="491319" y="116059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52;p25">
            <a:extLst>
              <a:ext uri="{FF2B5EF4-FFF2-40B4-BE49-F238E27FC236}">
                <a16:creationId xmlns:a16="http://schemas.microsoft.com/office/drawing/2014/main" id="{492327DD-A30F-49F0-94FA-6BB8942C3089}"/>
              </a:ext>
            </a:extLst>
          </p:cNvPr>
          <p:cNvSpPr txBox="1"/>
          <p:nvPr/>
        </p:nvSpPr>
        <p:spPr>
          <a:xfrm>
            <a:off x="1649848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4" name="Google Shape;352;p25">
            <a:extLst>
              <a:ext uri="{FF2B5EF4-FFF2-40B4-BE49-F238E27FC236}">
                <a16:creationId xmlns:a16="http://schemas.microsoft.com/office/drawing/2014/main" id="{0D161AEB-BB1C-4313-8DDB-A94EDD79EAE4}"/>
              </a:ext>
            </a:extLst>
          </p:cNvPr>
          <p:cNvSpPr txBox="1"/>
          <p:nvPr/>
        </p:nvSpPr>
        <p:spPr>
          <a:xfrm>
            <a:off x="6340853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82C77F0-7323-4CDC-914B-6D802F581D19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oogle Shape;355;p25">
            <a:extLst>
              <a:ext uri="{FF2B5EF4-FFF2-40B4-BE49-F238E27FC236}">
                <a16:creationId xmlns:a16="http://schemas.microsoft.com/office/drawing/2014/main" id="{C5358BFB-BE76-4DE4-B7A6-8D393F695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8360148"/>
              </p:ext>
            </p:extLst>
          </p:nvPr>
        </p:nvGraphicFramePr>
        <p:xfrm>
          <a:off x="2160494" y="4692407"/>
          <a:ext cx="3489674" cy="1733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7" name="Google Shape;355;p25">
            <a:extLst>
              <a:ext uri="{FF2B5EF4-FFF2-40B4-BE49-F238E27FC236}">
                <a16:creationId xmlns:a16="http://schemas.microsoft.com/office/drawing/2014/main" id="{FAC80F1D-CA6D-4D0F-8D9A-D27B1CE7F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4946347"/>
              </p:ext>
            </p:extLst>
          </p:nvPr>
        </p:nvGraphicFramePr>
        <p:xfrm>
          <a:off x="7730366" y="4835711"/>
          <a:ext cx="2924643" cy="1967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" name="Google Shape;352;p25">
            <a:extLst>
              <a:ext uri="{FF2B5EF4-FFF2-40B4-BE49-F238E27FC236}">
                <a16:creationId xmlns:a16="http://schemas.microsoft.com/office/drawing/2014/main" id="{DE84A2A7-D4BF-0BFC-D278-CCEA72CA9DB2}"/>
              </a:ext>
            </a:extLst>
          </p:cNvPr>
          <p:cNvSpPr txBox="1"/>
          <p:nvPr/>
        </p:nvSpPr>
        <p:spPr>
          <a:xfrm>
            <a:off x="6986129" y="742391"/>
            <a:ext cx="44255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¿Cuál de las siguientes alternativas representa la razón por la que no te interesaría ser Embajador/a?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175826" y="2197934"/>
            <a:ext cx="295415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Con la información que acabas de leer sobre el programa, ¿te interesaría ser un Embajador/a del Bienestar y la Salud Mental?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5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/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91518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graphicFrame>
        <p:nvGraphicFramePr>
          <p:cNvPr id="10" name="Google Shape;355;p25">
            <a:extLst>
              <a:ext uri="{FF2B5EF4-FFF2-40B4-BE49-F238E27FC236}">
                <a16:creationId xmlns:a16="http://schemas.microsoft.com/office/drawing/2014/main" id="{7A0475B1-3D5E-4E26-B0B5-02AB009CFBE6}"/>
              </a:ext>
            </a:extLst>
          </p:cNvPr>
          <p:cNvGraphicFramePr/>
          <p:nvPr/>
        </p:nvGraphicFramePr>
        <p:xfrm>
          <a:off x="7846169" y="336878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Google Shape;1166;p105">
            <a:extLst>
              <a:ext uri="{FF2B5EF4-FFF2-40B4-BE49-F238E27FC236}">
                <a16:creationId xmlns:a16="http://schemas.microsoft.com/office/drawing/2014/main" id="{CD388D02-30E2-40B5-8A2C-E2726505B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4" name="Google Shape;356;p25">
            <a:extLst>
              <a:ext uri="{FF2B5EF4-FFF2-40B4-BE49-F238E27FC236}">
                <a16:creationId xmlns:a16="http://schemas.microsoft.com/office/drawing/2014/main" id="{32D9BE5A-1EE3-4271-8384-83D1F5EDD3C3}"/>
              </a:ext>
            </a:extLst>
          </p:cNvPr>
          <p:cNvSpPr/>
          <p:nvPr/>
        </p:nvSpPr>
        <p:spPr>
          <a:xfrm>
            <a:off x="5017198" y="3817944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360115" y="1541017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¿En algún momento has buscado o recibido apoyo, orientación o información sobre bienestar y salud mental a través de alguien de la comunidad Duoc UC? (N=XXX)</a:t>
            </a:r>
            <a:endParaRPr sz="160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8" y="237749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¿Recuerdas si esa persona era un Embajador/a del Bienestar y la Salud Mental? (N=XXX)</a:t>
            </a:r>
          </a:p>
        </p:txBody>
      </p:sp>
    </p:spTree>
    <p:extLst>
      <p:ext uri="{BB962C8B-B14F-4D97-AF65-F5344CB8AC3E}">
        <p14:creationId xmlns:p14="http://schemas.microsoft.com/office/powerpoint/2010/main" val="15829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887799120"/>
              </p:ext>
            </p:extLst>
          </p:nvPr>
        </p:nvGraphicFramePr>
        <p:xfrm>
          <a:off x="66908" y="1899015"/>
          <a:ext cx="4537152" cy="237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082033" y="55587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27761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a un compañero/a usar las atenciones psicológicas del programa de salud mental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8008586"/>
              </p:ext>
            </p:extLst>
          </p:nvPr>
        </p:nvGraphicFramePr>
        <p:xfrm>
          <a:off x="7275749" y="1382524"/>
          <a:ext cx="3708208" cy="220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8A1D3D71-A9C2-4366-A645-81B3965CD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1452722"/>
              </p:ext>
            </p:extLst>
          </p:nvPr>
        </p:nvGraphicFramePr>
        <p:xfrm>
          <a:off x="8910117" y="4731755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15975AA8-8B35-4E72-8B45-3EECC250B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Atenciones psicológicas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1F504C8F-5402-420F-A72E-AE97B21203D3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C34F0682-1116-4648-B189-2754548351E7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05D43BD2-865F-4F9D-A220-7E6365DA983D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4471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66908" y="1899015"/>
          <a:ext cx="4537152" cy="237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082033" y="55587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/>
        </p:nvGraphicFramePr>
        <p:xfrm>
          <a:off x="7275749" y="1382524"/>
          <a:ext cx="3708208" cy="220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15975AA8-8B35-4E72-8B45-3EECC250B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Atenciones psicológicas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8" name="Google Shape;356;p25">
            <a:extLst>
              <a:ext uri="{FF2B5EF4-FFF2-40B4-BE49-F238E27FC236}">
                <a16:creationId xmlns:a16="http://schemas.microsoft.com/office/drawing/2014/main" id="{1AB794E5-99AA-4876-ABAE-AE075418D092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F5CCC014-3044-4811-B468-79A540AD495B}"/>
              </a:ext>
            </a:extLst>
          </p:cNvPr>
          <p:cNvSpPr txBox="1"/>
          <p:nvPr/>
        </p:nvSpPr>
        <p:spPr>
          <a:xfrm>
            <a:off x="358931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2;p25">
            <a:extLst>
              <a:ext uri="{FF2B5EF4-FFF2-40B4-BE49-F238E27FC236}">
                <a16:creationId xmlns:a16="http://schemas.microsoft.com/office/drawing/2014/main" id="{3D6B688C-AFF7-4F1C-A3C6-AF0AD46B9D0A}"/>
              </a:ext>
            </a:extLst>
          </p:cNvPr>
          <p:cNvSpPr txBox="1"/>
          <p:nvPr/>
        </p:nvSpPr>
        <p:spPr>
          <a:xfrm>
            <a:off x="6340853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884AF2A-463A-42A3-885E-912198129046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Google Shape;353;p25">
            <a:extLst>
              <a:ext uri="{FF2B5EF4-FFF2-40B4-BE49-F238E27FC236}">
                <a16:creationId xmlns:a16="http://schemas.microsoft.com/office/drawing/2014/main" id="{E85088EC-0911-4A23-9E57-8D4F5AA8E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3597870"/>
              </p:ext>
            </p:extLst>
          </p:nvPr>
        </p:nvGraphicFramePr>
        <p:xfrm>
          <a:off x="805128" y="4706003"/>
          <a:ext cx="3060712" cy="1724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3" name="Google Shape;355;p25">
            <a:extLst>
              <a:ext uri="{FF2B5EF4-FFF2-40B4-BE49-F238E27FC236}">
                <a16:creationId xmlns:a16="http://schemas.microsoft.com/office/drawing/2014/main" id="{C5CF8870-4FBF-4C5A-832B-8D21631425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759430"/>
              </p:ext>
            </p:extLst>
          </p:nvPr>
        </p:nvGraphicFramePr>
        <p:xfrm>
          <a:off x="7697483" y="4913195"/>
          <a:ext cx="2864739" cy="1856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1F8AF59-9D6B-A21B-9467-ECFBB2F7A98D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6305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394238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415594706"/>
              </p:ext>
            </p:extLst>
          </p:nvPr>
        </p:nvGraphicFramePr>
        <p:xfrm>
          <a:off x="656337" y="1945242"/>
          <a:ext cx="4642357" cy="2544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3421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155799" y="541639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estos talleres o intervenciones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Google Shape;355;p25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341683"/>
              </p:ext>
            </p:extLst>
          </p:nvPr>
        </p:nvGraphicFramePr>
        <p:xfrm>
          <a:off x="7602750" y="1182640"/>
          <a:ext cx="3180331" cy="227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2C55B24B-8049-42C6-8E5E-F7DDDD8A90CE}"/>
              </a:ext>
            </a:extLst>
          </p:cNvPr>
          <p:cNvGraphicFramePr/>
          <p:nvPr/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Google Shape;1166;p105">
            <a:extLst>
              <a:ext uri="{FF2B5EF4-FFF2-40B4-BE49-F238E27FC236}">
                <a16:creationId xmlns:a16="http://schemas.microsoft.com/office/drawing/2014/main" id="{E0D85A0A-B621-4505-827C-EE6CB846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Bienestar integral en movimiento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4A611494-B016-48FB-AB56-900374D4304C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6F2454E1-3D58-477A-A58E-676ACC161149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73F928AB-C093-8C1F-CDED-2689FB33376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22505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394238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656337" y="1945242"/>
          <a:ext cx="4642357" cy="2544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3421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Google Shape;355;p25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/>
        </p:nvGraphicFramePr>
        <p:xfrm>
          <a:off x="7602750" y="1182640"/>
          <a:ext cx="3180331" cy="227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Google Shape;1166;p105">
            <a:extLst>
              <a:ext uri="{FF2B5EF4-FFF2-40B4-BE49-F238E27FC236}">
                <a16:creationId xmlns:a16="http://schemas.microsoft.com/office/drawing/2014/main" id="{E0D85A0A-B621-4505-827C-EE6CB846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Bienestar integral en movimiento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43FF10AA-68F9-48C7-8975-E9792419C325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545B56EA-2D02-48EE-8DA2-90FDB325D299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52;p25">
            <a:extLst>
              <a:ext uri="{FF2B5EF4-FFF2-40B4-BE49-F238E27FC236}">
                <a16:creationId xmlns:a16="http://schemas.microsoft.com/office/drawing/2014/main" id="{91ADCDBE-335F-43E0-B423-CDE023DBD647}"/>
              </a:ext>
            </a:extLst>
          </p:cNvPr>
          <p:cNvSpPr txBox="1"/>
          <p:nvPr/>
        </p:nvSpPr>
        <p:spPr>
          <a:xfrm>
            <a:off x="819111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" name="Google Shape;352;p25">
            <a:extLst>
              <a:ext uri="{FF2B5EF4-FFF2-40B4-BE49-F238E27FC236}">
                <a16:creationId xmlns:a16="http://schemas.microsoft.com/office/drawing/2014/main" id="{2A2D1B36-C373-4105-A669-2B58B1A1762F}"/>
              </a:ext>
            </a:extLst>
          </p:cNvPr>
          <p:cNvSpPr txBox="1"/>
          <p:nvPr/>
        </p:nvSpPr>
        <p:spPr>
          <a:xfrm>
            <a:off x="6340853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06F6188-7108-418F-AC1C-5F3CAA079EBC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Google Shape;353;p25">
            <a:extLst>
              <a:ext uri="{FF2B5EF4-FFF2-40B4-BE49-F238E27FC236}">
                <a16:creationId xmlns:a16="http://schemas.microsoft.com/office/drawing/2014/main" id="{7FE7F71B-58CF-4FDE-B3DF-F188578828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5504509"/>
              </p:ext>
            </p:extLst>
          </p:nvPr>
        </p:nvGraphicFramePr>
        <p:xfrm>
          <a:off x="1462203" y="4835711"/>
          <a:ext cx="3030623" cy="1722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5" name="Google Shape;355;p25">
            <a:extLst>
              <a:ext uri="{FF2B5EF4-FFF2-40B4-BE49-F238E27FC236}">
                <a16:creationId xmlns:a16="http://schemas.microsoft.com/office/drawing/2014/main" id="{CFC08E5C-D26B-4F74-8E0C-0C000ADAAA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6168487"/>
              </p:ext>
            </p:extLst>
          </p:nvPr>
        </p:nvGraphicFramePr>
        <p:xfrm>
          <a:off x="7720007" y="4865746"/>
          <a:ext cx="2945815" cy="2029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1958C7A7-BBFC-E21D-EAF3-1510A31BACA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25522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Conclusiones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>
            <a:spLocks noGrp="1"/>
          </p:cNvSpPr>
          <p:nvPr>
            <p:ph type="title"/>
          </p:nvPr>
        </p:nvSpPr>
        <p:spPr>
          <a:xfrm>
            <a:off x="491319" y="21071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Conclusiones</a:t>
            </a:r>
            <a:endParaRPr sz="3200">
              <a:solidFill>
                <a:srgbClr val="E30613"/>
              </a:solidFill>
            </a:endParaRPr>
          </a:p>
        </p:txBody>
      </p:sp>
      <p:sp>
        <p:nvSpPr>
          <p:cNvPr id="981" name="Google Shape;981;p85"/>
          <p:cNvSpPr txBox="1">
            <a:spLocks noGrp="1"/>
          </p:cNvSpPr>
          <p:nvPr>
            <p:ph type="body" idx="1"/>
          </p:nvPr>
        </p:nvSpPr>
        <p:spPr>
          <a:xfrm>
            <a:off x="491319" y="1288472"/>
            <a:ext cx="11250112" cy="49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2897" lvl="0" indent="-285750" algn="just">
              <a:lnSpc>
                <a:spcPct val="150000"/>
              </a:lnSpc>
              <a:buClr>
                <a:schemeClr val="dk1"/>
              </a:buClr>
              <a:buSzPct val="105555"/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3F3F3F"/>
                </a:solidFill>
              </a:rPr>
              <a:t>XXX</a:t>
            </a:r>
            <a:endParaRPr lang="es-ES" sz="1800"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0FDE6-70C2-4D7B-A270-DE0D8F289D64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endParaRPr sz="4400" dirty="0">
              <a:highlight>
                <a:srgbClr val="ED7D31"/>
              </a:highlight>
            </a:endParaRPr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  <p:sp>
        <p:nvSpPr>
          <p:cNvPr id="2" name="titulo2">
            <a:extLst>
              <a:ext uri="{FF2B5EF4-FFF2-40B4-BE49-F238E27FC236}">
                <a16:creationId xmlns:a16="http://schemas.microsoft.com/office/drawing/2014/main" id="{F6EDEA39-A89C-D45B-E160-02723D0707A0}"/>
              </a:ext>
            </a:extLst>
          </p:cNvPr>
          <p:cNvSpPr txBox="1"/>
          <p:nvPr/>
        </p:nvSpPr>
        <p:spPr>
          <a:xfrm>
            <a:off x="2494459" y="3578705"/>
            <a:ext cx="72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/>
              <a:t>hols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549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Anexos: otros datos de interés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9" name="Google Shape;1069;p93"/>
          <p:cNvGraphicFramePr/>
          <p:nvPr>
            <p:extLst>
              <p:ext uri="{D42A27DB-BD31-4B8C-83A1-F6EECF244321}">
                <p14:modId xmlns:p14="http://schemas.microsoft.com/office/powerpoint/2010/main" val="1767397548"/>
              </p:ext>
            </p:extLst>
          </p:nvPr>
        </p:nvGraphicFramePr>
        <p:xfrm>
          <a:off x="6096000" y="1774682"/>
          <a:ext cx="5872973" cy="346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70" name="Google Shape;1070;p93"/>
          <p:cNvGraphicFramePr/>
          <p:nvPr>
            <p:extLst>
              <p:ext uri="{D42A27DB-BD31-4B8C-83A1-F6EECF244321}">
                <p14:modId xmlns:p14="http://schemas.microsoft.com/office/powerpoint/2010/main" val="3716583383"/>
              </p:ext>
            </p:extLst>
          </p:nvPr>
        </p:nvGraphicFramePr>
        <p:xfrm>
          <a:off x="491318" y="1228726"/>
          <a:ext cx="4998357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71" name="Google Shape;1071;p93"/>
          <p:cNvSpPr/>
          <p:nvPr/>
        </p:nvSpPr>
        <p:spPr>
          <a:xfrm>
            <a:off x="2650671" y="1774682"/>
            <a:ext cx="2324101" cy="2914650"/>
          </a:xfrm>
          <a:prstGeom prst="rightBracket">
            <a:avLst>
              <a:gd name="adj" fmla="val 8333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93"/>
          <p:cNvCxnSpPr/>
          <p:nvPr/>
        </p:nvCxnSpPr>
        <p:spPr>
          <a:xfrm>
            <a:off x="5127172" y="3212957"/>
            <a:ext cx="1142999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3" name="Google Shape;1073;p93"/>
          <p:cNvSpPr txBox="1">
            <a:spLocks noGrp="1"/>
          </p:cNvSpPr>
          <p:nvPr>
            <p:ph type="title"/>
          </p:nvPr>
        </p:nvSpPr>
        <p:spPr>
          <a:xfrm>
            <a:off x="490538" y="232921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Personas al cuidado 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040B06E2-B762-41A6-B0C3-1222DE3BD3AC}"/>
              </a:ext>
            </a:extLst>
          </p:cNvPr>
          <p:cNvSpPr txBox="1"/>
          <p:nvPr/>
        </p:nvSpPr>
        <p:spPr>
          <a:xfrm>
            <a:off x="7055006" y="1094867"/>
            <a:ext cx="3954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¿Cuentas con apoyo para el cuidado de esa(s) persona(s) mientras estudias?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3453508651"/>
              </p:ext>
            </p:extLst>
          </p:nvPr>
        </p:nvGraphicFramePr>
        <p:xfrm>
          <a:off x="2393949" y="1228725"/>
          <a:ext cx="755967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232921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Situación de empleo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" name="Google Shape;1092;p96"/>
          <p:cNvGraphicFramePr/>
          <p:nvPr/>
        </p:nvGraphicFramePr>
        <p:xfrm>
          <a:off x="654424" y="1225868"/>
          <a:ext cx="11120225" cy="312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Google Shape;1092;p96">
            <a:extLst>
              <a:ext uri="{FF2B5EF4-FFF2-40B4-BE49-F238E27FC236}">
                <a16:creationId xmlns:a16="http://schemas.microsoft.com/office/drawing/2014/main" id="{13FDC724-3748-4354-B9C5-CD21F3DA3E45}"/>
              </a:ext>
            </a:extLst>
          </p:cNvPr>
          <p:cNvGraphicFramePr/>
          <p:nvPr/>
        </p:nvGraphicFramePr>
        <p:xfrm>
          <a:off x="491320" y="4533154"/>
          <a:ext cx="11283329" cy="1703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1093;p96">
            <a:extLst>
              <a:ext uri="{FF2B5EF4-FFF2-40B4-BE49-F238E27FC236}">
                <a16:creationId xmlns:a16="http://schemas.microsoft.com/office/drawing/2014/main" id="{8F835B6A-3AC9-48F0-A3C8-3A94D382A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Condiciones para la actividad académica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/>
        </p:nvGraphicFramePr>
        <p:xfrm>
          <a:off x="394447" y="1703294"/>
          <a:ext cx="5371538" cy="418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Google Shape;1079;p94">
            <a:extLst>
              <a:ext uri="{FF2B5EF4-FFF2-40B4-BE49-F238E27FC236}">
                <a16:creationId xmlns:a16="http://schemas.microsoft.com/office/drawing/2014/main" id="{859778A9-F63C-449A-BA9D-FEBAB6339423}"/>
              </a:ext>
            </a:extLst>
          </p:cNvPr>
          <p:cNvGraphicFramePr/>
          <p:nvPr/>
        </p:nvGraphicFramePr>
        <p:xfrm>
          <a:off x="6310313" y="1650066"/>
          <a:ext cx="5371538" cy="4239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B6FDD2D-F84E-47DF-BF7B-8406A0B1C918}"/>
              </a:ext>
            </a:extLst>
          </p:cNvPr>
          <p:cNvSpPr txBox="1"/>
          <p:nvPr/>
        </p:nvSpPr>
        <p:spPr>
          <a:xfrm>
            <a:off x="1838604" y="122032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Espacios presenciales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16981D-DBE7-4150-9841-99AC7262C74A}"/>
              </a:ext>
            </a:extLst>
          </p:cNvPr>
          <p:cNvSpPr txBox="1"/>
          <p:nvPr/>
        </p:nvSpPr>
        <p:spPr>
          <a:xfrm>
            <a:off x="7870173" y="119949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Espacios online</a:t>
            </a:r>
          </a:p>
        </p:txBody>
      </p:sp>
      <p:sp>
        <p:nvSpPr>
          <p:cNvPr id="8" name="Google Shape;352;p25">
            <a:extLst>
              <a:ext uri="{FF2B5EF4-FFF2-40B4-BE49-F238E27FC236}">
                <a16:creationId xmlns:a16="http://schemas.microsoft.com/office/drawing/2014/main" id="{F814E454-C5B2-42C8-BEBA-27EE748E9747}"/>
              </a:ext>
            </a:extLst>
          </p:cNvPr>
          <p:cNvSpPr txBox="1"/>
          <p:nvPr/>
        </p:nvSpPr>
        <p:spPr>
          <a:xfrm>
            <a:off x="2335484" y="6492875"/>
            <a:ext cx="80179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 y se desplegó solo a quienes habían profundizado en ideación suicida.</a:t>
            </a:r>
          </a:p>
        </p:txBody>
      </p:sp>
      <p:sp>
        <p:nvSpPr>
          <p:cNvPr id="10" name="Google Shape;1080;p94">
            <a:extLst>
              <a:ext uri="{FF2B5EF4-FFF2-40B4-BE49-F238E27FC236}">
                <a16:creationId xmlns:a16="http://schemas.microsoft.com/office/drawing/2014/main" id="{B2889568-1C99-402A-9FB4-3E63EB16D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538" y="232921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de espacios sedes Duoc UC</a:t>
            </a:r>
            <a:br>
              <a:rPr lang="es-CL" dirty="0"/>
            </a:br>
            <a:r>
              <a:rPr lang="es-CL" dirty="0">
                <a:highlight>
                  <a:srgbClr val="ED7D31"/>
                </a:highlight>
              </a:rPr>
              <a:t>Escuela &lt;</a:t>
            </a:r>
            <a:r>
              <a:rPr lang="es-CL" dirty="0" err="1">
                <a:highlight>
                  <a:srgbClr val="ED7D31"/>
                </a:highlight>
              </a:rPr>
              <a:t>xxx</a:t>
            </a:r>
            <a:r>
              <a:rPr lang="es-CL" dirty="0">
                <a:highlight>
                  <a:srgbClr val="ED7D31"/>
                </a:highlight>
              </a:rPr>
              <a:t>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390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2893</TotalTime>
  <Words>2733</Words>
  <Application>Microsoft Office PowerPoint</Application>
  <PresentationFormat>Panorámica</PresentationFormat>
  <Paragraphs>409</Paragraphs>
  <Slides>66</Slides>
  <Notes>64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Noto Sans Symbols</vt:lpstr>
      <vt:lpstr>Tema de Office</vt:lpstr>
      <vt:lpstr> Radiografía del Bienestar y la Salud Mental  2025  </vt:lpstr>
      <vt:lpstr>Estructura de la presentación</vt:lpstr>
      <vt:lpstr>Presentación de PowerPoint</vt:lpstr>
      <vt:lpstr>Propósito</vt:lpstr>
      <vt:lpstr>Ficha técnica</vt:lpstr>
      <vt:lpstr>Batería de evaluación</vt:lpstr>
      <vt:lpstr>Caracterización de participantes </vt:lpstr>
      <vt:lpstr>Presentación de PowerPoint</vt:lpstr>
      <vt:lpstr>Nivel de estrés percibido  Escuela &lt;xxx&gt;</vt:lpstr>
      <vt:lpstr>Estresores ¿Cuáles de las siguientes situaciones presentan un problema que te afecte actualmente?  Resultados por Sexo </vt:lpstr>
      <vt:lpstr>Estresores ¿Cuáles de las siguientes situaciones presentan un problema que te afecte actualmente?  Resultados por Jornada </vt:lpstr>
      <vt:lpstr>Estresores – Exigencia carga académica Entre quienes reportaron como estresor “Carga académica exigente”</vt:lpstr>
      <vt:lpstr>Estresores – Exigencia carga académica ¿Cuáles de las siguientes razones explican que la carga académica te resulte exigente? Entre quienes reportaron como estresor “Carga académica exigente” Resultados por tipo de alumno </vt:lpstr>
      <vt:lpstr>Estresores 2022 - 2025</vt:lpstr>
      <vt:lpstr>Estrategias de afrontamiento  </vt:lpstr>
      <vt:lpstr>Condición de salud crónica</vt:lpstr>
      <vt:lpstr>Presentación de PowerPoint</vt:lpstr>
      <vt:lpstr>Salud mental  Escuela &lt;xxx&gt;</vt:lpstr>
      <vt:lpstr>Factor carga de enfermedad  Escuela &lt;xxx&gt;</vt:lpstr>
      <vt:lpstr>Patologías recurrentes grupo prevención indicada Escuela &lt;xxx&gt;</vt:lpstr>
      <vt:lpstr>Episodio depresión – Grupo manejo clínico  Escuela &lt;xxx&gt;</vt:lpstr>
      <vt:lpstr>Trastorno de ansiedad generalizada – Grupo manejo clínico Escuela &lt;xxx&gt;</vt:lpstr>
      <vt:lpstr>Trastorno de la personalidad – Grupo manejo clínico  Escuela &lt;xxx&gt;</vt:lpstr>
      <vt:lpstr>Uso problemático de marihuana – Grupo manejo clínico Escuela &lt;xxx&gt;</vt:lpstr>
      <vt:lpstr>Uso problemático de marihuana – Grupo manejo clínico  Escuela &lt;xxx&gt;</vt:lpstr>
      <vt:lpstr>Uso problemático de alcohol – Grupo manejo clínico  Escuela &lt;xxx&gt;</vt:lpstr>
      <vt:lpstr>Ideación suicida – Grupo manejo clínico Escuela &lt;xxx&gt;</vt:lpstr>
      <vt:lpstr>Ideación suicida – Grupo manejo clínico Escuela &lt;xxx&gt;</vt:lpstr>
      <vt:lpstr>Ideación suicida – Grupo manejo clínico  Escuela &lt;xxx&gt;</vt:lpstr>
      <vt:lpstr>Presentación de PowerPoint</vt:lpstr>
      <vt:lpstr>Percepción de necesidad y acceso a tratamiento</vt:lpstr>
      <vt:lpstr>Percepción de necesidad y acceso a tratamiento</vt:lpstr>
      <vt:lpstr>Percepción de barreras de acceso a tratamiento</vt:lpstr>
      <vt:lpstr>Presentación de PowerPoint</vt:lpstr>
      <vt:lpstr>Nivel de bienestar  Escuela &lt;xxx&gt;</vt:lpstr>
      <vt:lpstr>Perma Escuela &lt;xxx&gt;</vt:lpstr>
      <vt:lpstr>Perma  Escuela &lt;xxx&gt;</vt:lpstr>
      <vt:lpstr>Apoyo percibido  Escuela &lt;xxx&gt;</vt:lpstr>
      <vt:lpstr>Flow states – Estados de inmersión  Escuela &lt;xxx&gt;</vt:lpstr>
      <vt:lpstr>Flow states – Estados de inmersión  Escuela &lt;xxx&gt;</vt:lpstr>
      <vt:lpstr>Actividad física  Escuela &lt;xxx&gt;</vt:lpstr>
      <vt:lpstr>Alimentación  Escuela &lt;xxx&gt;</vt:lpstr>
      <vt:lpstr>Ingesta de líquidos  Escuela &lt;xxx&gt;</vt:lpstr>
      <vt:lpstr>Tabaquismo Escuela &lt;xxx&gt;</vt:lpstr>
      <vt:lpstr>Presentación de PowerPoint</vt:lpstr>
      <vt:lpstr>¿Cómo es la experiencia emocional de las y los estudiantes? Escuela &lt;xxx&gt;</vt:lpstr>
      <vt:lpstr>¿Cómo es la experiencia emocional de las y los estudiantes? Escuela &lt;xxx&gt;</vt:lpstr>
      <vt:lpstr>Presentación de PowerPoint</vt:lpstr>
      <vt:lpstr>App Vivo Escuela &lt;xxx&gt;</vt:lpstr>
      <vt:lpstr>App Vivo Escuela &lt;xxx&gt;</vt:lpstr>
      <vt:lpstr>Embajadores de la salud mental Escuela &lt;xxx&gt;</vt:lpstr>
      <vt:lpstr>Embajadores de la salud mental Escuela &lt;xxx&gt;</vt:lpstr>
      <vt:lpstr>Embajadores de la salud mental Escuela &lt;xxx&gt;</vt:lpstr>
      <vt:lpstr>Embajadores de la salud mental Escuela &lt;xxx&gt;</vt:lpstr>
      <vt:lpstr>Atenciones psicológicas Escuela &lt;xxx&gt;</vt:lpstr>
      <vt:lpstr>Atenciones psicológicas Escuela &lt;xxx&gt;</vt:lpstr>
      <vt:lpstr>Bienestar integral en movimiento Escuela &lt;xxx&gt;</vt:lpstr>
      <vt:lpstr>Bienestar integral en movimiento Escuela &lt;xxx&gt;</vt:lpstr>
      <vt:lpstr>Presentación de PowerPoint</vt:lpstr>
      <vt:lpstr>Conclusiones</vt:lpstr>
      <vt:lpstr> Radiografía del Bienestar y la Salud Mental  2025  </vt:lpstr>
      <vt:lpstr>Presentación de PowerPoint</vt:lpstr>
      <vt:lpstr>Personas al cuidado  Escuela &lt;xxx&gt;</vt:lpstr>
      <vt:lpstr>Situación de empleo Escuela &lt;xxx&gt;</vt:lpstr>
      <vt:lpstr>Condiciones para la actividad académica Escuela &lt;xxx&gt;</vt:lpstr>
      <vt:lpstr>Uso de espacios sedes Duoc UC Escuela &lt;xxx&gt;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Radiografía del Bienestar 2025 Duoc UC</dc:title>
  <dc:creator>Felipe Zapata</dc:creator>
  <cp:lastModifiedBy>Sebastián Eduardo Valenzuela Garrido</cp:lastModifiedBy>
  <cp:revision>328</cp:revision>
  <dcterms:created xsi:type="dcterms:W3CDTF">2021-01-18T15:18:56Z</dcterms:created>
  <dcterms:modified xsi:type="dcterms:W3CDTF">2025-11-10T21:10:33Z</dcterms:modified>
</cp:coreProperties>
</file>