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6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7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18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19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20.xml" ContentType="application/vnd.openxmlformats-officedocument.presentationml.notesSl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21.xml" ContentType="application/vnd.openxmlformats-officedocument.presentationml.notesSl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notesSlides/notesSlide22.xml" ContentType="application/vnd.openxmlformats-officedocument.presentationml.notesSlid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notesSlides/notesSlide27.xml" ContentType="application/vnd.openxmlformats-officedocument.presentationml.notesSlid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notesSlides/notesSlide28.xml" ContentType="application/vnd.openxmlformats-officedocument.presentationml.notesSlid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notesSlides/notesSlide29.xml" ContentType="application/vnd.openxmlformats-officedocument.presentationml.notesSlid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notesSlides/notesSlide30.xml" ContentType="application/vnd.openxmlformats-officedocument.presentationml.notesSlide+xml"/>
  <Override PartName="/ppt/charts/chart27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28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rts/chart29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30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notesSlides/notesSlide33.xml" ContentType="application/vnd.openxmlformats-officedocument.presentationml.notesSlide+xml"/>
  <Override PartName="/ppt/charts/chart31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charts/chart32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notesSlides/notesSlide34.xml" ContentType="application/vnd.openxmlformats-officedocument.presentationml.notesSlide+xml"/>
  <Override PartName="/ppt/charts/chart33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charts/chart34.xml" ContentType="application/vnd.openxmlformats-officedocument.drawingml.chart+xml"/>
  <Override PartName="/ppt/charts/style34.xml" ContentType="application/vnd.ms-office.chartstyle+xml"/>
  <Override PartName="/ppt/charts/colors34.xml" ContentType="application/vnd.ms-office.chartcolorstyle+xml"/>
  <Override PartName="/ppt/notesSlides/notesSlide35.xml" ContentType="application/vnd.openxmlformats-officedocument.presentationml.notesSlide+xml"/>
  <Override PartName="/ppt/charts/chart35.xml" ContentType="application/vnd.openxmlformats-officedocument.drawingml.chart+xml"/>
  <Override PartName="/ppt/charts/style35.xml" ContentType="application/vnd.ms-office.chartstyle+xml"/>
  <Override PartName="/ppt/charts/colors35.xml" ContentType="application/vnd.ms-office.chartcolorstyle+xml"/>
  <Override PartName="/ppt/charts/chart36.xml" ContentType="application/vnd.openxmlformats-officedocument.drawingml.chart+xml"/>
  <Override PartName="/ppt/charts/style36.xml" ContentType="application/vnd.ms-office.chartstyle+xml"/>
  <Override PartName="/ppt/charts/colors36.xml" ContentType="application/vnd.ms-office.chartcolorstyle+xml"/>
  <Override PartName="/ppt/charts/chart37.xml" ContentType="application/vnd.openxmlformats-officedocument.drawingml.chart+xml"/>
  <Override PartName="/ppt/charts/style37.xml" ContentType="application/vnd.ms-office.chartstyle+xml"/>
  <Override PartName="/ppt/charts/colors37.xml" ContentType="application/vnd.ms-office.chartcolorstyl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harts/chart38.xml" ContentType="application/vnd.openxmlformats-officedocument.drawingml.chart+xml"/>
  <Override PartName="/ppt/charts/style38.xml" ContentType="application/vnd.ms-office.chartstyle+xml"/>
  <Override PartName="/ppt/charts/colors38.xml" ContentType="application/vnd.ms-office.chartcolorstyle+xml"/>
  <Override PartName="/ppt/charts/chart39.xml" ContentType="application/vnd.openxmlformats-officedocument.drawingml.chart+xml"/>
  <Override PartName="/ppt/charts/style39.xml" ContentType="application/vnd.ms-office.chartstyle+xml"/>
  <Override PartName="/ppt/charts/colors39.xml" ContentType="application/vnd.ms-office.chartcolorstyle+xml"/>
  <Override PartName="/ppt/notesSlides/notesSlide38.xml" ContentType="application/vnd.openxmlformats-officedocument.presentationml.notesSlide+xml"/>
  <Override PartName="/ppt/charts/chart40.xml" ContentType="application/vnd.openxmlformats-officedocument.drawingml.chart+xml"/>
  <Override PartName="/ppt/charts/style40.xml" ContentType="application/vnd.ms-office.chartstyle+xml"/>
  <Override PartName="/ppt/charts/colors40.xml" ContentType="application/vnd.ms-office.chartcolorstyle+xml"/>
  <Override PartName="/ppt/charts/chart41.xml" ContentType="application/vnd.openxmlformats-officedocument.drawingml.chart+xml"/>
  <Override PartName="/ppt/charts/style41.xml" ContentType="application/vnd.ms-office.chartstyle+xml"/>
  <Override PartName="/ppt/charts/colors41.xml" ContentType="application/vnd.ms-office.chartcolorstyle+xml"/>
  <Override PartName="/ppt/notesSlides/notesSlide39.xml" ContentType="application/vnd.openxmlformats-officedocument.presentationml.notesSlide+xml"/>
  <Override PartName="/ppt/charts/chart42.xml" ContentType="application/vnd.openxmlformats-officedocument.drawingml.chart+xml"/>
  <Override PartName="/ppt/charts/style42.xml" ContentType="application/vnd.ms-office.chartstyle+xml"/>
  <Override PartName="/ppt/charts/colors42.xml" ContentType="application/vnd.ms-office.chartcolorstyl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charts/chart43.xml" ContentType="application/vnd.openxmlformats-officedocument.drawingml.chart+xml"/>
  <Override PartName="/ppt/charts/style43.xml" ContentType="application/vnd.ms-office.chartstyle+xml"/>
  <Override PartName="/ppt/charts/colors43.xml" ContentType="application/vnd.ms-office.chartcolorstyle+xml"/>
  <Override PartName="/ppt/charts/chart44.xml" ContentType="application/vnd.openxmlformats-officedocument.drawingml.chart+xml"/>
  <Override PartName="/ppt/charts/style44.xml" ContentType="application/vnd.ms-office.chartstyle+xml"/>
  <Override PartName="/ppt/charts/colors44.xml" ContentType="application/vnd.ms-office.chartcolorstyle+xml"/>
  <Override PartName="/ppt/notesSlides/notesSlide42.xml" ContentType="application/vnd.openxmlformats-officedocument.presentationml.notesSlide+xml"/>
  <Override PartName="/ppt/charts/chart45.xml" ContentType="application/vnd.openxmlformats-officedocument.drawingml.chart+xml"/>
  <Override PartName="/ppt/charts/style45.xml" ContentType="application/vnd.ms-office.chartstyle+xml"/>
  <Override PartName="/ppt/charts/colors45.xml" ContentType="application/vnd.ms-office.chartcolorstyle+xml"/>
  <Override PartName="/ppt/notesSlides/notesSlide43.xml" ContentType="application/vnd.openxmlformats-officedocument.presentationml.notesSlide+xml"/>
  <Override PartName="/ppt/charts/chart46.xml" ContentType="application/vnd.openxmlformats-officedocument.drawingml.chart+xml"/>
  <Override PartName="/ppt/charts/style46.xml" ContentType="application/vnd.ms-office.chartstyle+xml"/>
  <Override PartName="/ppt/charts/colors46.xml" ContentType="application/vnd.ms-office.chartcolorstyle+xml"/>
  <Override PartName="/ppt/notesSlides/notesSlide44.xml" ContentType="application/vnd.openxmlformats-officedocument.presentationml.notesSlide+xml"/>
  <Override PartName="/ppt/charts/chart47.xml" ContentType="application/vnd.openxmlformats-officedocument.drawingml.chart+xml"/>
  <Override PartName="/ppt/charts/style47.xml" ContentType="application/vnd.ms-office.chartstyle+xml"/>
  <Override PartName="/ppt/charts/colors47.xml" ContentType="application/vnd.ms-office.chartcolorstyl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charts/chart48.xml" ContentType="application/vnd.openxmlformats-officedocument.drawingml.chart+xml"/>
  <Override PartName="/ppt/charts/style48.xml" ContentType="application/vnd.ms-office.chartstyle+xml"/>
  <Override PartName="/ppt/charts/colors48.xml" ContentType="application/vnd.ms-office.chartcolorstyle+xml"/>
  <Override PartName="/ppt/notesSlides/notesSlide47.xml" ContentType="application/vnd.openxmlformats-officedocument.presentationml.notesSlide+xml"/>
  <Override PartName="/ppt/charts/chart49.xml" ContentType="application/vnd.openxmlformats-officedocument.drawingml.chart+xml"/>
  <Override PartName="/ppt/charts/style49.xml" ContentType="application/vnd.ms-office.chartstyle+xml"/>
  <Override PartName="/ppt/charts/colors49.xml" ContentType="application/vnd.ms-office.chartcolorstyle+xml"/>
  <Override PartName="/ppt/notesSlides/notesSlide48.xml" ContentType="application/vnd.openxmlformats-officedocument.presentationml.notesSlide+xml"/>
  <Override PartName="/ppt/charts/chart50.xml" ContentType="application/vnd.openxmlformats-officedocument.drawingml.chart+xml"/>
  <Override PartName="/ppt/charts/style50.xml" ContentType="application/vnd.ms-office.chartstyle+xml"/>
  <Override PartName="/ppt/charts/colors50.xml" ContentType="application/vnd.ms-office.chartcolorstyle+xml"/>
  <Override PartName="/ppt/charts/chart51.xml" ContentType="application/vnd.openxmlformats-officedocument.drawingml.chart+xml"/>
  <Override PartName="/ppt/charts/style51.xml" ContentType="application/vnd.ms-office.chartstyle+xml"/>
  <Override PartName="/ppt/charts/colors51.xml" ContentType="application/vnd.ms-office.chartcolorstyle+xml"/>
  <Override PartName="/ppt/notesSlides/notesSlide49.xml" ContentType="application/vnd.openxmlformats-officedocument.presentationml.notesSlide+xml"/>
  <Override PartName="/ppt/charts/chart52.xml" ContentType="application/vnd.openxmlformats-officedocument.drawingml.chart+xml"/>
  <Override PartName="/ppt/charts/style52.xml" ContentType="application/vnd.ms-office.chartstyle+xml"/>
  <Override PartName="/ppt/charts/colors52.xml" ContentType="application/vnd.ms-office.chartcolorstyle+xml"/>
  <Override PartName="/ppt/notesSlides/notesSlide50.xml" ContentType="application/vnd.openxmlformats-officedocument.presentationml.notesSlide+xml"/>
  <Override PartName="/ppt/charts/chart53.xml" ContentType="application/vnd.openxmlformats-officedocument.drawingml.chart+xml"/>
  <Override PartName="/ppt/charts/style53.xml" ContentType="application/vnd.ms-office.chartstyle+xml"/>
  <Override PartName="/ppt/charts/colors53.xml" ContentType="application/vnd.ms-office.chartcolorstyl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charts/chart54.xml" ContentType="application/vnd.openxmlformats-officedocument.drawingml.chart+xml"/>
  <Override PartName="/ppt/charts/style54.xml" ContentType="application/vnd.ms-office.chartstyle+xml"/>
  <Override PartName="/ppt/charts/colors54.xml" ContentType="application/vnd.ms-office.chartcolorstyle+xml"/>
  <Override PartName="/ppt/charts/chart55.xml" ContentType="application/vnd.openxmlformats-officedocument.drawingml.chart+xml"/>
  <Override PartName="/ppt/charts/style55.xml" ContentType="application/vnd.ms-office.chartstyle+xml"/>
  <Override PartName="/ppt/charts/colors55.xml" ContentType="application/vnd.ms-office.chartcolorstyle+xml"/>
  <Override PartName="/ppt/charts/chart56.xml" ContentType="application/vnd.openxmlformats-officedocument.drawingml.chart+xml"/>
  <Override PartName="/ppt/charts/style56.xml" ContentType="application/vnd.ms-office.chartstyle+xml"/>
  <Override PartName="/ppt/charts/colors56.xml" ContentType="application/vnd.ms-office.chartcolorstyle+xml"/>
  <Override PartName="/ppt/charts/chart57.xml" ContentType="application/vnd.openxmlformats-officedocument.drawingml.chart+xml"/>
  <Override PartName="/ppt/charts/style57.xml" ContentType="application/vnd.ms-office.chartstyle+xml"/>
  <Override PartName="/ppt/charts/colors57.xml" ContentType="application/vnd.ms-office.chartcolorstyle+xml"/>
  <Override PartName="/ppt/charts/chart58.xml" ContentType="application/vnd.openxmlformats-officedocument.drawingml.chart+xml"/>
  <Override PartName="/ppt/charts/style58.xml" ContentType="application/vnd.ms-office.chartstyle+xml"/>
  <Override PartName="/ppt/charts/colors58.xml" ContentType="application/vnd.ms-office.chartcolorstyle+xml"/>
  <Override PartName="/ppt/notesSlides/notesSlide60.xml" ContentType="application/vnd.openxmlformats-officedocument.presentationml.notesSlide+xml"/>
  <Override PartName="/ppt/charts/chart59.xml" ContentType="application/vnd.openxmlformats-officedocument.drawingml.chart+xml"/>
  <Override PartName="/ppt/charts/style59.xml" ContentType="application/vnd.ms-office.chartstyle+xml"/>
  <Override PartName="/ppt/charts/colors59.xml" ContentType="application/vnd.ms-office.chartcolorstyle+xml"/>
  <Override PartName="/ppt/charts/chart60.xml" ContentType="application/vnd.openxmlformats-officedocument.drawingml.chart+xml"/>
  <Override PartName="/ppt/charts/style60.xml" ContentType="application/vnd.ms-office.chartstyle+xml"/>
  <Override PartName="/ppt/charts/colors60.xml" ContentType="application/vnd.ms-office.chartcolorstyle+xml"/>
  <Override PartName="/ppt/charts/chart61.xml" ContentType="application/vnd.openxmlformats-officedocument.drawingml.chart+xml"/>
  <Override PartName="/ppt/charts/style61.xml" ContentType="application/vnd.ms-office.chartstyle+xml"/>
  <Override PartName="/ppt/charts/colors61.xml" ContentType="application/vnd.ms-office.chartcolorstyle+xml"/>
  <Override PartName="/ppt/notesSlides/notesSlide61.xml" ContentType="application/vnd.openxmlformats-officedocument.presentationml.notesSlide+xml"/>
  <Override PartName="/ppt/charts/chart62.xml" ContentType="application/vnd.openxmlformats-officedocument.drawingml.chart+xml"/>
  <Override PartName="/ppt/charts/style62.xml" ContentType="application/vnd.ms-office.chartstyle+xml"/>
  <Override PartName="/ppt/charts/colors62.xml" ContentType="application/vnd.ms-office.chartcolorstyle+xml"/>
  <Override PartName="/ppt/charts/chart63.xml" ContentType="application/vnd.openxmlformats-officedocument.drawingml.chart+xml"/>
  <Override PartName="/ppt/charts/style63.xml" ContentType="application/vnd.ms-office.chartstyle+xml"/>
  <Override PartName="/ppt/charts/colors63.xml" ContentType="application/vnd.ms-office.chartcolorstyle+xml"/>
  <Override PartName="/ppt/charts/chart64.xml" ContentType="application/vnd.openxmlformats-officedocument.drawingml.chart+xml"/>
  <Override PartName="/ppt/charts/style64.xml" ContentType="application/vnd.ms-office.chartstyle+xml"/>
  <Override PartName="/ppt/charts/colors64.xml" ContentType="application/vnd.ms-office.chartcolorstyle+xml"/>
  <Override PartName="/ppt/charts/chart65.xml" ContentType="application/vnd.openxmlformats-officedocument.drawingml.chart+xml"/>
  <Override PartName="/ppt/charts/style65.xml" ContentType="application/vnd.ms-office.chartstyle+xml"/>
  <Override PartName="/ppt/charts/colors65.xml" ContentType="application/vnd.ms-office.chartcolorstyle+xml"/>
  <Override PartName="/ppt/notesSlides/notesSlide62.xml" ContentType="application/vnd.openxmlformats-officedocument.presentationml.notesSlide+xml"/>
  <Override PartName="/ppt/charts/chart66.xml" ContentType="application/vnd.openxmlformats-officedocument.drawingml.chart+xml"/>
  <Override PartName="/ppt/charts/style66.xml" ContentType="application/vnd.ms-office.chartstyle+xml"/>
  <Override PartName="/ppt/charts/colors66.xml" ContentType="application/vnd.ms-office.chartcolorstyle+xml"/>
  <Override PartName="/ppt/charts/chart67.xml" ContentType="application/vnd.openxmlformats-officedocument.drawingml.chart+xml"/>
  <Override PartName="/ppt/charts/style67.xml" ContentType="application/vnd.ms-office.chartstyle+xml"/>
  <Override PartName="/ppt/charts/colors67.xml" ContentType="application/vnd.ms-office.chartcolorstyle+xml"/>
  <Override PartName="/ppt/charts/chart68.xml" ContentType="application/vnd.openxmlformats-officedocument.drawingml.chart+xml"/>
  <Override PartName="/ppt/charts/style68.xml" ContentType="application/vnd.ms-office.chartstyle+xml"/>
  <Override PartName="/ppt/charts/colors68.xml" ContentType="application/vnd.ms-office.chartcolorstyle+xml"/>
  <Override PartName="/ppt/notesSlides/notesSlide63.xml" ContentType="application/vnd.openxmlformats-officedocument.presentationml.notesSlide+xml"/>
  <Override PartName="/ppt/charts/chart69.xml" ContentType="application/vnd.openxmlformats-officedocument.drawingml.chart+xml"/>
  <Override PartName="/ppt/charts/style69.xml" ContentType="application/vnd.ms-office.chartstyle+xml"/>
  <Override PartName="/ppt/charts/colors69.xml" ContentType="application/vnd.ms-office.chartcolorstyle+xml"/>
  <Override PartName="/ppt/charts/chart70.xml" ContentType="application/vnd.openxmlformats-officedocument.drawingml.chart+xml"/>
  <Override PartName="/ppt/charts/style70.xml" ContentType="application/vnd.ms-office.chartstyle+xml"/>
  <Override PartName="/ppt/charts/colors70.xml" ContentType="application/vnd.ms-office.chartcolorstyle+xml"/>
  <Override PartName="/ppt/charts/chart71.xml" ContentType="application/vnd.openxmlformats-officedocument.drawingml.chart+xml"/>
  <Override PartName="/ppt/charts/style71.xml" ContentType="application/vnd.ms-office.chartstyle+xml"/>
  <Override PartName="/ppt/charts/colors71.xml" ContentType="application/vnd.ms-office.chartcolorstyl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charts/chart72.xml" ContentType="application/vnd.openxmlformats-officedocument.drawingml.chart+xml"/>
  <Override PartName="/ppt/charts/style72.xml" ContentType="application/vnd.ms-office.chartstyle+xml"/>
  <Override PartName="/ppt/charts/colors72.xml" ContentType="application/vnd.ms-office.chartcolorstyle+xml"/>
  <Override PartName="/ppt/charts/chart73.xml" ContentType="application/vnd.openxmlformats-officedocument.drawingml.chart+xml"/>
  <Override PartName="/ppt/charts/style73.xml" ContentType="application/vnd.ms-office.chartstyle+xml"/>
  <Override PartName="/ppt/charts/colors73.xml" ContentType="application/vnd.ms-office.chartcolorstyle+xml"/>
  <Override PartName="/ppt/notesSlides/notesSlide70.xml" ContentType="application/vnd.openxmlformats-officedocument.presentationml.notesSlide+xml"/>
  <Override PartName="/ppt/charts/chart74.xml" ContentType="application/vnd.openxmlformats-officedocument.drawingml.chart+xml"/>
  <Override PartName="/ppt/charts/style74.xml" ContentType="application/vnd.ms-office.chartstyle+xml"/>
  <Override PartName="/ppt/charts/colors74.xml" ContentType="application/vnd.ms-office.chartcolorstyle+xml"/>
  <Override PartName="/ppt/notesSlides/notesSlide71.xml" ContentType="application/vnd.openxmlformats-officedocument.presentationml.notesSlide+xml"/>
  <Override PartName="/ppt/charts/chart75.xml" ContentType="application/vnd.openxmlformats-officedocument.drawingml.chart+xml"/>
  <Override PartName="/ppt/charts/style75.xml" ContentType="application/vnd.ms-office.chartstyle+xml"/>
  <Override PartName="/ppt/charts/colors75.xml" ContentType="application/vnd.ms-office.chartcolorstyle+xml"/>
  <Override PartName="/ppt/notesSlides/notesSlide72.xml" ContentType="application/vnd.openxmlformats-officedocument.presentationml.notesSlide+xml"/>
  <Override PartName="/ppt/charts/chart76.xml" ContentType="application/vnd.openxmlformats-officedocument.drawingml.chart+xml"/>
  <Override PartName="/ppt/charts/style76.xml" ContentType="application/vnd.ms-office.chartstyle+xml"/>
  <Override PartName="/ppt/charts/colors76.xml" ContentType="application/vnd.ms-office.chartcolorstyle+xml"/>
  <Override PartName="/ppt/charts/chart77.xml" ContentType="application/vnd.openxmlformats-officedocument.drawingml.chart+xml"/>
  <Override PartName="/ppt/charts/style77.xml" ContentType="application/vnd.ms-office.chartstyle+xml"/>
  <Override PartName="/ppt/charts/colors77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6"/>
  </p:notesMasterIdLst>
  <p:sldIdLst>
    <p:sldId id="256" r:id="rId2"/>
    <p:sldId id="463" r:id="rId3"/>
    <p:sldId id="413" r:id="rId4"/>
    <p:sldId id="259" r:id="rId5"/>
    <p:sldId id="261" r:id="rId6"/>
    <p:sldId id="264" r:id="rId7"/>
    <p:sldId id="275" r:id="rId8"/>
    <p:sldId id="276" r:id="rId9"/>
    <p:sldId id="464" r:id="rId10"/>
    <p:sldId id="369" r:id="rId11"/>
    <p:sldId id="371" r:id="rId12"/>
    <p:sldId id="370" r:id="rId13"/>
    <p:sldId id="285" r:id="rId14"/>
    <p:sldId id="277" r:id="rId15"/>
    <p:sldId id="416" r:id="rId16"/>
    <p:sldId id="431" r:id="rId17"/>
    <p:sldId id="462" r:id="rId18"/>
    <p:sldId id="279" r:id="rId19"/>
    <p:sldId id="409" r:id="rId20"/>
    <p:sldId id="278" r:id="rId21"/>
    <p:sldId id="280" r:id="rId22"/>
    <p:sldId id="435" r:id="rId23"/>
    <p:sldId id="436" r:id="rId24"/>
    <p:sldId id="418" r:id="rId25"/>
    <p:sldId id="318" r:id="rId26"/>
    <p:sldId id="427" r:id="rId27"/>
    <p:sldId id="419" r:id="rId28"/>
    <p:sldId id="420" r:id="rId29"/>
    <p:sldId id="421" r:id="rId30"/>
    <p:sldId id="422" r:id="rId31"/>
    <p:sldId id="452" r:id="rId32"/>
    <p:sldId id="423" r:id="rId33"/>
    <p:sldId id="325" r:id="rId34"/>
    <p:sldId id="428" r:id="rId35"/>
    <p:sldId id="460" r:id="rId36"/>
    <p:sldId id="438" r:id="rId37"/>
    <p:sldId id="282" r:id="rId38"/>
    <p:sldId id="424" r:id="rId39"/>
    <p:sldId id="283" r:id="rId40"/>
    <p:sldId id="414" r:id="rId41"/>
    <p:sldId id="288" r:id="rId42"/>
    <p:sldId id="290" r:id="rId43"/>
    <p:sldId id="455" r:id="rId44"/>
    <p:sldId id="281" r:id="rId45"/>
    <p:sldId id="439" r:id="rId46"/>
    <p:sldId id="456" r:id="rId47"/>
    <p:sldId id="358" r:id="rId48"/>
    <p:sldId id="374" r:id="rId49"/>
    <p:sldId id="362" r:id="rId50"/>
    <p:sldId id="458" r:id="rId51"/>
    <p:sldId id="465" r:id="rId52"/>
    <p:sldId id="272" r:id="rId53"/>
    <p:sldId id="273" r:id="rId54"/>
    <p:sldId id="426" r:id="rId55"/>
    <p:sldId id="425" r:id="rId56"/>
    <p:sldId id="376" r:id="rId57"/>
    <p:sldId id="377" r:id="rId58"/>
    <p:sldId id="440" r:id="rId59"/>
    <p:sldId id="441" r:id="rId60"/>
    <p:sldId id="442" r:id="rId61"/>
    <p:sldId id="449" r:id="rId62"/>
    <p:sldId id="450" r:id="rId63"/>
    <p:sldId id="451" r:id="rId64"/>
    <p:sldId id="443" r:id="rId65"/>
    <p:sldId id="444" r:id="rId66"/>
    <p:sldId id="339" r:id="rId67"/>
    <p:sldId id="342" r:id="rId68"/>
    <p:sldId id="346" r:id="rId69"/>
    <p:sldId id="448" r:id="rId70"/>
    <p:sldId id="347" r:id="rId71"/>
    <p:sldId id="350" r:id="rId72"/>
    <p:sldId id="351" r:id="rId73"/>
    <p:sldId id="353" r:id="rId74"/>
    <p:sldId id="446" r:id="rId7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7" roundtripDataSignature="AMtx7miPE9wXBn+2MC/JZlwAQYKfkYfi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23A"/>
    <a:srgbClr val="8C8C8E"/>
    <a:srgbClr val="F8961E"/>
    <a:srgbClr val="92D050"/>
    <a:srgbClr val="FFC000"/>
    <a:srgbClr val="ED7D31"/>
    <a:srgbClr val="FFFF99"/>
    <a:srgbClr val="55B296"/>
    <a:srgbClr val="E53C3E"/>
    <a:srgbClr val="3A43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4751CB-BC3B-D43B-038B-C4F7789A143D}" v="1064" dt="2025-09-29T19:55:58.298"/>
  </p1510:revLst>
</p1510:revInfo>
</file>

<file path=ppt/tableStyles.xml><?xml version="1.0" encoding="utf-8"?>
<a:tblStyleLst xmlns:a="http://schemas.openxmlformats.org/drawingml/2006/main" def="{991015D7-D160-4A9F-BB4E-07FA0D646497}">
  <a:tblStyle styleId="{991015D7-D160-4A9F-BB4E-07FA0D64649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98" autoAdjust="0"/>
    <p:restoredTop sz="93979" autoAdjust="0"/>
  </p:normalViewPr>
  <p:slideViewPr>
    <p:cSldViewPr snapToGrid="0">
      <p:cViewPr varScale="1">
        <p:scale>
          <a:sx n="82" d="100"/>
          <a:sy n="82" d="100"/>
        </p:scale>
        <p:origin x="293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484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38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3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142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37" Type="http://customschemas.google.com/relationships/presentationmetadata" Target="meta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4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143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141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moralesruiz@ug.uchile.cl" userId="S::urn:spo:guest#pmoralesruiz@ug.uchile.cl::" providerId="AD" clId="Web-{F44751CB-BC3B-D43B-038B-C4F7789A143D}"/>
    <pc:docChg chg="modSld sldOrd">
      <pc:chgData name="pmoralesruiz@ug.uchile.cl" userId="S::urn:spo:guest#pmoralesruiz@ug.uchile.cl::" providerId="AD" clId="Web-{F44751CB-BC3B-D43B-038B-C4F7789A143D}" dt="2025-09-29T19:55:56.142" v="579" actId="20577"/>
      <pc:docMkLst>
        <pc:docMk/>
      </pc:docMkLst>
      <pc:sldChg chg="addSp modSp">
        <pc:chgData name="pmoralesruiz@ug.uchile.cl" userId="S::urn:spo:guest#pmoralesruiz@ug.uchile.cl::" providerId="AD" clId="Web-{F44751CB-BC3B-D43B-038B-C4F7789A143D}" dt="2025-09-29T19:30:34.956" v="19"/>
        <pc:sldMkLst>
          <pc:docMk/>
          <pc:sldMk cId="0" sldId="276"/>
        </pc:sldMkLst>
        <pc:spChg chg="add mod">
          <ac:chgData name="pmoralesruiz@ug.uchile.cl" userId="S::urn:spo:guest#pmoralesruiz@ug.uchile.cl::" providerId="AD" clId="Web-{F44751CB-BC3B-D43B-038B-C4F7789A143D}" dt="2025-09-29T19:30:34.956" v="19"/>
          <ac:spMkLst>
            <pc:docMk/>
            <pc:sldMk cId="0" sldId="276"/>
            <ac:spMk id="2" creationId="{E10BBA97-F9A8-A8B9-0649-333B75BE1590}"/>
          </ac:spMkLst>
        </pc:spChg>
      </pc:sldChg>
      <pc:sldChg chg="addSp modSp">
        <pc:chgData name="pmoralesruiz@ug.uchile.cl" userId="S::urn:spo:guest#pmoralesruiz@ug.uchile.cl::" providerId="AD" clId="Web-{F44751CB-BC3B-D43B-038B-C4F7789A143D}" dt="2025-09-29T19:47:20.501" v="451" actId="20577"/>
        <pc:sldMkLst>
          <pc:docMk/>
          <pc:sldMk cId="0" sldId="288"/>
        </pc:sldMkLst>
        <pc:spChg chg="add mod">
          <ac:chgData name="pmoralesruiz@ug.uchile.cl" userId="S::urn:spo:guest#pmoralesruiz@ug.uchile.cl::" providerId="AD" clId="Web-{F44751CB-BC3B-D43B-038B-C4F7789A143D}" dt="2025-09-29T19:47:12.517" v="446" actId="1076"/>
          <ac:spMkLst>
            <pc:docMk/>
            <pc:sldMk cId="0" sldId="288"/>
            <ac:spMk id="2" creationId="{6C63D560-5F7E-79D1-71E2-8846E8A84BCE}"/>
          </ac:spMkLst>
        </pc:spChg>
        <pc:spChg chg="mod">
          <ac:chgData name="pmoralesruiz@ug.uchile.cl" userId="S::urn:spo:guest#pmoralesruiz@ug.uchile.cl::" providerId="AD" clId="Web-{F44751CB-BC3B-D43B-038B-C4F7789A143D}" dt="2025-09-29T19:47:20.501" v="451" actId="20577"/>
          <ac:spMkLst>
            <pc:docMk/>
            <pc:sldMk cId="0" sldId="288"/>
            <ac:spMk id="10" creationId="{00000000-0000-0000-0000-000000000000}"/>
          </ac:spMkLst>
        </pc:spChg>
      </pc:sldChg>
      <pc:sldChg chg="addSp delSp modSp">
        <pc:chgData name="pmoralesruiz@ug.uchile.cl" userId="S::urn:spo:guest#pmoralesruiz@ug.uchile.cl::" providerId="AD" clId="Web-{F44751CB-BC3B-D43B-038B-C4F7789A143D}" dt="2025-09-29T19:45:48.501" v="380" actId="20577"/>
        <pc:sldMkLst>
          <pc:docMk/>
          <pc:sldMk cId="2360770230" sldId="320"/>
        </pc:sldMkLst>
        <pc:spChg chg="add del mod">
          <ac:chgData name="pmoralesruiz@ug.uchile.cl" userId="S::urn:spo:guest#pmoralesruiz@ug.uchile.cl::" providerId="AD" clId="Web-{F44751CB-BC3B-D43B-038B-C4F7789A143D}" dt="2025-09-29T19:45:08.595" v="376"/>
          <ac:spMkLst>
            <pc:docMk/>
            <pc:sldMk cId="2360770230" sldId="320"/>
            <ac:spMk id="3" creationId="{6EAEB634-A22E-B8E5-B970-95FB322137BD}"/>
          </ac:spMkLst>
        </pc:spChg>
        <pc:spChg chg="add mod">
          <ac:chgData name="pmoralesruiz@ug.uchile.cl" userId="S::urn:spo:guest#pmoralesruiz@ug.uchile.cl::" providerId="AD" clId="Web-{F44751CB-BC3B-D43B-038B-C4F7789A143D}" dt="2025-09-29T19:45:48.501" v="380" actId="20577"/>
          <ac:spMkLst>
            <pc:docMk/>
            <pc:sldMk cId="2360770230" sldId="320"/>
            <ac:spMk id="5" creationId="{A8C824A5-4E68-AF01-B39D-8E84DD3EEFDA}"/>
          </ac:spMkLst>
        </pc:spChg>
        <pc:spChg chg="mod">
          <ac:chgData name="pmoralesruiz@ug.uchile.cl" userId="S::urn:spo:guest#pmoralesruiz@ug.uchile.cl::" providerId="AD" clId="Web-{F44751CB-BC3B-D43B-038B-C4F7789A143D}" dt="2025-09-29T19:43:48.580" v="286" actId="20577"/>
          <ac:spMkLst>
            <pc:docMk/>
            <pc:sldMk cId="2360770230" sldId="320"/>
            <ac:spMk id="16" creationId="{0DD7486D-237B-42B2-BCA9-866AB0479A58}"/>
          </ac:spMkLst>
        </pc:spChg>
      </pc:sldChg>
      <pc:sldChg chg="modSp">
        <pc:chgData name="pmoralesruiz@ug.uchile.cl" userId="S::urn:spo:guest#pmoralesruiz@ug.uchile.cl::" providerId="AD" clId="Web-{F44751CB-BC3B-D43B-038B-C4F7789A143D}" dt="2025-09-29T19:54:28.548" v="497" actId="20577"/>
        <pc:sldMkLst>
          <pc:docMk/>
          <pc:sldMk cId="0" sldId="346"/>
        </pc:sldMkLst>
        <pc:spChg chg="mod">
          <ac:chgData name="pmoralesruiz@ug.uchile.cl" userId="S::urn:spo:guest#pmoralesruiz@ug.uchile.cl::" providerId="AD" clId="Web-{F44751CB-BC3B-D43B-038B-C4F7789A143D}" dt="2025-09-29T19:54:28.548" v="497" actId="20577"/>
          <ac:spMkLst>
            <pc:docMk/>
            <pc:sldMk cId="0" sldId="346"/>
            <ac:spMk id="1041" creationId="{00000000-0000-0000-0000-000000000000}"/>
          </ac:spMkLst>
        </pc:spChg>
      </pc:sldChg>
      <pc:sldChg chg="addSp modSp">
        <pc:chgData name="pmoralesruiz@ug.uchile.cl" userId="S::urn:spo:guest#pmoralesruiz@ug.uchile.cl::" providerId="AD" clId="Web-{F44751CB-BC3B-D43B-038B-C4F7789A143D}" dt="2025-09-29T19:53:56.642" v="488"/>
        <pc:sldMkLst>
          <pc:docMk/>
          <pc:sldMk cId="479603681" sldId="403"/>
        </pc:sldMkLst>
        <pc:spChg chg="add mod">
          <ac:chgData name="pmoralesruiz@ug.uchile.cl" userId="S::urn:spo:guest#pmoralesruiz@ug.uchile.cl::" providerId="AD" clId="Web-{F44751CB-BC3B-D43B-038B-C4F7789A143D}" dt="2025-09-29T19:53:56.642" v="488"/>
          <ac:spMkLst>
            <pc:docMk/>
            <pc:sldMk cId="479603681" sldId="403"/>
            <ac:spMk id="3" creationId="{B6FB5695-1728-C720-4FF5-9799E92D87B5}"/>
          </ac:spMkLst>
        </pc:spChg>
      </pc:sldChg>
      <pc:sldChg chg="addSp modSp">
        <pc:chgData name="pmoralesruiz@ug.uchile.cl" userId="S::urn:spo:guest#pmoralesruiz@ug.uchile.cl::" providerId="AD" clId="Web-{F44751CB-BC3B-D43B-038B-C4F7789A143D}" dt="2025-09-29T19:31:52.831" v="39" actId="20577"/>
        <pc:sldMkLst>
          <pc:docMk/>
          <pc:sldMk cId="3006985062" sldId="416"/>
        </pc:sldMkLst>
        <pc:spChg chg="add mod">
          <ac:chgData name="pmoralesruiz@ug.uchile.cl" userId="S::urn:spo:guest#pmoralesruiz@ug.uchile.cl::" providerId="AD" clId="Web-{F44751CB-BC3B-D43B-038B-C4F7789A143D}" dt="2025-09-29T19:31:28.565" v="21" actId="1076"/>
          <ac:spMkLst>
            <pc:docMk/>
            <pc:sldMk cId="3006985062" sldId="416"/>
            <ac:spMk id="3" creationId="{CA4C0EE7-D175-AF7D-E4D6-E685DF194632}"/>
          </ac:spMkLst>
        </pc:spChg>
        <pc:spChg chg="add mod">
          <ac:chgData name="pmoralesruiz@ug.uchile.cl" userId="S::urn:spo:guest#pmoralesruiz@ug.uchile.cl::" providerId="AD" clId="Web-{F44751CB-BC3B-D43B-038B-C4F7789A143D}" dt="2025-09-29T19:31:52.831" v="39" actId="20577"/>
          <ac:spMkLst>
            <pc:docMk/>
            <pc:sldMk cId="3006985062" sldId="416"/>
            <ac:spMk id="4" creationId="{1B3D275E-11A2-7608-1591-00D1CAE8809D}"/>
          </ac:spMkLst>
        </pc:spChg>
      </pc:sldChg>
      <pc:sldChg chg="addSp delSp modSp">
        <pc:chgData name="pmoralesruiz@ug.uchile.cl" userId="S::urn:spo:guest#pmoralesruiz@ug.uchile.cl::" providerId="AD" clId="Web-{F44751CB-BC3B-D43B-038B-C4F7789A143D}" dt="2025-09-29T19:41:53.611" v="284"/>
        <pc:sldMkLst>
          <pc:docMk/>
          <pc:sldMk cId="1012220188" sldId="419"/>
        </pc:sldMkLst>
        <pc:spChg chg="add del mod">
          <ac:chgData name="pmoralesruiz@ug.uchile.cl" userId="S::urn:spo:guest#pmoralesruiz@ug.uchile.cl::" providerId="AD" clId="Web-{F44751CB-BC3B-D43B-038B-C4F7789A143D}" dt="2025-09-29T19:41:53.611" v="284"/>
          <ac:spMkLst>
            <pc:docMk/>
            <pc:sldMk cId="1012220188" sldId="419"/>
            <ac:spMk id="4" creationId="{C3082D89-D0C0-96A5-693D-DF9A15524AD3}"/>
          </ac:spMkLst>
        </pc:spChg>
      </pc:sldChg>
      <pc:sldChg chg="addSp modSp">
        <pc:chgData name="pmoralesruiz@ug.uchile.cl" userId="S::urn:spo:guest#pmoralesruiz@ug.uchile.cl::" providerId="AD" clId="Web-{F44751CB-BC3B-D43B-038B-C4F7789A143D}" dt="2025-09-29T19:39:56.565" v="277" actId="1076"/>
        <pc:sldMkLst>
          <pc:docMk/>
          <pc:sldMk cId="235619057" sldId="427"/>
        </pc:sldMkLst>
        <pc:spChg chg="add mod">
          <ac:chgData name="pmoralesruiz@ug.uchile.cl" userId="S::urn:spo:guest#pmoralesruiz@ug.uchile.cl::" providerId="AD" clId="Web-{F44751CB-BC3B-D43B-038B-C4F7789A143D}" dt="2025-09-29T19:39:56.565" v="277" actId="1076"/>
          <ac:spMkLst>
            <pc:docMk/>
            <pc:sldMk cId="235619057" sldId="427"/>
            <ac:spMk id="3" creationId="{FC6C4110-BC77-F365-BE6F-6511F3962DDA}"/>
          </ac:spMkLst>
        </pc:spChg>
      </pc:sldChg>
      <pc:sldChg chg="addSp modSp">
        <pc:chgData name="pmoralesruiz@ug.uchile.cl" userId="S::urn:spo:guest#pmoralesruiz@ug.uchile.cl::" providerId="AD" clId="Web-{F44751CB-BC3B-D43B-038B-C4F7789A143D}" dt="2025-09-29T19:33:19.596" v="103" actId="20577"/>
        <pc:sldMkLst>
          <pc:docMk/>
          <pc:sldMk cId="391928943" sldId="431"/>
        </pc:sldMkLst>
        <pc:spChg chg="add mod">
          <ac:chgData name="pmoralesruiz@ug.uchile.cl" userId="S::urn:spo:guest#pmoralesruiz@ug.uchile.cl::" providerId="AD" clId="Web-{F44751CB-BC3B-D43B-038B-C4F7789A143D}" dt="2025-09-29T19:33:19.596" v="103" actId="20577"/>
          <ac:spMkLst>
            <pc:docMk/>
            <pc:sldMk cId="391928943" sldId="431"/>
            <ac:spMk id="3" creationId="{C16525DD-1487-9270-0D9C-49B03147F162}"/>
          </ac:spMkLst>
        </pc:spChg>
      </pc:sldChg>
      <pc:sldChg chg="addSp">
        <pc:chgData name="pmoralesruiz@ug.uchile.cl" userId="S::urn:spo:guest#pmoralesruiz@ug.uchile.cl::" providerId="AD" clId="Web-{F44751CB-BC3B-D43B-038B-C4F7789A143D}" dt="2025-09-29T19:33:34.909" v="104"/>
        <pc:sldMkLst>
          <pc:docMk/>
          <pc:sldMk cId="3091702772" sldId="433"/>
        </pc:sldMkLst>
        <pc:spChg chg="add">
          <ac:chgData name="pmoralesruiz@ug.uchile.cl" userId="S::urn:spo:guest#pmoralesruiz@ug.uchile.cl::" providerId="AD" clId="Web-{F44751CB-BC3B-D43B-038B-C4F7789A143D}" dt="2025-09-29T19:33:34.909" v="104"/>
          <ac:spMkLst>
            <pc:docMk/>
            <pc:sldMk cId="3091702772" sldId="433"/>
            <ac:spMk id="3" creationId="{09F731A5-D0D0-0D79-953D-70652C21F9FD}"/>
          </ac:spMkLst>
        </pc:spChg>
      </pc:sldChg>
      <pc:sldChg chg="addSp modSp ord">
        <pc:chgData name="pmoralesruiz@ug.uchile.cl" userId="S::urn:spo:guest#pmoralesruiz@ug.uchile.cl::" providerId="AD" clId="Web-{F44751CB-BC3B-D43B-038B-C4F7789A143D}" dt="2025-09-29T19:52:51.720" v="469" actId="20577"/>
        <pc:sldMkLst>
          <pc:docMk/>
          <pc:sldMk cId="391977841" sldId="435"/>
        </pc:sldMkLst>
        <pc:spChg chg="add mod">
          <ac:chgData name="pmoralesruiz@ug.uchile.cl" userId="S::urn:spo:guest#pmoralesruiz@ug.uchile.cl::" providerId="AD" clId="Web-{F44751CB-BC3B-D43B-038B-C4F7789A143D}" dt="2025-09-29T19:52:51.720" v="469" actId="20577"/>
          <ac:spMkLst>
            <pc:docMk/>
            <pc:sldMk cId="391977841" sldId="435"/>
            <ac:spMk id="3" creationId="{84778075-D042-C787-5FE4-DE07A0445984}"/>
          </ac:spMkLst>
        </pc:spChg>
        <pc:spChg chg="add mod">
          <ac:chgData name="pmoralesruiz@ug.uchile.cl" userId="S::urn:spo:guest#pmoralesruiz@ug.uchile.cl::" providerId="AD" clId="Web-{F44751CB-BC3B-D43B-038B-C4F7789A143D}" dt="2025-09-29T19:52:23.423" v="464" actId="20577"/>
          <ac:spMkLst>
            <pc:docMk/>
            <pc:sldMk cId="391977841" sldId="435"/>
            <ac:spMk id="5" creationId="{04A490B3-5449-7620-0CCB-915C57BEB288}"/>
          </ac:spMkLst>
        </pc:spChg>
        <pc:spChg chg="mod">
          <ac:chgData name="pmoralesruiz@ug.uchile.cl" userId="S::urn:spo:guest#pmoralesruiz@ug.uchile.cl::" providerId="AD" clId="Web-{F44751CB-BC3B-D43B-038B-C4F7789A143D}" dt="2025-09-29T19:52:30.345" v="466" actId="1076"/>
          <ac:spMkLst>
            <pc:docMk/>
            <pc:sldMk cId="391977841" sldId="435"/>
            <ac:spMk id="352" creationId="{00000000-0000-0000-0000-000000000000}"/>
          </ac:spMkLst>
        </pc:spChg>
      </pc:sldChg>
      <pc:sldChg chg="addSp modSp">
        <pc:chgData name="pmoralesruiz@ug.uchile.cl" userId="S::urn:spo:guest#pmoralesruiz@ug.uchile.cl::" providerId="AD" clId="Web-{F44751CB-BC3B-D43B-038B-C4F7789A143D}" dt="2025-09-29T19:44:55.470" v="373"/>
        <pc:sldMkLst>
          <pc:docMk/>
          <pc:sldMk cId="2351128133" sldId="437"/>
        </pc:sldMkLst>
        <pc:spChg chg="add mod">
          <ac:chgData name="pmoralesruiz@ug.uchile.cl" userId="S::urn:spo:guest#pmoralesruiz@ug.uchile.cl::" providerId="AD" clId="Web-{F44751CB-BC3B-D43B-038B-C4F7789A143D}" dt="2025-09-29T19:44:55.470" v="373"/>
          <ac:spMkLst>
            <pc:docMk/>
            <pc:sldMk cId="2351128133" sldId="437"/>
            <ac:spMk id="2" creationId="{2EC0A6D2-294E-1A82-7359-45C1F595CE77}"/>
          </ac:spMkLst>
        </pc:spChg>
        <pc:spChg chg="mod">
          <ac:chgData name="pmoralesruiz@ug.uchile.cl" userId="S::urn:spo:guest#pmoralesruiz@ug.uchile.cl::" providerId="AD" clId="Web-{F44751CB-BC3B-D43B-038B-C4F7789A143D}" dt="2025-09-29T19:44:00.517" v="288" actId="20577"/>
          <ac:spMkLst>
            <pc:docMk/>
            <pc:sldMk cId="2351128133" sldId="437"/>
            <ac:spMk id="16" creationId="{0DD7486D-237B-42B2-BCA9-866AB0479A58}"/>
          </ac:spMkLst>
        </pc:spChg>
        <pc:spChg chg="mod">
          <ac:chgData name="pmoralesruiz@ug.uchile.cl" userId="S::urn:spo:guest#pmoralesruiz@ug.uchile.cl::" providerId="AD" clId="Web-{F44751CB-BC3B-D43B-038B-C4F7789A143D}" dt="2025-09-29T19:44:05.376" v="290" actId="20577"/>
          <ac:spMkLst>
            <pc:docMk/>
            <pc:sldMk cId="2351128133" sldId="437"/>
            <ac:spMk id="20" creationId="{FFACC3AB-CC36-4F63-8B2F-36DA5A2322C4}"/>
          </ac:spMkLst>
        </pc:spChg>
      </pc:sldChg>
      <pc:sldChg chg="addSp modSp">
        <pc:chgData name="pmoralesruiz@ug.uchile.cl" userId="S::urn:spo:guest#pmoralesruiz@ug.uchile.cl::" providerId="AD" clId="Web-{F44751CB-BC3B-D43B-038B-C4F7789A143D}" dt="2025-09-29T19:55:56.142" v="579" actId="20577"/>
        <pc:sldMkLst>
          <pc:docMk/>
          <pc:sldMk cId="1135431551" sldId="446"/>
        </pc:sldMkLst>
        <pc:spChg chg="add mod">
          <ac:chgData name="pmoralesruiz@ug.uchile.cl" userId="S::urn:spo:guest#pmoralesruiz@ug.uchile.cl::" providerId="AD" clId="Web-{F44751CB-BC3B-D43B-038B-C4F7789A143D}" dt="2025-09-29T19:55:56.142" v="579" actId="20577"/>
          <ac:spMkLst>
            <pc:docMk/>
            <pc:sldMk cId="1135431551" sldId="446"/>
            <ac:spMk id="3" creationId="{D2D2A4D6-0F7F-9CB9-86B4-2B52E4F49A74}"/>
          </ac:spMkLst>
        </pc:spChg>
      </pc:sldChg>
      <pc:sldChg chg="addSp delSp modSp">
        <pc:chgData name="pmoralesruiz@ug.uchile.cl" userId="S::urn:spo:guest#pmoralesruiz@ug.uchile.cl::" providerId="AD" clId="Web-{F44751CB-BC3B-D43B-038B-C4F7789A143D}" dt="2025-09-29T19:51:14.704" v="458"/>
        <pc:sldMkLst>
          <pc:docMk/>
          <pc:sldMk cId="806740195" sldId="458"/>
        </pc:sldMkLst>
        <pc:picChg chg="add del mod">
          <ac:chgData name="pmoralesruiz@ug.uchile.cl" userId="S::urn:spo:guest#pmoralesruiz@ug.uchile.cl::" providerId="AD" clId="Web-{F44751CB-BC3B-D43B-038B-C4F7789A143D}" dt="2025-09-29T19:49:46.157" v="453"/>
          <ac:picMkLst>
            <pc:docMk/>
            <pc:sldMk cId="806740195" sldId="458"/>
            <ac:picMk id="2" creationId="{3CA887A3-D19A-1FFF-B830-45968020083E}"/>
          </ac:picMkLst>
        </pc:picChg>
        <pc:picChg chg="add mod">
          <ac:chgData name="pmoralesruiz@ug.uchile.cl" userId="S::urn:spo:guest#pmoralesruiz@ug.uchile.cl::" providerId="AD" clId="Web-{F44751CB-BC3B-D43B-038B-C4F7789A143D}" dt="2025-09-29T19:51:14.704" v="458"/>
          <ac:picMkLst>
            <pc:docMk/>
            <pc:sldMk cId="806740195" sldId="458"/>
            <ac:picMk id="3" creationId="{4EE0938B-A1F5-E213-9763-4E9C39809749}"/>
          </ac:picMkLst>
        </pc:picChg>
        <pc:picChg chg="del">
          <ac:chgData name="pmoralesruiz@ug.uchile.cl" userId="S::urn:spo:guest#pmoralesruiz@ug.uchile.cl::" providerId="AD" clId="Web-{F44751CB-BC3B-D43B-038B-C4F7789A143D}" dt="2025-09-29T19:50:05.845" v="454"/>
          <ac:picMkLst>
            <pc:docMk/>
            <pc:sldMk cId="806740195" sldId="458"/>
            <ac:picMk id="1169" creationId="{00000000-0000-0000-0000-000000000000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6.xlsx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7.xlsx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9.xlsx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0.xlsx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1.xlsx"/><Relationship Id="rId2" Type="http://schemas.microsoft.com/office/2011/relationships/chartColorStyle" Target="colors32.xml"/><Relationship Id="rId1" Type="http://schemas.microsoft.com/office/2011/relationships/chartStyle" Target="style32.xml"/></Relationships>
</file>

<file path=ppt/charts/_rels/chart3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2.xlsx"/><Relationship Id="rId2" Type="http://schemas.microsoft.com/office/2011/relationships/chartColorStyle" Target="colors33.xml"/><Relationship Id="rId1" Type="http://schemas.microsoft.com/office/2011/relationships/chartStyle" Target="style33.xml"/></Relationships>
</file>

<file path=ppt/charts/_rels/chart3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3.xlsx"/><Relationship Id="rId2" Type="http://schemas.microsoft.com/office/2011/relationships/chartColorStyle" Target="colors34.xml"/><Relationship Id="rId1" Type="http://schemas.microsoft.com/office/2011/relationships/chartStyle" Target="style34.xml"/></Relationships>
</file>

<file path=ppt/charts/_rels/chart3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4.xlsx"/><Relationship Id="rId2" Type="http://schemas.microsoft.com/office/2011/relationships/chartColorStyle" Target="colors35.xml"/><Relationship Id="rId1" Type="http://schemas.microsoft.com/office/2011/relationships/chartStyle" Target="style35.xml"/></Relationships>
</file>

<file path=ppt/charts/_rels/chart3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5.xlsx"/><Relationship Id="rId2" Type="http://schemas.microsoft.com/office/2011/relationships/chartColorStyle" Target="colors36.xml"/><Relationship Id="rId1" Type="http://schemas.microsoft.com/office/2011/relationships/chartStyle" Target="style36.xml"/></Relationships>
</file>

<file path=ppt/charts/_rels/chart3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6.xlsx"/><Relationship Id="rId2" Type="http://schemas.microsoft.com/office/2011/relationships/chartColorStyle" Target="colors37.xml"/><Relationship Id="rId1" Type="http://schemas.microsoft.com/office/2011/relationships/chartStyle" Target="style37.xml"/></Relationships>
</file>

<file path=ppt/charts/_rels/chart3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7.xlsx"/><Relationship Id="rId2" Type="http://schemas.microsoft.com/office/2011/relationships/chartColorStyle" Target="colors38.xml"/><Relationship Id="rId1" Type="http://schemas.microsoft.com/office/2011/relationships/chartStyle" Target="style38.xml"/></Relationships>
</file>

<file path=ppt/charts/_rels/chart3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8.xlsx"/><Relationship Id="rId2" Type="http://schemas.microsoft.com/office/2011/relationships/chartColorStyle" Target="colors39.xml"/><Relationship Id="rId1" Type="http://schemas.microsoft.com/office/2011/relationships/chartStyle" Target="style39.xml"/></Relationships>
</file>

<file path=ppt/charts/_rels/chart4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9.xlsx"/><Relationship Id="rId2" Type="http://schemas.microsoft.com/office/2011/relationships/chartColorStyle" Target="colors40.xml"/><Relationship Id="rId1" Type="http://schemas.microsoft.com/office/2011/relationships/chartStyle" Target="style40.xml"/></Relationships>
</file>

<file path=ppt/charts/_rels/chart4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0.xlsx"/><Relationship Id="rId2" Type="http://schemas.microsoft.com/office/2011/relationships/chartColorStyle" Target="colors41.xml"/><Relationship Id="rId1" Type="http://schemas.microsoft.com/office/2011/relationships/chartStyle" Target="style41.xml"/></Relationships>
</file>

<file path=ppt/charts/_rels/chart4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1.xlsx"/><Relationship Id="rId2" Type="http://schemas.microsoft.com/office/2011/relationships/chartColorStyle" Target="colors42.xml"/><Relationship Id="rId1" Type="http://schemas.microsoft.com/office/2011/relationships/chartStyle" Target="style42.xml"/></Relationships>
</file>

<file path=ppt/charts/_rels/chart4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2.xlsx"/><Relationship Id="rId2" Type="http://schemas.microsoft.com/office/2011/relationships/chartColorStyle" Target="colors43.xml"/><Relationship Id="rId1" Type="http://schemas.microsoft.com/office/2011/relationships/chartStyle" Target="style43.xml"/></Relationships>
</file>

<file path=ppt/charts/_rels/chart4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3.xlsx"/><Relationship Id="rId2" Type="http://schemas.microsoft.com/office/2011/relationships/chartColorStyle" Target="colors44.xml"/><Relationship Id="rId1" Type="http://schemas.microsoft.com/office/2011/relationships/chartStyle" Target="style44.xml"/></Relationships>
</file>

<file path=ppt/charts/_rels/chart4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4.xlsx"/><Relationship Id="rId2" Type="http://schemas.microsoft.com/office/2011/relationships/chartColorStyle" Target="colors45.xml"/><Relationship Id="rId1" Type="http://schemas.microsoft.com/office/2011/relationships/chartStyle" Target="style45.xml"/></Relationships>
</file>

<file path=ppt/charts/_rels/chart4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5.xlsx"/><Relationship Id="rId2" Type="http://schemas.microsoft.com/office/2011/relationships/chartColorStyle" Target="colors46.xml"/><Relationship Id="rId1" Type="http://schemas.microsoft.com/office/2011/relationships/chartStyle" Target="style46.xml"/></Relationships>
</file>

<file path=ppt/charts/_rels/chart4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6.xlsx"/><Relationship Id="rId2" Type="http://schemas.microsoft.com/office/2011/relationships/chartColorStyle" Target="colors47.xml"/><Relationship Id="rId1" Type="http://schemas.microsoft.com/office/2011/relationships/chartStyle" Target="style47.xml"/></Relationships>
</file>

<file path=ppt/charts/_rels/chart4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7.xlsx"/><Relationship Id="rId2" Type="http://schemas.microsoft.com/office/2011/relationships/chartColorStyle" Target="colors48.xml"/><Relationship Id="rId1" Type="http://schemas.microsoft.com/office/2011/relationships/chartStyle" Target="style48.xml"/></Relationships>
</file>

<file path=ppt/charts/_rels/chart4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8.xlsx"/><Relationship Id="rId2" Type="http://schemas.microsoft.com/office/2011/relationships/chartColorStyle" Target="colors49.xml"/><Relationship Id="rId1" Type="http://schemas.microsoft.com/office/2011/relationships/chartStyle" Target="style49.xml"/></Relationships>
</file>

<file path=ppt/charts/_rels/chart5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9.xlsx"/><Relationship Id="rId2" Type="http://schemas.microsoft.com/office/2011/relationships/chartColorStyle" Target="colors50.xml"/><Relationship Id="rId1" Type="http://schemas.microsoft.com/office/2011/relationships/chartStyle" Target="style50.xml"/></Relationships>
</file>

<file path=ppt/charts/_rels/chart5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0.xlsx"/><Relationship Id="rId2" Type="http://schemas.microsoft.com/office/2011/relationships/chartColorStyle" Target="colors51.xml"/><Relationship Id="rId1" Type="http://schemas.microsoft.com/office/2011/relationships/chartStyle" Target="style51.xml"/></Relationships>
</file>

<file path=ppt/charts/_rels/chart5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1.xlsx"/><Relationship Id="rId2" Type="http://schemas.microsoft.com/office/2011/relationships/chartColorStyle" Target="colors52.xml"/><Relationship Id="rId1" Type="http://schemas.microsoft.com/office/2011/relationships/chartStyle" Target="style52.xml"/></Relationships>
</file>

<file path=ppt/charts/_rels/chart5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2.xlsx"/><Relationship Id="rId2" Type="http://schemas.microsoft.com/office/2011/relationships/chartColorStyle" Target="colors53.xml"/><Relationship Id="rId1" Type="http://schemas.microsoft.com/office/2011/relationships/chartStyle" Target="style53.xml"/></Relationships>
</file>

<file path=ppt/charts/_rels/chart5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3.xlsx"/><Relationship Id="rId2" Type="http://schemas.microsoft.com/office/2011/relationships/chartColorStyle" Target="colors54.xml"/><Relationship Id="rId1" Type="http://schemas.microsoft.com/office/2011/relationships/chartStyle" Target="style54.xml"/></Relationships>
</file>

<file path=ppt/charts/_rels/chart5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4.xlsx"/><Relationship Id="rId2" Type="http://schemas.microsoft.com/office/2011/relationships/chartColorStyle" Target="colors55.xml"/><Relationship Id="rId1" Type="http://schemas.microsoft.com/office/2011/relationships/chartStyle" Target="style55.xml"/></Relationships>
</file>

<file path=ppt/charts/_rels/chart5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5.xlsx"/><Relationship Id="rId2" Type="http://schemas.microsoft.com/office/2011/relationships/chartColorStyle" Target="colors56.xml"/><Relationship Id="rId1" Type="http://schemas.microsoft.com/office/2011/relationships/chartStyle" Target="style56.xml"/></Relationships>
</file>

<file path=ppt/charts/_rels/chart5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6.xlsx"/><Relationship Id="rId2" Type="http://schemas.microsoft.com/office/2011/relationships/chartColorStyle" Target="colors57.xml"/><Relationship Id="rId1" Type="http://schemas.microsoft.com/office/2011/relationships/chartStyle" Target="style57.xml"/></Relationships>
</file>

<file path=ppt/charts/_rels/chart5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7.xlsx"/><Relationship Id="rId2" Type="http://schemas.microsoft.com/office/2011/relationships/chartColorStyle" Target="colors58.xml"/><Relationship Id="rId1" Type="http://schemas.microsoft.com/office/2011/relationships/chartStyle" Target="style58.xml"/></Relationships>
</file>

<file path=ppt/charts/_rels/chart5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8.xlsx"/><Relationship Id="rId2" Type="http://schemas.microsoft.com/office/2011/relationships/chartColorStyle" Target="colors59.xml"/><Relationship Id="rId1" Type="http://schemas.microsoft.com/office/2011/relationships/chartStyle" Target="style59.xml"/></Relationships>
</file>

<file path=ppt/charts/_rels/chart6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9.xlsx"/><Relationship Id="rId2" Type="http://schemas.microsoft.com/office/2011/relationships/chartColorStyle" Target="colors60.xml"/><Relationship Id="rId1" Type="http://schemas.microsoft.com/office/2011/relationships/chartStyle" Target="style60.xml"/></Relationships>
</file>

<file path=ppt/charts/_rels/chart6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0.xlsx"/><Relationship Id="rId2" Type="http://schemas.microsoft.com/office/2011/relationships/chartColorStyle" Target="colors61.xml"/><Relationship Id="rId1" Type="http://schemas.microsoft.com/office/2011/relationships/chartStyle" Target="style61.xml"/></Relationships>
</file>

<file path=ppt/charts/_rels/chart6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1.xlsx"/><Relationship Id="rId2" Type="http://schemas.microsoft.com/office/2011/relationships/chartColorStyle" Target="colors62.xml"/><Relationship Id="rId1" Type="http://schemas.microsoft.com/office/2011/relationships/chartStyle" Target="style62.xml"/></Relationships>
</file>

<file path=ppt/charts/_rels/chart6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2.xlsx"/><Relationship Id="rId2" Type="http://schemas.microsoft.com/office/2011/relationships/chartColorStyle" Target="colors63.xml"/><Relationship Id="rId1" Type="http://schemas.microsoft.com/office/2011/relationships/chartStyle" Target="style63.xml"/></Relationships>
</file>

<file path=ppt/charts/_rels/chart6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3.xlsx"/><Relationship Id="rId2" Type="http://schemas.microsoft.com/office/2011/relationships/chartColorStyle" Target="colors64.xml"/><Relationship Id="rId1" Type="http://schemas.microsoft.com/office/2011/relationships/chartStyle" Target="style64.xml"/></Relationships>
</file>

<file path=ppt/charts/_rels/chart6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4.xlsx"/><Relationship Id="rId2" Type="http://schemas.microsoft.com/office/2011/relationships/chartColorStyle" Target="colors65.xml"/><Relationship Id="rId1" Type="http://schemas.microsoft.com/office/2011/relationships/chartStyle" Target="style65.xml"/></Relationships>
</file>

<file path=ppt/charts/_rels/chart6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5.xlsx"/><Relationship Id="rId2" Type="http://schemas.microsoft.com/office/2011/relationships/chartColorStyle" Target="colors66.xml"/><Relationship Id="rId1" Type="http://schemas.microsoft.com/office/2011/relationships/chartStyle" Target="style66.xml"/></Relationships>
</file>

<file path=ppt/charts/_rels/chart6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6.xlsx"/><Relationship Id="rId2" Type="http://schemas.microsoft.com/office/2011/relationships/chartColorStyle" Target="colors67.xml"/><Relationship Id="rId1" Type="http://schemas.microsoft.com/office/2011/relationships/chartStyle" Target="style67.xml"/></Relationships>
</file>

<file path=ppt/charts/_rels/chart6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7.xlsx"/><Relationship Id="rId2" Type="http://schemas.microsoft.com/office/2011/relationships/chartColorStyle" Target="colors68.xml"/><Relationship Id="rId1" Type="http://schemas.microsoft.com/office/2011/relationships/chartStyle" Target="style68.xml"/></Relationships>
</file>

<file path=ppt/charts/_rels/chart6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8.xlsx"/><Relationship Id="rId2" Type="http://schemas.microsoft.com/office/2011/relationships/chartColorStyle" Target="colors69.xml"/><Relationship Id="rId1" Type="http://schemas.microsoft.com/office/2011/relationships/chartStyle" Target="style69.xml"/></Relationships>
</file>

<file path=ppt/charts/_rels/chart7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9.xlsx"/><Relationship Id="rId2" Type="http://schemas.microsoft.com/office/2011/relationships/chartColorStyle" Target="colors70.xml"/><Relationship Id="rId1" Type="http://schemas.microsoft.com/office/2011/relationships/chartStyle" Target="style70.xml"/></Relationships>
</file>

<file path=ppt/charts/_rels/chart7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0.xlsx"/><Relationship Id="rId2" Type="http://schemas.microsoft.com/office/2011/relationships/chartColorStyle" Target="colors71.xml"/><Relationship Id="rId1" Type="http://schemas.microsoft.com/office/2011/relationships/chartStyle" Target="style71.xml"/></Relationships>
</file>

<file path=ppt/charts/_rels/chart7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1.xlsx"/><Relationship Id="rId2" Type="http://schemas.microsoft.com/office/2011/relationships/chartColorStyle" Target="colors72.xml"/><Relationship Id="rId1" Type="http://schemas.microsoft.com/office/2011/relationships/chartStyle" Target="style72.xml"/></Relationships>
</file>

<file path=ppt/charts/_rels/chart7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2.xlsx"/><Relationship Id="rId2" Type="http://schemas.microsoft.com/office/2011/relationships/chartColorStyle" Target="colors73.xml"/><Relationship Id="rId1" Type="http://schemas.microsoft.com/office/2011/relationships/chartStyle" Target="style73.xml"/></Relationships>
</file>

<file path=ppt/charts/_rels/chart7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3.xlsx"/><Relationship Id="rId2" Type="http://schemas.microsoft.com/office/2011/relationships/chartColorStyle" Target="colors74.xml"/><Relationship Id="rId1" Type="http://schemas.microsoft.com/office/2011/relationships/chartStyle" Target="style74.xml"/></Relationships>
</file>

<file path=ppt/charts/_rels/chart7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4.xlsx"/><Relationship Id="rId2" Type="http://schemas.microsoft.com/office/2011/relationships/chartColorStyle" Target="colors75.xml"/><Relationship Id="rId1" Type="http://schemas.microsoft.com/office/2011/relationships/chartStyle" Target="style75.xml"/></Relationships>
</file>

<file path=ppt/charts/_rels/chart7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5.xlsx"/><Relationship Id="rId2" Type="http://schemas.microsoft.com/office/2011/relationships/chartColorStyle" Target="colors76.xml"/><Relationship Id="rId1" Type="http://schemas.microsoft.com/office/2011/relationships/chartStyle" Target="style76.xml"/></Relationships>
</file>

<file path=ppt/charts/_rels/chart7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6.xlsx"/><Relationship Id="rId2" Type="http://schemas.microsoft.com/office/2011/relationships/chartColorStyle" Target="colors77.xml"/><Relationship Id="rId1" Type="http://schemas.microsoft.com/office/2011/relationships/chartStyle" Target="style7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CL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Sexo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>
        <c:manualLayout>
          <c:layoutTarget val="inner"/>
          <c:xMode val="edge"/>
          <c:yMode val="edge"/>
          <c:x val="0.2437250291630213"/>
          <c:y val="0.22276104584733825"/>
          <c:w val="0.46393883056284629"/>
          <c:h val="0.56471185951834224"/>
        </c:manualLayout>
      </c:layout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19A2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E3A-4C7D-A204-E84331F9C94D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E3A-4C7D-A204-E84331F9C94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Mujeres</c:v>
                </c:pt>
                <c:pt idx="1">
                  <c:v>Hombres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0.54729347948920781</c:v>
                </c:pt>
                <c:pt idx="1">
                  <c:v>0.45112442083851284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E3A-4C7D-A204-E84331F9C9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69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CL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Jornada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>
        <c:manualLayout>
          <c:layoutTarget val="inner"/>
          <c:xMode val="edge"/>
          <c:yMode val="edge"/>
          <c:x val="0.2437250291630213"/>
          <c:y val="0.22276104584733825"/>
          <c:w val="0.46393883056284629"/>
          <c:h val="0.56471185951834224"/>
        </c:manualLayout>
      </c:layout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19A2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16F-494C-8179-25AFB7FDEBBE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16F-494C-8179-25AFB7FDEBB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Diurna</c:v>
                </c:pt>
                <c:pt idx="1">
                  <c:v>Vespertino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0.73465928353486265</c:v>
                </c:pt>
                <c:pt idx="1">
                  <c:v>0.26477568086789466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16F-494C-8179-25AFB7FDEB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69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CL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Tipo de alumno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>
        <c:manualLayout>
          <c:layoutTarget val="inner"/>
          <c:xMode val="edge"/>
          <c:yMode val="edge"/>
          <c:x val="0.29804100723760052"/>
          <c:y val="0.1662291116218764"/>
          <c:w val="0.46393883056284629"/>
          <c:h val="0.56471185951834224"/>
        </c:manualLayout>
      </c:layout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19A2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77E-4323-9B09-A4AFCD3C5E8B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77E-4323-9B09-A4AFCD3C5E8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77E-4323-9B09-A4AFCD3C5E8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Hoja1!$A$2:$A$4</c:f>
              <c:strCache>
                <c:ptCount val="3"/>
                <c:pt idx="0">
                  <c:v>Inicio</c:v>
                </c:pt>
                <c:pt idx="1">
                  <c:v>Continuidad</c:v>
                </c:pt>
                <c:pt idx="2">
                  <c:v>Admisión especial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0.50378573850152564</c:v>
                </c:pt>
                <c:pt idx="1">
                  <c:v>0.44377895807435869</c:v>
                </c:pt>
                <c:pt idx="2">
                  <c:v>5.2435303424115717E-2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77E-4323-9B09-A4AFCD3C5E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9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9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r>
              <a:rPr lang="es-CL" sz="2000" b="0" dirty="0">
                <a:effectLst/>
              </a:rPr>
              <a:t>Escuelas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n-ea"/>
              <a:cs typeface="+mn-cs"/>
            </a:defRPr>
          </a:pPr>
          <a:endParaRPr lang="es-CL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72C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n-ea"/>
                    <a:cs typeface="+mn-cs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Hoja1!$B$2:$B$10</c:f>
              <c:strCache>
                <c:ptCount val="9"/>
                <c:pt idx="0">
                  <c:v>Administración y Negocios</c:v>
                </c:pt>
                <c:pt idx="1">
                  <c:v>Comunicación</c:v>
                </c:pt>
                <c:pt idx="2">
                  <c:v>Construcción</c:v>
                </c:pt>
                <c:pt idx="3">
                  <c:v>Diseño</c:v>
                </c:pt>
                <c:pt idx="4">
                  <c:v>Gastronomía</c:v>
                </c:pt>
                <c:pt idx="5">
                  <c:v>Informática y Telecomunicaciones</c:v>
                </c:pt>
                <c:pt idx="6">
                  <c:v>Ingeniería, Medio Ambiente y Recursos Naturales</c:v>
                </c:pt>
                <c:pt idx="7">
                  <c:v>Salud y Bienestar</c:v>
                </c:pt>
                <c:pt idx="8">
                  <c:v>Turismo y Hotelería</c:v>
                </c:pt>
              </c:strCache>
            </c:strRef>
          </c:cat>
          <c:val>
            <c:numRef>
              <c:f>Hoja1!$C$2:$C$10</c:f>
              <c:numCache>
                <c:formatCode>0%</c:formatCode>
                <c:ptCount val="9"/>
                <c:pt idx="0">
                  <c:v>0.29879082382190075</c:v>
                </c:pt>
                <c:pt idx="1">
                  <c:v>3.7631370776358912E-2</c:v>
                </c:pt>
                <c:pt idx="2">
                  <c:v>8.1930161600180809E-2</c:v>
                </c:pt>
                <c:pt idx="3">
                  <c:v>4.9158096960108484E-2</c:v>
                </c:pt>
                <c:pt idx="4">
                  <c:v>4.9949146796248164E-2</c:v>
                </c:pt>
                <c:pt idx="5">
                  <c:v>0.15515877500282518</c:v>
                </c:pt>
                <c:pt idx="6">
                  <c:v>0.16453836591705279</c:v>
                </c:pt>
                <c:pt idx="7">
                  <c:v>0.11176404113459149</c:v>
                </c:pt>
                <c:pt idx="8">
                  <c:v>5.1079217990733415E-2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8C-4BEA-B37D-8CA8E97BE8A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800">
          <a:latin typeface="+mj-lt"/>
        </a:defRPr>
      </a:pPr>
      <a:endParaRPr lang="es-CL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dirty="0"/>
              <a:t>Campus y Sedes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72C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Hoja1!$B$2:$B$20</c:f>
              <c:strCache>
                <c:ptCount val="19"/>
                <c:pt idx="0">
                  <c:v>Alameda</c:v>
                </c:pt>
                <c:pt idx="1">
                  <c:v>Antonio Varas</c:v>
                </c:pt>
                <c:pt idx="2">
                  <c:v>Campus Arauco</c:v>
                </c:pt>
                <c:pt idx="3">
                  <c:v>Campus Villarrica</c:v>
                </c:pt>
                <c:pt idx="4">
                  <c:v>Concepción</c:v>
                </c:pt>
                <c:pt idx="5">
                  <c:v>Maipú</c:v>
                </c:pt>
                <c:pt idx="6">
                  <c:v>Melipilla</c:v>
                </c:pt>
                <c:pt idx="7">
                  <c:v>Online</c:v>
                </c:pt>
                <c:pt idx="8">
                  <c:v>Padre Alonso De Ovalle</c:v>
                </c:pt>
                <c:pt idx="9">
                  <c:v>Plaza Norte</c:v>
                </c:pt>
                <c:pt idx="10">
                  <c:v>Plaza Oeste</c:v>
                </c:pt>
                <c:pt idx="11">
                  <c:v>Plaza Vespucio</c:v>
                </c:pt>
                <c:pt idx="12">
                  <c:v>Puente Alto</c:v>
                </c:pt>
                <c:pt idx="13">
                  <c:v>Puerto Montt</c:v>
                </c:pt>
                <c:pt idx="14">
                  <c:v>San Bernardo</c:v>
                </c:pt>
                <c:pt idx="15">
                  <c:v>San Carlos De Apoquindo</c:v>
                </c:pt>
                <c:pt idx="16">
                  <c:v>San Joaquín</c:v>
                </c:pt>
                <c:pt idx="17">
                  <c:v>Valparaíso</c:v>
                </c:pt>
                <c:pt idx="18">
                  <c:v>Viña Del Mar</c:v>
                </c:pt>
              </c:strCache>
            </c:strRef>
          </c:cat>
          <c:val>
            <c:numRef>
              <c:f>Hoja1!$C$2:$C$20</c:f>
              <c:numCache>
                <c:formatCode>0%</c:formatCode>
                <c:ptCount val="19"/>
                <c:pt idx="0">
                  <c:v>3.3111085998417902E-2</c:v>
                </c:pt>
                <c:pt idx="1">
                  <c:v>6.2379929935585943E-2</c:v>
                </c:pt>
                <c:pt idx="2" formatCode="0.0%">
                  <c:v>2.9381851056616568E-3</c:v>
                </c:pt>
                <c:pt idx="3" formatCode="0.0%">
                  <c:v>3.503220702904283E-3</c:v>
                </c:pt>
                <c:pt idx="4">
                  <c:v>2.2149395411910952E-2</c:v>
                </c:pt>
                <c:pt idx="5">
                  <c:v>0.12815007345462764</c:v>
                </c:pt>
                <c:pt idx="6">
                  <c:v>6.4075036727313822E-2</c:v>
                </c:pt>
                <c:pt idx="7">
                  <c:v>0.15</c:v>
                </c:pt>
                <c:pt idx="8">
                  <c:v>0.10012430783139338</c:v>
                </c:pt>
                <c:pt idx="9">
                  <c:v>3.8196406373601534E-2</c:v>
                </c:pt>
                <c:pt idx="10">
                  <c:v>5.6164538365917054E-2</c:v>
                </c:pt>
                <c:pt idx="11">
                  <c:v>3.6840320940219232E-2</c:v>
                </c:pt>
                <c:pt idx="12">
                  <c:v>5.0288168154593742E-2</c:v>
                </c:pt>
                <c:pt idx="13">
                  <c:v>1.2430783139337778E-2</c:v>
                </c:pt>
                <c:pt idx="14">
                  <c:v>4.1360605718160241E-2</c:v>
                </c:pt>
                <c:pt idx="15">
                  <c:v>3.4015142954006101E-2</c:v>
                </c:pt>
                <c:pt idx="16">
                  <c:v>7.5036727313820772E-2</c:v>
                </c:pt>
                <c:pt idx="17">
                  <c:v>0.16589445135043507</c:v>
                </c:pt>
                <c:pt idx="18">
                  <c:v>7.2776584924850271E-2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97-44AE-A7F4-269D5B6FB4F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Hoja1!$B$2:$B$19</c:f>
              <c:strCache>
                <c:ptCount val="18"/>
                <c:pt idx="0">
                  <c:v>Mujer</c:v>
                </c:pt>
                <c:pt idx="1">
                  <c:v>Hombre</c:v>
                </c:pt>
                <c:pt idx="3">
                  <c:v>Diurna</c:v>
                </c:pt>
                <c:pt idx="4">
                  <c:v>Vespertina</c:v>
                </c:pt>
                <c:pt idx="6">
                  <c:v>Inicio</c:v>
                </c:pt>
                <c:pt idx="7">
                  <c:v>Continuidad</c:v>
                </c:pt>
                <c:pt idx="8">
                  <c:v>Admisión especial</c:v>
                </c:pt>
                <c:pt idx="10">
                  <c:v>Administración y Negocios</c:v>
                </c:pt>
                <c:pt idx="11">
                  <c:v>Construcción</c:v>
                </c:pt>
                <c:pt idx="12">
                  <c:v>Diseño</c:v>
                </c:pt>
                <c:pt idx="13">
                  <c:v>Gastronomía</c:v>
                </c:pt>
                <c:pt idx="14">
                  <c:v>Informática y Telecomunicaciones</c:v>
                </c:pt>
                <c:pt idx="15">
                  <c:v>Ingeniería, Medio Ambiente y Recursos Naturales</c:v>
                </c:pt>
                <c:pt idx="16">
                  <c:v>Salud y Bienestar</c:v>
                </c:pt>
                <c:pt idx="17">
                  <c:v>Turismo y Hotelería</c:v>
                </c:pt>
              </c:strCache>
            </c:strRef>
          </c:cat>
          <c:val>
            <c:numRef>
              <c:f>Hoja1!$C$2:$C$19</c:f>
              <c:numCache>
                <c:formatCode>0%</c:formatCode>
                <c:ptCount val="18"/>
                <c:pt idx="0">
                  <c:v>0.17334905660377359</c:v>
                </c:pt>
                <c:pt idx="1">
                  <c:v>0.21527777777777779</c:v>
                </c:pt>
                <c:pt idx="3">
                  <c:v>0.20884146341463414</c:v>
                </c:pt>
                <c:pt idx="4">
                  <c:v>0.17587209302325582</c:v>
                </c:pt>
                <c:pt idx="6">
                  <c:v>0.20416666666666666</c:v>
                </c:pt>
                <c:pt idx="7">
                  <c:v>0.17151162790697674</c:v>
                </c:pt>
                <c:pt idx="8">
                  <c:v>0.2857142857142857</c:v>
                </c:pt>
                <c:pt idx="10">
                  <c:v>0.18541666666666667</c:v>
                </c:pt>
                <c:pt idx="11">
                  <c:v>0.16964285714285715</c:v>
                </c:pt>
                <c:pt idx="12">
                  <c:v>0.25</c:v>
                </c:pt>
                <c:pt idx="13">
                  <c:v>0.15625</c:v>
                </c:pt>
                <c:pt idx="14">
                  <c:v>0.19021739130434784</c:v>
                </c:pt>
                <c:pt idx="15">
                  <c:v>0.22198275862068967</c:v>
                </c:pt>
                <c:pt idx="16">
                  <c:v>0.18303571428571427</c:v>
                </c:pt>
                <c:pt idx="17">
                  <c:v>0.3125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CB-48F1-B16D-CC858EED68F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Hoja1!$B$2:$B$21</c:f>
              <c:strCache>
                <c:ptCount val="20"/>
                <c:pt idx="0">
                  <c:v>Alameda</c:v>
                </c:pt>
                <c:pt idx="1">
                  <c:v>Antonio Varas</c:v>
                </c:pt>
                <c:pt idx="2">
                  <c:v>Campus Arauco</c:v>
                </c:pt>
                <c:pt idx="3">
                  <c:v>Campus Villarrica</c:v>
                </c:pt>
                <c:pt idx="4">
                  <c:v>Comunicaciones</c:v>
                </c:pt>
                <c:pt idx="5">
                  <c:v>Concepción</c:v>
                </c:pt>
                <c:pt idx="6">
                  <c:v>Maipú</c:v>
                </c:pt>
                <c:pt idx="7">
                  <c:v>Melipilla</c:v>
                </c:pt>
                <c:pt idx="8">
                  <c:v>Online</c:v>
                </c:pt>
                <c:pt idx="9">
                  <c:v>Padre Alonso De Ovalle</c:v>
                </c:pt>
                <c:pt idx="10">
                  <c:v>Plaza Norte</c:v>
                </c:pt>
                <c:pt idx="11">
                  <c:v>Plaza Oeste</c:v>
                </c:pt>
                <c:pt idx="12">
                  <c:v>Plaza Vespucio</c:v>
                </c:pt>
                <c:pt idx="13">
                  <c:v>Puente Alto</c:v>
                </c:pt>
                <c:pt idx="14">
                  <c:v>Puerto Montt</c:v>
                </c:pt>
                <c:pt idx="15">
                  <c:v>San Bernardo</c:v>
                </c:pt>
                <c:pt idx="16">
                  <c:v>San Carlos de Apoquindo</c:v>
                </c:pt>
                <c:pt idx="17">
                  <c:v>San Joaquín</c:v>
                </c:pt>
                <c:pt idx="18">
                  <c:v>Valparaíso</c:v>
                </c:pt>
                <c:pt idx="19">
                  <c:v>Viña Del Mar</c:v>
                </c:pt>
              </c:strCache>
            </c:strRef>
          </c:cat>
          <c:val>
            <c:numRef>
              <c:f>Hoja1!$C$2:$C$21</c:f>
              <c:numCache>
                <c:formatCode>0%</c:formatCode>
                <c:ptCount val="20"/>
                <c:pt idx="0">
                  <c:v>3.125E-2</c:v>
                </c:pt>
                <c:pt idx="1">
                  <c:v>0.171875</c:v>
                </c:pt>
                <c:pt idx="2">
                  <c:v>0.1</c:v>
                </c:pt>
                <c:pt idx="3">
                  <c:v>0.25</c:v>
                </c:pt>
                <c:pt idx="4">
                  <c:v>0.25</c:v>
                </c:pt>
                <c:pt idx="5">
                  <c:v>0.1</c:v>
                </c:pt>
                <c:pt idx="6">
                  <c:v>0.26190476190476192</c:v>
                </c:pt>
                <c:pt idx="7">
                  <c:v>0.25892857142857145</c:v>
                </c:pt>
                <c:pt idx="8">
                  <c:v>0.25</c:v>
                </c:pt>
                <c:pt idx="9">
                  <c:v>0.15909090909090909</c:v>
                </c:pt>
                <c:pt idx="10">
                  <c:v>0.28125</c:v>
                </c:pt>
                <c:pt idx="11">
                  <c:v>0.125</c:v>
                </c:pt>
                <c:pt idx="12">
                  <c:v>8.3333333333333329E-2</c:v>
                </c:pt>
                <c:pt idx="13">
                  <c:v>0.21249999999999999</c:v>
                </c:pt>
                <c:pt idx="14">
                  <c:v>0.25</c:v>
                </c:pt>
                <c:pt idx="15">
                  <c:v>0.22916666666666666</c:v>
                </c:pt>
                <c:pt idx="16">
                  <c:v>0.25</c:v>
                </c:pt>
                <c:pt idx="17">
                  <c:v>0.15625</c:v>
                </c:pt>
                <c:pt idx="18">
                  <c:v>0.20535714285714285</c:v>
                </c:pt>
                <c:pt idx="19">
                  <c:v>0.16145833333333334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5C-422B-932E-773831900C6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Masculino</c:v>
                </c:pt>
              </c:strCache>
            </c:strRef>
          </c:tx>
          <c:spPr>
            <a:solidFill>
              <a:srgbClr val="00223A"/>
            </a:solidFill>
            <a:ln>
              <a:solidFill>
                <a:srgbClr val="00223A"/>
              </a:solidFill>
            </a:ln>
            <a:effectLst/>
          </c:spPr>
          <c:invertIfNegative val="0"/>
          <c:cat>
            <c:strRef>
              <c:f>Hoja1!$A$2:$A$23</c:f>
              <c:strCache>
                <c:ptCount val="22"/>
                <c:pt idx="0">
                  <c:v>Experiencias de discriminación en Duoc UC</c:v>
                </c:pt>
                <c:pt idx="1">
                  <c:v>Problemas en la relación con profesores</c:v>
                </c:pt>
                <c:pt idx="2">
                  <c:v>Panorama político internacional o cambios en el mundo</c:v>
                </c:pt>
                <c:pt idx="3">
                  <c:v>Espacios de clase no adecuados en Duoc UC</c:v>
                </c:pt>
                <c:pt idx="4">
                  <c:v>Recursos de la universidad poco actualizados</c:v>
                </c:pt>
                <c:pt idx="5">
                  <c:v>Problemas en la relación con compañeros</c:v>
                </c:pt>
                <c:pt idx="6">
                  <c:v>Duelos/pérdidas</c:v>
                </c:pt>
                <c:pt idx="7">
                  <c:v>Problemas de salud de un ser querido</c:v>
                </c:pt>
                <c:pt idx="8">
                  <c:v>Aislamiento</c:v>
                </c:pt>
                <c:pt idx="9">
                  <c:v>Crisis climática y desastres naturales</c:v>
                </c:pt>
                <c:pt idx="10">
                  <c:v>Problemas de inseguridad en tu barrio</c:v>
                </c:pt>
                <c:pt idx="11">
                  <c:v>Carga académica exigente</c:v>
                </c:pt>
                <c:pt idx="12">
                  <c:v>Panorama político y social del país</c:v>
                </c:pt>
                <c:pt idx="13">
                  <c:v>Problemas de inseguridad al entrar y salir de la sede (delincuencia)</c:v>
                </c:pt>
                <c:pt idx="14">
                  <c:v>Problemas en relación sentimental</c:v>
                </c:pt>
                <c:pt idx="15">
                  <c:v>Dificultad para compatibilizar trabajo y estudios</c:v>
                </c:pt>
                <c:pt idx="16">
                  <c:v>Dificultades de transporte y desplazamiento </c:v>
                </c:pt>
                <c:pt idx="17">
                  <c:v>Problemas de salud personales</c:v>
                </c:pt>
                <c:pt idx="18">
                  <c:v>Futuro laboral</c:v>
                </c:pt>
                <c:pt idx="19">
                  <c:v>Problemas en relaciones familiares</c:v>
                </c:pt>
                <c:pt idx="20">
                  <c:v>Situación económica compleja</c:v>
                </c:pt>
                <c:pt idx="21">
                  <c:v>Problemas de autoestima</c:v>
                </c:pt>
              </c:strCache>
            </c:strRef>
          </c:cat>
          <c:val>
            <c:numRef>
              <c:f>Hoja1!$B$2:$B$23</c:f>
              <c:numCache>
                <c:formatCode>0%</c:formatCode>
                <c:ptCount val="22"/>
                <c:pt idx="0">
                  <c:v>0.02</c:v>
                </c:pt>
                <c:pt idx="1">
                  <c:v>0.05</c:v>
                </c:pt>
                <c:pt idx="2">
                  <c:v>0.06</c:v>
                </c:pt>
                <c:pt idx="3">
                  <c:v>0.09</c:v>
                </c:pt>
                <c:pt idx="4">
                  <c:v>0.09</c:v>
                </c:pt>
                <c:pt idx="5">
                  <c:v>9.3985540686048294E-2</c:v>
                </c:pt>
                <c:pt idx="6">
                  <c:v>0.1333640978311029</c:v>
                </c:pt>
                <c:pt idx="7">
                  <c:v>0.15597600369173972</c:v>
                </c:pt>
                <c:pt idx="8">
                  <c:v>0.18566374403937855</c:v>
                </c:pt>
                <c:pt idx="9">
                  <c:v>0.19</c:v>
                </c:pt>
                <c:pt idx="10">
                  <c:v>0.16766651284417783</c:v>
                </c:pt>
                <c:pt idx="11">
                  <c:v>0.18335640670666051</c:v>
                </c:pt>
                <c:pt idx="12">
                  <c:v>0.18581756652822642</c:v>
                </c:pt>
                <c:pt idx="13">
                  <c:v>0.20996769727734194</c:v>
                </c:pt>
                <c:pt idx="14">
                  <c:v>0.24334717735732964</c:v>
                </c:pt>
                <c:pt idx="15">
                  <c:v>0.20243039532379634</c:v>
                </c:pt>
                <c:pt idx="16">
                  <c:v>0.26149823104137826</c:v>
                </c:pt>
                <c:pt idx="17">
                  <c:v>0.28164897708044917</c:v>
                </c:pt>
                <c:pt idx="18">
                  <c:v>0.31441316720504536</c:v>
                </c:pt>
                <c:pt idx="19">
                  <c:v>0.34425473004153206</c:v>
                </c:pt>
                <c:pt idx="20">
                  <c:v>0.39855406860483</c:v>
                </c:pt>
                <c:pt idx="21">
                  <c:v>0.51099830795262269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F0-4F67-B5F6-64488193F498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Femenino</c:v>
                </c:pt>
              </c:strCache>
            </c:strRef>
          </c:tx>
          <c:spPr>
            <a:solidFill>
              <a:srgbClr val="F8961E"/>
            </a:solidFill>
            <a:ln>
              <a:solidFill>
                <a:srgbClr val="F8961E"/>
              </a:solidFill>
            </a:ln>
            <a:effectLst/>
          </c:spPr>
          <c:invertIfNegative val="0"/>
          <c:cat>
            <c:strRef>
              <c:f>Hoja1!$A$2:$A$23</c:f>
              <c:strCache>
                <c:ptCount val="22"/>
                <c:pt idx="0">
                  <c:v>Experiencias de discriminación en Duoc UC</c:v>
                </c:pt>
                <c:pt idx="1">
                  <c:v>Problemas en la relación con profesores</c:v>
                </c:pt>
                <c:pt idx="2">
                  <c:v>Panorama político internacional o cambios en el mundo</c:v>
                </c:pt>
                <c:pt idx="3">
                  <c:v>Espacios de clase no adecuados en Duoc UC</c:v>
                </c:pt>
                <c:pt idx="4">
                  <c:v>Recursos de la universidad poco actualizados</c:v>
                </c:pt>
                <c:pt idx="5">
                  <c:v>Problemas en la relación con compañeros</c:v>
                </c:pt>
                <c:pt idx="6">
                  <c:v>Duelos/pérdidas</c:v>
                </c:pt>
                <c:pt idx="7">
                  <c:v>Problemas de salud de un ser querido</c:v>
                </c:pt>
                <c:pt idx="8">
                  <c:v>Aislamiento</c:v>
                </c:pt>
                <c:pt idx="9">
                  <c:v>Crisis climática y desastres naturales</c:v>
                </c:pt>
                <c:pt idx="10">
                  <c:v>Problemas de inseguridad en tu barrio</c:v>
                </c:pt>
                <c:pt idx="11">
                  <c:v>Carga académica exigente</c:v>
                </c:pt>
                <c:pt idx="12">
                  <c:v>Panorama político y social del país</c:v>
                </c:pt>
                <c:pt idx="13">
                  <c:v>Problemas de inseguridad al entrar y salir de la sede (delincuencia)</c:v>
                </c:pt>
                <c:pt idx="14">
                  <c:v>Problemas en relación sentimental</c:v>
                </c:pt>
                <c:pt idx="15">
                  <c:v>Dificultad para compatibilizar trabajo y estudios</c:v>
                </c:pt>
                <c:pt idx="16">
                  <c:v>Dificultades de transporte y desplazamiento </c:v>
                </c:pt>
                <c:pt idx="17">
                  <c:v>Problemas de salud personales</c:v>
                </c:pt>
                <c:pt idx="18">
                  <c:v>Futuro laboral</c:v>
                </c:pt>
                <c:pt idx="19">
                  <c:v>Problemas en relaciones familiares</c:v>
                </c:pt>
                <c:pt idx="20">
                  <c:v>Situación económica compleja</c:v>
                </c:pt>
                <c:pt idx="21">
                  <c:v>Problemas de autoestima</c:v>
                </c:pt>
              </c:strCache>
            </c:strRef>
          </c:cat>
          <c:val>
            <c:numRef>
              <c:f>Hoja1!$C$2:$C$23</c:f>
              <c:numCache>
                <c:formatCode>0%</c:formatCode>
                <c:ptCount val="22"/>
                <c:pt idx="0">
                  <c:v>0</c:v>
                </c:pt>
                <c:pt idx="1">
                  <c:v>3.0000000000000002E-2</c:v>
                </c:pt>
                <c:pt idx="2">
                  <c:v>0.08</c:v>
                </c:pt>
                <c:pt idx="3">
                  <c:v>6.9999999999999993E-2</c:v>
                </c:pt>
                <c:pt idx="4">
                  <c:v>3.9999999999999994E-2</c:v>
                </c:pt>
                <c:pt idx="5">
                  <c:v>4.3985540686048291E-2</c:v>
                </c:pt>
                <c:pt idx="6">
                  <c:v>8.3364097831102893E-2</c:v>
                </c:pt>
                <c:pt idx="7">
                  <c:v>0.10597600369173972</c:v>
                </c:pt>
                <c:pt idx="8">
                  <c:v>0.13566374403937853</c:v>
                </c:pt>
                <c:pt idx="9">
                  <c:v>0.14000000000000001</c:v>
                </c:pt>
                <c:pt idx="10">
                  <c:v>0.11766651284417783</c:v>
                </c:pt>
                <c:pt idx="11">
                  <c:v>8.3356406706660502E-2</c:v>
                </c:pt>
                <c:pt idx="12">
                  <c:v>8.5817566528226419E-2</c:v>
                </c:pt>
                <c:pt idx="13">
                  <c:v>0.10996769727734193</c:v>
                </c:pt>
                <c:pt idx="14">
                  <c:v>0.14334717735732963</c:v>
                </c:pt>
                <c:pt idx="15">
                  <c:v>0.10243039532379633</c:v>
                </c:pt>
                <c:pt idx="16">
                  <c:v>0.16149823104137825</c:v>
                </c:pt>
                <c:pt idx="17">
                  <c:v>0.18164897708044916</c:v>
                </c:pt>
                <c:pt idx="18">
                  <c:v>0.21441316720504536</c:v>
                </c:pt>
                <c:pt idx="19">
                  <c:v>0.24425473004153206</c:v>
                </c:pt>
                <c:pt idx="20">
                  <c:v>0.29855406860483003</c:v>
                </c:pt>
                <c:pt idx="21">
                  <c:v>0.41099830795262271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1F0-4F67-B5F6-64488193F4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29858015"/>
        <c:axId val="1429862591"/>
      </c:barChart>
      <c:catAx>
        <c:axId val="14298580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pPr>
            <a:endParaRPr lang="es-CL"/>
          </a:p>
        </c:txPr>
        <c:crossAx val="1429862591"/>
        <c:crosses val="autoZero"/>
        <c:auto val="1"/>
        <c:lblAlgn val="ctr"/>
        <c:lblOffset val="100"/>
        <c:noMultiLvlLbl val="0"/>
      </c:catAx>
      <c:valAx>
        <c:axId val="142986259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4298580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Diurno</c:v>
                </c:pt>
              </c:strCache>
            </c:strRef>
          </c:tx>
          <c:spPr>
            <a:solidFill>
              <a:srgbClr val="00223A"/>
            </a:solidFill>
            <a:ln>
              <a:solidFill>
                <a:srgbClr val="00223A"/>
              </a:solidFill>
            </a:ln>
            <a:effectLst/>
          </c:spPr>
          <c:invertIfNegative val="0"/>
          <c:cat>
            <c:strRef>
              <c:f>Hoja1!$A$2:$A$23</c:f>
              <c:strCache>
                <c:ptCount val="22"/>
                <c:pt idx="0">
                  <c:v>Experiencias de discriminación en Duoc UC</c:v>
                </c:pt>
                <c:pt idx="1">
                  <c:v>Problemas en la relación con profesores</c:v>
                </c:pt>
                <c:pt idx="2">
                  <c:v>Panorama político internacional o cambios en el mundo</c:v>
                </c:pt>
                <c:pt idx="3">
                  <c:v>Espacios de clase no adecuados en Duoc UC</c:v>
                </c:pt>
                <c:pt idx="4">
                  <c:v>Recursos de la universidad poco actualizados</c:v>
                </c:pt>
                <c:pt idx="5">
                  <c:v>Problemas en la relación con compañeros</c:v>
                </c:pt>
                <c:pt idx="6">
                  <c:v>Duelos/pérdidas</c:v>
                </c:pt>
                <c:pt idx="7">
                  <c:v>Problemas de salud de un ser querido</c:v>
                </c:pt>
                <c:pt idx="8">
                  <c:v>Aislamiento</c:v>
                </c:pt>
                <c:pt idx="9">
                  <c:v>Crisis climática y desastres naturales</c:v>
                </c:pt>
                <c:pt idx="10">
                  <c:v>Problemas de inseguridad en tu barrio</c:v>
                </c:pt>
                <c:pt idx="11">
                  <c:v>Carga académica exigente</c:v>
                </c:pt>
                <c:pt idx="12">
                  <c:v>Panorama político y social del país</c:v>
                </c:pt>
                <c:pt idx="13">
                  <c:v>Problemas de inseguridad al entrar y salir de la sede (delincuencia)</c:v>
                </c:pt>
                <c:pt idx="14">
                  <c:v>Problemas en relación sentimental</c:v>
                </c:pt>
                <c:pt idx="15">
                  <c:v>Dificultad para compatibilizar trabajo y estudios</c:v>
                </c:pt>
                <c:pt idx="16">
                  <c:v>Dificultades de transporte y desplazamiento </c:v>
                </c:pt>
                <c:pt idx="17">
                  <c:v>Problemas de salud personales</c:v>
                </c:pt>
                <c:pt idx="18">
                  <c:v>Futuro laboral</c:v>
                </c:pt>
                <c:pt idx="19">
                  <c:v>Problemas en relaciones familiares</c:v>
                </c:pt>
                <c:pt idx="20">
                  <c:v>Situación económica compleja</c:v>
                </c:pt>
                <c:pt idx="21">
                  <c:v>Problemas de autoestima</c:v>
                </c:pt>
              </c:strCache>
            </c:strRef>
          </c:cat>
          <c:val>
            <c:numRef>
              <c:f>Hoja1!$B$2:$B$23</c:f>
              <c:numCache>
                <c:formatCode>0%</c:formatCode>
                <c:ptCount val="22"/>
                <c:pt idx="0">
                  <c:v>0.02</c:v>
                </c:pt>
                <c:pt idx="1">
                  <c:v>0.05</c:v>
                </c:pt>
                <c:pt idx="2">
                  <c:v>0.06</c:v>
                </c:pt>
                <c:pt idx="3">
                  <c:v>0.09</c:v>
                </c:pt>
                <c:pt idx="4">
                  <c:v>0.09</c:v>
                </c:pt>
                <c:pt idx="5">
                  <c:v>0.22</c:v>
                </c:pt>
                <c:pt idx="6">
                  <c:v>0.1333640978311029</c:v>
                </c:pt>
                <c:pt idx="7">
                  <c:v>0.15597600369173972</c:v>
                </c:pt>
                <c:pt idx="8">
                  <c:v>0.18566374403937855</c:v>
                </c:pt>
                <c:pt idx="9">
                  <c:v>0.19</c:v>
                </c:pt>
                <c:pt idx="10">
                  <c:v>0.16766651284417783</c:v>
                </c:pt>
                <c:pt idx="11">
                  <c:v>0.08</c:v>
                </c:pt>
                <c:pt idx="12">
                  <c:v>0.18581756652822642</c:v>
                </c:pt>
                <c:pt idx="13">
                  <c:v>0.15</c:v>
                </c:pt>
                <c:pt idx="14">
                  <c:v>0.24334717735732964</c:v>
                </c:pt>
                <c:pt idx="15">
                  <c:v>0.20243039532379634</c:v>
                </c:pt>
                <c:pt idx="16">
                  <c:v>0.14000000000000001</c:v>
                </c:pt>
                <c:pt idx="17">
                  <c:v>0.12</c:v>
                </c:pt>
                <c:pt idx="18">
                  <c:v>0.31441316720504536</c:v>
                </c:pt>
                <c:pt idx="19">
                  <c:v>0.34425473004153206</c:v>
                </c:pt>
                <c:pt idx="20">
                  <c:v>0.39855406860483</c:v>
                </c:pt>
                <c:pt idx="21">
                  <c:v>0.45099830795262302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F0-4F67-B5F6-64488193F498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Vespertino</c:v>
                </c:pt>
              </c:strCache>
            </c:strRef>
          </c:tx>
          <c:spPr>
            <a:solidFill>
              <a:srgbClr val="F8961E"/>
            </a:solidFill>
            <a:ln>
              <a:solidFill>
                <a:srgbClr val="F8961E"/>
              </a:solidFill>
            </a:ln>
            <a:effectLst/>
          </c:spPr>
          <c:invertIfNegative val="0"/>
          <c:cat>
            <c:strRef>
              <c:f>Hoja1!$A$2:$A$23</c:f>
              <c:strCache>
                <c:ptCount val="22"/>
                <c:pt idx="0">
                  <c:v>Experiencias de discriminación en Duoc UC</c:v>
                </c:pt>
                <c:pt idx="1">
                  <c:v>Problemas en la relación con profesores</c:v>
                </c:pt>
                <c:pt idx="2">
                  <c:v>Panorama político internacional o cambios en el mundo</c:v>
                </c:pt>
                <c:pt idx="3">
                  <c:v>Espacios de clase no adecuados en Duoc UC</c:v>
                </c:pt>
                <c:pt idx="4">
                  <c:v>Recursos de la universidad poco actualizados</c:v>
                </c:pt>
                <c:pt idx="5">
                  <c:v>Problemas en la relación con compañeros</c:v>
                </c:pt>
                <c:pt idx="6">
                  <c:v>Duelos/pérdidas</c:v>
                </c:pt>
                <c:pt idx="7">
                  <c:v>Problemas de salud de un ser querido</c:v>
                </c:pt>
                <c:pt idx="8">
                  <c:v>Aislamiento</c:v>
                </c:pt>
                <c:pt idx="9">
                  <c:v>Crisis climática y desastres naturales</c:v>
                </c:pt>
                <c:pt idx="10">
                  <c:v>Problemas de inseguridad en tu barrio</c:v>
                </c:pt>
                <c:pt idx="11">
                  <c:v>Carga académica exigente</c:v>
                </c:pt>
                <c:pt idx="12">
                  <c:v>Panorama político y social del país</c:v>
                </c:pt>
                <c:pt idx="13">
                  <c:v>Problemas de inseguridad al entrar y salir de la sede (delincuencia)</c:v>
                </c:pt>
                <c:pt idx="14">
                  <c:v>Problemas en relación sentimental</c:v>
                </c:pt>
                <c:pt idx="15">
                  <c:v>Dificultad para compatibilizar trabajo y estudios</c:v>
                </c:pt>
                <c:pt idx="16">
                  <c:v>Dificultades de transporte y desplazamiento </c:v>
                </c:pt>
                <c:pt idx="17">
                  <c:v>Problemas de salud personales</c:v>
                </c:pt>
                <c:pt idx="18">
                  <c:v>Futuro laboral</c:v>
                </c:pt>
                <c:pt idx="19">
                  <c:v>Problemas en relaciones familiares</c:v>
                </c:pt>
                <c:pt idx="20">
                  <c:v>Situación económica compleja</c:v>
                </c:pt>
                <c:pt idx="21">
                  <c:v>Problemas de autoestima</c:v>
                </c:pt>
              </c:strCache>
            </c:strRef>
          </c:cat>
          <c:val>
            <c:numRef>
              <c:f>Hoja1!$C$2:$C$23</c:f>
              <c:numCache>
                <c:formatCode>0%</c:formatCode>
                <c:ptCount val="22"/>
                <c:pt idx="0">
                  <c:v>0</c:v>
                </c:pt>
                <c:pt idx="1">
                  <c:v>3.0000000000000002E-2</c:v>
                </c:pt>
                <c:pt idx="2">
                  <c:v>0.08</c:v>
                </c:pt>
                <c:pt idx="3">
                  <c:v>6.9999999999999993E-2</c:v>
                </c:pt>
                <c:pt idx="4">
                  <c:v>3.9999999999999994E-2</c:v>
                </c:pt>
                <c:pt idx="5">
                  <c:v>0.16999999999999998</c:v>
                </c:pt>
                <c:pt idx="6">
                  <c:v>8.3364097831102893E-2</c:v>
                </c:pt>
                <c:pt idx="7">
                  <c:v>0.10597600369173972</c:v>
                </c:pt>
                <c:pt idx="8">
                  <c:v>0.13566374403937853</c:v>
                </c:pt>
                <c:pt idx="9">
                  <c:v>0.14000000000000001</c:v>
                </c:pt>
                <c:pt idx="10">
                  <c:v>0.11766651284417783</c:v>
                </c:pt>
                <c:pt idx="11">
                  <c:v>-2.0000000000000004E-2</c:v>
                </c:pt>
                <c:pt idx="12">
                  <c:v>8.5817566528226419E-2</c:v>
                </c:pt>
                <c:pt idx="13">
                  <c:v>4.9999999999999989E-2</c:v>
                </c:pt>
                <c:pt idx="14">
                  <c:v>0.14334717735732963</c:v>
                </c:pt>
                <c:pt idx="15">
                  <c:v>0.10243039532379633</c:v>
                </c:pt>
                <c:pt idx="16">
                  <c:v>4.0000000000000008E-2</c:v>
                </c:pt>
                <c:pt idx="17">
                  <c:v>1.999999999999999E-2</c:v>
                </c:pt>
                <c:pt idx="18">
                  <c:v>0.21441316720504536</c:v>
                </c:pt>
                <c:pt idx="19">
                  <c:v>0.24425473004153206</c:v>
                </c:pt>
                <c:pt idx="20">
                  <c:v>0.29855406860483003</c:v>
                </c:pt>
                <c:pt idx="21">
                  <c:v>0.43099830795262301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1F0-4F67-B5F6-64488193F4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29858015"/>
        <c:axId val="1429862591"/>
      </c:barChart>
      <c:catAx>
        <c:axId val="14298580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pPr>
            <a:endParaRPr lang="es-CL"/>
          </a:p>
        </c:txPr>
        <c:crossAx val="1429862591"/>
        <c:crosses val="autoZero"/>
        <c:auto val="1"/>
        <c:lblAlgn val="ctr"/>
        <c:lblOffset val="100"/>
        <c:noMultiLvlLbl val="0"/>
      </c:catAx>
      <c:valAx>
        <c:axId val="142986259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4298580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¿Cuáles de las siguientes razones explican que la carga académica </a:t>
            </a:r>
          </a:p>
          <a:p>
            <a:pPr>
              <a:defRPr sz="1600">
                <a:latin typeface="Calibri Light" panose="020F0302020204030204" pitchFamily="34" charset="0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te resulte exigente?</a:t>
            </a:r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Otro</c:v>
                </c:pt>
                <c:pt idx="1">
                  <c:v>Mi trabajo me quita más tiempo del que desearía</c:v>
                </c:pt>
                <c:pt idx="2">
                  <c:v>Me faltan hábitos de estudio</c:v>
                </c:pt>
                <c:pt idx="3">
                  <c:v>Tengo dificultades para entender la materia</c:v>
                </c:pt>
                <c:pt idx="4">
                  <c:v>Tengo muchas responsabilidades en el hogar</c:v>
                </c:pt>
                <c:pt idx="5">
                  <c:v>Tengo dificultades para concentrarme</c:v>
                </c:pt>
              </c:strCache>
            </c:strRef>
          </c:cat>
          <c:val>
            <c:numRef>
              <c:f>Hoja1!$B$2:$B$7</c:f>
              <c:numCache>
                <c:formatCode>0%</c:formatCode>
                <c:ptCount val="6"/>
                <c:pt idx="0">
                  <c:v>0.20489296636085627</c:v>
                </c:pt>
                <c:pt idx="1">
                  <c:v>0.28728606356968217</c:v>
                </c:pt>
                <c:pt idx="2">
                  <c:v>0.36552567237163813</c:v>
                </c:pt>
                <c:pt idx="3">
                  <c:v>0.38630806845965771</c:v>
                </c:pt>
                <c:pt idx="4">
                  <c:v>0.41136919315403425</c:v>
                </c:pt>
                <c:pt idx="5">
                  <c:v>0.55317848410757942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43-4A2B-87BC-A89F99D0E1C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Inicio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Otro</c:v>
                </c:pt>
                <c:pt idx="1">
                  <c:v>Me faltan hábitos de estudio</c:v>
                </c:pt>
                <c:pt idx="2">
                  <c:v>Tengo dificultades para concentrarme</c:v>
                </c:pt>
                <c:pt idx="3">
                  <c:v>Tengo dificultades para entender la materia</c:v>
                </c:pt>
                <c:pt idx="4">
                  <c:v>Tengo muchas responsabilidades en el hogar</c:v>
                </c:pt>
                <c:pt idx="5">
                  <c:v>Mi trabajo me quita más tiempo del que desearía</c:v>
                </c:pt>
              </c:strCache>
            </c:strRef>
          </c:cat>
          <c:val>
            <c:numRef>
              <c:f>Hoja1!$B$2:$B$7</c:f>
              <c:numCache>
                <c:formatCode>0%</c:formatCode>
                <c:ptCount val="6"/>
                <c:pt idx="0">
                  <c:v>0.14453781512605043</c:v>
                </c:pt>
                <c:pt idx="1">
                  <c:v>0.46386554621848741</c:v>
                </c:pt>
                <c:pt idx="2">
                  <c:v>0.59663865546218486</c:v>
                </c:pt>
                <c:pt idx="3">
                  <c:v>0.49411764705882355</c:v>
                </c:pt>
                <c:pt idx="4">
                  <c:v>0.35798319327731093</c:v>
                </c:pt>
                <c:pt idx="5">
                  <c:v>0.25714285714285712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43-4A2B-87BC-A89F99D0E1C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Continuidad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Otro</c:v>
                </c:pt>
                <c:pt idx="1">
                  <c:v>Me faltan hábitos de estudio</c:v>
                </c:pt>
                <c:pt idx="2">
                  <c:v>Tengo dificultades para concentrarme</c:v>
                </c:pt>
                <c:pt idx="3">
                  <c:v>Tengo dificultades para entender la materia</c:v>
                </c:pt>
                <c:pt idx="4">
                  <c:v>Tengo muchas responsabilidades en el hogar</c:v>
                </c:pt>
                <c:pt idx="5">
                  <c:v>Mi trabajo me quita más tiempo del que desearía</c:v>
                </c:pt>
              </c:strCache>
            </c:strRef>
          </c:cat>
          <c:val>
            <c:numRef>
              <c:f>Hoja1!$B$2:$B$7</c:f>
              <c:numCache>
                <c:formatCode>0%</c:formatCode>
                <c:ptCount val="6"/>
                <c:pt idx="0">
                  <c:v>0.24574468085106382</c:v>
                </c:pt>
                <c:pt idx="1">
                  <c:v>0.30531914893617024</c:v>
                </c:pt>
                <c:pt idx="2">
                  <c:v>0.51702127659574471</c:v>
                </c:pt>
                <c:pt idx="3">
                  <c:v>0.3202127659574468</c:v>
                </c:pt>
                <c:pt idx="4">
                  <c:v>0.43829787234042555</c:v>
                </c:pt>
                <c:pt idx="5">
                  <c:v>0.30106382978723406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40-452D-8DBF-0EDCDE95018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Admisión especial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Otro</c:v>
                </c:pt>
                <c:pt idx="1">
                  <c:v>Me faltan hábitos de estudio</c:v>
                </c:pt>
                <c:pt idx="2">
                  <c:v>Tengo dificultades para concentrarme</c:v>
                </c:pt>
                <c:pt idx="3">
                  <c:v>Tengo dificultades para entender la materia</c:v>
                </c:pt>
                <c:pt idx="4">
                  <c:v>Tengo muchas responsabilidades en el hogar</c:v>
                </c:pt>
                <c:pt idx="5">
                  <c:v>Mi trabajo me quita más tiempo del que desearía</c:v>
                </c:pt>
              </c:strCache>
            </c:strRef>
          </c:cat>
          <c:val>
            <c:numRef>
              <c:f>Hoja1!$B$2:$B$7</c:f>
              <c:numCache>
                <c:formatCode>0%</c:formatCode>
                <c:ptCount val="6"/>
                <c:pt idx="0">
                  <c:v>0.17821782178217821</c:v>
                </c:pt>
                <c:pt idx="1">
                  <c:v>0.34653465346534651</c:v>
                </c:pt>
                <c:pt idx="2">
                  <c:v>0.63366336633663367</c:v>
                </c:pt>
                <c:pt idx="3">
                  <c:v>0.36633663366336633</c:v>
                </c:pt>
                <c:pt idx="4">
                  <c:v>0.47524752475247523</c:v>
                </c:pt>
                <c:pt idx="5">
                  <c:v>0.33663366336633666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EF-4BB7-B3BC-20A7CF2829F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¿Cuáles de las siguientes situaciones presentan un problema que te afecte actualmente? (marca todas las que apliquen)</a:t>
            </a:r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>
                <a:alpha val="74902"/>
              </a:srgb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2FF-4693-967B-B77EDD10012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2FF-4693-967B-B77EDD100121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2FF-4693-967B-B77EDD100121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A2FF-4693-967B-B77EDD100121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A2FF-4693-967B-B77EDD100121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A2FF-4693-967B-B77EDD100121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A2FF-4693-967B-B77EDD100121}"/>
              </c:ext>
            </c:extLst>
          </c:dPt>
          <c:dPt>
            <c:idx val="14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0E04-4ABE-8F43-686DF35E780A}"/>
              </c:ext>
            </c:extLst>
          </c:dPt>
          <c:dPt>
            <c:idx val="15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E04-4ABE-8F43-686DF35E780A}"/>
              </c:ext>
            </c:extLst>
          </c:dPt>
          <c:dPt>
            <c:idx val="16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0E04-4ABE-8F43-686DF35E780A}"/>
              </c:ext>
            </c:extLst>
          </c:dPt>
          <c:dPt>
            <c:idx val="17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E04-4ABE-8F43-686DF35E780A}"/>
              </c:ext>
            </c:extLst>
          </c:dPt>
          <c:dPt>
            <c:idx val="18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0E04-4ABE-8F43-686DF35E780A}"/>
              </c:ext>
            </c:extLst>
          </c:dPt>
          <c:dPt>
            <c:idx val="19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E04-4ABE-8F43-686DF35E780A}"/>
              </c:ext>
            </c:extLst>
          </c:dPt>
          <c:dPt>
            <c:idx val="20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0E04-4ABE-8F43-686DF35E780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Hoja1!$A$2:$A$22</c:f>
              <c:strCache>
                <c:ptCount val="21"/>
                <c:pt idx="0">
                  <c:v>Experiencias de discriminación en Duoc UC</c:v>
                </c:pt>
                <c:pt idx="1">
                  <c:v>Problemas en la relación con profesores</c:v>
                </c:pt>
                <c:pt idx="2">
                  <c:v>Espacios de clase no adecuados en Duoc UC</c:v>
                </c:pt>
                <c:pt idx="3">
                  <c:v>Problemas relacionados con la pandemia (COVID)</c:v>
                </c:pt>
                <c:pt idx="4">
                  <c:v>Recursos de la universidad poco actualizados</c:v>
                </c:pt>
                <c:pt idx="5">
                  <c:v>Problemas en la relación con compañeros</c:v>
                </c:pt>
                <c:pt idx="6">
                  <c:v>Duelos/pérdidas</c:v>
                </c:pt>
                <c:pt idx="7">
                  <c:v>Problemas de salud de un ser querido</c:v>
                </c:pt>
                <c:pt idx="8">
                  <c:v>Aislamiento</c:v>
                </c:pt>
                <c:pt idx="9">
                  <c:v>Problemas de inseguridad en tu barrio</c:v>
                </c:pt>
                <c:pt idx="10">
                  <c:v>Carga académica exigente</c:v>
                </c:pt>
                <c:pt idx="11">
                  <c:v>Panorama político y social del país</c:v>
                </c:pt>
                <c:pt idx="12">
                  <c:v>Problemas de inseguridad al entrar y salir de la sede (delincuencia)</c:v>
                </c:pt>
                <c:pt idx="13">
                  <c:v>Problemas en relación sentimental</c:v>
                </c:pt>
                <c:pt idx="14">
                  <c:v>Dificultad para compatibilizar trabajo y estudios</c:v>
                </c:pt>
                <c:pt idx="15">
                  <c:v>Dificultades de transporte y desplazamiento</c:v>
                </c:pt>
                <c:pt idx="16">
                  <c:v>Problemas de salud personales</c:v>
                </c:pt>
                <c:pt idx="17">
                  <c:v>Futuro laboral</c:v>
                </c:pt>
                <c:pt idx="18">
                  <c:v>Problemas en relaciones familiares</c:v>
                </c:pt>
                <c:pt idx="19">
                  <c:v>Situación económica compleja</c:v>
                </c:pt>
                <c:pt idx="20">
                  <c:v>Problemas de autoestima</c:v>
                </c:pt>
              </c:strCache>
            </c:strRef>
          </c:cat>
          <c:val>
            <c:numRef>
              <c:f>Hoja1!$B$2:$B$22</c:f>
              <c:numCache>
                <c:formatCode>0%</c:formatCode>
                <c:ptCount val="21"/>
                <c:pt idx="0">
                  <c:v>1.0170640750367273E-2</c:v>
                </c:pt>
                <c:pt idx="1">
                  <c:v>3.3676121595660524E-2</c:v>
                </c:pt>
                <c:pt idx="2">
                  <c:v>3.9778506045880888E-2</c:v>
                </c:pt>
                <c:pt idx="3">
                  <c:v>6.8482314385806306E-2</c:v>
                </c:pt>
                <c:pt idx="4">
                  <c:v>7.3115606283195841E-2</c:v>
                </c:pt>
                <c:pt idx="5">
                  <c:v>8.4981353825290998E-2</c:v>
                </c:pt>
                <c:pt idx="6">
                  <c:v>0.12837608769352468</c:v>
                </c:pt>
                <c:pt idx="7">
                  <c:v>0.15493276076392812</c:v>
                </c:pt>
                <c:pt idx="8">
                  <c:v>0.16917165781444232</c:v>
                </c:pt>
                <c:pt idx="9">
                  <c:v>0.17866425584811843</c:v>
                </c:pt>
                <c:pt idx="10">
                  <c:v>0.18487964741778731</c:v>
                </c:pt>
                <c:pt idx="11">
                  <c:v>0.18804384676234603</c:v>
                </c:pt>
                <c:pt idx="12">
                  <c:v>0.22443213922477115</c:v>
                </c:pt>
                <c:pt idx="13">
                  <c:v>0.23403774437789582</c:v>
                </c:pt>
                <c:pt idx="14">
                  <c:v>0.257317210984292</c:v>
                </c:pt>
                <c:pt idx="15">
                  <c:v>0.27336422194598259</c:v>
                </c:pt>
                <c:pt idx="16">
                  <c:v>0.27698044976833541</c:v>
                </c:pt>
                <c:pt idx="17">
                  <c:v>0.30263306588315064</c:v>
                </c:pt>
                <c:pt idx="18">
                  <c:v>0.331110859984179</c:v>
                </c:pt>
                <c:pt idx="19">
                  <c:v>0.42682789015707989</c:v>
                </c:pt>
                <c:pt idx="20">
                  <c:v>0.46197310430557126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D8-49D9-A8E1-E35B4B8245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¿Cuáles de las siguientes situaciones presentan un problema que te afecte actualmente? (marca todas las que apliquen)</a:t>
            </a:r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>
                <a:alpha val="74902"/>
              </a:srgb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9E4C-4D5F-ACDA-088BECD01F3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E4C-4D5F-ACDA-088BECD01F37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9E4C-4D5F-ACDA-088BECD01F37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E4C-4D5F-ACDA-088BECD01F37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9E4C-4D5F-ACDA-088BECD01F37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9E4C-4D5F-ACDA-088BECD01F37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9E4C-4D5F-ACDA-088BECD01F37}"/>
              </c:ext>
            </c:extLst>
          </c:dPt>
          <c:dPt>
            <c:idx val="14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9E4C-4D5F-ACDA-088BECD01F37}"/>
              </c:ext>
            </c:extLst>
          </c:dPt>
          <c:dPt>
            <c:idx val="15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9E4C-4D5F-ACDA-088BECD01F37}"/>
              </c:ext>
            </c:extLst>
          </c:dPt>
          <c:dPt>
            <c:idx val="16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9E4C-4D5F-ACDA-088BECD01F37}"/>
              </c:ext>
            </c:extLst>
          </c:dPt>
          <c:dPt>
            <c:idx val="17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9E4C-4D5F-ACDA-088BECD01F37}"/>
              </c:ext>
            </c:extLst>
          </c:dPt>
          <c:dPt>
            <c:idx val="18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9E4C-4D5F-ACDA-088BECD01F37}"/>
              </c:ext>
            </c:extLst>
          </c:dPt>
          <c:dPt>
            <c:idx val="19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2-9E4C-4D5F-ACDA-088BECD01F37}"/>
              </c:ext>
            </c:extLst>
          </c:dPt>
          <c:dPt>
            <c:idx val="20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4-9E4C-4D5F-ACDA-088BECD01F3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Hoja1!$A$2:$A$22</c:f>
              <c:strCache>
                <c:ptCount val="21"/>
                <c:pt idx="0">
                  <c:v>Experiencias de discriminación en Duoc UC</c:v>
                </c:pt>
                <c:pt idx="1">
                  <c:v>Problemas en la relación con profesores</c:v>
                </c:pt>
                <c:pt idx="2">
                  <c:v>Espacios de clase no adecuados en Duoc UC</c:v>
                </c:pt>
                <c:pt idx="3">
                  <c:v>Problemas relacionados con la pandemia (COVID)</c:v>
                </c:pt>
                <c:pt idx="4">
                  <c:v>Recursos de la universidad poco actualizados</c:v>
                </c:pt>
                <c:pt idx="5">
                  <c:v>Problemas en la relación con compañeros</c:v>
                </c:pt>
                <c:pt idx="6">
                  <c:v>Duelos/pérdidas</c:v>
                </c:pt>
                <c:pt idx="7">
                  <c:v>Problemas de salud de un ser querido</c:v>
                </c:pt>
                <c:pt idx="8">
                  <c:v>Aislamiento</c:v>
                </c:pt>
                <c:pt idx="9">
                  <c:v>Problemas de inseguridad en tu barrio</c:v>
                </c:pt>
                <c:pt idx="10">
                  <c:v>Carga académica exigente</c:v>
                </c:pt>
                <c:pt idx="11">
                  <c:v>Panorama político y social del país</c:v>
                </c:pt>
                <c:pt idx="12">
                  <c:v>Problemas de inseguridad al entrar y salir de la sede (delincuencia)</c:v>
                </c:pt>
                <c:pt idx="13">
                  <c:v>Problemas en relación sentimental</c:v>
                </c:pt>
                <c:pt idx="14">
                  <c:v>Dificultad para compatibilizar trabajo y estudios</c:v>
                </c:pt>
                <c:pt idx="15">
                  <c:v>Dificultades de transporte y desplazamiento</c:v>
                </c:pt>
                <c:pt idx="16">
                  <c:v>Problemas de salud personales</c:v>
                </c:pt>
                <c:pt idx="17">
                  <c:v>Futuro laboral</c:v>
                </c:pt>
                <c:pt idx="18">
                  <c:v>Problemas en relaciones familiares</c:v>
                </c:pt>
                <c:pt idx="19">
                  <c:v>Situación económica compleja</c:v>
                </c:pt>
                <c:pt idx="20">
                  <c:v>Problemas de autoestima</c:v>
                </c:pt>
              </c:strCache>
            </c:strRef>
          </c:cat>
          <c:val>
            <c:numRef>
              <c:f>Hoja1!$B$2:$B$22</c:f>
              <c:numCache>
                <c:formatCode>0%</c:formatCode>
                <c:ptCount val="21"/>
                <c:pt idx="0">
                  <c:v>1.0170640750367273E-2</c:v>
                </c:pt>
                <c:pt idx="1">
                  <c:v>3.3676121595660524E-2</c:v>
                </c:pt>
                <c:pt idx="2">
                  <c:v>3.9778506045880888E-2</c:v>
                </c:pt>
                <c:pt idx="3">
                  <c:v>6.8482314385806306E-2</c:v>
                </c:pt>
                <c:pt idx="4">
                  <c:v>7.3115606283195841E-2</c:v>
                </c:pt>
                <c:pt idx="5">
                  <c:v>8.4981353825290998E-2</c:v>
                </c:pt>
                <c:pt idx="6">
                  <c:v>0.12837608769352468</c:v>
                </c:pt>
                <c:pt idx="7">
                  <c:v>0.15493276076392812</c:v>
                </c:pt>
                <c:pt idx="8">
                  <c:v>0.16917165781444232</c:v>
                </c:pt>
                <c:pt idx="9">
                  <c:v>0.17866425584811843</c:v>
                </c:pt>
                <c:pt idx="10">
                  <c:v>0.18487964741778731</c:v>
                </c:pt>
                <c:pt idx="11">
                  <c:v>0.18804384676234603</c:v>
                </c:pt>
                <c:pt idx="12">
                  <c:v>0.22443213922477115</c:v>
                </c:pt>
                <c:pt idx="13">
                  <c:v>0.23403774437789582</c:v>
                </c:pt>
                <c:pt idx="14">
                  <c:v>0.257317210984292</c:v>
                </c:pt>
                <c:pt idx="15">
                  <c:v>0.27336422194598259</c:v>
                </c:pt>
                <c:pt idx="16">
                  <c:v>0.27698044976833541</c:v>
                </c:pt>
                <c:pt idx="17">
                  <c:v>0.30263306588315064</c:v>
                </c:pt>
                <c:pt idx="18">
                  <c:v>0.331110859984179</c:v>
                </c:pt>
                <c:pt idx="19">
                  <c:v>0.42682789015707989</c:v>
                </c:pt>
                <c:pt idx="20">
                  <c:v>0.46197310430557126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9E4C-4D5F-ACDA-088BECD01F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57181850106691046"/>
          <c:y val="9.5580515670835253E-2"/>
          <c:w val="0.37281891897910296"/>
          <c:h val="0.6495638432542881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595959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Hoja1!$A$2:$A$5</c:f>
              <c:strCache>
                <c:ptCount val="4"/>
                <c:pt idx="0">
                  <c:v>Me hago cargo de solucionar el problema tomando acciones concretas.</c:v>
                </c:pt>
                <c:pt idx="1">
                  <c:v>Intento verlo con otros ojos, para hacer que parezca más positivo.</c:v>
                </c:pt>
                <c:pt idx="2">
                  <c:v>Aprendo a vivir con ello.</c:v>
                </c:pt>
                <c:pt idx="3">
                  <c:v>Pienso detenidamente escenarios de cómo solucionarlo.</c:v>
                </c:pt>
              </c:strCache>
            </c:strRef>
          </c:cat>
          <c:val>
            <c:numRef>
              <c:f>Hoja1!$B$2:$B$5</c:f>
              <c:numCache>
                <c:formatCode>0%</c:formatCode>
                <c:ptCount val="4"/>
                <c:pt idx="0">
                  <c:v>0.18499265453723585</c:v>
                </c:pt>
                <c:pt idx="1">
                  <c:v>0.19527630240705166</c:v>
                </c:pt>
                <c:pt idx="2">
                  <c:v>0.2447734207255057</c:v>
                </c:pt>
                <c:pt idx="3">
                  <c:v>0.26387162391230645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F6-44F1-89B2-5684F8CF25BD}"/>
            </c:ext>
          </c:extLst>
        </c:ser>
        <c:dLbls>
          <c:dLblPos val="inBase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1"/>
        <c:axPos val="b"/>
        <c:numFmt formatCode="0%" sourceLinked="1"/>
        <c:majorTickMark val="none"/>
        <c:minorTickMark val="none"/>
        <c:tickLblPos val="nextTo"/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40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¿Con qué frecuencia dejas para después tareas que te parecen desagradables?</a:t>
            </a:r>
            <a:endParaRPr lang="es-CL" sz="1400" dirty="0">
              <a:effectLst/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17E-466C-8388-09CC44045D5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</c:f>
              <c:strCache>
                <c:ptCount val="1"/>
                <c:pt idx="0">
                  <c:v>A menudo + Muy a menudo</c:v>
                </c:pt>
              </c:strCache>
            </c:strRef>
          </c:cat>
          <c:val>
            <c:numRef>
              <c:f>Hoja1!$B$2</c:f>
              <c:numCache>
                <c:formatCode>0%</c:formatCode>
                <c:ptCount val="1"/>
                <c:pt idx="0">
                  <c:v>0.26375861679285795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17E-466C-8388-09CC44045D5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1"/>
        <c:axPos val="b"/>
        <c:numFmt formatCode="0%" sourceLinked="1"/>
        <c:majorTickMark val="none"/>
        <c:minorTickMark val="none"/>
        <c:tickLblPos val="nextTo"/>
        <c:crossAx val="1168497199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1A-4574-B37D-5284DC7AFB9E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AA-4E0A-B33A-396F6E997B3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1EA-4A29-A563-86A5ECC015F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Hoja1!$A$2:$A$4</c:f>
              <c:strCache>
                <c:ptCount val="3"/>
                <c:pt idx="0">
                  <c:v>Sí</c:v>
                </c:pt>
                <c:pt idx="1">
                  <c:v>No</c:v>
                </c:pt>
                <c:pt idx="2">
                  <c:v>Prefiero no responder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0.44581308622443216</c:v>
                </c:pt>
                <c:pt idx="1">
                  <c:v>0.5</c:v>
                </c:pt>
                <c:pt idx="2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AA-4E0A-B33A-396F6E997B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227-4A4E-A6E9-33F796530005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227-4A4E-A6E9-33F79653000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2ED-4C51-BC82-04D8E4E3896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2ED-4C51-BC82-04D8E4E3896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Hoja1!$A$2:$A$5</c:f>
              <c:strCache>
                <c:ptCount val="4"/>
                <c:pt idx="0">
                  <c:v>Sí, en tratamiento médico regular</c:v>
                </c:pt>
                <c:pt idx="1">
                  <c:v>No, pero la condición está diagnosticada</c:v>
                </c:pt>
                <c:pt idx="2">
                  <c:v>No estoy seguro/a </c:v>
                </c:pt>
                <c:pt idx="3">
                  <c:v>Prefiero no responder</c:v>
                </c:pt>
              </c:strCache>
            </c:strRef>
          </c:cat>
          <c:val>
            <c:numRef>
              <c:f>Hoja1!$B$2:$B$5</c:f>
              <c:numCache>
                <c:formatCode>0%</c:formatCode>
                <c:ptCount val="4"/>
                <c:pt idx="0">
                  <c:v>0.45</c:v>
                </c:pt>
                <c:pt idx="1">
                  <c:v>0.25</c:v>
                </c:pt>
                <c:pt idx="2">
                  <c:v>0.2</c:v>
                </c:pt>
                <c:pt idx="3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227-4A4E-A6E9-33F7965300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483811310153025"/>
          <c:y val="5.6494222131277895E-2"/>
          <c:w val="0.63097649562716396"/>
          <c:h val="0.8835512846319034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F8961E"/>
            </a:solidFill>
            <a:ln>
              <a:solidFill>
                <a:srgbClr val="F8961E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Trastornos de personalidad</c:v>
                </c:pt>
                <c:pt idx="1">
                  <c:v>Uso problemático marihuana</c:v>
                </c:pt>
                <c:pt idx="2">
                  <c:v>Uso problemático alcohol</c:v>
                </c:pt>
                <c:pt idx="3">
                  <c:v>Depresión</c:v>
                </c:pt>
                <c:pt idx="4">
                  <c:v>Ansiedad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0.03</c:v>
                </c:pt>
                <c:pt idx="1">
                  <c:v>0.13</c:v>
                </c:pt>
                <c:pt idx="2">
                  <c:v>0.16</c:v>
                </c:pt>
                <c:pt idx="3">
                  <c:v>0.35</c:v>
                </c:pt>
                <c:pt idx="4">
                  <c:v>0.42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DD-44CE-B899-3B6D1EAEE3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139916351"/>
        <c:axId val="1139913855"/>
      </c:barChart>
      <c:catAx>
        <c:axId val="1139916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pPr>
            <a:endParaRPr lang="es-CL"/>
          </a:p>
        </c:txPr>
        <c:crossAx val="1139913855"/>
        <c:crosses val="autoZero"/>
        <c:auto val="1"/>
        <c:lblAlgn val="ctr"/>
        <c:lblOffset val="100"/>
        <c:noMultiLvlLbl val="0"/>
      </c:catAx>
      <c:valAx>
        <c:axId val="113991385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1399163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Hoja1!$B$2:$B$10</c:f>
              <c:strCache>
                <c:ptCount val="9"/>
                <c:pt idx="0">
                  <c:v>Mujer</c:v>
                </c:pt>
                <c:pt idx="1">
                  <c:v>Hombre</c:v>
                </c:pt>
                <c:pt idx="3">
                  <c:v>Diurna</c:v>
                </c:pt>
                <c:pt idx="4">
                  <c:v>Vespertina</c:v>
                </c:pt>
                <c:pt idx="6">
                  <c:v>Inicio</c:v>
                </c:pt>
                <c:pt idx="7">
                  <c:v>Continuidad</c:v>
                </c:pt>
                <c:pt idx="8">
                  <c:v>Admisión especial</c:v>
                </c:pt>
              </c:strCache>
            </c:strRef>
          </c:cat>
          <c:val>
            <c:numRef>
              <c:f>Hoja1!$C$2:$C$10</c:f>
              <c:numCache>
                <c:formatCode>0%</c:formatCode>
                <c:ptCount val="9"/>
                <c:pt idx="0">
                  <c:v>0.18645467685319017</c:v>
                </c:pt>
                <c:pt idx="1">
                  <c:v>0.25350701402805609</c:v>
                </c:pt>
                <c:pt idx="3">
                  <c:v>0.21504383940932165</c:v>
                </c:pt>
                <c:pt idx="4">
                  <c:v>0.22193768672641911</c:v>
                </c:pt>
                <c:pt idx="6">
                  <c:v>0.22005383580080753</c:v>
                </c:pt>
                <c:pt idx="7">
                  <c:v>0.21797810033104151</c:v>
                </c:pt>
                <c:pt idx="8">
                  <c:v>0.17672413793103448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2E-4E42-93C1-E1F389557D2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Hoja1!$B$2:$B$21</c:f>
              <c:strCache>
                <c:ptCount val="20"/>
                <c:pt idx="0">
                  <c:v>Alameda</c:v>
                </c:pt>
                <c:pt idx="1">
                  <c:v>Antonio Varas</c:v>
                </c:pt>
                <c:pt idx="2">
                  <c:v>Campus Arauco</c:v>
                </c:pt>
                <c:pt idx="3">
                  <c:v>Campus Villarrica</c:v>
                </c:pt>
                <c:pt idx="4">
                  <c:v>Comunicaciones</c:v>
                </c:pt>
                <c:pt idx="5">
                  <c:v>Concepción</c:v>
                </c:pt>
                <c:pt idx="6">
                  <c:v>Maipú</c:v>
                </c:pt>
                <c:pt idx="7">
                  <c:v>Melipilla</c:v>
                </c:pt>
                <c:pt idx="8">
                  <c:v>Online</c:v>
                </c:pt>
                <c:pt idx="9">
                  <c:v>Padre Alonso De Ovalle</c:v>
                </c:pt>
                <c:pt idx="10">
                  <c:v>Plaza Norte</c:v>
                </c:pt>
                <c:pt idx="11">
                  <c:v>Plaza Oeste</c:v>
                </c:pt>
                <c:pt idx="12">
                  <c:v>Plaza Vespucio</c:v>
                </c:pt>
                <c:pt idx="13">
                  <c:v>Puente Alto</c:v>
                </c:pt>
                <c:pt idx="14">
                  <c:v>Puerto Montt</c:v>
                </c:pt>
                <c:pt idx="15">
                  <c:v>San Bernardo</c:v>
                </c:pt>
                <c:pt idx="16">
                  <c:v>San Carlos de Apoquindo</c:v>
                </c:pt>
                <c:pt idx="17">
                  <c:v>San Joaquín</c:v>
                </c:pt>
                <c:pt idx="18">
                  <c:v>Valparaíso</c:v>
                </c:pt>
                <c:pt idx="19">
                  <c:v>Viña Del Mar</c:v>
                </c:pt>
              </c:strCache>
            </c:strRef>
          </c:cat>
          <c:val>
            <c:numRef>
              <c:f>Hoja1!$C$2:$C$21</c:f>
              <c:numCache>
                <c:formatCode>0%</c:formatCode>
                <c:ptCount val="20"/>
                <c:pt idx="0">
                  <c:v>3.125E-2</c:v>
                </c:pt>
                <c:pt idx="1">
                  <c:v>0.171875</c:v>
                </c:pt>
                <c:pt idx="2">
                  <c:v>0.1</c:v>
                </c:pt>
                <c:pt idx="3">
                  <c:v>0.25</c:v>
                </c:pt>
                <c:pt idx="4">
                  <c:v>0.25</c:v>
                </c:pt>
                <c:pt idx="5">
                  <c:v>0.1</c:v>
                </c:pt>
                <c:pt idx="6">
                  <c:v>0.26190476190476192</c:v>
                </c:pt>
                <c:pt idx="7">
                  <c:v>0.25892857142857145</c:v>
                </c:pt>
                <c:pt idx="8">
                  <c:v>0.25</c:v>
                </c:pt>
                <c:pt idx="9">
                  <c:v>0.15909090909090909</c:v>
                </c:pt>
                <c:pt idx="10">
                  <c:v>0.28125</c:v>
                </c:pt>
                <c:pt idx="11">
                  <c:v>0.125</c:v>
                </c:pt>
                <c:pt idx="12">
                  <c:v>8.3333333333333329E-2</c:v>
                </c:pt>
                <c:pt idx="13">
                  <c:v>0.21249999999999999</c:v>
                </c:pt>
                <c:pt idx="14">
                  <c:v>0.25</c:v>
                </c:pt>
                <c:pt idx="15">
                  <c:v>0.22916666666666666</c:v>
                </c:pt>
                <c:pt idx="16">
                  <c:v>0.25</c:v>
                </c:pt>
                <c:pt idx="17">
                  <c:v>0.15625</c:v>
                </c:pt>
                <c:pt idx="18">
                  <c:v>0.20535714285714285</c:v>
                </c:pt>
                <c:pt idx="19">
                  <c:v>0.16145833333333334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04-499B-B668-74910BF93AB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Hoja1!$B$2:$B$10</c:f>
              <c:strCache>
                <c:ptCount val="9"/>
                <c:pt idx="0">
                  <c:v>Mujer</c:v>
                </c:pt>
                <c:pt idx="1">
                  <c:v>Hombre</c:v>
                </c:pt>
                <c:pt idx="3">
                  <c:v>Diurna</c:v>
                </c:pt>
                <c:pt idx="4">
                  <c:v>Vespertina</c:v>
                </c:pt>
                <c:pt idx="6">
                  <c:v>Inicio</c:v>
                </c:pt>
                <c:pt idx="7">
                  <c:v>Continuidad</c:v>
                </c:pt>
                <c:pt idx="8">
                  <c:v>Admisión especial</c:v>
                </c:pt>
              </c:strCache>
            </c:strRef>
          </c:cat>
          <c:val>
            <c:numRef>
              <c:f>Hoja1!$C$2:$C$10</c:f>
              <c:numCache>
                <c:formatCode>0%</c:formatCode>
                <c:ptCount val="9"/>
                <c:pt idx="0">
                  <c:v>0.311170761924427</c:v>
                </c:pt>
                <c:pt idx="1">
                  <c:v>0.36748496993987978</c:v>
                </c:pt>
                <c:pt idx="3">
                  <c:v>0.33625596062144286</c:v>
                </c:pt>
                <c:pt idx="4">
                  <c:v>0.33674775928297057</c:v>
                </c:pt>
                <c:pt idx="6">
                  <c:v>0.35307312696276355</c:v>
                </c:pt>
                <c:pt idx="7">
                  <c:v>0.32543926661573719</c:v>
                </c:pt>
                <c:pt idx="8">
                  <c:v>0.27155172413793105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5B-4254-B72D-39B3489FE63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Hoja1!$B$2:$B$21</c:f>
              <c:strCache>
                <c:ptCount val="20"/>
                <c:pt idx="0">
                  <c:v>Alameda</c:v>
                </c:pt>
                <c:pt idx="1">
                  <c:v>Antonio Varas</c:v>
                </c:pt>
                <c:pt idx="2">
                  <c:v>Campus Arauco</c:v>
                </c:pt>
                <c:pt idx="3">
                  <c:v>Campus Villarrica</c:v>
                </c:pt>
                <c:pt idx="4">
                  <c:v>Comunicaciones</c:v>
                </c:pt>
                <c:pt idx="5">
                  <c:v>Concepción</c:v>
                </c:pt>
                <c:pt idx="6">
                  <c:v>Maipú</c:v>
                </c:pt>
                <c:pt idx="7">
                  <c:v>Melipilla</c:v>
                </c:pt>
                <c:pt idx="8">
                  <c:v>Online</c:v>
                </c:pt>
                <c:pt idx="9">
                  <c:v>Padre Alonso De Ovalle</c:v>
                </c:pt>
                <c:pt idx="10">
                  <c:v>Plaza Norte</c:v>
                </c:pt>
                <c:pt idx="11">
                  <c:v>Plaza Oeste</c:v>
                </c:pt>
                <c:pt idx="12">
                  <c:v>Plaza Vespucio</c:v>
                </c:pt>
                <c:pt idx="13">
                  <c:v>Puente Alto</c:v>
                </c:pt>
                <c:pt idx="14">
                  <c:v>Puerto Montt</c:v>
                </c:pt>
                <c:pt idx="15">
                  <c:v>San Bernardo</c:v>
                </c:pt>
                <c:pt idx="16">
                  <c:v>San Carlos de Apoquindo</c:v>
                </c:pt>
                <c:pt idx="17">
                  <c:v>San Joaquín</c:v>
                </c:pt>
                <c:pt idx="18">
                  <c:v>Valparaíso</c:v>
                </c:pt>
                <c:pt idx="19">
                  <c:v>Viña Del Mar</c:v>
                </c:pt>
              </c:strCache>
            </c:strRef>
          </c:cat>
          <c:val>
            <c:numRef>
              <c:f>Hoja1!$C$2:$C$21</c:f>
              <c:numCache>
                <c:formatCode>0%</c:formatCode>
                <c:ptCount val="20"/>
                <c:pt idx="0">
                  <c:v>3.125E-2</c:v>
                </c:pt>
                <c:pt idx="1">
                  <c:v>0.171875</c:v>
                </c:pt>
                <c:pt idx="2">
                  <c:v>0.1</c:v>
                </c:pt>
                <c:pt idx="3">
                  <c:v>0.25</c:v>
                </c:pt>
                <c:pt idx="4">
                  <c:v>0.25</c:v>
                </c:pt>
                <c:pt idx="5">
                  <c:v>0.1</c:v>
                </c:pt>
                <c:pt idx="6">
                  <c:v>0.26190476190476192</c:v>
                </c:pt>
                <c:pt idx="7">
                  <c:v>0.25892857142857145</c:v>
                </c:pt>
                <c:pt idx="8">
                  <c:v>0.25</c:v>
                </c:pt>
                <c:pt idx="9">
                  <c:v>0.15909090909090909</c:v>
                </c:pt>
                <c:pt idx="10">
                  <c:v>0.28125</c:v>
                </c:pt>
                <c:pt idx="11">
                  <c:v>0.125</c:v>
                </c:pt>
                <c:pt idx="12">
                  <c:v>8.3333333333333329E-2</c:v>
                </c:pt>
                <c:pt idx="13">
                  <c:v>0.21249999999999999</c:v>
                </c:pt>
                <c:pt idx="14">
                  <c:v>0.25</c:v>
                </c:pt>
                <c:pt idx="15">
                  <c:v>0.22916666666666666</c:v>
                </c:pt>
                <c:pt idx="16">
                  <c:v>0.25</c:v>
                </c:pt>
                <c:pt idx="17">
                  <c:v>0.15625</c:v>
                </c:pt>
                <c:pt idx="18">
                  <c:v>0.20535714285714285</c:v>
                </c:pt>
                <c:pt idx="19">
                  <c:v>0.16145833333333334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0B-407A-8C20-EE2251E211E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Hoja1!$B$2:$B$10</c:f>
              <c:strCache>
                <c:ptCount val="9"/>
                <c:pt idx="0">
                  <c:v>Mujer</c:v>
                </c:pt>
                <c:pt idx="1">
                  <c:v>Hombre</c:v>
                </c:pt>
                <c:pt idx="3">
                  <c:v>Diurna</c:v>
                </c:pt>
                <c:pt idx="4">
                  <c:v>Vespertina</c:v>
                </c:pt>
                <c:pt idx="6">
                  <c:v>Inicio</c:v>
                </c:pt>
                <c:pt idx="7">
                  <c:v>Continuidad</c:v>
                </c:pt>
                <c:pt idx="8">
                  <c:v>Admisión especial</c:v>
                </c:pt>
              </c:strCache>
            </c:strRef>
          </c:cat>
          <c:val>
            <c:numRef>
              <c:f>Hoja1!$C$2:$C$10</c:f>
              <c:numCache>
                <c:formatCode>0%</c:formatCode>
                <c:ptCount val="9"/>
                <c:pt idx="0">
                  <c:v>0.41874870947759651</c:v>
                </c:pt>
                <c:pt idx="1">
                  <c:v>0.39053106212424848</c:v>
                </c:pt>
                <c:pt idx="3">
                  <c:v>0.42485771419781571</c:v>
                </c:pt>
                <c:pt idx="4">
                  <c:v>0.352112676056338</c:v>
                </c:pt>
                <c:pt idx="6">
                  <c:v>0.38784208165096457</c:v>
                </c:pt>
                <c:pt idx="7">
                  <c:v>0.41914947797300739</c:v>
                </c:pt>
                <c:pt idx="8">
                  <c:v>0.46336206896551724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29-44D9-9B13-349A9059488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Hoja1!$B$2:$B$21</c:f>
              <c:strCache>
                <c:ptCount val="20"/>
                <c:pt idx="0">
                  <c:v>Alameda</c:v>
                </c:pt>
                <c:pt idx="1">
                  <c:v>Antonio Varas</c:v>
                </c:pt>
                <c:pt idx="2">
                  <c:v>Campus Arauco</c:v>
                </c:pt>
                <c:pt idx="3">
                  <c:v>Campus Villarrica</c:v>
                </c:pt>
                <c:pt idx="4">
                  <c:v>Comunicaciones</c:v>
                </c:pt>
                <c:pt idx="5">
                  <c:v>Concepción</c:v>
                </c:pt>
                <c:pt idx="6">
                  <c:v>Maipú</c:v>
                </c:pt>
                <c:pt idx="7">
                  <c:v>Melipilla</c:v>
                </c:pt>
                <c:pt idx="8">
                  <c:v>Online</c:v>
                </c:pt>
                <c:pt idx="9">
                  <c:v>Padre Alonso De Ovalle</c:v>
                </c:pt>
                <c:pt idx="10">
                  <c:v>Plaza Norte</c:v>
                </c:pt>
                <c:pt idx="11">
                  <c:v>Plaza Oeste</c:v>
                </c:pt>
                <c:pt idx="12">
                  <c:v>Plaza Vespucio</c:v>
                </c:pt>
                <c:pt idx="13">
                  <c:v>Puente Alto</c:v>
                </c:pt>
                <c:pt idx="14">
                  <c:v>Puerto Montt</c:v>
                </c:pt>
                <c:pt idx="15">
                  <c:v>San Bernardo</c:v>
                </c:pt>
                <c:pt idx="16">
                  <c:v>San Carlos de Apoquindo</c:v>
                </c:pt>
                <c:pt idx="17">
                  <c:v>San Joaquín</c:v>
                </c:pt>
                <c:pt idx="18">
                  <c:v>Valparaíso</c:v>
                </c:pt>
                <c:pt idx="19">
                  <c:v>Viña Del Mar</c:v>
                </c:pt>
              </c:strCache>
            </c:strRef>
          </c:cat>
          <c:val>
            <c:numRef>
              <c:f>Hoja1!$C$2:$C$21</c:f>
              <c:numCache>
                <c:formatCode>0%</c:formatCode>
                <c:ptCount val="20"/>
                <c:pt idx="0">
                  <c:v>3.125E-2</c:v>
                </c:pt>
                <c:pt idx="1">
                  <c:v>0.171875</c:v>
                </c:pt>
                <c:pt idx="2">
                  <c:v>0.1</c:v>
                </c:pt>
                <c:pt idx="3">
                  <c:v>0.25</c:v>
                </c:pt>
                <c:pt idx="4">
                  <c:v>0.25</c:v>
                </c:pt>
                <c:pt idx="5">
                  <c:v>0.1</c:v>
                </c:pt>
                <c:pt idx="6">
                  <c:v>0.26190476190476192</c:v>
                </c:pt>
                <c:pt idx="7">
                  <c:v>0.25892857142857145</c:v>
                </c:pt>
                <c:pt idx="8">
                  <c:v>0.25</c:v>
                </c:pt>
                <c:pt idx="9">
                  <c:v>0.15909090909090909</c:v>
                </c:pt>
                <c:pt idx="10">
                  <c:v>0.28125</c:v>
                </c:pt>
                <c:pt idx="11">
                  <c:v>0.125</c:v>
                </c:pt>
                <c:pt idx="12">
                  <c:v>8.3333333333333329E-2</c:v>
                </c:pt>
                <c:pt idx="13">
                  <c:v>0.21249999999999999</c:v>
                </c:pt>
                <c:pt idx="14">
                  <c:v>0.25</c:v>
                </c:pt>
                <c:pt idx="15">
                  <c:v>0.22916666666666666</c:v>
                </c:pt>
                <c:pt idx="16">
                  <c:v>0.25</c:v>
                </c:pt>
                <c:pt idx="17">
                  <c:v>0.15625</c:v>
                </c:pt>
                <c:pt idx="18">
                  <c:v>0.20535714285714285</c:v>
                </c:pt>
                <c:pt idx="19">
                  <c:v>0.16145833333333334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88-49D4-A093-841FE5087A2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Hoja1!$B$2:$B$10</c:f>
              <c:strCache>
                <c:ptCount val="9"/>
                <c:pt idx="0">
                  <c:v>Mujer</c:v>
                </c:pt>
                <c:pt idx="1">
                  <c:v>Hombre</c:v>
                </c:pt>
                <c:pt idx="3">
                  <c:v>Diurna</c:v>
                </c:pt>
                <c:pt idx="4">
                  <c:v>Vespertina</c:v>
                </c:pt>
                <c:pt idx="6">
                  <c:v>Inicio</c:v>
                </c:pt>
                <c:pt idx="7">
                  <c:v>Continuidad</c:v>
                </c:pt>
                <c:pt idx="8">
                  <c:v>Admisión especial</c:v>
                </c:pt>
              </c:strCache>
            </c:strRef>
          </c:cat>
          <c:val>
            <c:numRef>
              <c:f>Hoja1!$C$2:$C$10</c:f>
              <c:numCache>
                <c:formatCode>0%</c:formatCode>
                <c:ptCount val="9"/>
                <c:pt idx="0">
                  <c:v>1.7138137518067312E-2</c:v>
                </c:pt>
                <c:pt idx="1">
                  <c:v>1.5280561122244489E-2</c:v>
                </c:pt>
                <c:pt idx="3">
                  <c:v>1.6151361329026302E-2</c:v>
                </c:pt>
                <c:pt idx="4">
                  <c:v>1.6645326504481434E-2</c:v>
                </c:pt>
                <c:pt idx="6">
                  <c:v>1.7720951099147599E-2</c:v>
                </c:pt>
                <c:pt idx="7">
                  <c:v>1.4260249554367201E-2</c:v>
                </c:pt>
                <c:pt idx="8">
                  <c:v>1.9396551724137932E-2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B5-4001-94E5-151DB6C206E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Hoja1!$B$2:$B$21</c:f>
              <c:strCache>
                <c:ptCount val="20"/>
                <c:pt idx="0">
                  <c:v>Alameda</c:v>
                </c:pt>
                <c:pt idx="1">
                  <c:v>Antonio Varas</c:v>
                </c:pt>
                <c:pt idx="2">
                  <c:v>Campus Arauco</c:v>
                </c:pt>
                <c:pt idx="3">
                  <c:v>Campus Villarrica</c:v>
                </c:pt>
                <c:pt idx="4">
                  <c:v>Comunicaciones</c:v>
                </c:pt>
                <c:pt idx="5">
                  <c:v>Concepción</c:v>
                </c:pt>
                <c:pt idx="6">
                  <c:v>Maipú</c:v>
                </c:pt>
                <c:pt idx="7">
                  <c:v>Melipilla</c:v>
                </c:pt>
                <c:pt idx="8">
                  <c:v>Online</c:v>
                </c:pt>
                <c:pt idx="9">
                  <c:v>Padre Alonso De Ovalle</c:v>
                </c:pt>
                <c:pt idx="10">
                  <c:v>Plaza Norte</c:v>
                </c:pt>
                <c:pt idx="11">
                  <c:v>Plaza Oeste</c:v>
                </c:pt>
                <c:pt idx="12">
                  <c:v>Plaza Vespucio</c:v>
                </c:pt>
                <c:pt idx="13">
                  <c:v>Puente Alto</c:v>
                </c:pt>
                <c:pt idx="14">
                  <c:v>Puerto Montt</c:v>
                </c:pt>
                <c:pt idx="15">
                  <c:v>San Bernardo</c:v>
                </c:pt>
                <c:pt idx="16">
                  <c:v>San Carlos de Apoquindo</c:v>
                </c:pt>
                <c:pt idx="17">
                  <c:v>San Joaquín</c:v>
                </c:pt>
                <c:pt idx="18">
                  <c:v>Valparaíso</c:v>
                </c:pt>
                <c:pt idx="19">
                  <c:v>Viña Del Mar</c:v>
                </c:pt>
              </c:strCache>
            </c:strRef>
          </c:cat>
          <c:val>
            <c:numRef>
              <c:f>Hoja1!$C$2:$C$21</c:f>
              <c:numCache>
                <c:formatCode>0%</c:formatCode>
                <c:ptCount val="20"/>
                <c:pt idx="0">
                  <c:v>3.125E-2</c:v>
                </c:pt>
                <c:pt idx="1">
                  <c:v>0.171875</c:v>
                </c:pt>
                <c:pt idx="2">
                  <c:v>0.1</c:v>
                </c:pt>
                <c:pt idx="3">
                  <c:v>0.25</c:v>
                </c:pt>
                <c:pt idx="4">
                  <c:v>0.25</c:v>
                </c:pt>
                <c:pt idx="5">
                  <c:v>0.1</c:v>
                </c:pt>
                <c:pt idx="6">
                  <c:v>0.26190476190476192</c:v>
                </c:pt>
                <c:pt idx="7">
                  <c:v>0.25892857142857145</c:v>
                </c:pt>
                <c:pt idx="8">
                  <c:v>0.25</c:v>
                </c:pt>
                <c:pt idx="9">
                  <c:v>0.15909090909090909</c:v>
                </c:pt>
                <c:pt idx="10">
                  <c:v>0.28125</c:v>
                </c:pt>
                <c:pt idx="11">
                  <c:v>0.125</c:v>
                </c:pt>
                <c:pt idx="12">
                  <c:v>8.3333333333333329E-2</c:v>
                </c:pt>
                <c:pt idx="13">
                  <c:v>0.21249999999999999</c:v>
                </c:pt>
                <c:pt idx="14">
                  <c:v>0.25</c:v>
                </c:pt>
                <c:pt idx="15">
                  <c:v>0.22916666666666666</c:v>
                </c:pt>
                <c:pt idx="16">
                  <c:v>0.25</c:v>
                </c:pt>
                <c:pt idx="17">
                  <c:v>0.15625</c:v>
                </c:pt>
                <c:pt idx="18">
                  <c:v>0.20535714285714285</c:v>
                </c:pt>
                <c:pt idx="19">
                  <c:v>0.16145833333333334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E5-46F0-BF73-8BC6E06B4D2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Hoja1!$B$2:$B$10</c:f>
              <c:strCache>
                <c:ptCount val="9"/>
                <c:pt idx="0">
                  <c:v>Mujer</c:v>
                </c:pt>
                <c:pt idx="1">
                  <c:v>Hombre</c:v>
                </c:pt>
                <c:pt idx="3">
                  <c:v>Diurna</c:v>
                </c:pt>
                <c:pt idx="4">
                  <c:v>Vespertina</c:v>
                </c:pt>
                <c:pt idx="6">
                  <c:v>Inicio</c:v>
                </c:pt>
                <c:pt idx="7">
                  <c:v>Continuidad</c:v>
                </c:pt>
                <c:pt idx="8">
                  <c:v>Admisión especial</c:v>
                </c:pt>
              </c:strCache>
            </c:strRef>
          </c:cat>
          <c:val>
            <c:numRef>
              <c:f>Hoja1!$C$2:$C$10</c:f>
              <c:numCache>
                <c:formatCode>0%</c:formatCode>
                <c:ptCount val="9"/>
                <c:pt idx="0">
                  <c:v>0.38880858971711751</c:v>
                </c:pt>
                <c:pt idx="1">
                  <c:v>0.36973947895791581</c:v>
                </c:pt>
                <c:pt idx="3">
                  <c:v>0.36794339332410397</c:v>
                </c:pt>
                <c:pt idx="4">
                  <c:v>0.41357234314980795</c:v>
                </c:pt>
                <c:pt idx="6">
                  <c:v>0.36742934051144011</c:v>
                </c:pt>
                <c:pt idx="7">
                  <c:v>0.39623121976063153</c:v>
                </c:pt>
                <c:pt idx="8">
                  <c:v>0.36637931034482757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14-4C52-9F64-81B4188B4AC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Hoja1!$B$2:$B$21</c:f>
              <c:strCache>
                <c:ptCount val="20"/>
                <c:pt idx="0">
                  <c:v>Alameda</c:v>
                </c:pt>
                <c:pt idx="1">
                  <c:v>Antonio Varas</c:v>
                </c:pt>
                <c:pt idx="2">
                  <c:v>Campus Arauco</c:v>
                </c:pt>
                <c:pt idx="3">
                  <c:v>Campus Villarrica</c:v>
                </c:pt>
                <c:pt idx="4">
                  <c:v>Comunicaciones</c:v>
                </c:pt>
                <c:pt idx="5">
                  <c:v>Concepción</c:v>
                </c:pt>
                <c:pt idx="6">
                  <c:v>Maipú</c:v>
                </c:pt>
                <c:pt idx="7">
                  <c:v>Melipilla</c:v>
                </c:pt>
                <c:pt idx="8">
                  <c:v>Online</c:v>
                </c:pt>
                <c:pt idx="9">
                  <c:v>Padre Alonso De Ovalle</c:v>
                </c:pt>
                <c:pt idx="10">
                  <c:v>Plaza Norte</c:v>
                </c:pt>
                <c:pt idx="11">
                  <c:v>Plaza Oeste</c:v>
                </c:pt>
                <c:pt idx="12">
                  <c:v>Plaza Vespucio</c:v>
                </c:pt>
                <c:pt idx="13">
                  <c:v>Puente Alto</c:v>
                </c:pt>
                <c:pt idx="14">
                  <c:v>Puerto Montt</c:v>
                </c:pt>
                <c:pt idx="15">
                  <c:v>San Bernardo</c:v>
                </c:pt>
                <c:pt idx="16">
                  <c:v>San Carlos de Apoquindo</c:v>
                </c:pt>
                <c:pt idx="17">
                  <c:v>San Joaquín</c:v>
                </c:pt>
                <c:pt idx="18">
                  <c:v>Valparaíso</c:v>
                </c:pt>
                <c:pt idx="19">
                  <c:v>Viña Del Mar</c:v>
                </c:pt>
              </c:strCache>
            </c:strRef>
          </c:cat>
          <c:val>
            <c:numRef>
              <c:f>Hoja1!$C$2:$C$21</c:f>
              <c:numCache>
                <c:formatCode>0%</c:formatCode>
                <c:ptCount val="20"/>
                <c:pt idx="0">
                  <c:v>3.125E-2</c:v>
                </c:pt>
                <c:pt idx="1">
                  <c:v>0.171875</c:v>
                </c:pt>
                <c:pt idx="2">
                  <c:v>0.1</c:v>
                </c:pt>
                <c:pt idx="3">
                  <c:v>0.25</c:v>
                </c:pt>
                <c:pt idx="4">
                  <c:v>0.25</c:v>
                </c:pt>
                <c:pt idx="5">
                  <c:v>0.1</c:v>
                </c:pt>
                <c:pt idx="6">
                  <c:v>0.26190476190476192</c:v>
                </c:pt>
                <c:pt idx="7">
                  <c:v>0.25892857142857145</c:v>
                </c:pt>
                <c:pt idx="8">
                  <c:v>0.25</c:v>
                </c:pt>
                <c:pt idx="9">
                  <c:v>0.15909090909090909</c:v>
                </c:pt>
                <c:pt idx="10">
                  <c:v>0.28125</c:v>
                </c:pt>
                <c:pt idx="11">
                  <c:v>0.125</c:v>
                </c:pt>
                <c:pt idx="12">
                  <c:v>8.3333333333333329E-2</c:v>
                </c:pt>
                <c:pt idx="13">
                  <c:v>0.21249999999999999</c:v>
                </c:pt>
                <c:pt idx="14">
                  <c:v>0.25</c:v>
                </c:pt>
                <c:pt idx="15">
                  <c:v>0.22916666666666666</c:v>
                </c:pt>
                <c:pt idx="16">
                  <c:v>0.25</c:v>
                </c:pt>
                <c:pt idx="17">
                  <c:v>0.15625</c:v>
                </c:pt>
                <c:pt idx="18">
                  <c:v>0.20535714285714285</c:v>
                </c:pt>
                <c:pt idx="19">
                  <c:v>0.16145833333333334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92-484C-B378-D643C89DCC2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Hoja1!$B$2:$B$21</c:f>
              <c:strCache>
                <c:ptCount val="20"/>
                <c:pt idx="0">
                  <c:v>Alameda</c:v>
                </c:pt>
                <c:pt idx="1">
                  <c:v>Antonio Varas</c:v>
                </c:pt>
                <c:pt idx="2">
                  <c:v>Campus Arauco</c:v>
                </c:pt>
                <c:pt idx="3">
                  <c:v>Campus Villarrica</c:v>
                </c:pt>
                <c:pt idx="4">
                  <c:v>Comunicaciones</c:v>
                </c:pt>
                <c:pt idx="5">
                  <c:v>Concepción</c:v>
                </c:pt>
                <c:pt idx="6">
                  <c:v>Maipú</c:v>
                </c:pt>
                <c:pt idx="7">
                  <c:v>Melipilla</c:v>
                </c:pt>
                <c:pt idx="8">
                  <c:v>Online</c:v>
                </c:pt>
                <c:pt idx="9">
                  <c:v>Padre Alonso De Ovalle</c:v>
                </c:pt>
                <c:pt idx="10">
                  <c:v>Plaza Norte</c:v>
                </c:pt>
                <c:pt idx="11">
                  <c:v>Plaza Oeste</c:v>
                </c:pt>
                <c:pt idx="12">
                  <c:v>Plaza Vespucio</c:v>
                </c:pt>
                <c:pt idx="13">
                  <c:v>Puente Alto</c:v>
                </c:pt>
                <c:pt idx="14">
                  <c:v>Puerto Montt</c:v>
                </c:pt>
                <c:pt idx="15">
                  <c:v>San Bernardo</c:v>
                </c:pt>
                <c:pt idx="16">
                  <c:v>San Carlos De Apoquindo</c:v>
                </c:pt>
                <c:pt idx="17">
                  <c:v>San Joaquín</c:v>
                </c:pt>
                <c:pt idx="18">
                  <c:v>Valparaíso</c:v>
                </c:pt>
                <c:pt idx="19">
                  <c:v>Viña Del Mar</c:v>
                </c:pt>
              </c:strCache>
            </c:strRef>
          </c:cat>
          <c:val>
            <c:numRef>
              <c:f>Hoja1!$C$2:$C$21</c:f>
              <c:numCache>
                <c:formatCode>0%</c:formatCode>
                <c:ptCount val="20"/>
                <c:pt idx="0">
                  <c:v>0.45733788395904434</c:v>
                </c:pt>
                <c:pt idx="1">
                  <c:v>0.48369565217391303</c:v>
                </c:pt>
                <c:pt idx="2">
                  <c:v>0.38461538461538464</c:v>
                </c:pt>
                <c:pt idx="3">
                  <c:v>0.35483870967741937</c:v>
                </c:pt>
                <c:pt idx="4">
                  <c:v>0.4</c:v>
                </c:pt>
                <c:pt idx="5">
                  <c:v>0.52040816326530615</c:v>
                </c:pt>
                <c:pt idx="6">
                  <c:v>0.46031746031746029</c:v>
                </c:pt>
                <c:pt idx="7">
                  <c:v>0.40388007054673719</c:v>
                </c:pt>
                <c:pt idx="8">
                  <c:v>0.32</c:v>
                </c:pt>
                <c:pt idx="9">
                  <c:v>0.45033860045146729</c:v>
                </c:pt>
                <c:pt idx="10">
                  <c:v>0.48816568047337278</c:v>
                </c:pt>
                <c:pt idx="11">
                  <c:v>0.48490945674044267</c:v>
                </c:pt>
                <c:pt idx="12">
                  <c:v>0.46319018404907975</c:v>
                </c:pt>
                <c:pt idx="13">
                  <c:v>0.49213483146067416</c:v>
                </c:pt>
                <c:pt idx="14">
                  <c:v>0.57272727272727275</c:v>
                </c:pt>
                <c:pt idx="15">
                  <c:v>0.48087431693989069</c:v>
                </c:pt>
                <c:pt idx="16">
                  <c:v>0.59468438538205981</c:v>
                </c:pt>
                <c:pt idx="17">
                  <c:v>0.45331325301204817</c:v>
                </c:pt>
                <c:pt idx="18">
                  <c:v>0.42983651226158037</c:v>
                </c:pt>
                <c:pt idx="19">
                  <c:v>0.50931677018633537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7F-4244-A036-D829C6D5000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  <c:max val="0.70000000000000007"/>
        </c:scaling>
        <c:delete val="1"/>
        <c:axPos val="l"/>
        <c:numFmt formatCode="0%" sourceLinked="1"/>
        <c:majorTickMark val="out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Hoja1!$B$2:$B$10</c:f>
              <c:strCache>
                <c:ptCount val="9"/>
                <c:pt idx="0">
                  <c:v>Mujer</c:v>
                </c:pt>
                <c:pt idx="1">
                  <c:v>Hombre</c:v>
                </c:pt>
                <c:pt idx="3">
                  <c:v>Diurna</c:v>
                </c:pt>
                <c:pt idx="4">
                  <c:v>Vespertina</c:v>
                </c:pt>
                <c:pt idx="6">
                  <c:v>Inicio</c:v>
                </c:pt>
                <c:pt idx="7">
                  <c:v>Continuidad</c:v>
                </c:pt>
                <c:pt idx="8">
                  <c:v>Admisión especial</c:v>
                </c:pt>
              </c:strCache>
            </c:strRef>
          </c:cat>
          <c:val>
            <c:numRef>
              <c:f>Hoja1!$C$2:$C$10</c:f>
              <c:numCache>
                <c:formatCode>0%</c:formatCode>
                <c:ptCount val="9"/>
                <c:pt idx="0">
                  <c:v>0.50485236423704316</c:v>
                </c:pt>
                <c:pt idx="1">
                  <c:v>0.4220941883767535</c:v>
                </c:pt>
                <c:pt idx="3">
                  <c:v>0.49084756191355178</c:v>
                </c:pt>
                <c:pt idx="4">
                  <c:v>0.39991463935125909</c:v>
                </c:pt>
                <c:pt idx="6">
                  <c:v>0.46141767608793183</c:v>
                </c:pt>
                <c:pt idx="7">
                  <c:v>0.47033358798064678</c:v>
                </c:pt>
                <c:pt idx="8">
                  <c:v>0.48922413793103448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B5-48D2-A2DA-018007FC96D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CA8-4450-9627-F44119B2DC5A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CA8-4450-9627-F44119B2DC5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0.24581308622443199</c:v>
                </c:pt>
                <c:pt idx="1">
                  <c:v>0.75418691377556801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CA8-4450-9627-F44119B2DC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B94-407E-A310-D2856421DBE6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B94-407E-A310-D2856421DBE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0.51039290240811197</c:v>
                </c:pt>
                <c:pt idx="1">
                  <c:v>0.48960709759188797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B94-407E-A310-D2856421DB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CA8-4450-9627-F44119B2DC5A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CA8-4450-9627-F44119B2DC5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0.24581308622443199</c:v>
                </c:pt>
                <c:pt idx="1">
                  <c:v>0.75418691377556801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CA8-4450-9627-F44119B2DC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Sí</c:v>
                </c:pt>
              </c:strCache>
            </c:strRef>
          </c:tx>
          <c:spPr>
            <a:solidFill>
              <a:srgbClr val="F8961E"/>
            </a:solidFill>
            <a:ln>
              <a:solidFill>
                <a:srgbClr val="F8961E"/>
              </a:solidFill>
            </a:ln>
            <a:effectLst/>
          </c:spPr>
          <c:invertIfNegative val="0"/>
          <c:cat>
            <c:strRef>
              <c:f>Hoja1!$A$2:$A$4</c:f>
              <c:strCache>
                <c:ptCount val="3"/>
                <c:pt idx="0">
                  <c:v>Ideación pasiva (i3)</c:v>
                </c:pt>
                <c:pt idx="1">
                  <c:v>Ideación activa (i4)</c:v>
                </c:pt>
                <c:pt idx="2">
                  <c:v>Ideación activa y detallada (i5)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0.7</c:v>
                </c:pt>
                <c:pt idx="1">
                  <c:v>0.5</c:v>
                </c:pt>
                <c:pt idx="2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45-4FA5-B234-845B1F50F895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No</c:v>
                </c:pt>
              </c:strCache>
            </c:strRef>
          </c:tx>
          <c:spPr>
            <a:solidFill>
              <a:srgbClr val="00223A"/>
            </a:solidFill>
            <a:ln>
              <a:solidFill>
                <a:srgbClr val="00223A"/>
              </a:solidFill>
            </a:ln>
            <a:effectLst/>
          </c:spPr>
          <c:invertIfNegative val="0"/>
          <c:cat>
            <c:strRef>
              <c:f>Hoja1!$A$2:$A$4</c:f>
              <c:strCache>
                <c:ptCount val="3"/>
                <c:pt idx="0">
                  <c:v>Ideación pasiva (i3)</c:v>
                </c:pt>
                <c:pt idx="1">
                  <c:v>Ideación activa (i4)</c:v>
                </c:pt>
                <c:pt idx="2">
                  <c:v>Ideación activa y detallada (i5)</c:v>
                </c:pt>
              </c:strCache>
            </c:strRef>
          </c:cat>
          <c:val>
            <c:numRef>
              <c:f>Hoja1!$C$2:$C$4</c:f>
              <c:numCache>
                <c:formatCode>0%</c:formatCode>
                <c:ptCount val="3"/>
                <c:pt idx="0">
                  <c:v>0.3</c:v>
                </c:pt>
                <c:pt idx="1">
                  <c:v>0.5</c:v>
                </c:pt>
                <c:pt idx="2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345-4FA5-B234-845B1F50F8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70564719"/>
        <c:axId val="1771217823"/>
      </c:barChart>
      <c:catAx>
        <c:axId val="1770564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pPr>
            <a:endParaRPr lang="es-CL"/>
          </a:p>
        </c:txPr>
        <c:crossAx val="1771217823"/>
        <c:crosses val="autoZero"/>
        <c:auto val="1"/>
        <c:lblAlgn val="ctr"/>
        <c:lblOffset val="100"/>
        <c:noMultiLvlLbl val="0"/>
      </c:catAx>
      <c:valAx>
        <c:axId val="1771217823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7705647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0AC-47D9-80D0-B6E43C107386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0AC-47D9-80D0-B6E43C10738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0AC-47D9-80D0-B6E43C10738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0.32</c:v>
                </c:pt>
                <c:pt idx="1">
                  <c:v>0.68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0AC-47D9-80D0-B6E43C1073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1A-4574-B37D-5284DC7AFB9E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AA-4E0A-B33A-396F6E997B3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0.44581308622443216</c:v>
                </c:pt>
                <c:pt idx="1">
                  <c:v>0.55418691377556784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AA-4E0A-B33A-396F6E997B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227-4A4E-A6E9-33F796530005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227-4A4E-A6E9-33F79653000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0.41039290240811155</c:v>
                </c:pt>
                <c:pt idx="1">
                  <c:v>0.58960709759188845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227-4A4E-A6E9-33F7965300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1A-4574-B37D-5284DC7AFB9E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AA-4E0A-B33A-396F6E997B3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Dentro de Duoc UC</c:v>
                </c:pt>
                <c:pt idx="1">
                  <c:v>Fuera de Duoc UC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0.72</c:v>
                </c:pt>
                <c:pt idx="1">
                  <c:v>0.28000000000000003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AA-4E0A-B33A-396F6E997B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227-4A4E-A6E9-33F796530005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227-4A4E-A6E9-33F79653000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421-4616-B0FC-616CC97A5B6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Hoja1!$A$2:$A$4</c:f>
              <c:strCache>
                <c:ptCount val="3"/>
                <c:pt idx="0">
                  <c:v>Psicológico</c:v>
                </c:pt>
                <c:pt idx="1">
                  <c:v>Médico/psiquiátrico</c:v>
                </c:pt>
                <c:pt idx="2">
                  <c:v>Ambos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0.7</c:v>
                </c:pt>
                <c:pt idx="1">
                  <c:v>0.25</c:v>
                </c:pt>
                <c:pt idx="2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227-4A4E-A6E9-33F7965300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</a:rPr>
              <a:t>Si crees haber necesitado apoyo o tratamiento en salud mental pero no has accedido a él, ¿qué tan importantes fueron las siguientes razones para no buscar ayuda?* (Importante + Muy importante)</a:t>
            </a:r>
            <a:endParaRPr lang="es-CL" sz="16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Importante + Muy importante</c:v>
                </c:pt>
              </c:strCache>
            </c:strRef>
          </c:tx>
          <c:spPr>
            <a:solidFill>
              <a:srgbClr val="CC0000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74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AFB-4D12-9DE7-7B8A9AF6AB9A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FAFB-4D12-9DE7-7B8A9AF6AB9A}"/>
              </c:ext>
            </c:extLst>
          </c:dPt>
          <c:dPt>
            <c:idx val="7"/>
            <c:invertIfNegative val="0"/>
            <c:bubble3D val="0"/>
            <c:spPr>
              <a:solidFill>
                <a:srgbClr val="74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AFB-4D12-9DE7-7B8A9AF6AB9A}"/>
              </c:ext>
            </c:extLst>
          </c:dPt>
          <c:dPt>
            <c:idx val="8"/>
            <c:invertIfNegative val="0"/>
            <c:bubble3D val="0"/>
            <c:spPr>
              <a:solidFill>
                <a:srgbClr val="74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87FF-46DC-AA1D-CCCF1222E39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Hoja1!$A$2:$A$10</c:f>
              <c:strCache>
                <c:ptCount val="9"/>
                <c:pt idx="0">
                  <c:v>Preferiste hablarlo con amigos o parientes. </c:v>
                </c:pt>
                <c:pt idx="1">
                  <c:v>No estabas seguro de que los tratamientos disponibles fueran muy eficaces. </c:v>
                </c:pt>
                <c:pt idx="2">
                  <c:v>Te preocupaba que la gente te tratara diferente si supiera que estabas en tratamiento.</c:v>
                </c:pt>
                <c:pt idx="3">
                  <c:v>Te daba demasiada vergüenza. </c:v>
                </c:pt>
                <c:pt idx="4">
                  <c:v>Temías que pudiese perjudicar tu carrera académica. </c:v>
                </c:pt>
                <c:pt idx="5">
                  <c:v>Tuviste problemas de tiempo, desplazamientos o de horario. </c:v>
                </c:pt>
                <c:pt idx="6">
                  <c:v>Querías afrontar el problema por tu cuenta. </c:v>
                </c:pt>
                <c:pt idx="7">
                  <c:v>No estabas seguro de a dónde ir o a quién consultar. </c:v>
                </c:pt>
                <c:pt idx="8">
                  <c:v>Costaba demasiado dinero. </c:v>
                </c:pt>
              </c:strCache>
            </c:strRef>
          </c:cat>
          <c:val>
            <c:numRef>
              <c:f>Hoja1!$B$2:$B$10</c:f>
              <c:numCache>
                <c:formatCode>0%</c:formatCode>
                <c:ptCount val="9"/>
                <c:pt idx="0">
                  <c:v>0.24247635425623387</c:v>
                </c:pt>
                <c:pt idx="1">
                  <c:v>0.27687016337059328</c:v>
                </c:pt>
                <c:pt idx="2">
                  <c:v>0.2936371453138435</c:v>
                </c:pt>
                <c:pt idx="3">
                  <c:v>0.34307824591573521</c:v>
                </c:pt>
                <c:pt idx="4">
                  <c:v>0.39036973344797932</c:v>
                </c:pt>
                <c:pt idx="5">
                  <c:v>0.48753224419604474</c:v>
                </c:pt>
                <c:pt idx="6">
                  <c:v>0.5438521066208083</c:v>
                </c:pt>
                <c:pt idx="7">
                  <c:v>0.64531384350816845</c:v>
                </c:pt>
                <c:pt idx="8">
                  <c:v>0.71066208082545146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C7-43BC-9E2C-F8AC3E6A728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48736048"/>
        <c:axId val="171021936"/>
      </c:barChart>
      <c:catAx>
        <c:axId val="3487360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t" anchorCtr="1"/>
          <a:lstStyle/>
          <a:p>
            <a:pPr>
              <a:defRPr sz="12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71021936"/>
        <c:crosses val="autoZero"/>
        <c:auto val="1"/>
        <c:lblAlgn val="l"/>
        <c:lblOffset val="100"/>
        <c:noMultiLvlLbl val="0"/>
      </c:catAx>
      <c:valAx>
        <c:axId val="171021936"/>
        <c:scaling>
          <c:orientation val="minMax"/>
          <c:max val="1"/>
        </c:scaling>
        <c:delete val="1"/>
        <c:axPos val="b"/>
        <c:numFmt formatCode="0%" sourceLinked="1"/>
        <c:majorTickMark val="none"/>
        <c:minorTickMark val="none"/>
        <c:tickLblPos val="nextTo"/>
        <c:crossAx val="348736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56565A"/>
          </a:solidFill>
          <a:latin typeface="Calibri Light" panose="020F0302020204030204" pitchFamily="34" charset="0"/>
          <a:cs typeface="Calibri Light" panose="020F0302020204030204" pitchFamily="34" charset="0"/>
        </a:defRPr>
      </a:pPr>
      <a:endParaRPr lang="es-CL"/>
    </a:p>
  </c:txPr>
  <c:externalData r:id="rId3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Hoja1!$B$2:$B$21</c:f>
              <c:strCache>
                <c:ptCount val="20"/>
                <c:pt idx="0">
                  <c:v>Alameda</c:v>
                </c:pt>
                <c:pt idx="1">
                  <c:v>Antonio Varas</c:v>
                </c:pt>
                <c:pt idx="2">
                  <c:v>Campus Arauco</c:v>
                </c:pt>
                <c:pt idx="3">
                  <c:v>Campus Villarrica</c:v>
                </c:pt>
                <c:pt idx="4">
                  <c:v>Comunicaciones</c:v>
                </c:pt>
                <c:pt idx="5">
                  <c:v>Concepción</c:v>
                </c:pt>
                <c:pt idx="6">
                  <c:v>Maipú</c:v>
                </c:pt>
                <c:pt idx="7">
                  <c:v>Melipilla</c:v>
                </c:pt>
                <c:pt idx="8">
                  <c:v>Online</c:v>
                </c:pt>
                <c:pt idx="9">
                  <c:v>Padre Alonso De Ovalle</c:v>
                </c:pt>
                <c:pt idx="10">
                  <c:v>Plaza Norte</c:v>
                </c:pt>
                <c:pt idx="11">
                  <c:v>Plaza Oeste</c:v>
                </c:pt>
                <c:pt idx="12">
                  <c:v>Plaza Vespucio</c:v>
                </c:pt>
                <c:pt idx="13">
                  <c:v>Puente Alto</c:v>
                </c:pt>
                <c:pt idx="14">
                  <c:v>Puerto Montt</c:v>
                </c:pt>
                <c:pt idx="15">
                  <c:v>San Bernardo</c:v>
                </c:pt>
                <c:pt idx="16">
                  <c:v>San Carlos De Apoquindo</c:v>
                </c:pt>
                <c:pt idx="17">
                  <c:v>San Joaquín</c:v>
                </c:pt>
                <c:pt idx="18">
                  <c:v>Valparaíso</c:v>
                </c:pt>
                <c:pt idx="19">
                  <c:v>Viña Del Mar</c:v>
                </c:pt>
              </c:strCache>
            </c:strRef>
          </c:cat>
          <c:val>
            <c:numRef>
              <c:f>Hoja1!$C$2:$C$21</c:f>
              <c:numCache>
                <c:formatCode>0.0</c:formatCode>
                <c:ptCount val="20"/>
                <c:pt idx="0">
                  <c:v>6.625</c:v>
                </c:pt>
                <c:pt idx="1">
                  <c:v>6.34375</c:v>
                </c:pt>
                <c:pt idx="2">
                  <c:v>6.875</c:v>
                </c:pt>
                <c:pt idx="3">
                  <c:v>4.625</c:v>
                </c:pt>
                <c:pt idx="4">
                  <c:v>4.5</c:v>
                </c:pt>
                <c:pt idx="5">
                  <c:v>6.875</c:v>
                </c:pt>
                <c:pt idx="6">
                  <c:v>5.0625</c:v>
                </c:pt>
                <c:pt idx="7">
                  <c:v>4.65625</c:v>
                </c:pt>
                <c:pt idx="8">
                  <c:v>5.5</c:v>
                </c:pt>
                <c:pt idx="9">
                  <c:v>6</c:v>
                </c:pt>
                <c:pt idx="10">
                  <c:v>4.15625</c:v>
                </c:pt>
                <c:pt idx="11">
                  <c:v>5.59375</c:v>
                </c:pt>
                <c:pt idx="12">
                  <c:v>6.5625</c:v>
                </c:pt>
                <c:pt idx="13">
                  <c:v>6</c:v>
                </c:pt>
                <c:pt idx="14">
                  <c:v>5.6</c:v>
                </c:pt>
                <c:pt idx="15">
                  <c:v>4.6875</c:v>
                </c:pt>
                <c:pt idx="16">
                  <c:v>4.6875</c:v>
                </c:pt>
                <c:pt idx="17">
                  <c:v>6.0625</c:v>
                </c:pt>
                <c:pt idx="18">
                  <c:v>5.375</c:v>
                </c:pt>
                <c:pt idx="19">
                  <c:v>5.875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D2-49DB-81BA-194213ECDD4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Hoja1!$B$2:$B$19</c:f>
              <c:strCache>
                <c:ptCount val="18"/>
                <c:pt idx="0">
                  <c:v>Mujer</c:v>
                </c:pt>
                <c:pt idx="1">
                  <c:v>Hombre</c:v>
                </c:pt>
                <c:pt idx="3">
                  <c:v>Diurna</c:v>
                </c:pt>
                <c:pt idx="4">
                  <c:v>Vespertina</c:v>
                </c:pt>
                <c:pt idx="6">
                  <c:v>Inicio</c:v>
                </c:pt>
                <c:pt idx="7">
                  <c:v>Continuidad</c:v>
                </c:pt>
                <c:pt idx="8">
                  <c:v>Admisión especial</c:v>
                </c:pt>
                <c:pt idx="10">
                  <c:v>Administración y Negocios</c:v>
                </c:pt>
                <c:pt idx="11">
                  <c:v>Construcción</c:v>
                </c:pt>
                <c:pt idx="12">
                  <c:v>Diseño</c:v>
                </c:pt>
                <c:pt idx="13">
                  <c:v>Gastronomía</c:v>
                </c:pt>
                <c:pt idx="14">
                  <c:v>Informática y Telecomunicaciones</c:v>
                </c:pt>
                <c:pt idx="15">
                  <c:v>Ingeniería, Medio Ambiente y Recursos Naturales</c:v>
                </c:pt>
                <c:pt idx="16">
                  <c:v>Salud</c:v>
                </c:pt>
                <c:pt idx="17">
                  <c:v>Turismo y Hotelería</c:v>
                </c:pt>
              </c:strCache>
            </c:strRef>
          </c:cat>
          <c:val>
            <c:numRef>
              <c:f>Hoja1!$C$2:$C$19</c:f>
              <c:numCache>
                <c:formatCode>0.0</c:formatCode>
                <c:ptCount val="18"/>
                <c:pt idx="0">
                  <c:v>5.90625</c:v>
                </c:pt>
                <c:pt idx="1">
                  <c:v>5.5</c:v>
                </c:pt>
                <c:pt idx="3">
                  <c:v>5.6875</c:v>
                </c:pt>
                <c:pt idx="4">
                  <c:v>5.5625</c:v>
                </c:pt>
                <c:pt idx="6">
                  <c:v>5.625</c:v>
                </c:pt>
                <c:pt idx="7">
                  <c:v>5.9375</c:v>
                </c:pt>
                <c:pt idx="8">
                  <c:v>5.0625</c:v>
                </c:pt>
                <c:pt idx="10">
                  <c:v>5.96875</c:v>
                </c:pt>
                <c:pt idx="11">
                  <c:v>5.5</c:v>
                </c:pt>
                <c:pt idx="12">
                  <c:v>6</c:v>
                </c:pt>
                <c:pt idx="13">
                  <c:v>5.4375</c:v>
                </c:pt>
                <c:pt idx="14">
                  <c:v>5.53125</c:v>
                </c:pt>
                <c:pt idx="15">
                  <c:v>4.75</c:v>
                </c:pt>
                <c:pt idx="16">
                  <c:v>5.875</c:v>
                </c:pt>
                <c:pt idx="17">
                  <c:v>6.03125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90-4690-B858-EC10BFB34D6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Hoja1!$B$2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00223A"/>
            </a:solidFill>
            <a:ln>
              <a:solidFill>
                <a:srgbClr val="00223A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Hoja1!$A$3:$A$7</c:f>
              <c:strCache>
                <c:ptCount val="5"/>
                <c:pt idx="0">
                  <c:v>P</c:v>
                </c:pt>
                <c:pt idx="1">
                  <c:v>E</c:v>
                </c:pt>
                <c:pt idx="2">
                  <c:v>R</c:v>
                </c:pt>
                <c:pt idx="3">
                  <c:v>M</c:v>
                </c:pt>
                <c:pt idx="4">
                  <c:v>A</c:v>
                </c:pt>
              </c:strCache>
            </c:strRef>
          </c:cat>
          <c:val>
            <c:numRef>
              <c:f>Hoja1!$B$3:$B$7</c:f>
              <c:numCache>
                <c:formatCode>General</c:formatCode>
                <c:ptCount val="5"/>
                <c:pt idx="0">
                  <c:v>5.7</c:v>
                </c:pt>
                <c:pt idx="1">
                  <c:v>5.3</c:v>
                </c:pt>
                <c:pt idx="2">
                  <c:v>5.7</c:v>
                </c:pt>
                <c:pt idx="3" formatCode="0.00">
                  <c:v>6</c:v>
                </c:pt>
                <c:pt idx="4">
                  <c:v>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C8-4D31-A3EF-70FFE360D91A}"/>
            </c:ext>
          </c:extLst>
        </c:ser>
        <c:ser>
          <c:idx val="1"/>
          <c:order val="1"/>
          <c:tx>
            <c:strRef>
              <c:f>Hoja1!$C$2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D7D31"/>
            </a:solidFill>
            <a:ln>
              <a:solidFill>
                <a:srgbClr val="ED7D3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Hoja1!$A$3:$A$7</c:f>
              <c:strCache>
                <c:ptCount val="5"/>
                <c:pt idx="0">
                  <c:v>P</c:v>
                </c:pt>
                <c:pt idx="1">
                  <c:v>E</c:v>
                </c:pt>
                <c:pt idx="2">
                  <c:v>R</c:v>
                </c:pt>
                <c:pt idx="3">
                  <c:v>M</c:v>
                </c:pt>
                <c:pt idx="4">
                  <c:v>A</c:v>
                </c:pt>
              </c:strCache>
            </c:strRef>
          </c:cat>
          <c:val>
            <c:numRef>
              <c:f>Hoja1!$C$3:$C$7</c:f>
              <c:numCache>
                <c:formatCode>General</c:formatCode>
                <c:ptCount val="5"/>
                <c:pt idx="0" formatCode="0.0">
                  <c:v>6</c:v>
                </c:pt>
                <c:pt idx="1">
                  <c:v>5.4</c:v>
                </c:pt>
                <c:pt idx="2">
                  <c:v>5.9</c:v>
                </c:pt>
                <c:pt idx="3">
                  <c:v>5.4</c:v>
                </c:pt>
                <c:pt idx="4">
                  <c:v>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1C8-4D31-A3EF-70FFE360D9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32697903"/>
        <c:axId val="932698319"/>
      </c:barChart>
      <c:catAx>
        <c:axId val="9326979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932698319"/>
        <c:crosses val="autoZero"/>
        <c:auto val="1"/>
        <c:lblAlgn val="ctr"/>
        <c:lblOffset val="100"/>
        <c:noMultiLvlLbl val="0"/>
      </c:catAx>
      <c:valAx>
        <c:axId val="932698319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9326979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1033579762717293"/>
          <c:y val="0.94622929684249979"/>
          <c:w val="0.17932823920496768"/>
          <c:h val="5.377070315750025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Hoja1!$B$2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00223A"/>
            </a:solidFill>
            <a:ln>
              <a:solidFill>
                <a:srgbClr val="00223A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Hoja1!$A$3:$A$5</c:f>
              <c:strCache>
                <c:ptCount val="3"/>
                <c:pt idx="0">
                  <c:v>N</c:v>
                </c:pt>
                <c:pt idx="1">
                  <c:v>H</c:v>
                </c:pt>
                <c:pt idx="2">
                  <c:v>L</c:v>
                </c:pt>
              </c:strCache>
            </c:strRef>
          </c:cat>
          <c:val>
            <c:numRef>
              <c:f>Hoja1!$B$3:$B$5</c:f>
              <c:numCache>
                <c:formatCode>General</c:formatCode>
                <c:ptCount val="3"/>
                <c:pt idx="0" formatCode="0.0">
                  <c:v>3</c:v>
                </c:pt>
                <c:pt idx="1">
                  <c:v>5.3</c:v>
                </c:pt>
                <c:pt idx="2" formatCode="0.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C8-4D31-A3EF-70FFE360D91A}"/>
            </c:ext>
          </c:extLst>
        </c:ser>
        <c:ser>
          <c:idx val="1"/>
          <c:order val="1"/>
          <c:tx>
            <c:strRef>
              <c:f>Hoja1!$C$2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D7D31"/>
            </a:solidFill>
            <a:ln>
              <a:solidFill>
                <a:srgbClr val="ED7D3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Hoja1!$A$3:$A$5</c:f>
              <c:strCache>
                <c:ptCount val="3"/>
                <c:pt idx="0">
                  <c:v>N</c:v>
                </c:pt>
                <c:pt idx="1">
                  <c:v>H</c:v>
                </c:pt>
                <c:pt idx="2">
                  <c:v>L</c:v>
                </c:pt>
              </c:strCache>
            </c:strRef>
          </c:cat>
          <c:val>
            <c:numRef>
              <c:f>Hoja1!$C$3:$C$5</c:f>
              <c:numCache>
                <c:formatCode>General</c:formatCode>
                <c:ptCount val="3"/>
                <c:pt idx="0" formatCode="0.0">
                  <c:v>2.7</c:v>
                </c:pt>
                <c:pt idx="1">
                  <c:v>5.8</c:v>
                </c:pt>
                <c:pt idx="2">
                  <c:v>2.7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1C8-4D31-A3EF-70FFE360D9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32697903"/>
        <c:axId val="932698319"/>
      </c:barChart>
      <c:catAx>
        <c:axId val="9326979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932698319"/>
        <c:crosses val="autoZero"/>
        <c:auto val="1"/>
        <c:lblAlgn val="ctr"/>
        <c:lblOffset val="100"/>
        <c:noMultiLvlLbl val="0"/>
      </c:catAx>
      <c:valAx>
        <c:axId val="932698319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crossAx val="9326979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1033579762717293"/>
          <c:y val="0.94622929684249979"/>
          <c:w val="0.17932823920496768"/>
          <c:h val="5.377070315750025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</a:rPr>
              <a:t>Durante el último año, ¿cuán satisfecho/a te has sentido con el apoyo que has recibido por parte de…</a:t>
            </a:r>
            <a:endParaRPr lang="es-CL" sz="16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Muy insatisfecho</c:v>
                </c:pt>
              </c:strCache>
            </c:strRef>
          </c:tx>
          <c:spPr>
            <a:solidFill>
              <a:srgbClr val="E63C3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Amistades fuera de Duoc UC</c:v>
                </c:pt>
                <c:pt idx="1">
                  <c:v>Amistades dentro de Duoc UC</c:v>
                </c:pt>
                <c:pt idx="2">
                  <c:v>Familia</c:v>
                </c:pt>
                <c:pt idx="3">
                  <c:v>Autoridades de Duoc UC</c:v>
                </c:pt>
                <c:pt idx="4">
                  <c:v>Administrativos/as</c:v>
                </c:pt>
                <c:pt idx="5">
                  <c:v>Profesores/as</c:v>
                </c:pt>
              </c:strCache>
            </c:strRef>
          </c:cat>
          <c:val>
            <c:numRef>
              <c:f>Hoja1!$B$2:$B$7</c:f>
              <c:numCache>
                <c:formatCode>0%</c:formatCode>
                <c:ptCount val="6"/>
                <c:pt idx="0">
                  <c:v>5.6051531246468528E-2</c:v>
                </c:pt>
                <c:pt idx="1">
                  <c:v>5.6051531246468528E-2</c:v>
                </c:pt>
                <c:pt idx="2">
                  <c:v>5.0966210871284889E-2</c:v>
                </c:pt>
                <c:pt idx="3">
                  <c:v>9.0744716917165777E-2</c:v>
                </c:pt>
                <c:pt idx="4">
                  <c:v>6.6900214713526945E-2</c:v>
                </c:pt>
                <c:pt idx="5">
                  <c:v>3.2320036162278222E-2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BF-4212-9B4D-168CAC2258B7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Insatisfecho</c:v>
                </c:pt>
              </c:strCache>
            </c:strRef>
          </c:tx>
          <c:spPr>
            <a:solidFill>
              <a:srgbClr val="F9414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Amistades fuera de Duoc UC</c:v>
                </c:pt>
                <c:pt idx="1">
                  <c:v>Amistades dentro de Duoc UC</c:v>
                </c:pt>
                <c:pt idx="2">
                  <c:v>Familia</c:v>
                </c:pt>
                <c:pt idx="3">
                  <c:v>Autoridades de Duoc UC</c:v>
                </c:pt>
                <c:pt idx="4">
                  <c:v>Administrativos/as</c:v>
                </c:pt>
                <c:pt idx="5">
                  <c:v>Profesores/as</c:v>
                </c:pt>
              </c:strCache>
            </c:strRef>
          </c:cat>
          <c:val>
            <c:numRef>
              <c:f>Hoja1!$C$2:$C$7</c:f>
              <c:numCache>
                <c:formatCode>0%</c:formatCode>
                <c:ptCount val="6"/>
                <c:pt idx="0">
                  <c:v>5.8989716352130184E-2</c:v>
                </c:pt>
                <c:pt idx="1">
                  <c:v>5.8989716352130184E-2</c:v>
                </c:pt>
                <c:pt idx="2">
                  <c:v>6.7804271669115151E-2</c:v>
                </c:pt>
                <c:pt idx="3">
                  <c:v>0.11639733303198102</c:v>
                </c:pt>
                <c:pt idx="4">
                  <c:v>9.481297321731269E-2</c:v>
                </c:pt>
                <c:pt idx="5">
                  <c:v>4.0682563001469094E-2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8BF-4212-9B4D-168CAC2258B7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Ni satisfecho ni insatisfecho</c:v>
                </c:pt>
              </c:strCache>
            </c:strRef>
          </c:tx>
          <c:spPr>
            <a:solidFill>
              <a:srgbClr val="F8961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Amistades fuera de Duoc UC</c:v>
                </c:pt>
                <c:pt idx="1">
                  <c:v>Amistades dentro de Duoc UC</c:v>
                </c:pt>
                <c:pt idx="2">
                  <c:v>Familia</c:v>
                </c:pt>
                <c:pt idx="3">
                  <c:v>Autoridades de Duoc UC</c:v>
                </c:pt>
                <c:pt idx="4">
                  <c:v>Administrativos/as</c:v>
                </c:pt>
                <c:pt idx="5">
                  <c:v>Profesores/as</c:v>
                </c:pt>
              </c:strCache>
            </c:strRef>
          </c:cat>
          <c:val>
            <c:numRef>
              <c:f>Hoja1!$D$2:$D$7</c:f>
              <c:numCache>
                <c:formatCode>0%</c:formatCode>
                <c:ptCount val="6"/>
                <c:pt idx="0">
                  <c:v>0.13</c:v>
                </c:pt>
                <c:pt idx="1">
                  <c:v>0.23302068030285908</c:v>
                </c:pt>
                <c:pt idx="2">
                  <c:v>0.1785512487286699</c:v>
                </c:pt>
                <c:pt idx="3">
                  <c:v>0.47519493728104872</c:v>
                </c:pt>
                <c:pt idx="4">
                  <c:v>0.41665724940671262</c:v>
                </c:pt>
                <c:pt idx="5">
                  <c:v>0.27200813651260031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8BF-4212-9B4D-168CAC2258B7}"/>
            </c:ext>
          </c:extLst>
        </c:ser>
        <c:ser>
          <c:idx val="3"/>
          <c:order val="3"/>
          <c:tx>
            <c:strRef>
              <c:f>Hoja1!$E$1</c:f>
              <c:strCache>
                <c:ptCount val="1"/>
                <c:pt idx="0">
                  <c:v>Satisfecho</c:v>
                </c:pt>
              </c:strCache>
            </c:strRef>
          </c:tx>
          <c:spPr>
            <a:solidFill>
              <a:srgbClr val="4DBD9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Amistades fuera de Duoc UC</c:v>
                </c:pt>
                <c:pt idx="1">
                  <c:v>Amistades dentro de Duoc UC</c:v>
                </c:pt>
                <c:pt idx="2">
                  <c:v>Familia</c:v>
                </c:pt>
                <c:pt idx="3">
                  <c:v>Autoridades de Duoc UC</c:v>
                </c:pt>
                <c:pt idx="4">
                  <c:v>Administrativos/as</c:v>
                </c:pt>
                <c:pt idx="5">
                  <c:v>Profesores/as</c:v>
                </c:pt>
              </c:strCache>
            </c:strRef>
          </c:cat>
          <c:val>
            <c:numRef>
              <c:f>Hoja1!$E$2:$E$7</c:f>
              <c:numCache>
                <c:formatCode>0%</c:formatCode>
                <c:ptCount val="6"/>
                <c:pt idx="0">
                  <c:v>0.18</c:v>
                </c:pt>
                <c:pt idx="1">
                  <c:v>0.37518363656910386</c:v>
                </c:pt>
                <c:pt idx="2">
                  <c:v>0.34455870719855353</c:v>
                </c:pt>
                <c:pt idx="3">
                  <c:v>0.23686292236410894</c:v>
                </c:pt>
                <c:pt idx="4">
                  <c:v>0.31370776358910613</c:v>
                </c:pt>
                <c:pt idx="5">
                  <c:v>0.43790258786303538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8BF-4212-9B4D-168CAC2258B7}"/>
            </c:ext>
          </c:extLst>
        </c:ser>
        <c:ser>
          <c:idx val="4"/>
          <c:order val="4"/>
          <c:tx>
            <c:strRef>
              <c:f>Hoja1!$F$1</c:f>
              <c:strCache>
                <c:ptCount val="1"/>
                <c:pt idx="0">
                  <c:v>Muy satisfecho</c:v>
                </c:pt>
              </c:strCache>
            </c:strRef>
          </c:tx>
          <c:spPr>
            <a:solidFill>
              <a:srgbClr val="43AA8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Amistades fuera de Duoc UC</c:v>
                </c:pt>
                <c:pt idx="1">
                  <c:v>Amistades dentro de Duoc UC</c:v>
                </c:pt>
                <c:pt idx="2">
                  <c:v>Familia</c:v>
                </c:pt>
                <c:pt idx="3">
                  <c:v>Autoridades de Duoc UC</c:v>
                </c:pt>
                <c:pt idx="4">
                  <c:v>Administrativos/as</c:v>
                </c:pt>
                <c:pt idx="5">
                  <c:v>Profesores/as</c:v>
                </c:pt>
              </c:strCache>
            </c:strRef>
          </c:cat>
          <c:val>
            <c:numRef>
              <c:f>Hoja1!$F$2:$F$7</c:f>
              <c:numCache>
                <c:formatCode>0%</c:formatCode>
                <c:ptCount val="6"/>
                <c:pt idx="0">
                  <c:v>0.38</c:v>
                </c:pt>
                <c:pt idx="1">
                  <c:v>0.27675443552943835</c:v>
                </c:pt>
                <c:pt idx="2">
                  <c:v>0.35811956153237656</c:v>
                </c:pt>
                <c:pt idx="3">
                  <c:v>8.0800090405695565E-2</c:v>
                </c:pt>
                <c:pt idx="4">
                  <c:v>0.10792179907334162</c:v>
                </c:pt>
                <c:pt idx="5">
                  <c:v>0.21708667646061702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8BF-4212-9B4D-168CAC2258B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48736048"/>
        <c:axId val="171021936"/>
      </c:barChart>
      <c:catAx>
        <c:axId val="3487360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t" anchorCtr="1"/>
          <a:lstStyle/>
          <a:p>
            <a:pPr>
              <a:defRPr sz="12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71021936"/>
        <c:crosses val="autoZero"/>
        <c:auto val="1"/>
        <c:lblAlgn val="l"/>
        <c:lblOffset val="100"/>
        <c:noMultiLvlLbl val="0"/>
      </c:catAx>
      <c:valAx>
        <c:axId val="1710219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348736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56565A"/>
          </a:solidFill>
          <a:latin typeface="Calibri Light" panose="020F0302020204030204" pitchFamily="34" charset="0"/>
          <a:cs typeface="Calibri Light" panose="020F0302020204030204" pitchFamily="34" charset="0"/>
        </a:defRPr>
      </a:pPr>
      <a:endParaRPr lang="es-CL"/>
    </a:p>
  </c:txPr>
  <c:externalData r:id="rId3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63522976889398519"/>
          <c:y val="8.7589237262095474E-3"/>
          <c:w val="0.34693910847549336"/>
          <c:h val="0.85236668634009305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Apreciación negativa</c:v>
                </c:pt>
              </c:strCache>
            </c:strRef>
          </c:tx>
          <c:spPr>
            <a:solidFill>
              <a:srgbClr val="ED7D3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Confío en mi capacidad para afrontar las altas exigencias de la situación.</c:v>
                </c:pt>
                <c:pt idx="1">
                  <c:v>Me siento completamente en control de mis acciones.</c:v>
                </c:pt>
                <c:pt idx="2">
                  <c:v>En cada paso, sé exactamente lo que tengo que hacer.</c:v>
                </c:pt>
                <c:pt idx="3">
                  <c:v>Estoy totalmente absorto/a en lo que estoy haciendo.</c:v>
                </c:pt>
                <c:pt idx="4">
                  <c:v>Estoy profundamente concentrado/a en lo que estoy haciendo.</c:v>
                </c:pt>
                <c:pt idx="5">
                  <c:v>Suelo perder la noción del tiempo.</c:v>
                </c:pt>
                <c:pt idx="6">
                  <c:v>No me importa lo que los demás puedan pensar de mí.</c:v>
                </c:pt>
                <c:pt idx="7">
                  <c:v>No me preocupa el juicio de los demás.</c:v>
                </c:pt>
                <c:pt idx="8">
                  <c:v>No me preocupa lo que los demás puedan pensar de mí.</c:v>
                </c:pt>
                <c:pt idx="9">
                  <c:v>Tengo la sensación de que estoy viviendo una experiencia muy emocionante.</c:v>
                </c:pt>
                <c:pt idx="10">
                  <c:v>Esta actividad me produce una sensación de bienestar.</c:v>
                </c:pt>
                <c:pt idx="11">
                  <c:v>Cuando hablo de esta actividad, siento una emoción tan profunda que quiero compartirla.</c:v>
                </c:pt>
              </c:strCache>
            </c:strRef>
          </c:cat>
          <c:val>
            <c:numRef>
              <c:f>Sheet1!$B$2:$B$13</c:f>
              <c:numCache>
                <c:formatCode>0%</c:formatCode>
                <c:ptCount val="12"/>
                <c:pt idx="0">
                  <c:v>5.6234845860755098E-2</c:v>
                </c:pt>
                <c:pt idx="1">
                  <c:v>0.22099064773120891</c:v>
                </c:pt>
                <c:pt idx="2">
                  <c:v>0.10350883269830199</c:v>
                </c:pt>
                <c:pt idx="3">
                  <c:v>0.123900242466227</c:v>
                </c:pt>
                <c:pt idx="4">
                  <c:v>0.21939729823345999</c:v>
                </c:pt>
                <c:pt idx="5">
                  <c:v>0.13775545549012799</c:v>
                </c:pt>
                <c:pt idx="6">
                  <c:v>0.1905091790786283</c:v>
                </c:pt>
                <c:pt idx="7">
                  <c:v>0.2105992379632837</c:v>
                </c:pt>
                <c:pt idx="8">
                  <c:v>0.13775545549012799</c:v>
                </c:pt>
                <c:pt idx="9">
                  <c:v>0.22099064773120891</c:v>
                </c:pt>
                <c:pt idx="10">
                  <c:v>0.13775545549012799</c:v>
                </c:pt>
                <c:pt idx="11">
                  <c:v>0.24260478004849301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39-4A59-BD93-ACABDE7B54A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Apreciación neutra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9.2090799788292679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239-4A59-BD93-ACABDE7B54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Confío en mi capacidad para afrontar las altas exigencias de la situación.</c:v>
                </c:pt>
                <c:pt idx="1">
                  <c:v>Me siento completamente en control de mis acciones.</c:v>
                </c:pt>
                <c:pt idx="2">
                  <c:v>En cada paso, sé exactamente lo que tengo que hacer.</c:v>
                </c:pt>
                <c:pt idx="3">
                  <c:v>Estoy totalmente absorto/a en lo que estoy haciendo.</c:v>
                </c:pt>
                <c:pt idx="4">
                  <c:v>Estoy profundamente concentrado/a en lo que estoy haciendo.</c:v>
                </c:pt>
                <c:pt idx="5">
                  <c:v>Suelo perder la noción del tiempo.</c:v>
                </c:pt>
                <c:pt idx="6">
                  <c:v>No me importa lo que los demás puedan pensar de mí.</c:v>
                </c:pt>
                <c:pt idx="7">
                  <c:v>No me preocupa el juicio de los demás.</c:v>
                </c:pt>
                <c:pt idx="8">
                  <c:v>No me preocupa lo que los demás puedan pensar de mí.</c:v>
                </c:pt>
                <c:pt idx="9">
                  <c:v>Tengo la sensación de que estoy viviendo una experiencia muy emocionante.</c:v>
                </c:pt>
                <c:pt idx="10">
                  <c:v>Esta actividad me produce una sensación de bienestar.</c:v>
                </c:pt>
                <c:pt idx="11">
                  <c:v>Cuando hablo de esta actividad, siento una emoción tan profunda que quiero compartirla.</c:v>
                </c:pt>
              </c:strCache>
            </c:strRef>
          </c:cat>
          <c:val>
            <c:numRef>
              <c:f>Sheet1!$C$2:$C$13</c:f>
              <c:numCache>
                <c:formatCode>0%</c:formatCode>
                <c:ptCount val="12"/>
                <c:pt idx="0">
                  <c:v>4.6414963630065822E-2</c:v>
                </c:pt>
                <c:pt idx="1">
                  <c:v>0.32455836508486319</c:v>
                </c:pt>
                <c:pt idx="2">
                  <c:v>9.0751645306546586E-2</c:v>
                </c:pt>
                <c:pt idx="3">
                  <c:v>0.14409421544856249</c:v>
                </c:pt>
                <c:pt idx="4">
                  <c:v>0.1236577762383097</c:v>
                </c:pt>
                <c:pt idx="5">
                  <c:v>9.9168687218566004E-2</c:v>
                </c:pt>
                <c:pt idx="6">
                  <c:v>0.31763075857291312</c:v>
                </c:pt>
                <c:pt idx="7">
                  <c:v>0.35885001731901628</c:v>
                </c:pt>
                <c:pt idx="8">
                  <c:v>0.19916868721856601</c:v>
                </c:pt>
                <c:pt idx="9">
                  <c:v>0.32455836508486319</c:v>
                </c:pt>
                <c:pt idx="10">
                  <c:v>9.9168687218566004E-2</c:v>
                </c:pt>
                <c:pt idx="11">
                  <c:v>0.16522341531001039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239-4A59-BD93-ACABDE7B54A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Apreciación positiva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Confío en mi capacidad para afrontar las altas exigencias de la situación.</c:v>
                </c:pt>
                <c:pt idx="1">
                  <c:v>Me siento completamente en control de mis acciones.</c:v>
                </c:pt>
                <c:pt idx="2">
                  <c:v>En cada paso, sé exactamente lo que tengo que hacer.</c:v>
                </c:pt>
                <c:pt idx="3">
                  <c:v>Estoy totalmente absorto/a en lo que estoy haciendo.</c:v>
                </c:pt>
                <c:pt idx="4">
                  <c:v>Estoy profundamente concentrado/a en lo que estoy haciendo.</c:v>
                </c:pt>
                <c:pt idx="5">
                  <c:v>Suelo perder la noción del tiempo.</c:v>
                </c:pt>
                <c:pt idx="6">
                  <c:v>No me importa lo que los demás puedan pensar de mí.</c:v>
                </c:pt>
                <c:pt idx="7">
                  <c:v>No me preocupa el juicio de los demás.</c:v>
                </c:pt>
                <c:pt idx="8">
                  <c:v>No me preocupa lo que los demás puedan pensar de mí.</c:v>
                </c:pt>
                <c:pt idx="9">
                  <c:v>Tengo la sensación de que estoy viviendo una experiencia muy emocionante.</c:v>
                </c:pt>
                <c:pt idx="10">
                  <c:v>Esta actividad me produce una sensación de bienestar.</c:v>
                </c:pt>
                <c:pt idx="11">
                  <c:v>Cuando hablo de esta actividad, siento una emoción tan profunda que quiero compartirla.</c:v>
                </c:pt>
              </c:strCache>
            </c:strRef>
          </c:cat>
          <c:val>
            <c:numRef>
              <c:f>Sheet1!$D$2:$D$13</c:f>
              <c:numCache>
                <c:formatCode>0%</c:formatCode>
                <c:ptCount val="12"/>
                <c:pt idx="0">
                  <c:v>0.89735019050917897</c:v>
                </c:pt>
                <c:pt idx="1">
                  <c:v>0.45445098718392801</c:v>
                </c:pt>
                <c:pt idx="2">
                  <c:v>0.79573952199515097</c:v>
                </c:pt>
                <c:pt idx="3">
                  <c:v>0.73200554208520996</c:v>
                </c:pt>
                <c:pt idx="4">
                  <c:v>0.65694492552823003</c:v>
                </c:pt>
                <c:pt idx="5">
                  <c:v>0.76307585729130589</c:v>
                </c:pt>
                <c:pt idx="6">
                  <c:v>0.49186006234845858</c:v>
                </c:pt>
                <c:pt idx="7">
                  <c:v>0.43055074471770011</c:v>
                </c:pt>
                <c:pt idx="8">
                  <c:v>0.66307585729130603</c:v>
                </c:pt>
                <c:pt idx="9">
                  <c:v>0.45445098718392801</c:v>
                </c:pt>
                <c:pt idx="10">
                  <c:v>0.76307585729130589</c:v>
                </c:pt>
                <c:pt idx="11">
                  <c:v>0.59217180464149599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239-4A59-BD93-ACABDE7B54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100"/>
        <c:axId val="348736048"/>
        <c:axId val="171021936"/>
      </c:barChart>
      <c:catAx>
        <c:axId val="3487360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t" anchorCtr="1"/>
          <a:lstStyle/>
          <a:p>
            <a:pPr>
              <a:defRPr sz="1200" b="0" i="0" u="none" strike="noStrike" kern="1200" baseline="0">
                <a:solidFill>
                  <a:schemeClr val="tx2">
                    <a:lumMod val="2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71021936"/>
        <c:crosses val="autoZero"/>
        <c:auto val="1"/>
        <c:lblAlgn val="ctr"/>
        <c:lblOffset val="100"/>
        <c:noMultiLvlLbl val="0"/>
      </c:catAx>
      <c:valAx>
        <c:axId val="171021936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348736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56565A"/>
          </a:solidFill>
          <a:latin typeface="Calibri Light" panose="020F0302020204030204" pitchFamily="34" charset="0"/>
          <a:cs typeface="Calibri Light" panose="020F0302020204030204" pitchFamily="34" charset="0"/>
        </a:defRPr>
      </a:pPr>
      <a:endParaRPr lang="es-CL"/>
    </a:p>
  </c:txPr>
  <c:externalData r:id="rId3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Típicamente, ¿con qué frecuencia realizas ejercicio o actividad física durante al menos 30 minutos?</a:t>
            </a:r>
            <a:endParaRPr lang="es-CL" sz="1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>
        <c:manualLayout>
          <c:layoutTarget val="inner"/>
          <c:xMode val="edge"/>
          <c:yMode val="edge"/>
          <c:x val="0.2437250291630213"/>
          <c:y val="0.22276104584733825"/>
          <c:w val="0.46393883056284629"/>
          <c:h val="0.56471185951834224"/>
        </c:manualLayout>
      </c:layout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3B7-4F7D-BBC4-5086159EAB57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3B7-4F7D-BBC4-5086159EAB5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3B7-4F7D-BBC4-5086159EAB5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3B7-4F7D-BBC4-5086159EAB5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Hoja1!$A$2:$A$5</c:f>
              <c:strCache>
                <c:ptCount val="4"/>
                <c:pt idx="0">
                  <c:v>Nunca</c:v>
                </c:pt>
                <c:pt idx="1">
                  <c:v>1 vez por semana</c:v>
                </c:pt>
                <c:pt idx="2">
                  <c:v>2 veces por semana</c:v>
                </c:pt>
                <c:pt idx="3">
                  <c:v>3 o más veces por semana</c:v>
                </c:pt>
              </c:strCache>
            </c:strRef>
          </c:cat>
          <c:val>
            <c:numRef>
              <c:f>Hoja1!$B$2:$B$5</c:f>
              <c:numCache>
                <c:formatCode>0%</c:formatCode>
                <c:ptCount val="4"/>
                <c:pt idx="0">
                  <c:v>0.375893697083725</c:v>
                </c:pt>
                <c:pt idx="1">
                  <c:v>0.25119002822201297</c:v>
                </c:pt>
                <c:pt idx="2">
                  <c:v>0.111933207902164</c:v>
                </c:pt>
                <c:pt idx="3">
                  <c:v>0.26098306679209798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3B7-4F7D-BBC4-5086159EAB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46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800" b="0" i="0" u="none" strike="noStrike" baseline="0" dirty="0">
                <a:effectLst/>
              </a:rPr>
              <a:t>En una semana habitual, con qué frecuencia:</a:t>
            </a:r>
            <a:endParaRPr lang="es-CL" sz="18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Ningún día</c:v>
                </c:pt>
              </c:strCache>
            </c:strRef>
          </c:tx>
          <c:spPr>
            <a:solidFill>
              <a:srgbClr val="E63C3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Hoja1!$A$2:$A$2</c:f>
              <c:strCache>
                <c:ptCount val="1"/>
                <c:pt idx="0">
                  <c:v>Desayunas, almuerzas y comes en horarios habituales</c:v>
                </c:pt>
              </c:strCache>
            </c:strRef>
          </c:cat>
          <c:val>
            <c:numRef>
              <c:f>Hoja1!$B$2:$B$2</c:f>
              <c:numCache>
                <c:formatCode>0%</c:formatCode>
                <c:ptCount val="1"/>
                <c:pt idx="0">
                  <c:v>0.15666901905434016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86-48AD-9110-AB5F9FC58C83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Algunos días</c:v>
                </c:pt>
              </c:strCache>
            </c:strRef>
          </c:tx>
          <c:spPr>
            <a:solidFill>
              <a:srgbClr val="F9414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Hoja1!$A$2:$A$2</c:f>
              <c:strCache>
                <c:ptCount val="1"/>
                <c:pt idx="0">
                  <c:v>Desayunas, almuerzas y comes en horarios habituales</c:v>
                </c:pt>
              </c:strCache>
            </c:strRef>
          </c:cat>
          <c:val>
            <c:numRef>
              <c:f>Hoja1!$C$2:$C$2</c:f>
              <c:numCache>
                <c:formatCode>0%</c:formatCode>
                <c:ptCount val="1"/>
                <c:pt idx="0">
                  <c:v>0.41766643142789933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486-48AD-9110-AB5F9FC58C83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La mayoría de los días</c:v>
                </c:pt>
              </c:strCache>
            </c:strRef>
          </c:tx>
          <c:spPr>
            <a:solidFill>
              <a:srgbClr val="F8961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Hoja1!$A$2:$A$2</c:f>
              <c:strCache>
                <c:ptCount val="1"/>
                <c:pt idx="0">
                  <c:v>Desayunas, almuerzas y comes en horarios habituales</c:v>
                </c:pt>
              </c:strCache>
            </c:strRef>
          </c:cat>
          <c:val>
            <c:numRef>
              <c:f>Hoja1!$D$2:$D$2</c:f>
              <c:numCache>
                <c:formatCode>0%</c:formatCode>
                <c:ptCount val="1"/>
                <c:pt idx="0">
                  <c:v>0.27205363443895553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486-48AD-9110-AB5F9FC58C83}"/>
            </c:ext>
          </c:extLst>
        </c:ser>
        <c:ser>
          <c:idx val="3"/>
          <c:order val="3"/>
          <c:tx>
            <c:strRef>
              <c:f>Hoja1!$E$1</c:f>
              <c:strCache>
                <c:ptCount val="1"/>
                <c:pt idx="0">
                  <c:v>Todos los días</c:v>
                </c:pt>
              </c:strCache>
            </c:strRef>
          </c:tx>
          <c:spPr>
            <a:solidFill>
              <a:srgbClr val="4DBD9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Hoja1!$A$2:$A$2</c:f>
              <c:strCache>
                <c:ptCount val="1"/>
                <c:pt idx="0">
                  <c:v>Desayunas, almuerzas y comes en horarios habituales</c:v>
                </c:pt>
              </c:strCache>
            </c:strRef>
          </c:cat>
          <c:val>
            <c:numRef>
              <c:f>Hoja1!$E$2:$E$2</c:f>
              <c:numCache>
                <c:formatCode>0%</c:formatCode>
                <c:ptCount val="1"/>
                <c:pt idx="0">
                  <c:v>0.15361091507880498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486-48AD-9110-AB5F9FC58C8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48736048"/>
        <c:axId val="171021936"/>
      </c:barChart>
      <c:catAx>
        <c:axId val="3487360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t" anchorCtr="1"/>
          <a:lstStyle/>
          <a:p>
            <a:pPr>
              <a:defRPr sz="14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71021936"/>
        <c:crosses val="autoZero"/>
        <c:auto val="1"/>
        <c:lblAlgn val="l"/>
        <c:lblOffset val="100"/>
        <c:noMultiLvlLbl val="0"/>
      </c:catAx>
      <c:valAx>
        <c:axId val="1710219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348736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56565A"/>
          </a:solidFill>
          <a:latin typeface="Calibri Light" panose="020F0302020204030204" pitchFamily="34" charset="0"/>
          <a:cs typeface="Calibri Light" panose="020F0302020204030204" pitchFamily="34" charset="0"/>
        </a:defRPr>
      </a:pPr>
      <a:endParaRPr lang="es-CL"/>
    </a:p>
  </c:txPr>
  <c:externalData r:id="rId3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Ningún día</c:v>
                </c:pt>
              </c:strCache>
            </c:strRef>
          </c:tx>
          <c:spPr>
            <a:solidFill>
              <a:srgbClr val="4DBD9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Hoja1!$A$2:$A$4</c:f>
              <c:strCache>
                <c:ptCount val="3"/>
                <c:pt idx="0">
                  <c:v>Consumes comidas rápidas, fritas, snacks o dulces</c:v>
                </c:pt>
                <c:pt idx="1">
                  <c:v>Consumes gaseosas o bebidas artificiales</c:v>
                </c:pt>
                <c:pt idx="2">
                  <c:v>Omites alguna de las comidas principales (desayuno, almuerzo y comida)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6.5741502998941548E-2</c:v>
                </c:pt>
                <c:pt idx="1">
                  <c:v>0.19204986475361638</c:v>
                </c:pt>
                <c:pt idx="2">
                  <c:v>0.19760056457304165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C0-4C34-8869-54A49A9EFCAF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Algunos días</c:v>
                </c:pt>
              </c:strCache>
            </c:strRef>
          </c:tx>
          <c:spPr>
            <a:solidFill>
              <a:srgbClr val="F8961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Hoja1!$A$2:$A$4</c:f>
              <c:strCache>
                <c:ptCount val="3"/>
                <c:pt idx="0">
                  <c:v>Consumes comidas rápidas, fritas, snacks o dulces</c:v>
                </c:pt>
                <c:pt idx="1">
                  <c:v>Consumes gaseosas o bebidas artificiales</c:v>
                </c:pt>
                <c:pt idx="2">
                  <c:v>Omites alguna de las comidas principales (desayuno, almuerzo y comida)</c:v>
                </c:pt>
              </c:strCache>
            </c:strRef>
          </c:cat>
          <c:val>
            <c:numRef>
              <c:f>Hoja1!$C$2:$C$4</c:f>
              <c:numCache>
                <c:formatCode>0%</c:formatCode>
                <c:ptCount val="3"/>
                <c:pt idx="0">
                  <c:v>0.69163824532517937</c:v>
                </c:pt>
                <c:pt idx="1">
                  <c:v>0.50076443608138299</c:v>
                </c:pt>
                <c:pt idx="2">
                  <c:v>0.42695836273817928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6C0-4C34-8869-54A49A9EFCAF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La mayoría de los días</c:v>
                </c:pt>
              </c:strCache>
            </c:strRef>
          </c:tx>
          <c:spPr>
            <a:solidFill>
              <a:srgbClr val="F9414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Hoja1!$A$2:$A$4</c:f>
              <c:strCache>
                <c:ptCount val="3"/>
                <c:pt idx="0">
                  <c:v>Consumes comidas rápidas, fritas, snacks o dulces</c:v>
                </c:pt>
                <c:pt idx="1">
                  <c:v>Consumes gaseosas o bebidas artificiales</c:v>
                </c:pt>
                <c:pt idx="2">
                  <c:v>Omites alguna de las comidas principales (desayuno, almuerzo y comida)</c:v>
                </c:pt>
              </c:strCache>
            </c:strRef>
          </c:cat>
          <c:val>
            <c:numRef>
              <c:f>Hoja1!$D$2:$D$4</c:f>
              <c:numCache>
                <c:formatCode>0%</c:formatCode>
                <c:ptCount val="3"/>
                <c:pt idx="0">
                  <c:v>0.20122309773021288</c:v>
                </c:pt>
                <c:pt idx="1">
                  <c:v>0.20686816417734918</c:v>
                </c:pt>
                <c:pt idx="2">
                  <c:v>0.23147494707127736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6C0-4C34-8869-54A49A9EFCAF}"/>
            </c:ext>
          </c:extLst>
        </c:ser>
        <c:ser>
          <c:idx val="3"/>
          <c:order val="3"/>
          <c:tx>
            <c:strRef>
              <c:f>Hoja1!$E$1</c:f>
              <c:strCache>
                <c:ptCount val="1"/>
                <c:pt idx="0">
                  <c:v>Todos los días</c:v>
                </c:pt>
              </c:strCache>
            </c:strRef>
          </c:tx>
          <c:spPr>
            <a:solidFill>
              <a:srgbClr val="E63C3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Hoja1!$A$2:$A$4</c:f>
              <c:strCache>
                <c:ptCount val="3"/>
                <c:pt idx="0">
                  <c:v>Consumes comidas rápidas, fritas, snacks o dulces</c:v>
                </c:pt>
                <c:pt idx="1">
                  <c:v>Consumes gaseosas o bebidas artificiales</c:v>
                </c:pt>
                <c:pt idx="2">
                  <c:v>Omites alguna de las comidas principales (desayuno, almuerzo y comida)</c:v>
                </c:pt>
              </c:strCache>
            </c:strRef>
          </c:cat>
          <c:val>
            <c:numRef>
              <c:f>Hoja1!$E$2:$E$4</c:f>
              <c:numCache>
                <c:formatCode>0%</c:formatCode>
                <c:ptCount val="3"/>
                <c:pt idx="0">
                  <c:v>4.1397153945666239E-2</c:v>
                </c:pt>
                <c:pt idx="1">
                  <c:v>0.10031753498765142</c:v>
                </c:pt>
                <c:pt idx="2">
                  <c:v>0.14396612561750177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6C0-4C34-8869-54A49A9EFCA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48736048"/>
        <c:axId val="171021936"/>
      </c:barChart>
      <c:catAx>
        <c:axId val="3487360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t" anchorCtr="1"/>
          <a:lstStyle/>
          <a:p>
            <a:pPr>
              <a:defRPr sz="14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71021936"/>
        <c:crosses val="autoZero"/>
        <c:auto val="1"/>
        <c:lblAlgn val="l"/>
        <c:lblOffset val="100"/>
        <c:noMultiLvlLbl val="0"/>
      </c:catAx>
      <c:valAx>
        <c:axId val="1710219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348736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56565A"/>
          </a:solidFill>
          <a:latin typeface="Calibri Light" panose="020F0302020204030204" pitchFamily="34" charset="0"/>
          <a:cs typeface="Calibri Light" panose="020F0302020204030204" pitchFamily="34" charset="0"/>
        </a:defRPr>
      </a:pPr>
      <a:endParaRPr lang="es-CL"/>
    </a:p>
  </c:txPr>
  <c:externalData r:id="rId3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En un día habitual, ¿cuántos vasos de agua, té o juegos no azucarados ingieres?</a:t>
            </a:r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Ninguno</c:v>
                </c:pt>
                <c:pt idx="1">
                  <c:v>Entre 1 y 3</c:v>
                </c:pt>
                <c:pt idx="2">
                  <c:v>Entre 4 y 8</c:v>
                </c:pt>
                <c:pt idx="3">
                  <c:v>Entre 9 y 12</c:v>
                </c:pt>
                <c:pt idx="4">
                  <c:v>Más de 12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7.9684557438794726E-2</c:v>
                </c:pt>
                <c:pt idx="1">
                  <c:v>0.48999529190207158</c:v>
                </c:pt>
                <c:pt idx="2">
                  <c:v>0.314030131826742</c:v>
                </c:pt>
                <c:pt idx="3">
                  <c:v>8.9218455743879474E-2</c:v>
                </c:pt>
                <c:pt idx="4">
                  <c:v>2.7071563088512243E-2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3B-407A-ACC9-436A3ACF929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68497199"/>
        <c:axId val="1168496367"/>
      </c:barChart>
      <c:catAx>
        <c:axId val="11684971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Durante las últimas dos semanas, ¿con qué frecuencia has fumado cigarrillos, puros o pipas, o usado rapé o tabaco para mascar?</a:t>
            </a:r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Nada</c:v>
                </c:pt>
                <c:pt idx="1">
                  <c:v>Muy poco</c:v>
                </c:pt>
                <c:pt idx="2">
                  <c:v>Levemente</c:v>
                </c:pt>
                <c:pt idx="3">
                  <c:v>Moderadamente</c:v>
                </c:pt>
                <c:pt idx="4">
                  <c:v>Severamente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7.9684557438794726E-2</c:v>
                </c:pt>
                <c:pt idx="1">
                  <c:v>0.48999529190207158</c:v>
                </c:pt>
                <c:pt idx="2">
                  <c:v>0.314030131826742</c:v>
                </c:pt>
                <c:pt idx="3">
                  <c:v>8.9218455743879474E-2</c:v>
                </c:pt>
                <c:pt idx="4">
                  <c:v>2.7071563088512243E-2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49-411B-8080-77E3FB9FA81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68497199"/>
        <c:axId val="1168496367"/>
      </c:barChart>
      <c:catAx>
        <c:axId val="11684971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1A-4574-B37D-5284DC7AFB9E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AA-4E0A-B33A-396F6E997B3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0.44581308622443216</c:v>
                </c:pt>
                <c:pt idx="1">
                  <c:v>0.55418691377556784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AA-4E0A-B33A-396F6E997B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227-4A4E-A6E9-33F796530005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227-4A4E-A6E9-33F79653000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A27-4FBD-B015-90E80FB2EA7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Hoja1!$A$2:$A$4</c:f>
              <c:strCache>
                <c:ptCount val="3"/>
                <c:pt idx="0">
                  <c:v>Reserva de hora psicológica</c:v>
                </c:pt>
                <c:pt idx="1">
                  <c:v>Inscripción en charlas de salud mental</c:v>
                </c:pt>
                <c:pt idx="2">
                  <c:v>Contenidos en salud mental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0.41039290240811155</c:v>
                </c:pt>
                <c:pt idx="1">
                  <c:v>0.3</c:v>
                </c:pt>
                <c:pt idx="2">
                  <c:v>0.28999999999999998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227-4A4E-A6E9-33F7965300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4A8-48EF-B7C4-459A9335C2F6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4A8-48EF-B7C4-459A9335C2F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4A8-48EF-B7C4-459A9335C2F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4A8-48EF-B7C4-459A9335C2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1BA-46E6-83E3-4EED6412BEEC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1BA-46E6-83E3-4EED6412BEE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0.15</c:v>
                </c:pt>
                <c:pt idx="1">
                  <c:v>0.85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1BA-46E6-83E3-4EED6412BE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2A8-43CD-8471-ACB30C339F59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2A8-43CD-8471-ACB30C339F5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2A8-43CD-8471-ACB30C339F5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Hoja1!$A$2:$A$4</c:f>
              <c:strCache>
                <c:ptCount val="3"/>
                <c:pt idx="0">
                  <c:v>Mucho / Bastante</c:v>
                </c:pt>
                <c:pt idx="1">
                  <c:v>Algo</c:v>
                </c:pt>
                <c:pt idx="2">
                  <c:v>Poco / Nada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0.41039290240811155</c:v>
                </c:pt>
                <c:pt idx="1">
                  <c:v>0.3</c:v>
                </c:pt>
                <c:pt idx="2">
                  <c:v>0.28999999999999998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2A8-43CD-8471-ACB30C339F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rgbClr val="F8961E"/>
            </a:solidFill>
            <a:ln w="19050">
              <a:solidFill>
                <a:srgbClr val="F8961E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1A-4574-B37D-5284DC7AFB9E}"/>
              </c:ext>
            </c:extLst>
          </c:dPt>
          <c:dPt>
            <c:idx val="1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AA-4E0A-B33A-396F6E997B3A}"/>
              </c:ext>
            </c:extLst>
          </c:dPt>
          <c:dPt>
            <c:idx val="2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64D-4A87-8D3A-6B57251F2291}"/>
              </c:ext>
            </c:extLst>
          </c:dPt>
          <c:dPt>
            <c:idx val="3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64D-4A87-8D3A-6B57251F2291}"/>
              </c:ext>
            </c:extLst>
          </c:dPt>
          <c:dPt>
            <c:idx val="4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064D-4A87-8D3A-6B57251F229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0</c:v>
                </c:pt>
                <c:pt idx="1">
                  <c:v>Entre 1 y 3</c:v>
                </c:pt>
                <c:pt idx="2">
                  <c:v>Entre 4 y 6</c:v>
                </c:pt>
                <c:pt idx="3">
                  <c:v>Entre 7 y 9</c:v>
                </c:pt>
                <c:pt idx="4">
                  <c:v>10 o más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0.14581308622443201</c:v>
                </c:pt>
                <c:pt idx="1">
                  <c:v>0.1</c:v>
                </c:pt>
                <c:pt idx="2">
                  <c:v>0.2</c:v>
                </c:pt>
                <c:pt idx="3">
                  <c:v>0.2</c:v>
                </c:pt>
                <c:pt idx="4">
                  <c:v>0.35418691377556799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AA-4E0A-B33A-396F6E997B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721395472"/>
        <c:axId val="1721401296"/>
      </c:barChart>
      <c:catAx>
        <c:axId val="17213954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721401296"/>
        <c:crossesAt val="0"/>
        <c:auto val="1"/>
        <c:lblAlgn val="ctr"/>
        <c:lblOffset val="100"/>
        <c:noMultiLvlLbl val="0"/>
      </c:catAx>
      <c:valAx>
        <c:axId val="1721401296"/>
        <c:scaling>
          <c:orientation val="minMax"/>
          <c:max val="0.30000000000000004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crossAx val="17213954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rgbClr val="ED7D3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227-4A4E-A6E9-33F796530005}"/>
              </c:ext>
            </c:extLst>
          </c:dPt>
          <c:dPt>
            <c:idx val="1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227-4A4E-A6E9-33F796530005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ln w="19050">
                <a:solidFill>
                  <a:srgbClr val="FFC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BD3-4286-BAA3-0777F2FDFF11}"/>
              </c:ext>
            </c:extLst>
          </c:dPt>
          <c:dPt>
            <c:idx val="3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F26-498F-AC27-E91068B6FEC9}"/>
              </c:ext>
            </c:extLst>
          </c:dPt>
          <c:dPt>
            <c:idx val="4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8F26-498F-AC27-E91068B6FEC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Muy insatisfecho/a</c:v>
                </c:pt>
                <c:pt idx="1">
                  <c:v>Insatisfecho/a</c:v>
                </c:pt>
                <c:pt idx="2">
                  <c:v>Neutro</c:v>
                </c:pt>
                <c:pt idx="3">
                  <c:v>Satisfecho/a</c:v>
                </c:pt>
                <c:pt idx="4">
                  <c:v>Muy satisfecho/a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0.05</c:v>
                </c:pt>
                <c:pt idx="1">
                  <c:v>0.15</c:v>
                </c:pt>
                <c:pt idx="2">
                  <c:v>0.1</c:v>
                </c:pt>
                <c:pt idx="3">
                  <c:v>0.4</c:v>
                </c:pt>
                <c:pt idx="4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227-4A4E-A6E9-33F7965300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21237856"/>
        <c:axId val="121251584"/>
      </c:barChart>
      <c:valAx>
        <c:axId val="121251584"/>
        <c:scaling>
          <c:orientation val="minMax"/>
          <c:max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37856"/>
        <c:crosses val="autoZero"/>
        <c:crossBetween val="between"/>
        <c:majorUnit val="0.1"/>
      </c:valAx>
      <c:catAx>
        <c:axId val="1212378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515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A8E-4E6B-A275-AFE965DF1784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A8E-4E6B-A275-AFE965DF178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A8E-4E6B-A275-AFE965DF178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A8E-4E6B-A275-AFE965DF17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A8E-4E6B-A275-AFE965DF1784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A8E-4E6B-A275-AFE965DF178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A8E-4E6B-A275-AFE965DF178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0.3</c:v>
                </c:pt>
                <c:pt idx="1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A8E-4E6B-A275-AFE965DF17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rgbClr val="00223A"/>
            </a:solidFill>
            <a:ln w="19050">
              <a:solidFill>
                <a:srgbClr val="00223A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939-4F2A-95CB-0F8DDB7132DB}"/>
              </c:ext>
            </c:extLst>
          </c:dPt>
          <c:dPt>
            <c:idx val="1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939-4F2A-95CB-0F8DDB7132DB}"/>
              </c:ext>
            </c:extLst>
          </c:dPt>
          <c:dPt>
            <c:idx val="2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939-4F2A-95CB-0F8DDB7132DB}"/>
              </c:ext>
            </c:extLst>
          </c:dPt>
          <c:dPt>
            <c:idx val="3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939-4F2A-95CB-0F8DDB7132DB}"/>
              </c:ext>
            </c:extLst>
          </c:dPt>
          <c:dPt>
            <c:idx val="4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9939-4F2A-95CB-0F8DDB7132DB}"/>
              </c:ext>
            </c:extLst>
          </c:dPt>
          <c:dPt>
            <c:idx val="5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C-9939-4F2A-95CB-0F8DDB7132D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Poco tiempo</c:v>
                </c:pt>
                <c:pt idx="1">
                  <c:v>No creo ser bueno/a</c:v>
                </c:pt>
                <c:pt idx="2">
                  <c:v>Es para profesionales</c:v>
                </c:pt>
                <c:pt idx="3">
                  <c:v>No es importante</c:v>
                </c:pt>
                <c:pt idx="4">
                  <c:v>Falta información</c:v>
                </c:pt>
                <c:pt idx="5">
                  <c:v>Otra razón</c:v>
                </c:pt>
              </c:strCache>
            </c:strRef>
          </c:cat>
          <c:val>
            <c:numRef>
              <c:f>Hoja1!$B$2:$B$7</c:f>
              <c:numCache>
                <c:formatCode>0%</c:formatCode>
                <c:ptCount val="6"/>
                <c:pt idx="0">
                  <c:v>0.05</c:v>
                </c:pt>
                <c:pt idx="1">
                  <c:v>0.15</c:v>
                </c:pt>
                <c:pt idx="2">
                  <c:v>0.1</c:v>
                </c:pt>
                <c:pt idx="3">
                  <c:v>0.2</c:v>
                </c:pt>
                <c:pt idx="4">
                  <c:v>0.2</c:v>
                </c:pt>
                <c:pt idx="5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939-4F2A-95CB-0F8DDB7132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21237856"/>
        <c:axId val="121251584"/>
      </c:barChart>
      <c:valAx>
        <c:axId val="121251584"/>
        <c:scaling>
          <c:orientation val="minMax"/>
          <c:max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37856"/>
        <c:crosses val="autoZero"/>
        <c:crossBetween val="between"/>
        <c:majorUnit val="0.1"/>
      </c:valAx>
      <c:catAx>
        <c:axId val="1212378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515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1BA-46E6-83E3-4EED6412BEEC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1BA-46E6-83E3-4EED6412BEE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0.15</c:v>
                </c:pt>
                <c:pt idx="1">
                  <c:v>0.85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1BA-46E6-83E3-4EED6412BE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rgbClr val="00223A"/>
            </a:solidFill>
            <a:ln w="19050">
              <a:solidFill>
                <a:srgbClr val="00223A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DB0-4353-887C-C9753F839E53}"/>
              </c:ext>
            </c:extLst>
          </c:dPt>
          <c:dPt>
            <c:idx val="1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DB0-4353-887C-C9753F839E53}"/>
              </c:ext>
            </c:extLst>
          </c:dPt>
          <c:dPt>
            <c:idx val="2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DB0-4353-887C-C9753F839E53}"/>
              </c:ext>
            </c:extLst>
          </c:dPt>
          <c:dPt>
            <c:idx val="3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DB0-4353-887C-C9753F839E53}"/>
              </c:ext>
            </c:extLst>
          </c:dPt>
          <c:dPt>
            <c:idx val="4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2DB0-4353-887C-C9753F839E53}"/>
              </c:ext>
            </c:extLst>
          </c:dPt>
          <c:dPt>
            <c:idx val="5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2DB0-4353-887C-C9753F839E5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Hoja1!$A$2:$A$4</c:f>
              <c:strCache>
                <c:ptCount val="3"/>
                <c:pt idx="0">
                  <c:v>Sí</c:v>
                </c:pt>
                <c:pt idx="1">
                  <c:v>No</c:v>
                </c:pt>
                <c:pt idx="2">
                  <c:v>No lo recuerdo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0.3</c:v>
                </c:pt>
                <c:pt idx="1">
                  <c:v>0.1</c:v>
                </c:pt>
                <c:pt idx="2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DB0-4353-887C-C9753F839E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21237856"/>
        <c:axId val="121251584"/>
      </c:barChart>
      <c:valAx>
        <c:axId val="121251584"/>
        <c:scaling>
          <c:orientation val="minMax"/>
          <c:max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37856"/>
        <c:crosses val="autoZero"/>
        <c:crossBetween val="between"/>
        <c:majorUnit val="0.1"/>
      </c:valAx>
      <c:catAx>
        <c:axId val="1212378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515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1A-4574-B37D-5284DC7AFB9E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AA-4E0A-B33A-396F6E997B3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0.44581308622443216</c:v>
                </c:pt>
                <c:pt idx="1">
                  <c:v>0.55418691377556784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AA-4E0A-B33A-396F6E997B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rgbClr val="ED7D3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A29-42DF-8843-B4B247B6A00A}"/>
              </c:ext>
            </c:extLst>
          </c:dPt>
          <c:dPt>
            <c:idx val="1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A29-42DF-8843-B4B247B6A00A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ln w="19050">
                <a:solidFill>
                  <a:srgbClr val="FFC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A29-42DF-8843-B4B247B6A00A}"/>
              </c:ext>
            </c:extLst>
          </c:dPt>
          <c:dPt>
            <c:idx val="3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A29-42DF-8843-B4B247B6A00A}"/>
              </c:ext>
            </c:extLst>
          </c:dPt>
          <c:dPt>
            <c:idx val="4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7A29-42DF-8843-B4B247B6A00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Muy insatisfecho/a</c:v>
                </c:pt>
                <c:pt idx="1">
                  <c:v>Insatisfecho/a</c:v>
                </c:pt>
                <c:pt idx="2">
                  <c:v>Neutro</c:v>
                </c:pt>
                <c:pt idx="3">
                  <c:v>Satisfecho/a</c:v>
                </c:pt>
                <c:pt idx="4">
                  <c:v>Muy satisfecho/a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0.05</c:v>
                </c:pt>
                <c:pt idx="1">
                  <c:v>0.15</c:v>
                </c:pt>
                <c:pt idx="2">
                  <c:v>0.1</c:v>
                </c:pt>
                <c:pt idx="3">
                  <c:v>0.4</c:v>
                </c:pt>
                <c:pt idx="4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A29-42DF-8843-B4B247B6A0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21237856"/>
        <c:axId val="121251584"/>
      </c:barChart>
      <c:valAx>
        <c:axId val="121251584"/>
        <c:scaling>
          <c:orientation val="minMax"/>
          <c:max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37856"/>
        <c:crosses val="autoZero"/>
        <c:crossBetween val="between"/>
        <c:majorUnit val="0.1"/>
      </c:valAx>
      <c:catAx>
        <c:axId val="1212378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515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2F6-4377-80DE-CCB974E0DABA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2F6-4377-80DE-CCB974E0DAB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2F6-4377-80DE-CCB974E0DAB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2F6-4377-80DE-CCB974E0DA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1A-4574-B37D-5284DC7AFB9E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AA-4E0A-B33A-396F6E997B3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0.44581308622443216</c:v>
                </c:pt>
                <c:pt idx="1">
                  <c:v>0.55418691377556784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AA-4E0A-B33A-396F6E997B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rgbClr val="ED7D3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204-4B8C-BC80-5AE178D3274D}"/>
              </c:ext>
            </c:extLst>
          </c:dPt>
          <c:dPt>
            <c:idx val="1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204-4B8C-BC80-5AE178D3274D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ln w="19050">
                <a:solidFill>
                  <a:srgbClr val="FFC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204-4B8C-BC80-5AE178D3274D}"/>
              </c:ext>
            </c:extLst>
          </c:dPt>
          <c:dPt>
            <c:idx val="3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204-4B8C-BC80-5AE178D3274D}"/>
              </c:ext>
            </c:extLst>
          </c:dPt>
          <c:dPt>
            <c:idx val="4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A204-4B8C-BC80-5AE178D3274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Nada</c:v>
                </c:pt>
                <c:pt idx="1">
                  <c:v>Poco</c:v>
                </c:pt>
                <c:pt idx="2">
                  <c:v>Algo</c:v>
                </c:pt>
                <c:pt idx="3">
                  <c:v>Bastante</c:v>
                </c:pt>
                <c:pt idx="4">
                  <c:v>Mucho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0.05</c:v>
                </c:pt>
                <c:pt idx="1">
                  <c:v>0.15</c:v>
                </c:pt>
                <c:pt idx="2">
                  <c:v>0.1</c:v>
                </c:pt>
                <c:pt idx="3">
                  <c:v>0.4</c:v>
                </c:pt>
                <c:pt idx="4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204-4B8C-BC80-5AE178D327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21237856"/>
        <c:axId val="121251584"/>
      </c:barChart>
      <c:valAx>
        <c:axId val="121251584"/>
        <c:scaling>
          <c:orientation val="minMax"/>
          <c:max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37856"/>
        <c:crosses val="autoZero"/>
        <c:crossBetween val="between"/>
        <c:majorUnit val="0.1"/>
      </c:valAx>
      <c:catAx>
        <c:axId val="1212378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515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AE9-480B-8A33-449EDF440EB2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AE9-480B-8A33-449EDF440EB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AE9-480B-8A33-449EDF440EB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AE9-480B-8A33-449EDF440E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F8B31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Hoja1!$B$2:$B$6</c:f>
              <c:strCache>
                <c:ptCount val="5"/>
                <c:pt idx="0">
                  <c:v>Sí, de algún familiar</c:v>
                </c:pt>
                <c:pt idx="1">
                  <c:v>Sí, de su padre/madre</c:v>
                </c:pt>
                <c:pt idx="2">
                  <c:v>Sí, una institución de cuidados (sala cuna, jardín, guardería, escuela, etc.)</c:v>
                </c:pt>
                <c:pt idx="3">
                  <c:v>Sí, pago para servicios de cuidado en casa (servicio doméstico, enfermera, etc.)</c:v>
                </c:pt>
                <c:pt idx="4">
                  <c:v>No cuento con apoyo</c:v>
                </c:pt>
              </c:strCache>
            </c:strRef>
          </c:cat>
          <c:val>
            <c:numRef>
              <c:f>Hoja1!$C$2:$C$6</c:f>
              <c:numCache>
                <c:formatCode>0%</c:formatCode>
                <c:ptCount val="5"/>
                <c:pt idx="0">
                  <c:v>0.40291852452371302</c:v>
                </c:pt>
                <c:pt idx="1">
                  <c:v>0.28820429671665992</c:v>
                </c:pt>
                <c:pt idx="2">
                  <c:v>9.0393190109444674E-2</c:v>
                </c:pt>
                <c:pt idx="3">
                  <c:v>2.3510336441021483E-2</c:v>
                </c:pt>
                <c:pt idx="4">
                  <c:v>0.19497365220916094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8C-4BEA-B37D-8CA8E97BE8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400" b="0" i="0" u="none" strike="noStrike" baseline="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¿Tienes a alguna persona a tu cuidado?</a:t>
            </a:r>
            <a:endParaRPr lang="en-US" sz="1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No, ninguna.</c:v>
                </c:pt>
                <c:pt idx="1">
                  <c:v>Sí, hijo/a(s).</c:v>
                </c:pt>
                <c:pt idx="2">
                  <c:v>Sí, hermano/a ó sobrino/a.</c:v>
                </c:pt>
                <c:pt idx="3">
                  <c:v>Sí, adulto/a mayor.</c:v>
                </c:pt>
                <c:pt idx="4">
                  <c:v>Sí, persona enferma o con alguna discapacidad.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0.72121143632048823</c:v>
                </c:pt>
                <c:pt idx="1">
                  <c:v>0.17312690699514069</c:v>
                </c:pt>
                <c:pt idx="2">
                  <c:v>4.9610125437902587E-2</c:v>
                </c:pt>
                <c:pt idx="3">
                  <c:v>3.4806192790145782E-2</c:v>
                </c:pt>
                <c:pt idx="4">
                  <c:v>2.1245338456322749E-2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DB-48C4-AAF6-D226B4BCE2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¿Cuál de estas situaciones refleja de mejor forma tu trabajo actual?</a:t>
            </a:r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Trabajo de jornada completa todos los días</c:v>
                </c:pt>
                <c:pt idx="1">
                  <c:v>Media jornada todos los días</c:v>
                </c:pt>
                <c:pt idx="2">
                  <c:v>Trabajo solo algunos días a la semana</c:v>
                </c:pt>
                <c:pt idx="3">
                  <c:v>Solo fines de semana</c:v>
                </c:pt>
                <c:pt idx="4">
                  <c:v>No trabajo ningún día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0.16770256526161148</c:v>
                </c:pt>
                <c:pt idx="1">
                  <c:v>5.3678381738049494E-2</c:v>
                </c:pt>
                <c:pt idx="2">
                  <c:v>0.15640185331675896</c:v>
                </c:pt>
                <c:pt idx="3">
                  <c:v>0.15459373940558255</c:v>
                </c:pt>
                <c:pt idx="4">
                  <c:v>0.4676234602779975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0A-4BAA-AB20-E40A7BF1AF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</a:rPr>
              <a:t>De acuerdo a las condiciones que tienes para desarrollar tus actividades académicas, ¿Cuán de acuerdo estás con las siguientes afirmaciones? </a:t>
            </a:r>
            <a:endParaRPr lang="es-CL" sz="16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Muy en desacuerdo</c:v>
                </c:pt>
              </c:strCache>
            </c:strRef>
          </c:tx>
          <c:spPr>
            <a:solidFill>
              <a:srgbClr val="E63C3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Hoja1!$A$2:$A$4</c:f>
              <c:strCache>
                <c:ptCount val="3"/>
                <c:pt idx="0">
                  <c:v>Necesito apoyo y/o capacitación para utilizar las plataformas o herramientas tecnológicas requeridas en mi carrera (softwares, plataforma estudiantil, programas, etc.)</c:v>
                </c:pt>
                <c:pt idx="1">
                  <c:v>En Duoc UC, cuento con un espacio adecuado para estudiar o hacer mis trabajos</c:v>
                </c:pt>
                <c:pt idx="2">
                  <c:v>En mi casa, cuento con un espacio adecuado para estudiar o hacer mis trabajos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0.21403548423550683</c:v>
                </c:pt>
                <c:pt idx="1">
                  <c:v>8.4190303989151311E-2</c:v>
                </c:pt>
                <c:pt idx="2">
                  <c:v>7.2437563566504687E-2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C8-4668-84B5-748FA07A9DC8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En desacuerdo</c:v>
                </c:pt>
              </c:strCache>
            </c:strRef>
          </c:tx>
          <c:spPr>
            <a:solidFill>
              <a:srgbClr val="F9414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Hoja1!$A$2:$A$4</c:f>
              <c:strCache>
                <c:ptCount val="3"/>
                <c:pt idx="0">
                  <c:v>Necesito apoyo y/o capacitación para utilizar las plataformas o herramientas tecnológicas requeridas en mi carrera (softwares, plataforma estudiantil, programas, etc.)</c:v>
                </c:pt>
                <c:pt idx="1">
                  <c:v>En Duoc UC, cuento con un espacio adecuado para estudiar o hacer mis trabajos</c:v>
                </c:pt>
                <c:pt idx="2">
                  <c:v>En mi casa, cuento con un espacio adecuado para estudiar o hacer mis trabajos</c:v>
                </c:pt>
              </c:strCache>
            </c:strRef>
          </c:cat>
          <c:val>
            <c:numRef>
              <c:f>Hoja1!$C$2:$C$4</c:f>
              <c:numCache>
                <c:formatCode>0%</c:formatCode>
                <c:ptCount val="3"/>
                <c:pt idx="0">
                  <c:v>0.36975929483557463</c:v>
                </c:pt>
                <c:pt idx="1">
                  <c:v>0.22443213922477115</c:v>
                </c:pt>
                <c:pt idx="2">
                  <c:v>0.16340829472256752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2C8-4668-84B5-748FA07A9DC8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De acuerdo</c:v>
                </c:pt>
              </c:strCache>
            </c:strRef>
          </c:tx>
          <c:spPr>
            <a:solidFill>
              <a:srgbClr val="F8961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Hoja1!$A$2:$A$4</c:f>
              <c:strCache>
                <c:ptCount val="3"/>
                <c:pt idx="0">
                  <c:v>Necesito apoyo y/o capacitación para utilizar las plataformas o herramientas tecnológicas requeridas en mi carrera (softwares, plataforma estudiantil, programas, etc.)</c:v>
                </c:pt>
                <c:pt idx="1">
                  <c:v>En Duoc UC, cuento con un espacio adecuado para estudiar o hacer mis trabajos</c:v>
                </c:pt>
                <c:pt idx="2">
                  <c:v>En mi casa, cuento con un espacio adecuado para estudiar o hacer mis trabajos</c:v>
                </c:pt>
              </c:strCache>
            </c:strRef>
          </c:cat>
          <c:val>
            <c:numRef>
              <c:f>Hoja1!$D$2:$D$4</c:f>
              <c:numCache>
                <c:formatCode>0%</c:formatCode>
                <c:ptCount val="3"/>
                <c:pt idx="0">
                  <c:v>0.30794440049723132</c:v>
                </c:pt>
                <c:pt idx="1">
                  <c:v>0.50265566730704037</c:v>
                </c:pt>
                <c:pt idx="2">
                  <c:v>0.51090518702678267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2C8-4668-84B5-748FA07A9DC8}"/>
            </c:ext>
          </c:extLst>
        </c:ser>
        <c:ser>
          <c:idx val="3"/>
          <c:order val="3"/>
          <c:tx>
            <c:strRef>
              <c:f>Hoja1!$E$1</c:f>
              <c:strCache>
                <c:ptCount val="1"/>
                <c:pt idx="0">
                  <c:v>Muy de acuerdo</c:v>
                </c:pt>
              </c:strCache>
            </c:strRef>
          </c:tx>
          <c:spPr>
            <a:solidFill>
              <a:srgbClr val="4DBD9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Hoja1!$A$2:$A$4</c:f>
              <c:strCache>
                <c:ptCount val="3"/>
                <c:pt idx="0">
                  <c:v>Necesito apoyo y/o capacitación para utilizar las plataformas o herramientas tecnológicas requeridas en mi carrera (softwares, plataforma estudiantil, programas, etc.)</c:v>
                </c:pt>
                <c:pt idx="1">
                  <c:v>En Duoc UC, cuento con un espacio adecuado para estudiar o hacer mis trabajos</c:v>
                </c:pt>
                <c:pt idx="2">
                  <c:v>En mi casa, cuento con un espacio adecuado para estudiar o hacer mis trabajos</c:v>
                </c:pt>
              </c:strCache>
            </c:strRef>
          </c:cat>
          <c:val>
            <c:numRef>
              <c:f>Hoja1!$E$2:$E$4</c:f>
              <c:numCache>
                <c:formatCode>0%</c:formatCode>
                <c:ptCount val="3"/>
                <c:pt idx="0">
                  <c:v>0.10826082043168719</c:v>
                </c:pt>
                <c:pt idx="1">
                  <c:v>0.18872188947903717</c:v>
                </c:pt>
                <c:pt idx="2">
                  <c:v>0.2532489546841451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2C8-4668-84B5-748FA07A9DC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48736048"/>
        <c:axId val="171021936"/>
      </c:barChart>
      <c:catAx>
        <c:axId val="3487360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t" anchorCtr="1"/>
          <a:lstStyle/>
          <a:p>
            <a:pPr>
              <a:defRPr sz="12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71021936"/>
        <c:crosses val="autoZero"/>
        <c:auto val="1"/>
        <c:lblAlgn val="l"/>
        <c:lblOffset val="100"/>
        <c:noMultiLvlLbl val="0"/>
      </c:catAx>
      <c:valAx>
        <c:axId val="1710219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348736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56565A"/>
          </a:solidFill>
          <a:latin typeface="Calibri Light" panose="020F0302020204030204" pitchFamily="34" charset="0"/>
          <a:cs typeface="Calibri Light" panose="020F0302020204030204" pitchFamily="34" charset="0"/>
        </a:defRPr>
      </a:pPr>
      <a:endParaRPr lang="es-CL"/>
    </a:p>
  </c:txPr>
  <c:externalData r:id="rId3">
    <c:autoUpdate val="0"/>
  </c:externalData>
</c:chartSpace>
</file>

<file path=ppt/charts/chart7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¿Espacios que más utilizas en tu sede de Duoc UC?</a:t>
            </a:r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Áreas verdes</c:v>
                </c:pt>
                <c:pt idx="1">
                  <c:v>Otros espacios cercanos externos</c:v>
                </c:pt>
                <c:pt idx="2">
                  <c:v>Punto estudiantil</c:v>
                </c:pt>
                <c:pt idx="3">
                  <c:v>Biblioteca</c:v>
                </c:pt>
                <c:pt idx="4">
                  <c:v>Casino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0.16770256526161148</c:v>
                </c:pt>
                <c:pt idx="1">
                  <c:v>5.3678381738049494E-2</c:v>
                </c:pt>
                <c:pt idx="2">
                  <c:v>0.15640185331675896</c:v>
                </c:pt>
                <c:pt idx="3">
                  <c:v>0.15459373940558255</c:v>
                </c:pt>
                <c:pt idx="4">
                  <c:v>0.4676234602779975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0A-4BAA-AB20-E40A7BF1AF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¿Espacios que más utilizas en tu sede de Duoc UC?</a:t>
            </a:r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F8961E"/>
            </a:solidFill>
            <a:ln>
              <a:solidFill>
                <a:srgbClr val="F8961E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Hoja1!$A$2:$A$5</c:f>
              <c:strCache>
                <c:ptCount val="4"/>
                <c:pt idx="0">
                  <c:v>Portal VIVO Duoc</c:v>
                </c:pt>
                <c:pt idx="1">
                  <c:v>AVA</c:v>
                </c:pt>
                <c:pt idx="2">
                  <c:v>Portal de acceso a clases</c:v>
                </c:pt>
                <c:pt idx="3">
                  <c:v>No utilizo los espacios Duoc UC</c:v>
                </c:pt>
              </c:strCache>
            </c:strRef>
          </c:cat>
          <c:val>
            <c:numRef>
              <c:f>Hoja1!$B$2:$B$5</c:f>
              <c:numCache>
                <c:formatCode>0%</c:formatCode>
                <c:ptCount val="4"/>
                <c:pt idx="0">
                  <c:v>6.7702565261611003E-2</c:v>
                </c:pt>
                <c:pt idx="1">
                  <c:v>5.3678381738049494E-2</c:v>
                </c:pt>
                <c:pt idx="2">
                  <c:v>5.6401853316759003E-2</c:v>
                </c:pt>
                <c:pt idx="3">
                  <c:v>0.66762346027799802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CD-4592-85F3-89A7F47A3D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" name="Google Shape;4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9920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1" name="Google Shape;281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86088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68" name="Google Shape;168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7" name="Google Shape;28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88" name="Google Shape;28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" name="Google Shape;29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98" name="Google Shape;298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1" name="Google Shape;281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979045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7" name="Google Shape;18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480570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372545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00390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3" name="Google Shape;423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76100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336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300640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4363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6" name="Google Shape;326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27" name="Google Shape;327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59382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748265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9" name="Google Shape;399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0" name="Google Shape;400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19017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9" name="Google Shape;399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0" name="Google Shape;400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76405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2" name="Google Shape;512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13" name="Google Shape;513;p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57439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9" name="Google Shape;539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40" name="Google Shape;540;p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17221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995303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8" name="Google Shape;588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89" name="Google Shape;589;p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456940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8" name="Google Shape;588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89" name="Google Shape;589;p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049855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4" name="Google Shape;604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5" name="Google Shape;605;p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8751816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8" name="Google Shape;788;p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89" name="Google Shape;789;p6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8" name="Google Shape;788;p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89" name="Google Shape;789;p6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868906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8" name="Google Shape;788;p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89" name="Google Shape;789;p6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7333180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7394440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6722621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9" name="Google Shape;369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70" name="Google Shape;370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39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40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14890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41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126072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696553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701416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1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5" name="Google Shape;1125;p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10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8" name="Google Shape;1138;p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947620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1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4" name="Google Shape;1164;p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1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4" name="Google Shape;1164;p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6606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51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527604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52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53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54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878499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7" name="Google Shape;18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5852042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938734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9" name="Google Shape;899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890707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58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49745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59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2824898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981689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625978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7340182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531872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7" name="Google Shape;937;p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8" name="Google Shape;938;p8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66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7" name="Google Shape;977;p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8" name="Google Shape;978;p8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67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8" name="Google Shape;1028;p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9" name="Google Shape;1029;p8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68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" name="Google Shape;4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152873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4" name="Google Shape;1044;p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5" name="Google Shape;1045;p9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70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6" name="Google Shape;1066;p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67" name="Google Shape;1067;p9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71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6" name="Google Shape;1076;p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77" name="Google Shape;1077;p9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72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9" name="Google Shape;1089;p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90" name="Google Shape;1090;p9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73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6" name="Google Shape;1076;p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77" name="Google Shape;1077;p9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74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51986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11"/>
          <p:cNvSpPr/>
          <p:nvPr/>
        </p:nvSpPr>
        <p:spPr>
          <a:xfrm>
            <a:off x="336644" y="1265614"/>
            <a:ext cx="11518711" cy="3944202"/>
          </a:xfrm>
          <a:prstGeom prst="rect">
            <a:avLst/>
          </a:prstGeom>
          <a:solidFill>
            <a:srgbClr val="0022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9" name="Google Shape;19;p111" descr="Tesorería General de la República (Chile) - Wikipedia, la enciclopedia libre"/>
          <p:cNvSpPr/>
          <p:nvPr/>
        </p:nvSpPr>
        <p:spPr>
          <a:xfrm flipH="1">
            <a:off x="460375" y="-180665"/>
            <a:ext cx="341002" cy="341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0;p111" descr="Logotip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40977" y="368941"/>
            <a:ext cx="1714378" cy="421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2D9C4BF-0687-46AD-B39A-6837DF05B3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1365" y="95795"/>
            <a:ext cx="2904565" cy="968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12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  <a:defRPr sz="3400" b="1" cap="small">
                <a:solidFill>
                  <a:srgbClr val="3A434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12"/>
          <p:cNvSpPr txBox="1">
            <a:spLocks noGrp="1"/>
          </p:cNvSpPr>
          <p:nvPr>
            <p:ph type="body" idx="1"/>
          </p:nvPr>
        </p:nvSpPr>
        <p:spPr>
          <a:xfrm>
            <a:off x="491319" y="1825625"/>
            <a:ext cx="1125011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ts val="2000"/>
              <a:buChar char="•"/>
              <a:defRPr sz="2000">
                <a:solidFill>
                  <a:srgbClr val="3A434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defRPr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434C"/>
              </a:buClr>
              <a:buSzPts val="2000"/>
              <a:buChar char="•"/>
              <a:defRPr sz="2000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434C"/>
              </a:buClr>
              <a:buSzPts val="2000"/>
              <a:buChar char="•"/>
              <a:defRPr sz="2000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434C"/>
              </a:buClr>
              <a:buSzPts val="2000"/>
              <a:buChar char="•"/>
              <a:defRPr sz="2000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434C"/>
              </a:buClr>
              <a:buSzPts val="2000"/>
              <a:buChar char="•"/>
              <a:defRPr sz="2000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5" name="Google Shape;25;p112" descr="Logotip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1319" y="6492874"/>
            <a:ext cx="808563" cy="188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7C4655F7-05A0-442D-A5FC-983F51D08A4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28165" y="6410387"/>
            <a:ext cx="1156447" cy="386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Encabezado de sección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13"/>
          <p:cNvSpPr/>
          <p:nvPr/>
        </p:nvSpPr>
        <p:spPr>
          <a:xfrm>
            <a:off x="341193" y="2006221"/>
            <a:ext cx="11518711" cy="2879678"/>
          </a:xfrm>
          <a:prstGeom prst="rect">
            <a:avLst/>
          </a:prstGeom>
          <a:solidFill>
            <a:srgbClr val="0022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3" name="Google Shape;25;p112" descr="Logotipo&#10;&#10;Descripción generada automáticamente">
            <a:extLst>
              <a:ext uri="{FF2B5EF4-FFF2-40B4-BE49-F238E27FC236}">
                <a16:creationId xmlns:a16="http://schemas.microsoft.com/office/drawing/2014/main" id="{F7800445-CEF5-4F97-A48B-9608A8DFD04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91319" y="6378858"/>
            <a:ext cx="926601" cy="228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554E2D06-B1BD-4EB9-A44D-B8D10B152C7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81238" y="6230240"/>
            <a:ext cx="1572495" cy="52526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a de título">
  <p:cSld name="1_Diapositiva de título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5"/>
          <p:cNvSpPr txBox="1">
            <a:spLocks noGrp="1"/>
          </p:cNvSpPr>
          <p:nvPr>
            <p:ph type="ctrTitle"/>
          </p:nvPr>
        </p:nvSpPr>
        <p:spPr>
          <a:xfrm>
            <a:off x="1523999" y="2192338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15"/>
          <p:cNvSpPr/>
          <p:nvPr/>
        </p:nvSpPr>
        <p:spPr>
          <a:xfrm>
            <a:off x="336644" y="2543175"/>
            <a:ext cx="11518711" cy="1685926"/>
          </a:xfrm>
          <a:prstGeom prst="rect">
            <a:avLst/>
          </a:prstGeom>
          <a:solidFill>
            <a:srgbClr val="F8B31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38" name="Google Shape;38;p115" descr="Tesorería General de la República (Chile) - Wikipedia, la enciclopedia libre"/>
          <p:cNvSpPr/>
          <p:nvPr/>
        </p:nvSpPr>
        <p:spPr>
          <a:xfrm flipH="1">
            <a:off x="460375" y="-180665"/>
            <a:ext cx="341002" cy="341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" name="Google Shape;39;p115" descr="Logotip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40977" y="368941"/>
            <a:ext cx="1714378" cy="421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1CC69DE7-6545-4CBA-9723-11EC6CE393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1365" y="95795"/>
            <a:ext cx="2904565" cy="968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0" name="Google Shape;30;p11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 dirty="0"/>
          </a:p>
        </p:txBody>
      </p:sp>
      <p:sp>
        <p:nvSpPr>
          <p:cNvPr id="31" name="Google Shape;31;p1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5354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1" name="Google Shape;11;p1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" name="Google Shape;12;p1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5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libri Light" panose="020F0302020204030204" pitchFamily="34" charset="0"/>
          <a:ea typeface="Calibri Light" panose="020F0302020204030204" pitchFamily="34" charset="0"/>
          <a:cs typeface="Calibri Light" panose="020F030202020403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libri Light" panose="020F0302020204030204" pitchFamily="34" charset="0"/>
          <a:ea typeface="Calibri Light" panose="020F0302020204030204" pitchFamily="34" charset="0"/>
          <a:cs typeface="Calibri Light" panose="020F030202020403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3.xml"/><Relationship Id="rId5" Type="http://schemas.openxmlformats.org/officeDocument/2006/relationships/chart" Target="../charts/chart12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5.xm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chart" Target="../charts/chart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chart" Target="../charts/chart1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3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5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7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9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1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3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5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37.xml"/><Relationship Id="rId4" Type="http://schemas.openxmlformats.org/officeDocument/2006/relationships/chart" Target="../charts/chart3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8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chart" Target="../charts/chart3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0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chart" Target="../charts/chart4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2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3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7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0.xm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51.xml"/><Relationship Id="rId4" Type="http://schemas.openxmlformats.org/officeDocument/2006/relationships/image" Target="../media/image4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2.xm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3.xm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4.xml"/><Relationship Id="rId7" Type="http://schemas.openxmlformats.org/officeDocument/2006/relationships/chart" Target="../charts/chart56.xml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chart" Target="../charts/chart55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8.xml"/><Relationship Id="rId2" Type="http://schemas.openxmlformats.org/officeDocument/2006/relationships/chart" Target="../charts/chart5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svg"/><Relationship Id="rId4" Type="http://schemas.openxmlformats.org/officeDocument/2006/relationships/image" Target="../media/image5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9.xml"/><Relationship Id="rId7" Type="http://schemas.openxmlformats.org/officeDocument/2006/relationships/image" Target="../media/image52.sv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chart" Target="../charts/chart61.xml"/><Relationship Id="rId4" Type="http://schemas.openxmlformats.org/officeDocument/2006/relationships/chart" Target="../charts/chart60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2.xm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63.xml"/><Relationship Id="rId5" Type="http://schemas.openxmlformats.org/officeDocument/2006/relationships/image" Target="../media/image52.svg"/><Relationship Id="rId4" Type="http://schemas.openxmlformats.org/officeDocument/2006/relationships/image" Target="../media/image5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chart" Target="../charts/chart64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65.xml"/><Relationship Id="rId4" Type="http://schemas.openxmlformats.org/officeDocument/2006/relationships/image" Target="../media/image52.sv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6.xml"/><Relationship Id="rId7" Type="http://schemas.openxmlformats.org/officeDocument/2006/relationships/chart" Target="../charts/chart68.xml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67.xml"/><Relationship Id="rId5" Type="http://schemas.openxmlformats.org/officeDocument/2006/relationships/image" Target="../media/image54.svg"/><Relationship Id="rId4" Type="http://schemas.openxmlformats.org/officeDocument/2006/relationships/image" Target="../media/image5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9.xml"/><Relationship Id="rId7" Type="http://schemas.openxmlformats.org/officeDocument/2006/relationships/chart" Target="../charts/chart71.xml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70.xml"/><Relationship Id="rId5" Type="http://schemas.openxmlformats.org/officeDocument/2006/relationships/image" Target="../media/image56.svg"/><Relationship Id="rId4" Type="http://schemas.openxmlformats.org/officeDocument/2006/relationships/image" Target="../media/image55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2.xml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7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4.xml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5.xml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6.xml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"/>
          <p:cNvSpPr txBox="1">
            <a:spLocks noGrp="1"/>
          </p:cNvSpPr>
          <p:nvPr>
            <p:ph type="ctrTitle"/>
          </p:nvPr>
        </p:nvSpPr>
        <p:spPr>
          <a:xfrm>
            <a:off x="336645" y="2377934"/>
            <a:ext cx="11518709" cy="2102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br>
              <a:rPr lang="es-CL" sz="5400" b="1" cap="small" dirty="0">
                <a:solidFill>
                  <a:schemeClr val="lt1"/>
                </a:solidFill>
                <a:sym typeface="Calibri"/>
              </a:rPr>
            </a:br>
            <a:r>
              <a:rPr lang="es-CL" sz="4400" b="1" cap="small" dirty="0">
                <a:solidFill>
                  <a:schemeClr val="lt1"/>
                </a:solidFill>
                <a:sym typeface="Calibri"/>
              </a:rPr>
              <a:t>Radiografía del Bienestar y la Salud Mental </a:t>
            </a:r>
            <a:br>
              <a:rPr lang="es-CL" sz="4400" b="1" cap="small" dirty="0">
                <a:solidFill>
                  <a:schemeClr val="lt1"/>
                </a:solidFill>
                <a:sym typeface="Calibri"/>
              </a:rPr>
            </a:br>
            <a:r>
              <a:rPr lang="es-CL" sz="4400" b="1" cap="small" dirty="0">
                <a:solidFill>
                  <a:schemeClr val="lt1"/>
                </a:solidFill>
                <a:sym typeface="Calibri"/>
              </a:rPr>
              <a:t>2025</a:t>
            </a:r>
            <a:br>
              <a:rPr lang="es-CL" sz="4400" b="1" cap="small" dirty="0">
                <a:solidFill>
                  <a:schemeClr val="lt1"/>
                </a:solidFill>
                <a:sym typeface="Calibri"/>
              </a:rPr>
            </a:br>
            <a:br>
              <a:rPr lang="es-CL" sz="4400" b="1" cap="small" dirty="0">
                <a:solidFill>
                  <a:schemeClr val="lt1"/>
                </a:solidFill>
                <a:sym typeface="Calibri"/>
              </a:rPr>
            </a:br>
            <a:r>
              <a:rPr lang="es-CL" sz="4400" b="1" cap="small" dirty="0">
                <a:solidFill>
                  <a:schemeClr val="lt1"/>
                </a:solidFill>
                <a:sym typeface="Calibri"/>
              </a:rPr>
              <a:t>Duoc UC</a:t>
            </a:r>
            <a:endParaRPr sz="4400" dirty="0"/>
          </a:p>
        </p:txBody>
      </p:sp>
      <p:sp>
        <p:nvSpPr>
          <p:cNvPr id="50" name="Google Shape;50;p1" descr="Francisco Urdinez @ PUC Chile - Portfolio de curso de master China-Am.Latina"/>
          <p:cNvSpPr/>
          <p:nvPr/>
        </p:nvSpPr>
        <p:spPr>
          <a:xfrm>
            <a:off x="155574" y="-144463"/>
            <a:ext cx="1836779" cy="1836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 descr="Francisco Urdinez @ PUC Chile - Portfolio de curso de master China-Am.Latina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AE343CB-8787-4608-975F-885D0F5E7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645" y="5116057"/>
            <a:ext cx="2008093" cy="112829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75435ED-B307-42EA-9874-9FCE3BFE7F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4738" y="5116056"/>
            <a:ext cx="1922034" cy="112829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9D393B4-F575-4F80-BEE5-ADDE360BD8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1027" y="5107231"/>
            <a:ext cx="1824526" cy="113711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39009F9-0C94-40D2-AFFE-9A5B3B21D6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6773" y="5116054"/>
            <a:ext cx="2014813" cy="112829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2562DBC-C7EE-421E-915C-CB124164BB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8724" y="5116055"/>
            <a:ext cx="2033630" cy="112829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1B5CE52-3FF0-47FC-BB74-A93CAF11E464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5026"/>
          <a:stretch/>
        </p:blipFill>
        <p:spPr>
          <a:xfrm>
            <a:off x="9923929" y="5096181"/>
            <a:ext cx="1931425" cy="11426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 txBox="1">
            <a:spLocks noGrp="1"/>
          </p:cNvSpPr>
          <p:nvPr>
            <p:ph type="title"/>
          </p:nvPr>
        </p:nvSpPr>
        <p:spPr>
          <a:xfrm>
            <a:off x="491319" y="156285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s-CL" dirty="0">
                <a:solidFill>
                  <a:srgbClr val="3F3F3F"/>
                </a:solidFill>
              </a:rPr>
              <a:t>Estructura de la presentación</a:t>
            </a:r>
            <a:endParaRPr dirty="0">
              <a:solidFill>
                <a:srgbClr val="E30613"/>
              </a:solidFill>
            </a:endParaRPr>
          </a:p>
        </p:txBody>
      </p:sp>
      <p:graphicFrame>
        <p:nvGraphicFramePr>
          <p:cNvPr id="5" name="Tabla 7">
            <a:extLst>
              <a:ext uri="{FF2B5EF4-FFF2-40B4-BE49-F238E27FC236}">
                <a16:creationId xmlns:a16="http://schemas.microsoft.com/office/drawing/2014/main" id="{1D625237-B128-4B8B-9FB7-5B83A2FE3F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885846"/>
              </p:ext>
            </p:extLst>
          </p:nvPr>
        </p:nvGraphicFramePr>
        <p:xfrm>
          <a:off x="489884" y="1523074"/>
          <a:ext cx="7966362" cy="37084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6532009">
                  <a:extLst>
                    <a:ext uri="{9D8B030D-6E8A-4147-A177-3AD203B41FA5}">
                      <a16:colId xmlns:a16="http://schemas.microsoft.com/office/drawing/2014/main" val="2167040499"/>
                    </a:ext>
                  </a:extLst>
                </a:gridCol>
                <a:gridCol w="1434353">
                  <a:extLst>
                    <a:ext uri="{9D8B030D-6E8A-4147-A177-3AD203B41FA5}">
                      <a16:colId xmlns:a16="http://schemas.microsoft.com/office/drawing/2014/main" val="7981596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sz="1800" dirty="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Tema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 dirty="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Lámina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60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Introducción al estudio</a:t>
                      </a:r>
                    </a:p>
                  </a:txBody>
                  <a:tcPr marL="108536" marR="108536" marT="54268" marB="542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2582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Principales hallazgos</a:t>
                      </a:r>
                    </a:p>
                  </a:txBody>
                  <a:tcPr marL="108536" marR="108536" marT="54268" marB="542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510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Resultados descriptivos: </a:t>
                      </a:r>
                      <a:r>
                        <a:rPr lang="es-MX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eje riegos de salud mental</a:t>
                      </a:r>
                    </a:p>
                  </a:txBody>
                  <a:tcPr marL="108536" marR="108536" marT="54268" marB="542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2518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Resultados descriptivos: </a:t>
                      </a:r>
                      <a:r>
                        <a:rPr lang="es-MX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eje bienestar</a:t>
                      </a:r>
                    </a:p>
                  </a:txBody>
                  <a:tcPr marL="108536" marR="108536" marT="54268" marB="542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42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7493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Resultados descriptivos: experiencia emocional e insights</a:t>
                      </a:r>
                    </a:p>
                  </a:txBody>
                  <a:tcPr marL="108536" marR="108536" marT="54268" marB="542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53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643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Resultados inferenciales </a:t>
                      </a:r>
                    </a:p>
                  </a:txBody>
                  <a:tcPr marL="108536" marR="108536" marT="54268" marB="542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58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9119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Resultados eje iniciativas</a:t>
                      </a:r>
                    </a:p>
                  </a:txBody>
                  <a:tcPr marL="108536" marR="108536" marT="54268" marB="542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600" b="0" i="0" u="none" strike="noStrike" cap="none" dirty="0">
                        <a:solidFill>
                          <a:srgbClr val="3F3F3F"/>
                        </a:solidFill>
                        <a:latin typeface="Calibri Light" panose="020F0302020204030204" pitchFamily="34" charset="0"/>
                        <a:ea typeface="Calibri"/>
                        <a:cs typeface="Calibri Light" panose="020F0302020204030204" pitchFamily="34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727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Síntesis y conclusiones</a:t>
                      </a:r>
                    </a:p>
                  </a:txBody>
                  <a:tcPr marL="108536" marR="108536" marT="54268" marB="542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600" b="0" i="0" u="none" strike="noStrike" cap="none" dirty="0">
                        <a:solidFill>
                          <a:srgbClr val="3F3F3F"/>
                        </a:solidFill>
                        <a:latin typeface="Calibri Light" panose="020F0302020204030204" pitchFamily="34" charset="0"/>
                        <a:ea typeface="Calibri"/>
                        <a:cs typeface="Calibri Light" panose="020F0302020204030204" pitchFamily="34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46061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MX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Anexos: otros datos de interés</a:t>
                      </a:r>
                    </a:p>
                  </a:txBody>
                  <a:tcPr marL="108536" marR="108536" marT="54268" marB="542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600" b="0" i="0" u="none" strike="noStrike" cap="none" dirty="0">
                        <a:solidFill>
                          <a:srgbClr val="3F3F3F"/>
                        </a:solidFill>
                        <a:latin typeface="Calibri Light" panose="020F0302020204030204" pitchFamily="34" charset="0"/>
                        <a:ea typeface="Calibri"/>
                        <a:cs typeface="Calibri Light" panose="020F0302020204030204" pitchFamily="34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0153354"/>
                  </a:ext>
                </a:extLst>
              </a:tr>
            </a:tbl>
          </a:graphicData>
        </a:graphic>
      </p:graphicFrame>
      <p:pic>
        <p:nvPicPr>
          <p:cNvPr id="6" name="Gráfico 5" descr="Corazón con pulso con relleno sólido">
            <a:extLst>
              <a:ext uri="{FF2B5EF4-FFF2-40B4-BE49-F238E27FC236}">
                <a16:creationId xmlns:a16="http://schemas.microsoft.com/office/drawing/2014/main" id="{2A98E4D6-A245-40EF-911C-78CB010ABE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36227" y="1523074"/>
            <a:ext cx="914400" cy="914400"/>
          </a:xfrm>
          <a:prstGeom prst="rect">
            <a:avLst/>
          </a:prstGeom>
        </p:spPr>
      </p:pic>
      <p:pic>
        <p:nvPicPr>
          <p:cNvPr id="9" name="Gráfico 8" descr="Cabeza con engranajes con relleno sólido">
            <a:extLst>
              <a:ext uri="{FF2B5EF4-FFF2-40B4-BE49-F238E27FC236}">
                <a16:creationId xmlns:a16="http://schemas.microsoft.com/office/drawing/2014/main" id="{3A2789FA-E0C8-41E1-A2BB-EEAF69177E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36227" y="2920074"/>
            <a:ext cx="914400" cy="914400"/>
          </a:xfrm>
          <a:prstGeom prst="rect">
            <a:avLst/>
          </a:prstGeom>
        </p:spPr>
      </p:pic>
      <p:pic>
        <p:nvPicPr>
          <p:cNvPr id="13" name="Gráfico 12" descr="Cerebro con relleno sólido">
            <a:extLst>
              <a:ext uri="{FF2B5EF4-FFF2-40B4-BE49-F238E27FC236}">
                <a16:creationId xmlns:a16="http://schemas.microsoft.com/office/drawing/2014/main" id="{83EDAE06-759D-4EDD-81D6-5B9486D7A6B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39900" y="431707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737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7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Introducción al estudio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7506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 txBox="1">
            <a:spLocks noGrp="1"/>
          </p:cNvSpPr>
          <p:nvPr>
            <p:ph type="title"/>
          </p:nvPr>
        </p:nvSpPr>
        <p:spPr>
          <a:xfrm>
            <a:off x="491319" y="156285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s-CL" dirty="0">
                <a:solidFill>
                  <a:srgbClr val="3F3F3F"/>
                </a:solidFill>
              </a:rPr>
              <a:t>Propósito</a:t>
            </a:r>
            <a:endParaRPr dirty="0">
              <a:solidFill>
                <a:srgbClr val="E30613"/>
              </a:solidFill>
            </a:endParaRPr>
          </a:p>
        </p:txBody>
      </p:sp>
      <p:sp>
        <p:nvSpPr>
          <p:cNvPr id="71" name="Google Shape;71;p4"/>
          <p:cNvSpPr txBox="1"/>
          <p:nvPr/>
        </p:nvSpPr>
        <p:spPr>
          <a:xfrm>
            <a:off x="491319" y="1358019"/>
            <a:ext cx="11233956" cy="2169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Noto Sans Symbols"/>
              <a:buChar char="✔"/>
            </a:pPr>
            <a:r>
              <a:rPr lang="es-CL" sz="1600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El </a:t>
            </a:r>
            <a:r>
              <a:rPr lang="es-CL" sz="1600" b="1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propósito de este estudio </a:t>
            </a:r>
            <a:r>
              <a:rPr lang="es-CL" sz="1600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fue conocer la opinión de alumnas y alumnos pertenecientes a Duoc UC, en dimensiones relativas a su bienestar emocional y salud mental, de modo de diseñar una estrategia articulada para </a:t>
            </a:r>
            <a:r>
              <a:rPr lang="es-CL" sz="1600" b="1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reforzar, ampliar y focalizar </a:t>
            </a:r>
            <a:r>
              <a:rPr lang="es-CL" sz="1600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los apoyos que Duoc UC entrega a sus estudiantes. 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171450" marR="0" lvl="0" indent="-1079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endParaRPr sz="1000" dirty="0">
              <a:solidFill>
                <a:srgbClr val="3F3F3F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285750" lvl="0" indent="-285750" algn="just">
              <a:lnSpc>
                <a:spcPct val="150000"/>
              </a:lnSpc>
              <a:buClr>
                <a:srgbClr val="3F3F3F"/>
              </a:buClr>
              <a:buSzPts val="1600"/>
              <a:buFont typeface="Noto Sans Symbols"/>
              <a:buChar char="✔"/>
            </a:pPr>
            <a:r>
              <a:rPr lang="es-ES" sz="1600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Con el fin de que los resultados del estudio puedan ser utilizados para informar una arquitectura básica de intervención, los </a:t>
            </a:r>
            <a:r>
              <a:rPr lang="es-ES" sz="1600" b="1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hallazgos se presentarán…</a:t>
            </a:r>
            <a:endParaRPr lang="es-E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8275DAC-21B3-40F5-9C39-9C87B7DBBE12}"/>
              </a:ext>
            </a:extLst>
          </p:cNvPr>
          <p:cNvSpPr txBox="1"/>
          <p:nvPr/>
        </p:nvSpPr>
        <p:spPr>
          <a:xfrm>
            <a:off x="9278471" y="365125"/>
            <a:ext cx="1532963" cy="5232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L" dirty="0"/>
              <a:t>Texto por redactar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Ficha técnica</a:t>
            </a:r>
            <a:endParaRPr dirty="0"/>
          </a:p>
        </p:txBody>
      </p:sp>
      <p:sp>
        <p:nvSpPr>
          <p:cNvPr id="90" name="Google Shape;90;p6"/>
          <p:cNvSpPr txBox="1">
            <a:spLocks noGrp="1"/>
          </p:cNvSpPr>
          <p:nvPr>
            <p:ph type="body" idx="1"/>
          </p:nvPr>
        </p:nvSpPr>
        <p:spPr>
          <a:xfrm>
            <a:off x="491319" y="1270002"/>
            <a:ext cx="11250112" cy="4906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228600" lvl="0" indent="-190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ct val="100000"/>
              <a:buChar char="•"/>
            </a:pPr>
            <a:r>
              <a:rPr lang="es-CL" dirty="0">
                <a:solidFill>
                  <a:srgbClr val="3F3F3F"/>
                </a:solidFill>
              </a:rPr>
              <a:t>Estudio de carácter censal. Toda la población de estudiantes fue invitada a participar. </a:t>
            </a:r>
            <a:endParaRPr dirty="0">
              <a:solidFill>
                <a:srgbClr val="3F3F3F"/>
              </a:solidFill>
            </a:endParaRPr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None/>
            </a:pPr>
            <a:endParaRPr dirty="0">
              <a:solidFill>
                <a:srgbClr val="3F3F3F"/>
              </a:solidFill>
            </a:endParaRPr>
          </a:p>
          <a:p>
            <a:pPr marL="2286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Char char="•"/>
            </a:pPr>
            <a:r>
              <a:rPr lang="es-CL" dirty="0">
                <a:solidFill>
                  <a:srgbClr val="3F3F3F"/>
                </a:solidFill>
              </a:rPr>
              <a:t>Universo total: 94.402 estudiantes.</a:t>
            </a:r>
            <a:endParaRPr dirty="0">
              <a:solidFill>
                <a:srgbClr val="3F3F3F"/>
              </a:solidFill>
            </a:endParaRPr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None/>
            </a:pPr>
            <a:endParaRPr dirty="0">
              <a:solidFill>
                <a:srgbClr val="3F3F3F"/>
              </a:solidFill>
            </a:endParaRPr>
          </a:p>
          <a:p>
            <a:pPr marL="2286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Char char="•"/>
            </a:pPr>
            <a:r>
              <a:rPr lang="es-CL" dirty="0">
                <a:solidFill>
                  <a:srgbClr val="3F3F3F"/>
                </a:solidFill>
              </a:rPr>
              <a:t>Estudiantes que ingresaron a la plataforma: 19.632</a:t>
            </a:r>
            <a:endParaRPr dirty="0">
              <a:solidFill>
                <a:srgbClr val="3F3F3F"/>
              </a:solidFill>
            </a:endParaRPr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None/>
            </a:pPr>
            <a:endParaRPr dirty="0">
              <a:solidFill>
                <a:srgbClr val="3F3F3F"/>
              </a:solidFill>
            </a:endParaRPr>
          </a:p>
          <a:p>
            <a:pPr marL="2286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Char char="•"/>
            </a:pPr>
            <a:r>
              <a:rPr lang="es-CL" dirty="0">
                <a:solidFill>
                  <a:srgbClr val="3F3F3F"/>
                </a:solidFill>
              </a:rPr>
              <a:t>Estudiantes con respuestas parciales: 12.231</a:t>
            </a:r>
            <a:endParaRPr dirty="0">
              <a:solidFill>
                <a:srgbClr val="3F3F3F"/>
              </a:solidFill>
            </a:endParaRPr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None/>
            </a:pPr>
            <a:endParaRPr dirty="0">
              <a:solidFill>
                <a:srgbClr val="3F3F3F"/>
              </a:solidFill>
            </a:endParaRPr>
          </a:p>
          <a:p>
            <a:pPr marL="2286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Char char="•"/>
            </a:pPr>
            <a:r>
              <a:rPr lang="es-CL" dirty="0">
                <a:solidFill>
                  <a:srgbClr val="3F3F3F"/>
                </a:solidFill>
              </a:rPr>
              <a:t>Estudiantes con respuestas completas que se consideraron como casos válidos para análisis: 8.849 (corresponden a un 9% del universo total de estudiantes).</a:t>
            </a:r>
            <a:endParaRPr dirty="0">
              <a:solidFill>
                <a:srgbClr val="3F3F3F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None/>
            </a:pPr>
            <a:endParaRPr dirty="0">
              <a:solidFill>
                <a:srgbClr val="3F3F3F"/>
              </a:solidFill>
            </a:endParaRPr>
          </a:p>
          <a:p>
            <a:pPr marL="2286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Char char="•"/>
            </a:pPr>
            <a:r>
              <a:rPr lang="es-CL" dirty="0">
                <a:solidFill>
                  <a:srgbClr val="3F3F3F"/>
                </a:solidFill>
              </a:rPr>
              <a:t>Trabajo de campo: encuestas aplicadas entre 29 de septiembre y el 13 de octubre, modalidad online.</a:t>
            </a:r>
            <a:endParaRPr dirty="0">
              <a:solidFill>
                <a:srgbClr val="3F3F3F"/>
              </a:solidFill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solidFill>
                <a:srgbClr val="3F3F3F"/>
              </a:solidFill>
            </a:endParaRPr>
          </a:p>
          <a:p>
            <a:pPr marL="2286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s-CL" dirty="0">
                <a:solidFill>
                  <a:srgbClr val="3F3F3F"/>
                </a:solidFill>
              </a:rPr>
              <a:t>Todas las evaluaciones se realizaron mediante </a:t>
            </a:r>
            <a:r>
              <a:rPr lang="es-CL" dirty="0" err="1">
                <a:solidFill>
                  <a:srgbClr val="3F3F3F"/>
                </a:solidFill>
              </a:rPr>
              <a:t>auto-reportes</a:t>
            </a:r>
            <a:r>
              <a:rPr lang="es-CL" dirty="0">
                <a:solidFill>
                  <a:srgbClr val="3F3F3F"/>
                </a:solidFill>
              </a:rPr>
              <a:t>. Se prefirieron instrumentos con propiedades psicométricas conocidas para la población chilena. </a:t>
            </a:r>
            <a:endParaRPr dirty="0">
              <a:solidFill>
                <a:srgbClr val="3F3F3F"/>
              </a:solidFill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solidFill>
                <a:srgbClr val="3F3F3F"/>
              </a:solidFill>
            </a:endParaRPr>
          </a:p>
          <a:p>
            <a:pPr marL="2286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s-CL" dirty="0">
                <a:solidFill>
                  <a:srgbClr val="3F3F3F"/>
                </a:solidFill>
              </a:rPr>
              <a:t>La estructura de medición de trastornos mentales fue adaptativa y personalizada.</a:t>
            </a:r>
            <a:endParaRPr dirty="0">
              <a:solidFill>
                <a:srgbClr val="3F3F3F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None/>
            </a:pPr>
            <a:endParaRPr dirty="0"/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None/>
            </a:pPr>
            <a:endParaRPr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BB99EFC-346B-44E8-8D1B-0EA4EA7775A1}"/>
              </a:ext>
            </a:extLst>
          </p:cNvPr>
          <p:cNvSpPr txBox="1"/>
          <p:nvPr/>
        </p:nvSpPr>
        <p:spPr>
          <a:xfrm>
            <a:off x="9278471" y="365125"/>
            <a:ext cx="1532963" cy="5232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L" dirty="0"/>
              <a:t>Texto por redactar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Batería de evaluación</a:t>
            </a:r>
            <a:endParaRPr dirty="0"/>
          </a:p>
        </p:txBody>
      </p:sp>
      <p:graphicFrame>
        <p:nvGraphicFramePr>
          <p:cNvPr id="171" name="Google Shape;171;p7"/>
          <p:cNvGraphicFramePr/>
          <p:nvPr>
            <p:extLst>
              <p:ext uri="{D42A27DB-BD31-4B8C-83A1-F6EECF244321}">
                <p14:modId xmlns:p14="http://schemas.microsoft.com/office/powerpoint/2010/main" val="3246087290"/>
              </p:ext>
            </p:extLst>
          </p:nvPr>
        </p:nvGraphicFramePr>
        <p:xfrm>
          <a:off x="491319" y="1320256"/>
          <a:ext cx="10998851" cy="4856530"/>
        </p:xfrm>
        <a:graphic>
          <a:graphicData uri="http://schemas.openxmlformats.org/drawingml/2006/table">
            <a:tbl>
              <a:tblPr firstRow="1" bandRow="1">
                <a:noFill/>
                <a:tableStyleId>{991015D7-D160-4A9F-BB4E-07FA0D646497}</a:tableStyleId>
              </a:tblPr>
              <a:tblGrid>
                <a:gridCol w="277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83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strike="noStrike" cap="small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Eje</a:t>
                      </a:r>
                      <a:endParaRPr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strike="noStrike" cap="small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¿Qué evalúa?</a:t>
                      </a:r>
                      <a:endParaRPr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6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Eje </a:t>
                      </a:r>
                      <a:r>
                        <a:rPr lang="es-MX" sz="1600" b="1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riesgos</a:t>
                      </a:r>
                      <a:r>
                        <a:rPr lang="es-MX" sz="16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de salud mental</a:t>
                      </a:r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L" sz="1400" u="none" strike="noStrike" cap="none" dirty="0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DSM-5	</a:t>
                      </a:r>
                      <a:r>
                        <a:rPr lang="es-CL" sz="1400" u="none" strike="noStrike" cap="none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(S</a:t>
                      </a:r>
                      <a:r>
                        <a:rPr lang="es-CL" sz="1400" u="none" strike="noStrike" cap="none" dirty="0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creening de síntomas)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L" sz="1400" u="none" strike="noStrike" cap="none" dirty="0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ED-15	(Screening de síntomas asociados a trastornos de conducta alimentaria)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L" sz="1400" u="none" strike="noStrike" cap="none" dirty="0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PSS4 	(</a:t>
                      </a:r>
                      <a:r>
                        <a:rPr lang="es-MX" sz="1400" u="none" strike="noStrike" cap="none" dirty="0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E</a:t>
                      </a: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strés percibido</a:t>
                      </a:r>
                      <a:r>
                        <a:rPr lang="es-CL" sz="1400" u="none" strike="noStrike" cap="none" dirty="0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ED-15 	(Trastornos de conducta alimentaria)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PHQ9	(Profundización en depresión)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GAD7	(Profundización en ansiedad)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LPFS-BF 2.0	(Profundización en trastornos en el funcionamiento de la personalidad)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CAST	(Profundización en consumo de marihuana)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CUPIT	(Profundización en consumo de marihuana)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AUDIT	(Profundización en consumo de alcohol)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C-SSRS	(Profundización en ideación suicida)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Otros	Estresores / Exigencia carga académica / Estrategias de afrontamiento / Procrastinación</a:t>
                      </a:r>
                      <a:endParaRPr lang="es-CL" sz="14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6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Eje </a:t>
                      </a:r>
                      <a:r>
                        <a:rPr lang="es-MX" sz="1600" b="1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recursos</a:t>
                      </a:r>
                      <a:r>
                        <a:rPr lang="es-MX" sz="16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de salud mental</a:t>
                      </a:r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L" sz="1400" u="none" strike="noStrike" cap="none" dirty="0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PERMA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L" sz="1400" u="none" strike="noStrike" cap="none" dirty="0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Apoyo percibido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L" sz="1400" u="none" strike="noStrike" cap="none" dirty="0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Flow </a:t>
                      </a:r>
                      <a:r>
                        <a:rPr lang="es-CL" sz="1400" u="none" strike="noStrike" cap="none" dirty="0" err="1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states</a:t>
                      </a:r>
                      <a:endParaRPr lang="es-CL" sz="1400" u="none" strike="noStrike" cap="none" dirty="0">
                        <a:solidFill>
                          <a:srgbClr val="3A434C"/>
                        </a:solidFill>
                        <a:latin typeface="Calibri Light" panose="020F0302020204030204" pitchFamily="34" charset="0"/>
                        <a:ea typeface="Calibri"/>
                        <a:cs typeface="Calibri Light" panose="020F0302020204030204" pitchFamily="34" charset="0"/>
                        <a:sym typeface="Calibri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L" sz="1400" u="none" strike="noStrike" cap="none" dirty="0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Estilo de vida saludable (Actividad física, Alimentación, Ingesta de líquidos)</a:t>
                      </a:r>
                      <a:endParaRPr lang="es-CL" sz="14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19822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6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Eje variables </a:t>
                      </a:r>
                      <a:r>
                        <a:rPr lang="es-MX" sz="1600" b="1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contextuales</a:t>
                      </a:r>
                      <a:endParaRPr sz="1600" b="1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u="none" strike="noStrike" cap="none" dirty="0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Personas al cuidado / Situación de empleo / Condiciones para la actividad académica / Necesidad y acceso de tratamiento en salud mental / Lugar, tipo y barreras de acceso a tratamiento / Condición de salud física crónica </a:t>
                      </a:r>
                      <a:endParaRPr lang="es-MX" sz="14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6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Eje </a:t>
                      </a:r>
                      <a:r>
                        <a:rPr lang="es-MX" sz="1600" b="1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iniciativas</a:t>
                      </a: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u="none" strike="noStrike" cap="none" dirty="0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APP Vivo / Embajadores de la Salud Mental / Atenciones psicológicas / Bienestar Integral en Movimiento</a:t>
                      </a:r>
                      <a:endParaRPr sz="1400" u="none" strike="noStrike" cap="none" dirty="0">
                        <a:solidFill>
                          <a:srgbClr val="3A434C"/>
                        </a:solidFill>
                        <a:latin typeface="Calibri Light" panose="020F0302020204030204" pitchFamily="34" charset="0"/>
                        <a:ea typeface="Calibri"/>
                        <a:cs typeface="Calibri Light" panose="020F0302020204030204" pitchFamily="34" charset="0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8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Caracterización de participantes</a:t>
            </a:r>
            <a:br>
              <a:rPr lang="es-CL" dirty="0"/>
            </a:br>
            <a:endParaRPr sz="1400" dirty="0"/>
          </a:p>
        </p:txBody>
      </p:sp>
      <p:graphicFrame>
        <p:nvGraphicFramePr>
          <p:cNvPr id="291" name="gender_pie_chart"/>
          <p:cNvGraphicFramePr/>
          <p:nvPr>
            <p:extLst>
              <p:ext uri="{D42A27DB-BD31-4B8C-83A1-F6EECF244321}">
                <p14:modId xmlns:p14="http://schemas.microsoft.com/office/powerpoint/2010/main" val="1840723605"/>
              </p:ext>
            </p:extLst>
          </p:nvPr>
        </p:nvGraphicFramePr>
        <p:xfrm>
          <a:off x="804568" y="2363337"/>
          <a:ext cx="3025342" cy="25528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92" name="student_day_pie_chart"/>
          <p:cNvGraphicFramePr/>
          <p:nvPr>
            <p:extLst>
              <p:ext uri="{D42A27DB-BD31-4B8C-83A1-F6EECF244321}">
                <p14:modId xmlns:p14="http://schemas.microsoft.com/office/powerpoint/2010/main" val="1811007523"/>
              </p:ext>
            </p:extLst>
          </p:nvPr>
        </p:nvGraphicFramePr>
        <p:xfrm>
          <a:off x="4692496" y="2363338"/>
          <a:ext cx="2807007" cy="25528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93" name="student_type_pie_chart"/>
          <p:cNvGraphicFramePr/>
          <p:nvPr>
            <p:extLst>
              <p:ext uri="{D42A27DB-BD31-4B8C-83A1-F6EECF244321}">
                <p14:modId xmlns:p14="http://schemas.microsoft.com/office/powerpoint/2010/main" val="3237093768"/>
              </p:ext>
            </p:extLst>
          </p:nvPr>
        </p:nvGraphicFramePr>
        <p:xfrm>
          <a:off x="8362089" y="2134373"/>
          <a:ext cx="2807007" cy="30107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" name="total_participantes">
            <a:extLst>
              <a:ext uri="{FF2B5EF4-FFF2-40B4-BE49-F238E27FC236}">
                <a16:creationId xmlns:a16="http://schemas.microsoft.com/office/drawing/2014/main" id="{FD6594E2-3B12-FB73-4BD3-7B79F0E7FDB7}"/>
              </a:ext>
            </a:extLst>
          </p:cNvPr>
          <p:cNvSpPr txBox="1"/>
          <p:nvPr/>
        </p:nvSpPr>
        <p:spPr>
          <a:xfrm>
            <a:off x="491319" y="890042"/>
            <a:ext cx="26310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casos válidos </a:t>
            </a:r>
            <a:r>
              <a:rPr lang="es-CL" sz="1200" dirty="0"/>
              <a:t>(N=8.849)</a:t>
            </a:r>
            <a:endParaRPr lang="es-CL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1" name="escuelas_bar_chart"/>
          <p:cNvGraphicFramePr/>
          <p:nvPr>
            <p:extLst>
              <p:ext uri="{D42A27DB-BD31-4B8C-83A1-F6EECF244321}">
                <p14:modId xmlns:p14="http://schemas.microsoft.com/office/powerpoint/2010/main" val="2439517272"/>
              </p:ext>
            </p:extLst>
          </p:nvPr>
        </p:nvGraphicFramePr>
        <p:xfrm>
          <a:off x="1858210" y="1416783"/>
          <a:ext cx="8628929" cy="24957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02" name="sedes_bar_chart"/>
          <p:cNvGraphicFramePr/>
          <p:nvPr>
            <p:extLst>
              <p:ext uri="{D42A27DB-BD31-4B8C-83A1-F6EECF244321}">
                <p14:modId xmlns:p14="http://schemas.microsoft.com/office/powerpoint/2010/main" val="1126109642"/>
              </p:ext>
            </p:extLst>
          </p:nvPr>
        </p:nvGraphicFramePr>
        <p:xfrm>
          <a:off x="1165225" y="4100597"/>
          <a:ext cx="10291476" cy="21934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Google Shape;290;p18">
            <a:extLst>
              <a:ext uri="{FF2B5EF4-FFF2-40B4-BE49-F238E27FC236}">
                <a16:creationId xmlns:a16="http://schemas.microsoft.com/office/drawing/2014/main" id="{A0121B43-BDE4-4EA8-B1D2-962DBEEA7B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Caracterización de participantes</a:t>
            </a:r>
            <a:br>
              <a:rPr lang="es-CL" dirty="0"/>
            </a:br>
            <a:endParaRPr sz="1400" dirty="0"/>
          </a:p>
        </p:txBody>
      </p:sp>
      <p:sp>
        <p:nvSpPr>
          <p:cNvPr id="2" name="total_participantes_2">
            <a:extLst>
              <a:ext uri="{FF2B5EF4-FFF2-40B4-BE49-F238E27FC236}">
                <a16:creationId xmlns:a16="http://schemas.microsoft.com/office/drawing/2014/main" id="{E58931B8-8BCA-499E-1D4B-D021B6210CFF}"/>
              </a:ext>
            </a:extLst>
          </p:cNvPr>
          <p:cNvSpPr txBox="1"/>
          <p:nvPr/>
        </p:nvSpPr>
        <p:spPr>
          <a:xfrm>
            <a:off x="491319" y="890042"/>
            <a:ext cx="26310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casos válidos </a:t>
            </a:r>
            <a:r>
              <a:rPr lang="es-CL" sz="1200" dirty="0"/>
              <a:t>(N=8.849)</a:t>
            </a:r>
            <a:endParaRPr lang="es-CL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7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Principales hallazgos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8003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5B296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8796604" y="4882487"/>
            <a:ext cx="322766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4657432" y="4882950"/>
            <a:ext cx="330706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b="1" dirty="0">
              <a:solidFill>
                <a:schemeClr val="dk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483862" y="4861615"/>
            <a:ext cx="30546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96" name="Google Shape;196;p10"/>
          <p:cNvSpPr txBox="1"/>
          <p:nvPr/>
        </p:nvSpPr>
        <p:spPr>
          <a:xfrm>
            <a:off x="491319" y="419556"/>
            <a:ext cx="11639289" cy="61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lang="es-CL" sz="34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Principales hallazgos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6391729" y="1789881"/>
            <a:ext cx="2372779" cy="9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solidFill>
                <a:schemeClr val="dk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2208329" y="1783754"/>
            <a:ext cx="2449103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solidFill>
                <a:schemeClr val="dk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100A3E5-955F-3CC1-516C-1D3434FCA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48" y="1872869"/>
            <a:ext cx="779581" cy="73438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CFC49A5-F79E-0434-8679-358EF8735E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2463" y="4122545"/>
            <a:ext cx="637397" cy="61865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A684C97-F342-C05A-2748-1D45C222AE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1781" y="4001975"/>
            <a:ext cx="777311" cy="80633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7F8DF50-0CFD-D43A-64C4-7BA055DC19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2226" y="1872869"/>
            <a:ext cx="1268787" cy="73438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ADE7885-19BF-06E8-3FC0-ABD542D94A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9971013" y="4001975"/>
            <a:ext cx="878845" cy="85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248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53C3E"/>
          </a:solidFill>
          <a:ln w="12700" cap="flat" cmpd="sng">
            <a:solidFill>
              <a:srgbClr val="E53C3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584049" y="5436109"/>
            <a:ext cx="305452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7576018" y="3080785"/>
            <a:ext cx="3494161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2124373" y="3053024"/>
            <a:ext cx="358456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8669221" y="5436109"/>
            <a:ext cx="30798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4610332" y="5445362"/>
            <a:ext cx="305452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34" name="Google Shape;234;p12"/>
          <p:cNvSpPr txBox="1"/>
          <p:nvPr/>
        </p:nvSpPr>
        <p:spPr>
          <a:xfrm>
            <a:off x="491319" y="410031"/>
            <a:ext cx="11639289" cy="61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lang="es-CL" sz="34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Principales desafíos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35" name="Google Shape;235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30046" y="3137487"/>
            <a:ext cx="718480" cy="725031"/>
          </a:xfrm>
          <a:prstGeom prst="rect">
            <a:avLst/>
          </a:prstGeom>
          <a:solidFill>
            <a:srgbClr val="E63C3F"/>
          </a:solidFill>
          <a:ln>
            <a:noFill/>
          </a:ln>
        </p:spPr>
      </p:pic>
      <p:pic>
        <p:nvPicPr>
          <p:cNvPr id="236" name="Google Shape;236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12372" y="3116273"/>
            <a:ext cx="852488" cy="767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7014" y="4637287"/>
            <a:ext cx="868598" cy="798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48004" y="4504482"/>
            <a:ext cx="895991" cy="931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859084" y="4477122"/>
            <a:ext cx="700087" cy="958987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2"/>
          <p:cNvSpPr/>
          <p:nvPr/>
        </p:nvSpPr>
        <p:spPr>
          <a:xfrm>
            <a:off x="1689135" y="1427402"/>
            <a:ext cx="3584567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6962837" y="1449927"/>
            <a:ext cx="3397127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32EA514-1EFC-8FB3-D077-5355F553DA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6151" y="1476719"/>
            <a:ext cx="650863" cy="69344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824FBDE-A207-EA14-4924-512208C054F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88004" y="1381810"/>
            <a:ext cx="440826" cy="979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27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"/>
          <p:cNvSpPr/>
          <p:nvPr/>
        </p:nvSpPr>
        <p:spPr>
          <a:xfrm>
            <a:off x="-3977" y="7883"/>
            <a:ext cx="12192000" cy="6858000"/>
          </a:xfrm>
          <a:prstGeom prst="rect">
            <a:avLst/>
          </a:prstGeom>
          <a:solidFill>
            <a:srgbClr val="F8B31C"/>
          </a:solidFill>
          <a:ln w="12700" cap="flat" cmpd="sng">
            <a:solidFill>
              <a:srgbClr val="FFB81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584049" y="5194369"/>
            <a:ext cx="275925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4301800" y="2483663"/>
            <a:ext cx="3671591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8669221" y="5194369"/>
            <a:ext cx="30798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4610332" y="5203622"/>
            <a:ext cx="305452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14" name="Google Shape;214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54215" y="1486234"/>
            <a:ext cx="675617" cy="724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66109" y="4200044"/>
            <a:ext cx="851831" cy="900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75190" y="4192381"/>
            <a:ext cx="667875" cy="896293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1"/>
          <p:cNvSpPr txBox="1"/>
          <p:nvPr/>
        </p:nvSpPr>
        <p:spPr>
          <a:xfrm>
            <a:off x="491319" y="419556"/>
            <a:ext cx="11639289" cy="61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lang="es-CL" sz="34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Comparación 2022 - 2025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-80884" y="2482991"/>
            <a:ext cx="4089115" cy="97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8049127" y="2510321"/>
            <a:ext cx="4320000" cy="97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1140FE8-4822-276E-E4F7-BE6F4199A6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9929" y="4397688"/>
            <a:ext cx="708930" cy="7382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CF86B05-7DCA-4AD9-8478-76AE5247EF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4767" y="1458665"/>
            <a:ext cx="722884" cy="77931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D80746A-2954-0CAA-20F7-E8EE6F2B904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9876" y="1486234"/>
            <a:ext cx="535394" cy="864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078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8"/>
          <p:cNvSpPr txBox="1">
            <a:spLocks noGrp="1"/>
          </p:cNvSpPr>
          <p:nvPr>
            <p:ph type="ctrTitle"/>
          </p:nvPr>
        </p:nvSpPr>
        <p:spPr>
          <a:xfrm>
            <a:off x="1523999" y="2192338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s-CL" cap="small" dirty="0"/>
              <a:t>Resultados descriptivos</a:t>
            </a:r>
            <a:endParaRPr cap="small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Resultados eje riegos de salud mental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endParaRPr lang="es-CL" sz="4000" b="1" cap="small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3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Sub eje estrés y afrontamiento</a:t>
            </a:r>
            <a:endParaRPr sz="3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nada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Nivel de estrés percibido</a:t>
            </a:r>
            <a:endParaRPr dirty="0"/>
          </a:p>
        </p:txBody>
      </p:sp>
      <p:graphicFrame>
        <p:nvGraphicFramePr>
          <p:cNvPr id="428" name="nivel_estres_categorias"/>
          <p:cNvGraphicFramePr/>
          <p:nvPr>
            <p:extLst>
              <p:ext uri="{D42A27DB-BD31-4B8C-83A1-F6EECF244321}">
                <p14:modId xmlns:p14="http://schemas.microsoft.com/office/powerpoint/2010/main" val="2905219155"/>
              </p:ext>
            </p:extLst>
          </p:nvPr>
        </p:nvGraphicFramePr>
        <p:xfrm>
          <a:off x="4132613" y="796926"/>
          <a:ext cx="8059387" cy="28142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29" name="nivel_estres_sedes"/>
          <p:cNvGraphicFramePr/>
          <p:nvPr>
            <p:extLst>
              <p:ext uri="{D42A27DB-BD31-4B8C-83A1-F6EECF244321}">
                <p14:modId xmlns:p14="http://schemas.microsoft.com/office/powerpoint/2010/main" val="3792720342"/>
              </p:ext>
            </p:extLst>
          </p:nvPr>
        </p:nvGraphicFramePr>
        <p:xfrm>
          <a:off x="3788229" y="3690256"/>
          <a:ext cx="8403771" cy="2926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Google Shape;437;p33">
            <a:extLst>
              <a:ext uri="{FF2B5EF4-FFF2-40B4-BE49-F238E27FC236}">
                <a16:creationId xmlns:a16="http://schemas.microsoft.com/office/drawing/2014/main" id="{0BFC570E-2A22-DF4E-8EBD-0FE30D76288A}"/>
              </a:ext>
            </a:extLst>
          </p:cNvPr>
          <p:cNvSpPr txBox="1"/>
          <p:nvPr/>
        </p:nvSpPr>
        <p:spPr>
          <a:xfrm>
            <a:off x="541698" y="4659417"/>
            <a:ext cx="2872503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s-ES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es el promedio de </a:t>
            </a:r>
            <a:r>
              <a:rPr lang="es-ES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estrés percibido</a:t>
            </a:r>
            <a:r>
              <a:rPr lang="es-ES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para los estudiantes que participaron en el estudio (considerando un 100% como un nivel de estrés extremo e intolerable).</a:t>
            </a:r>
            <a:endParaRPr lang="es-MX" sz="1600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8" name="nada">
            <a:extLst>
              <a:ext uri="{FF2B5EF4-FFF2-40B4-BE49-F238E27FC236}">
                <a16:creationId xmlns:a16="http://schemas.microsoft.com/office/drawing/2014/main" id="{8F98F07F-704E-4675-B717-3F5937AE6D80}"/>
              </a:ext>
            </a:extLst>
          </p:cNvPr>
          <p:cNvSpPr/>
          <p:nvPr/>
        </p:nvSpPr>
        <p:spPr>
          <a:xfrm>
            <a:off x="547568" y="1413773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00223A">
              <a:alpha val="74902"/>
            </a:srgbClr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</a:p>
        </p:txBody>
      </p:sp>
      <p:sp>
        <p:nvSpPr>
          <p:cNvPr id="10" name="Google Shape;427;p32">
            <a:extLst>
              <a:ext uri="{FF2B5EF4-FFF2-40B4-BE49-F238E27FC236}">
                <a16:creationId xmlns:a16="http://schemas.microsoft.com/office/drawing/2014/main" id="{AE7F0244-B695-4145-B4BF-C54DBCD1DBF1}"/>
              </a:ext>
            </a:extLst>
          </p:cNvPr>
          <p:cNvSpPr/>
          <p:nvPr/>
        </p:nvSpPr>
        <p:spPr>
          <a:xfrm>
            <a:off x="547568" y="3503678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F8961E">
              <a:alpha val="74902"/>
            </a:srgbClr>
          </a:solidFill>
          <a:ln>
            <a:solidFill>
              <a:srgbClr val="F8961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Duoc UC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1" name="nivel_estres_promedio_2025">
            <a:extLst>
              <a:ext uri="{FF2B5EF4-FFF2-40B4-BE49-F238E27FC236}">
                <a16:creationId xmlns:a16="http://schemas.microsoft.com/office/drawing/2014/main" id="{E1C77E2B-5B74-4EFF-879C-02D40C622499}"/>
              </a:ext>
            </a:extLst>
          </p:cNvPr>
          <p:cNvSpPr/>
          <p:nvPr/>
        </p:nvSpPr>
        <p:spPr>
          <a:xfrm>
            <a:off x="1254201" y="2106829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00223A"/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25%</a:t>
            </a:r>
          </a:p>
        </p:txBody>
      </p:sp>
      <p:sp>
        <p:nvSpPr>
          <p:cNvPr id="2" name="nivel_estres_promedio_2022">
            <a:extLst>
              <a:ext uri="{FF2B5EF4-FFF2-40B4-BE49-F238E27FC236}">
                <a16:creationId xmlns:a16="http://schemas.microsoft.com/office/drawing/2014/main" id="{47E56322-8BBA-B4A3-9149-EB21D1FABE89}"/>
              </a:ext>
            </a:extLst>
          </p:cNvPr>
          <p:cNvSpPr txBox="1"/>
          <p:nvPr/>
        </p:nvSpPr>
        <p:spPr>
          <a:xfrm>
            <a:off x="699796" y="1511556"/>
            <a:ext cx="7744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L" dirty="0"/>
          </a:p>
        </p:txBody>
      </p:sp>
      <p:sp>
        <p:nvSpPr>
          <p:cNvPr id="3" name="nivel_estres_promedio_2025_2">
            <a:extLst>
              <a:ext uri="{FF2B5EF4-FFF2-40B4-BE49-F238E27FC236}">
                <a16:creationId xmlns:a16="http://schemas.microsoft.com/office/drawing/2014/main" id="{0904F456-94E7-16CA-96D0-43B390A83519}"/>
              </a:ext>
            </a:extLst>
          </p:cNvPr>
          <p:cNvSpPr txBox="1"/>
          <p:nvPr/>
        </p:nvSpPr>
        <p:spPr>
          <a:xfrm>
            <a:off x="625151" y="3634270"/>
            <a:ext cx="8490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006985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1"/>
          <p:cNvSpPr txBox="1">
            <a:spLocks noGrp="1"/>
          </p:cNvSpPr>
          <p:nvPr>
            <p:ph type="title"/>
          </p:nvPr>
        </p:nvSpPr>
        <p:spPr>
          <a:xfrm>
            <a:off x="414316" y="396587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/>
            <a:r>
              <a:rPr lang="es-CL" dirty="0"/>
              <a:t>Estresores</a:t>
            </a:r>
            <a:br>
              <a:rPr lang="es-CL" dirty="0"/>
            </a:br>
            <a:r>
              <a:rPr lang="es-ES" sz="2200" b="0" dirty="0"/>
              <a:t>¿Cuáles de las siguientes situaciones presentan un problema que te afecte actualmente? </a:t>
            </a:r>
            <a:br>
              <a:rPr lang="es-ES" sz="2200" b="0" dirty="0"/>
            </a:br>
            <a:r>
              <a:rPr lang="es-ES" sz="2200" i="1" dirty="0"/>
              <a:t>Resultados por Sexo</a:t>
            </a:r>
            <a:br>
              <a:rPr lang="es-ES" sz="2200" b="0" dirty="0"/>
            </a:br>
            <a:endParaRPr sz="2200" b="0" dirty="0"/>
          </a:p>
        </p:txBody>
      </p:sp>
      <p:graphicFrame>
        <p:nvGraphicFramePr>
          <p:cNvPr id="4" name="estresores_por_genero">
            <a:extLst>
              <a:ext uri="{FF2B5EF4-FFF2-40B4-BE49-F238E27FC236}">
                <a16:creationId xmlns:a16="http://schemas.microsoft.com/office/drawing/2014/main" id="{8103CFB3-65F2-4BDB-99D2-9B8B1658FE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3150310"/>
              </p:ext>
            </p:extLst>
          </p:nvPr>
        </p:nvGraphicFramePr>
        <p:xfrm>
          <a:off x="1116106" y="1380199"/>
          <a:ext cx="9959788" cy="5332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Google Shape;316;p21">
            <a:extLst>
              <a:ext uri="{FF2B5EF4-FFF2-40B4-BE49-F238E27FC236}">
                <a16:creationId xmlns:a16="http://schemas.microsoft.com/office/drawing/2014/main" id="{A1290AF1-4DD3-4575-9164-E1B6CD07040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01374" y="203202"/>
            <a:ext cx="916771" cy="90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928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1"/>
          <p:cNvSpPr txBox="1">
            <a:spLocks noGrp="1"/>
          </p:cNvSpPr>
          <p:nvPr>
            <p:ph type="title"/>
          </p:nvPr>
        </p:nvSpPr>
        <p:spPr>
          <a:xfrm>
            <a:off x="414316" y="396587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/>
            <a:r>
              <a:rPr lang="es-CL" dirty="0"/>
              <a:t>Estresores</a:t>
            </a:r>
            <a:br>
              <a:rPr lang="es-CL" dirty="0"/>
            </a:br>
            <a:r>
              <a:rPr lang="es-ES" sz="2200" b="0" dirty="0"/>
              <a:t>¿Cuáles de las siguientes situaciones presentan un problema que te afecte actualmente? </a:t>
            </a:r>
            <a:br>
              <a:rPr lang="es-ES" sz="2200" b="0" dirty="0"/>
            </a:br>
            <a:r>
              <a:rPr lang="es-ES" sz="2200" i="1" dirty="0"/>
              <a:t>Resultados por Jornada</a:t>
            </a:r>
            <a:br>
              <a:rPr lang="es-ES" sz="2200" b="0" dirty="0"/>
            </a:br>
            <a:endParaRPr sz="2200" b="0" dirty="0"/>
          </a:p>
        </p:txBody>
      </p:sp>
      <p:graphicFrame>
        <p:nvGraphicFramePr>
          <p:cNvPr id="4" name="estresores_por_jornada">
            <a:extLst>
              <a:ext uri="{FF2B5EF4-FFF2-40B4-BE49-F238E27FC236}">
                <a16:creationId xmlns:a16="http://schemas.microsoft.com/office/drawing/2014/main" id="{8103CFB3-65F2-4BDB-99D2-9B8B1658FE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9584080"/>
              </p:ext>
            </p:extLst>
          </p:nvPr>
        </p:nvGraphicFramePr>
        <p:xfrm>
          <a:off x="1116106" y="1380199"/>
          <a:ext cx="9959788" cy="5332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Google Shape;316;p21">
            <a:extLst>
              <a:ext uri="{FF2B5EF4-FFF2-40B4-BE49-F238E27FC236}">
                <a16:creationId xmlns:a16="http://schemas.microsoft.com/office/drawing/2014/main" id="{A1290AF1-4DD3-4575-9164-E1B6CD07040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01374" y="203202"/>
            <a:ext cx="916771" cy="90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035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2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Estresores – Exigencia carga académica</a:t>
            </a:r>
            <a:br>
              <a:rPr lang="es-CL" dirty="0"/>
            </a:br>
            <a:r>
              <a:rPr lang="es-CL" sz="2000" b="0" dirty="0"/>
              <a:t>Entre quienes reportaron como estresor “Carga académica exigente”</a:t>
            </a:r>
            <a:endParaRPr sz="2900" b="0" dirty="0"/>
          </a:p>
        </p:txBody>
      </p:sp>
      <p:graphicFrame>
        <p:nvGraphicFramePr>
          <p:cNvPr id="322" name="exigencia_academica"/>
          <p:cNvGraphicFramePr/>
          <p:nvPr>
            <p:extLst>
              <p:ext uri="{D42A27DB-BD31-4B8C-83A1-F6EECF244321}">
                <p14:modId xmlns:p14="http://schemas.microsoft.com/office/powerpoint/2010/main" val="2296239787"/>
              </p:ext>
            </p:extLst>
          </p:nvPr>
        </p:nvGraphicFramePr>
        <p:xfrm>
          <a:off x="2174875" y="1762125"/>
          <a:ext cx="8128000" cy="41857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23" name="Google Shape;323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43601" y="119748"/>
            <a:ext cx="714159" cy="9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2"/>
          <p:cNvSpPr txBox="1">
            <a:spLocks noGrp="1"/>
          </p:cNvSpPr>
          <p:nvPr>
            <p:ph type="title"/>
          </p:nvPr>
        </p:nvSpPr>
        <p:spPr>
          <a:xfrm>
            <a:off x="491317" y="56543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/>
            <a:r>
              <a:rPr lang="es-CL" dirty="0"/>
              <a:t>Estresores – Exigencia carga académica</a:t>
            </a:r>
            <a:br>
              <a:rPr lang="es-CL" dirty="0"/>
            </a:br>
            <a:r>
              <a:rPr lang="es-ES" sz="2000" b="0" i="1" dirty="0"/>
              <a:t>¿Cuáles de las siguientes razones explican que la carga académica te resulte exigente?</a:t>
            </a:r>
            <a:br>
              <a:rPr lang="es-ES" sz="2000" b="0" i="1" dirty="0"/>
            </a:br>
            <a:r>
              <a:rPr lang="es-CL" sz="2000" b="0" dirty="0"/>
              <a:t>Entre quienes reportaron como estresor “Carga académica exigente”</a:t>
            </a:r>
            <a:br>
              <a:rPr lang="es-CL" sz="2000" b="0" dirty="0"/>
            </a:br>
            <a:r>
              <a:rPr lang="es-ES" sz="2000" i="1" dirty="0"/>
              <a:t>Resultados por tipo de alumno</a:t>
            </a:r>
            <a:br>
              <a:rPr lang="es-ES" sz="2000" b="0" dirty="0"/>
            </a:br>
            <a:endParaRPr sz="2900" b="0" dirty="0"/>
          </a:p>
        </p:txBody>
      </p:sp>
      <p:graphicFrame>
        <p:nvGraphicFramePr>
          <p:cNvPr id="322" name="exigencia_academica_inicio"/>
          <p:cNvGraphicFramePr/>
          <p:nvPr>
            <p:extLst>
              <p:ext uri="{D42A27DB-BD31-4B8C-83A1-F6EECF244321}">
                <p14:modId xmlns:p14="http://schemas.microsoft.com/office/powerpoint/2010/main" val="2046050906"/>
              </p:ext>
            </p:extLst>
          </p:nvPr>
        </p:nvGraphicFramePr>
        <p:xfrm>
          <a:off x="323679" y="1838324"/>
          <a:ext cx="3806361" cy="42271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23" name="Google Shape;323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43601" y="119748"/>
            <a:ext cx="714159" cy="90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" name="exigencia_academica_continuidad"/>
          <p:cNvGraphicFramePr/>
          <p:nvPr>
            <p:extLst>
              <p:ext uri="{D42A27DB-BD31-4B8C-83A1-F6EECF244321}">
                <p14:modId xmlns:p14="http://schemas.microsoft.com/office/powerpoint/2010/main" val="389852781"/>
              </p:ext>
            </p:extLst>
          </p:nvPr>
        </p:nvGraphicFramePr>
        <p:xfrm>
          <a:off x="4407782" y="1838324"/>
          <a:ext cx="3806361" cy="42271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6" name="exigencia_academica_admision_especial"/>
          <p:cNvGraphicFramePr/>
          <p:nvPr>
            <p:extLst>
              <p:ext uri="{D42A27DB-BD31-4B8C-83A1-F6EECF244321}">
                <p14:modId xmlns:p14="http://schemas.microsoft.com/office/powerpoint/2010/main" val="3853227668"/>
              </p:ext>
            </p:extLst>
          </p:nvPr>
        </p:nvGraphicFramePr>
        <p:xfrm>
          <a:off x="8202108" y="1838324"/>
          <a:ext cx="3806361" cy="42271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473776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1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Estresores 2022 - 2025</a:t>
            </a:r>
            <a:endParaRPr dirty="0"/>
          </a:p>
        </p:txBody>
      </p:sp>
      <p:graphicFrame>
        <p:nvGraphicFramePr>
          <p:cNvPr id="315" name="estresores_top5_2022"/>
          <p:cNvGraphicFramePr/>
          <p:nvPr>
            <p:extLst>
              <p:ext uri="{D42A27DB-BD31-4B8C-83A1-F6EECF244321}">
                <p14:modId xmlns:p14="http://schemas.microsoft.com/office/powerpoint/2010/main" val="1727685633"/>
              </p:ext>
            </p:extLst>
          </p:nvPr>
        </p:nvGraphicFramePr>
        <p:xfrm>
          <a:off x="2533127" y="1390650"/>
          <a:ext cx="9597481" cy="21083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16" name="Google Shape;316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01374" y="203202"/>
            <a:ext cx="916771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427;p32">
            <a:extLst>
              <a:ext uri="{FF2B5EF4-FFF2-40B4-BE49-F238E27FC236}">
                <a16:creationId xmlns:a16="http://schemas.microsoft.com/office/drawing/2014/main" id="{65A6203E-2A5D-4C3D-B26F-5319B49B28AB}"/>
              </a:ext>
            </a:extLst>
          </p:cNvPr>
          <p:cNvSpPr/>
          <p:nvPr/>
        </p:nvSpPr>
        <p:spPr>
          <a:xfrm>
            <a:off x="394097" y="1834804"/>
            <a:ext cx="2160000" cy="863601"/>
          </a:xfrm>
          <a:prstGeom prst="roundRect">
            <a:avLst>
              <a:gd name="adj" fmla="val 16667"/>
            </a:avLst>
          </a:prstGeom>
          <a:solidFill>
            <a:srgbClr val="00223A">
              <a:alpha val="74902"/>
            </a:srgbClr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2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7" name="Google Shape;427;p32">
            <a:extLst>
              <a:ext uri="{FF2B5EF4-FFF2-40B4-BE49-F238E27FC236}">
                <a16:creationId xmlns:a16="http://schemas.microsoft.com/office/drawing/2014/main" id="{7AEECA03-7141-449B-8B7C-8C9A8AFFCBEF}"/>
              </a:ext>
            </a:extLst>
          </p:cNvPr>
          <p:cNvSpPr/>
          <p:nvPr/>
        </p:nvSpPr>
        <p:spPr>
          <a:xfrm>
            <a:off x="394097" y="4401138"/>
            <a:ext cx="2160000" cy="863601"/>
          </a:xfrm>
          <a:prstGeom prst="roundRect">
            <a:avLst>
              <a:gd name="adj" fmla="val 16667"/>
            </a:avLst>
          </a:prstGeom>
          <a:solidFill>
            <a:srgbClr val="00223A"/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2025</a:t>
            </a:r>
            <a:endParaRPr sz="2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" name="estresores_top5_2025">
            <a:extLst>
              <a:ext uri="{FF2B5EF4-FFF2-40B4-BE49-F238E27FC236}">
                <a16:creationId xmlns:a16="http://schemas.microsoft.com/office/drawing/2014/main" id="{62EC4AD2-3B7D-90FC-D213-96859FBC34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8110466"/>
              </p:ext>
            </p:extLst>
          </p:nvPr>
        </p:nvGraphicFramePr>
        <p:xfrm>
          <a:off x="2533126" y="3943133"/>
          <a:ext cx="9597481" cy="21083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9" name="afrontamiento_estres"/>
          <p:cNvGraphicFramePr/>
          <p:nvPr>
            <p:extLst>
              <p:ext uri="{D42A27DB-BD31-4B8C-83A1-F6EECF244321}">
                <p14:modId xmlns:p14="http://schemas.microsoft.com/office/powerpoint/2010/main" val="2530827904"/>
              </p:ext>
            </p:extLst>
          </p:nvPr>
        </p:nvGraphicFramePr>
        <p:xfrm>
          <a:off x="1171575" y="1797227"/>
          <a:ext cx="6572248" cy="40157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30" name="Google Shape;330;p23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2800"/>
              <a:buFont typeface="Calibri"/>
              <a:buNone/>
            </a:pPr>
            <a:r>
              <a:rPr lang="es-CL" sz="2800" dirty="0"/>
              <a:t>Estrategias de afrontamiento  </a:t>
            </a:r>
            <a:endParaRPr dirty="0"/>
          </a:p>
        </p:txBody>
      </p:sp>
      <p:sp>
        <p:nvSpPr>
          <p:cNvPr id="332" name="Google Shape;332;p23"/>
          <p:cNvSpPr txBox="1"/>
          <p:nvPr/>
        </p:nvSpPr>
        <p:spPr>
          <a:xfrm>
            <a:off x="866775" y="1150938"/>
            <a:ext cx="984885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i="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Respecto a las situaciones que señalaste que representaban un problema para ti, y selecciona qué has hecho al respecto:</a:t>
            </a:r>
            <a:endParaRPr sz="18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335" name="Google Shape;335;p23"/>
          <p:cNvSpPr txBox="1"/>
          <p:nvPr/>
        </p:nvSpPr>
        <p:spPr>
          <a:xfrm>
            <a:off x="8284260" y="4307321"/>
            <a:ext cx="4156881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sz="3400" b="1" cap="small" dirty="0">
                <a:solidFill>
                  <a:srgbClr val="3A434C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Procrastinación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336" name="procrastinacion"/>
          <p:cNvGraphicFramePr/>
          <p:nvPr>
            <p:extLst>
              <p:ext uri="{D42A27DB-BD31-4B8C-83A1-F6EECF244321}">
                <p14:modId xmlns:p14="http://schemas.microsoft.com/office/powerpoint/2010/main" val="994849556"/>
              </p:ext>
            </p:extLst>
          </p:nvPr>
        </p:nvGraphicFramePr>
        <p:xfrm>
          <a:off x="7266589" y="5211223"/>
          <a:ext cx="5542497" cy="14447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337" name="Google Shape;337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291887" y="210455"/>
            <a:ext cx="579947" cy="9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"/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 dirty="0">
                <a:solidFill>
                  <a:srgbClr val="3F3F3F"/>
                </a:solidFill>
              </a:rPr>
              <a:t>Condición de salud crónica</a:t>
            </a:r>
            <a:endParaRPr sz="3200" dirty="0">
              <a:solidFill>
                <a:srgbClr val="0070C0"/>
              </a:solidFill>
            </a:endParaRPr>
          </a:p>
        </p:txBody>
      </p:sp>
      <p:sp>
        <p:nvSpPr>
          <p:cNvPr id="351" name="Google Shape;351;p25"/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193447" y="1711886"/>
            <a:ext cx="5548087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¿Tienes actualmente alguna condición médica de </a:t>
            </a:r>
            <a:r>
              <a:rPr lang="es-MX" sz="1600" b="1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larga duración</a:t>
            </a: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, diagnosticada por un profesional de salud?</a:t>
            </a:r>
          </a:p>
          <a:p>
            <a:pPr algn="ctr"/>
            <a:endParaRPr lang="es-MX"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</a:endParaRPr>
          </a:p>
        </p:txBody>
      </p:sp>
      <p:graphicFrame>
        <p:nvGraphicFramePr>
          <p:cNvPr id="353" name="salud_cronica1"/>
          <p:cNvGraphicFramePr/>
          <p:nvPr>
            <p:extLst>
              <p:ext uri="{D42A27DB-BD31-4B8C-83A1-F6EECF244321}">
                <p14:modId xmlns:p14="http://schemas.microsoft.com/office/powerpoint/2010/main" val="3519222684"/>
              </p:ext>
            </p:extLst>
          </p:nvPr>
        </p:nvGraphicFramePr>
        <p:xfrm>
          <a:off x="0" y="2225080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4" name="Google Shape;354;p25"/>
          <p:cNvSpPr txBox="1"/>
          <p:nvPr/>
        </p:nvSpPr>
        <p:spPr>
          <a:xfrm>
            <a:off x="6022685" y="2715408"/>
            <a:ext cx="554808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¿Te encuentras actualmente en tratamiento médico o bajo control por esta(s) condición(es)?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5" name="salud_cronica2"/>
          <p:cNvGraphicFramePr/>
          <p:nvPr>
            <p:extLst>
              <p:ext uri="{D42A27DB-BD31-4B8C-83A1-F6EECF244321}">
                <p14:modId xmlns:p14="http://schemas.microsoft.com/office/powerpoint/2010/main" val="2549886578"/>
              </p:ext>
            </p:extLst>
          </p:nvPr>
        </p:nvGraphicFramePr>
        <p:xfrm>
          <a:off x="6053528" y="3140317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56" name="Google Shape;356;p25"/>
          <p:cNvSpPr/>
          <p:nvPr/>
        </p:nvSpPr>
        <p:spPr>
          <a:xfrm>
            <a:off x="4627349" y="4344588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5"/>
          <p:cNvSpPr txBox="1"/>
          <p:nvPr/>
        </p:nvSpPr>
        <p:spPr>
          <a:xfrm>
            <a:off x="2712356" y="5081137"/>
            <a:ext cx="55480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358" name="Google Shape;358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039476" y="190198"/>
            <a:ext cx="857143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352;p25">
            <a:extLst>
              <a:ext uri="{FF2B5EF4-FFF2-40B4-BE49-F238E27FC236}">
                <a16:creationId xmlns:a16="http://schemas.microsoft.com/office/drawing/2014/main" id="{04A490B3-5449-7620-0CCB-915C57BEB288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MX" sz="1200" dirty="0">
                <a:solidFill>
                  <a:srgbClr val="595959"/>
                </a:solidFill>
                <a:latin typeface="Calibri Light"/>
                <a:ea typeface="Calibri"/>
                <a:cs typeface="Calibri Light"/>
                <a:sym typeface="Calibri"/>
              </a:rPr>
              <a:t>Nota: esta pregunta incluye un total de XXXX respuestas.</a:t>
            </a:r>
          </a:p>
        </p:txBody>
      </p:sp>
    </p:spTree>
    <p:extLst>
      <p:ext uri="{BB962C8B-B14F-4D97-AF65-F5344CB8AC3E}">
        <p14:creationId xmlns:p14="http://schemas.microsoft.com/office/powerpoint/2010/main" val="391977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Resultados eje riegos de salud mental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endParaRPr lang="es-CL" sz="4000" b="1" cap="small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3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Sub eje tamizaje en salud mental</a:t>
            </a:r>
            <a:endParaRPr sz="3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2516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rupo_verde"/>
          <p:cNvSpPr/>
          <p:nvPr/>
        </p:nvSpPr>
        <p:spPr>
          <a:xfrm>
            <a:off x="1000207" y="1534848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55B2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25%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403" name="Google Shape;403;p30"/>
          <p:cNvSpPr txBox="1"/>
          <p:nvPr/>
        </p:nvSpPr>
        <p:spPr>
          <a:xfrm>
            <a:off x="910207" y="3381335"/>
            <a:ext cx="2340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Grupo promoción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(Sin malestar clínico)</a:t>
            </a:r>
            <a:endParaRPr sz="1600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409" name="Google Shape;409;p30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/>
              <a:t>Salud mental</a:t>
            </a:r>
            <a:endParaRPr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8D964248-D28D-3787-5950-E0B0AC662034}"/>
              </a:ext>
            </a:extLst>
          </p:cNvPr>
          <p:cNvCxnSpPr>
            <a:cxnSpLocks/>
          </p:cNvCxnSpPr>
          <p:nvPr/>
        </p:nvCxnSpPr>
        <p:spPr>
          <a:xfrm>
            <a:off x="4034018" y="902523"/>
            <a:ext cx="0" cy="573427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grupo_amarillo">
            <a:extLst>
              <a:ext uri="{FF2B5EF4-FFF2-40B4-BE49-F238E27FC236}">
                <a16:creationId xmlns:a16="http://schemas.microsoft.com/office/drawing/2014/main" id="{AB53DA2D-3C68-47E8-9690-479DEB943059}"/>
              </a:ext>
            </a:extLst>
          </p:cNvPr>
          <p:cNvSpPr/>
          <p:nvPr/>
        </p:nvSpPr>
        <p:spPr>
          <a:xfrm>
            <a:off x="4986175" y="1534848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F896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50%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0" name="Google Shape;403;p30">
            <a:extLst>
              <a:ext uri="{FF2B5EF4-FFF2-40B4-BE49-F238E27FC236}">
                <a16:creationId xmlns:a16="http://schemas.microsoft.com/office/drawing/2014/main" id="{3CADC61E-B837-4622-B1A8-A9CA0F188F3D}"/>
              </a:ext>
            </a:extLst>
          </p:cNvPr>
          <p:cNvSpPr txBox="1"/>
          <p:nvPr/>
        </p:nvSpPr>
        <p:spPr>
          <a:xfrm>
            <a:off x="4542365" y="3381335"/>
            <a:ext cx="304761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Grupo prevención indicada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(Malestar subumbral)</a:t>
            </a:r>
            <a:endParaRPr sz="1600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4" name="grupo_rojo">
            <a:extLst>
              <a:ext uri="{FF2B5EF4-FFF2-40B4-BE49-F238E27FC236}">
                <a16:creationId xmlns:a16="http://schemas.microsoft.com/office/drawing/2014/main" id="{A19FAF1E-0939-450A-BBB7-A13B0053E6E9}"/>
              </a:ext>
            </a:extLst>
          </p:cNvPr>
          <p:cNvSpPr/>
          <p:nvPr/>
        </p:nvSpPr>
        <p:spPr>
          <a:xfrm>
            <a:off x="8972143" y="1534848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25%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5" name="Google Shape;403;p30">
            <a:extLst>
              <a:ext uri="{FF2B5EF4-FFF2-40B4-BE49-F238E27FC236}">
                <a16:creationId xmlns:a16="http://schemas.microsoft.com/office/drawing/2014/main" id="{C1D92253-5D76-44AD-8A9F-32F07363DA4F}"/>
              </a:ext>
            </a:extLst>
          </p:cNvPr>
          <p:cNvSpPr txBox="1"/>
          <p:nvPr/>
        </p:nvSpPr>
        <p:spPr>
          <a:xfrm>
            <a:off x="8884851" y="3384440"/>
            <a:ext cx="2340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Grupo manejo clínico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(Malestar clínico)</a:t>
            </a:r>
            <a:endParaRPr sz="1600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3FC82B94-E2E9-4995-A9B7-10744F0F0732}"/>
              </a:ext>
            </a:extLst>
          </p:cNvPr>
          <p:cNvCxnSpPr>
            <a:cxnSpLocks/>
          </p:cNvCxnSpPr>
          <p:nvPr/>
        </p:nvCxnSpPr>
        <p:spPr>
          <a:xfrm>
            <a:off x="8157783" y="823121"/>
            <a:ext cx="0" cy="573427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oogle Shape;73;p4">
            <a:extLst>
              <a:ext uri="{FF2B5EF4-FFF2-40B4-BE49-F238E27FC236}">
                <a16:creationId xmlns:a16="http://schemas.microsoft.com/office/drawing/2014/main" id="{77C2DFC7-3377-4B6C-9E33-41F089C0521F}"/>
              </a:ext>
            </a:extLst>
          </p:cNvPr>
          <p:cNvSpPr txBox="1"/>
          <p:nvPr/>
        </p:nvSpPr>
        <p:spPr>
          <a:xfrm>
            <a:off x="640207" y="4419077"/>
            <a:ext cx="2880000" cy="1600398"/>
          </a:xfrm>
          <a:prstGeom prst="rect">
            <a:avLst/>
          </a:prstGeom>
          <a:solidFill>
            <a:srgbClr val="55B29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dirty="0">
              <a:solidFill>
                <a:srgbClr val="00233B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dirty="0">
              <a:solidFill>
                <a:srgbClr val="00233B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>
                <a:solidFill>
                  <a:srgbClr val="00233B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Estudiantes con hábitos saludables que protegen su salud mental e incrementan su bienestar.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400" dirty="0">
              <a:solidFill>
                <a:srgbClr val="00233B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00233B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3" name="Google Shape;74;p4">
            <a:extLst>
              <a:ext uri="{FF2B5EF4-FFF2-40B4-BE49-F238E27FC236}">
                <a16:creationId xmlns:a16="http://schemas.microsoft.com/office/drawing/2014/main" id="{F2D37AC4-D137-4709-BDD7-709B29A578BF}"/>
              </a:ext>
            </a:extLst>
          </p:cNvPr>
          <p:cNvSpPr txBox="1"/>
          <p:nvPr/>
        </p:nvSpPr>
        <p:spPr>
          <a:xfrm>
            <a:off x="4656000" y="4419077"/>
            <a:ext cx="2880000" cy="1600398"/>
          </a:xfrm>
          <a:prstGeom prst="rect">
            <a:avLst/>
          </a:prstGeom>
          <a:solidFill>
            <a:srgbClr val="F8961E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dirty="0">
              <a:solidFill>
                <a:srgbClr val="00233B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>
                <a:solidFill>
                  <a:srgbClr val="00233B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Estudiantes que están en riesgo de desarrollar enfermedades mentales, a quienes ofrecer herramientas y/o tratamiento temprano para evitar niveles mayores de malestar.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00233B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7" name="Google Shape;75;p4">
            <a:extLst>
              <a:ext uri="{FF2B5EF4-FFF2-40B4-BE49-F238E27FC236}">
                <a16:creationId xmlns:a16="http://schemas.microsoft.com/office/drawing/2014/main" id="{67B75A04-E16B-4D29-B0AB-D56411377E48}"/>
              </a:ext>
            </a:extLst>
          </p:cNvPr>
          <p:cNvSpPr txBox="1"/>
          <p:nvPr/>
        </p:nvSpPr>
        <p:spPr>
          <a:xfrm>
            <a:off x="8612143" y="4419077"/>
            <a:ext cx="2880000" cy="1600398"/>
          </a:xfrm>
          <a:prstGeom prst="rect">
            <a:avLst/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dirty="0">
              <a:solidFill>
                <a:schemeClr val="bg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dirty="0">
              <a:solidFill>
                <a:schemeClr val="bg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>
                <a:solidFill>
                  <a:schemeClr val="bg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Estudiantes con trastornos mentales consolidados, a quienes derivar a tratamientos específicos.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400" dirty="0">
              <a:solidFill>
                <a:schemeClr val="bg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bg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6557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61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Factor carga de enfermedad</a:t>
            </a:r>
            <a:endParaRPr dirty="0"/>
          </a:p>
        </p:txBody>
      </p:sp>
      <p:sp>
        <p:nvSpPr>
          <p:cNvPr id="709" name="Google Shape;709;p61"/>
          <p:cNvSpPr txBox="1"/>
          <p:nvPr/>
        </p:nvSpPr>
        <p:spPr>
          <a:xfrm>
            <a:off x="1370550" y="5264728"/>
            <a:ext cx="2903653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Grupo prevención indicada</a:t>
            </a:r>
          </a:p>
        </p:txBody>
      </p:sp>
      <p:sp>
        <p:nvSpPr>
          <p:cNvPr id="7" name="Google Shape;709;p61">
            <a:extLst>
              <a:ext uri="{FF2B5EF4-FFF2-40B4-BE49-F238E27FC236}">
                <a16:creationId xmlns:a16="http://schemas.microsoft.com/office/drawing/2014/main" id="{CFBB7022-5025-4774-9097-87E08A9ED1BC}"/>
              </a:ext>
            </a:extLst>
          </p:cNvPr>
          <p:cNvSpPr txBox="1"/>
          <p:nvPr/>
        </p:nvSpPr>
        <p:spPr>
          <a:xfrm>
            <a:off x="7144266" y="5264728"/>
            <a:ext cx="307743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Grupo manejo clínico</a:t>
            </a:r>
          </a:p>
        </p:txBody>
      </p:sp>
      <p:sp>
        <p:nvSpPr>
          <p:cNvPr id="8" name="Google Shape;427;p32">
            <a:extLst>
              <a:ext uri="{FF2B5EF4-FFF2-40B4-BE49-F238E27FC236}">
                <a16:creationId xmlns:a16="http://schemas.microsoft.com/office/drawing/2014/main" id="{278DEE9B-EF82-4385-BBD8-F835392E6A43}"/>
              </a:ext>
            </a:extLst>
          </p:cNvPr>
          <p:cNvSpPr/>
          <p:nvPr/>
        </p:nvSpPr>
        <p:spPr>
          <a:xfrm>
            <a:off x="1370550" y="1840429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F99F33">
              <a:alpha val="74902"/>
            </a:srgbClr>
          </a:solidFill>
          <a:ln>
            <a:solidFill>
              <a:srgbClr val="F8961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38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9" name="Google Shape;427;p32">
            <a:extLst>
              <a:ext uri="{FF2B5EF4-FFF2-40B4-BE49-F238E27FC236}">
                <a16:creationId xmlns:a16="http://schemas.microsoft.com/office/drawing/2014/main" id="{E4BBEDEC-DACD-4977-AEA8-4A383D6E5C04}"/>
              </a:ext>
            </a:extLst>
          </p:cNvPr>
          <p:cNvSpPr/>
          <p:nvPr/>
        </p:nvSpPr>
        <p:spPr>
          <a:xfrm>
            <a:off x="7144265" y="1840429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E53C3E">
              <a:alpha val="74902"/>
            </a:srgbClr>
          </a:solidFill>
          <a:ln>
            <a:solidFill>
              <a:srgbClr val="E53C3E">
                <a:alpha val="74902"/>
              </a:srgbClr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86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1" name="Google Shape;427;p32">
            <a:extLst>
              <a:ext uri="{FF2B5EF4-FFF2-40B4-BE49-F238E27FC236}">
                <a16:creationId xmlns:a16="http://schemas.microsoft.com/office/drawing/2014/main" id="{A7149F2F-3959-4BE5-B5A1-F52D2C0700BF}"/>
              </a:ext>
            </a:extLst>
          </p:cNvPr>
          <p:cNvSpPr/>
          <p:nvPr/>
        </p:nvSpPr>
        <p:spPr>
          <a:xfrm>
            <a:off x="1361332" y="3877736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00223A">
              <a:alpha val="74902"/>
            </a:srgbClr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35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Duoc UC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2" name="factor_carga_enfermedad_amarillo">
            <a:extLst>
              <a:ext uri="{FF2B5EF4-FFF2-40B4-BE49-F238E27FC236}">
                <a16:creationId xmlns:a16="http://schemas.microsoft.com/office/drawing/2014/main" id="{7B5B5C0D-75DE-4F83-AEF3-2FEEC3539725}"/>
              </a:ext>
            </a:extLst>
          </p:cNvPr>
          <p:cNvSpPr/>
          <p:nvPr/>
        </p:nvSpPr>
        <p:spPr>
          <a:xfrm>
            <a:off x="2114204" y="2505790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F896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35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3" name="Google Shape;427;p32">
            <a:extLst>
              <a:ext uri="{FF2B5EF4-FFF2-40B4-BE49-F238E27FC236}">
                <a16:creationId xmlns:a16="http://schemas.microsoft.com/office/drawing/2014/main" id="{E881DA4D-0805-4103-921B-42A54A025554}"/>
              </a:ext>
            </a:extLst>
          </p:cNvPr>
          <p:cNvSpPr/>
          <p:nvPr/>
        </p:nvSpPr>
        <p:spPr>
          <a:xfrm>
            <a:off x="7144265" y="3877736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00223A">
              <a:alpha val="74902"/>
            </a:srgbClr>
          </a:solidFill>
          <a:ln>
            <a:solidFill>
              <a:srgbClr val="00223A">
                <a:alpha val="74902"/>
              </a:srgbClr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78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Duoc UC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4" name="factor_carga_enfermedad_rojo">
            <a:extLst>
              <a:ext uri="{FF2B5EF4-FFF2-40B4-BE49-F238E27FC236}">
                <a16:creationId xmlns:a16="http://schemas.microsoft.com/office/drawing/2014/main" id="{62BF6CA2-8D08-4657-9F6A-94C1E608C434}"/>
              </a:ext>
            </a:extLst>
          </p:cNvPr>
          <p:cNvSpPr/>
          <p:nvPr/>
        </p:nvSpPr>
        <p:spPr>
          <a:xfrm>
            <a:off x="7848618" y="2505790"/>
            <a:ext cx="2373086" cy="1585231"/>
          </a:xfrm>
          <a:prstGeom prst="roundRect">
            <a:avLst>
              <a:gd name="adj" fmla="val 16667"/>
            </a:avLst>
          </a:prstGeom>
          <a:solidFill>
            <a:srgbClr val="E63C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78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0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s-CL" dirty="0"/>
              <a:t>Patologías recurrentes grupo prevención indicada</a:t>
            </a:r>
            <a:endParaRPr dirty="0"/>
          </a:p>
        </p:txBody>
      </p:sp>
      <p:sp>
        <p:nvSpPr>
          <p:cNvPr id="9" name="Google Shape;402;p30">
            <a:extLst>
              <a:ext uri="{FF2B5EF4-FFF2-40B4-BE49-F238E27FC236}">
                <a16:creationId xmlns:a16="http://schemas.microsoft.com/office/drawing/2014/main" id="{AB53DA2D-3C68-47E8-9690-479DEB943059}"/>
              </a:ext>
            </a:extLst>
          </p:cNvPr>
          <p:cNvSpPr/>
          <p:nvPr/>
        </p:nvSpPr>
        <p:spPr>
          <a:xfrm>
            <a:off x="924236" y="1968864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F896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50%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0" name="Google Shape;403;p30">
            <a:extLst>
              <a:ext uri="{FF2B5EF4-FFF2-40B4-BE49-F238E27FC236}">
                <a16:creationId xmlns:a16="http://schemas.microsoft.com/office/drawing/2014/main" id="{3CADC61E-B837-4622-B1A8-A9CA0F188F3D}"/>
              </a:ext>
            </a:extLst>
          </p:cNvPr>
          <p:cNvSpPr txBox="1"/>
          <p:nvPr/>
        </p:nvSpPr>
        <p:spPr>
          <a:xfrm>
            <a:off x="924236" y="3815351"/>
            <a:ext cx="21600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Grupo prevención indicada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(Malestar subumbral)</a:t>
            </a:r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175773B8-ED6B-42F3-9707-57AEF3B275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68364721"/>
              </p:ext>
            </p:extLst>
          </p:nvPr>
        </p:nvGraphicFramePr>
        <p:xfrm>
          <a:off x="5305097" y="1771330"/>
          <a:ext cx="4947590" cy="35968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5619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3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Episodio depresión – Grupo manejo clínico</a:t>
            </a:r>
            <a:endParaRPr dirty="0"/>
          </a:p>
        </p:txBody>
      </p:sp>
      <p:sp>
        <p:nvSpPr>
          <p:cNvPr id="516" name="depresion_manejo_clinico_global"/>
          <p:cNvSpPr/>
          <p:nvPr/>
        </p:nvSpPr>
        <p:spPr>
          <a:xfrm>
            <a:off x="671559" y="2816192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42%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CBBB57DB-71A5-D147-88A9-C6E8887B06FF}"/>
              </a:ext>
            </a:extLst>
          </p:cNvPr>
          <p:cNvCxnSpPr>
            <a:cxnSpLocks/>
          </p:cNvCxnSpPr>
          <p:nvPr/>
        </p:nvCxnSpPr>
        <p:spPr>
          <a:xfrm>
            <a:off x="3164441" y="1123730"/>
            <a:ext cx="0" cy="573427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Google Shape;261;p14">
            <a:extLst>
              <a:ext uri="{FF2B5EF4-FFF2-40B4-BE49-F238E27FC236}">
                <a16:creationId xmlns:a16="http://schemas.microsoft.com/office/drawing/2014/main" id="{C4376D5B-F88D-4949-8EC2-E9886A08F7F6}"/>
              </a:ext>
            </a:extLst>
          </p:cNvPr>
          <p:cNvSpPr txBox="1"/>
          <p:nvPr/>
        </p:nvSpPr>
        <p:spPr>
          <a:xfrm>
            <a:off x="3550761" y="1313105"/>
            <a:ext cx="846719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7F7F7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Los datos presentados por sexo, jornada, tipo de alumno y sede, corresponden al porcentaje de prevalencia para cada categoría. Por ejemplo, el 19% de las mujeres que participaron del estudio presentan síntomas clínicos de depresión.</a:t>
            </a:r>
          </a:p>
        </p:txBody>
      </p:sp>
      <p:graphicFrame>
        <p:nvGraphicFramePr>
          <p:cNvPr id="15" name="depresion_manejo_clinico">
            <a:extLst>
              <a:ext uri="{FF2B5EF4-FFF2-40B4-BE49-F238E27FC236}">
                <a16:creationId xmlns:a16="http://schemas.microsoft.com/office/drawing/2014/main" id="{3E291FAC-2870-66F8-18A0-85A22E7FB8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2293067"/>
              </p:ext>
            </p:extLst>
          </p:nvPr>
        </p:nvGraphicFramePr>
        <p:xfrm>
          <a:off x="3670149" y="1802244"/>
          <a:ext cx="8059387" cy="2188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Google Shape;517;p43"/>
          <p:cNvSpPr txBox="1"/>
          <p:nvPr/>
        </p:nvSpPr>
        <p:spPr>
          <a:xfrm>
            <a:off x="70571" y="4662679"/>
            <a:ext cx="2760986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 estudiantes que participaron en el estudio, presentan sintomatología clínica de </a:t>
            </a:r>
            <a:r>
              <a:rPr lang="es-MX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depresión.</a:t>
            </a:r>
          </a:p>
        </p:txBody>
      </p:sp>
      <p:sp>
        <p:nvSpPr>
          <p:cNvPr id="10" name="Google Shape;427;p32">
            <a:extLst>
              <a:ext uri="{FF2B5EF4-FFF2-40B4-BE49-F238E27FC236}">
                <a16:creationId xmlns:a16="http://schemas.microsoft.com/office/drawing/2014/main" id="{52FB3E6A-36DC-49F0-ADC1-9B11C595FF4C}"/>
              </a:ext>
            </a:extLst>
          </p:cNvPr>
          <p:cNvSpPr/>
          <p:nvPr/>
        </p:nvSpPr>
        <p:spPr>
          <a:xfrm>
            <a:off x="70571" y="2018566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E53C3E">
              <a:alpha val="74902"/>
            </a:srgbClr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49%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(2022)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2" name="depresion_manejo_clinico_sede">
            <a:extLst>
              <a:ext uri="{FF2B5EF4-FFF2-40B4-BE49-F238E27FC236}">
                <a16:creationId xmlns:a16="http://schemas.microsoft.com/office/drawing/2014/main" id="{DE06A805-CA0B-0EFB-85BF-BA202146AC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3013068"/>
              </p:ext>
            </p:extLst>
          </p:nvPr>
        </p:nvGraphicFramePr>
        <p:xfrm>
          <a:off x="3788229" y="3690256"/>
          <a:ext cx="8403771" cy="2926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012220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5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Trastorno de ansiedad generalizada – Grupo manejo clínico</a:t>
            </a:r>
            <a:endParaRPr dirty="0"/>
          </a:p>
        </p:txBody>
      </p:sp>
      <p:sp>
        <p:nvSpPr>
          <p:cNvPr id="11" name="Google Shape;261;p14">
            <a:extLst>
              <a:ext uri="{FF2B5EF4-FFF2-40B4-BE49-F238E27FC236}">
                <a16:creationId xmlns:a16="http://schemas.microsoft.com/office/drawing/2014/main" id="{403575CC-2FD9-0129-47F0-02351CE8710B}"/>
              </a:ext>
            </a:extLst>
          </p:cNvPr>
          <p:cNvSpPr txBox="1"/>
          <p:nvPr/>
        </p:nvSpPr>
        <p:spPr>
          <a:xfrm>
            <a:off x="3550761" y="1313105"/>
            <a:ext cx="846719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7F7F7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Los datos presentados por sexo, jornada, tipo de alumno y sede, corresponden al porcentaje de prevalencia para cada categoría. Por ejemplo, el 31% de las mujeres que participaron del estudio presentan síntomas clínicos de ansiedad generalizada.</a:t>
            </a:r>
          </a:p>
        </p:txBody>
      </p:sp>
      <p:graphicFrame>
        <p:nvGraphicFramePr>
          <p:cNvPr id="12" name="ansiedad_manejo_clinico">
            <a:extLst>
              <a:ext uri="{FF2B5EF4-FFF2-40B4-BE49-F238E27FC236}">
                <a16:creationId xmlns:a16="http://schemas.microsoft.com/office/drawing/2014/main" id="{B04CB13E-D1DF-4E02-B884-5DAB2CC89A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2386254"/>
              </p:ext>
            </p:extLst>
          </p:nvPr>
        </p:nvGraphicFramePr>
        <p:xfrm>
          <a:off x="3686635" y="2040224"/>
          <a:ext cx="8059387" cy="1792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54306887-2985-AD1C-9793-5C0B29A40D0A}"/>
              </a:ext>
            </a:extLst>
          </p:cNvPr>
          <p:cNvCxnSpPr>
            <a:cxnSpLocks/>
          </p:cNvCxnSpPr>
          <p:nvPr/>
        </p:nvCxnSpPr>
        <p:spPr>
          <a:xfrm>
            <a:off x="3164441" y="1123730"/>
            <a:ext cx="0" cy="573427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ansiedad_manejo_clinico_global">
            <a:extLst>
              <a:ext uri="{FF2B5EF4-FFF2-40B4-BE49-F238E27FC236}">
                <a16:creationId xmlns:a16="http://schemas.microsoft.com/office/drawing/2014/main" id="{FAE4E925-CD5B-46FD-8FD8-E56C2E8E82E0}"/>
              </a:ext>
            </a:extLst>
          </p:cNvPr>
          <p:cNvSpPr/>
          <p:nvPr/>
        </p:nvSpPr>
        <p:spPr>
          <a:xfrm>
            <a:off x="662597" y="2816192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52%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6" name="Google Shape;517;p43">
            <a:extLst>
              <a:ext uri="{FF2B5EF4-FFF2-40B4-BE49-F238E27FC236}">
                <a16:creationId xmlns:a16="http://schemas.microsoft.com/office/drawing/2014/main" id="{2C60A221-C930-4D48-B68D-439E8C79D62E}"/>
              </a:ext>
            </a:extLst>
          </p:cNvPr>
          <p:cNvSpPr txBox="1"/>
          <p:nvPr/>
        </p:nvSpPr>
        <p:spPr>
          <a:xfrm>
            <a:off x="70571" y="4662679"/>
            <a:ext cx="2752026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 estudiantes que participaron en el estudio, presentan sintomatología clínica de </a:t>
            </a:r>
            <a:r>
              <a:rPr lang="es-MX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ansiedad generalizada.</a:t>
            </a:r>
          </a:p>
        </p:txBody>
      </p:sp>
      <p:sp>
        <p:nvSpPr>
          <p:cNvPr id="18" name="Google Shape;427;p32">
            <a:extLst>
              <a:ext uri="{FF2B5EF4-FFF2-40B4-BE49-F238E27FC236}">
                <a16:creationId xmlns:a16="http://schemas.microsoft.com/office/drawing/2014/main" id="{D99100AD-C0D2-4999-AA70-713EEB13DC75}"/>
              </a:ext>
            </a:extLst>
          </p:cNvPr>
          <p:cNvSpPr/>
          <p:nvPr/>
        </p:nvSpPr>
        <p:spPr>
          <a:xfrm>
            <a:off x="70571" y="2018566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E53C3E">
              <a:alpha val="74902"/>
            </a:srgbClr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57%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(2022)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2" name="ansiedad_manejo_clinico_sede">
            <a:extLst>
              <a:ext uri="{FF2B5EF4-FFF2-40B4-BE49-F238E27FC236}">
                <a16:creationId xmlns:a16="http://schemas.microsoft.com/office/drawing/2014/main" id="{D80AAFB2-F153-D4D7-7243-320A9C2629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9537026"/>
              </p:ext>
            </p:extLst>
          </p:nvPr>
        </p:nvGraphicFramePr>
        <p:xfrm>
          <a:off x="3788229" y="3690256"/>
          <a:ext cx="8403771" cy="2926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658252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8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Trastorno de la personalidad – Grupo manejo clínico</a:t>
            </a:r>
            <a:endParaRPr dirty="0"/>
          </a:p>
        </p:txBody>
      </p:sp>
      <p:sp>
        <p:nvSpPr>
          <p:cNvPr id="11" name="Google Shape;261;p14">
            <a:extLst>
              <a:ext uri="{FF2B5EF4-FFF2-40B4-BE49-F238E27FC236}">
                <a16:creationId xmlns:a16="http://schemas.microsoft.com/office/drawing/2014/main" id="{A4AA13EC-DF90-A411-4B29-48ED2E1E8DC1}"/>
              </a:ext>
            </a:extLst>
          </p:cNvPr>
          <p:cNvSpPr txBox="1"/>
          <p:nvPr/>
        </p:nvSpPr>
        <p:spPr>
          <a:xfrm>
            <a:off x="3550761" y="1313105"/>
            <a:ext cx="846719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7F7F7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Los datos presentados por sexo, jornada, tipo de alumno y sede, corresponden al porcentaje de prevalencia para cada categoría. Por ejemplo, el 42% de las mujeres que participaron del estudio presentan síntomas clínicos de trastorno de la personalidad.</a:t>
            </a:r>
          </a:p>
        </p:txBody>
      </p:sp>
      <p:graphicFrame>
        <p:nvGraphicFramePr>
          <p:cNvPr id="12" name="personalidad_manejo_clinico">
            <a:extLst>
              <a:ext uri="{FF2B5EF4-FFF2-40B4-BE49-F238E27FC236}">
                <a16:creationId xmlns:a16="http://schemas.microsoft.com/office/drawing/2014/main" id="{F7CD735D-2DF8-D68D-3553-D6EE70A3B6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3755231"/>
              </p:ext>
            </p:extLst>
          </p:nvPr>
        </p:nvGraphicFramePr>
        <p:xfrm>
          <a:off x="3686635" y="2040224"/>
          <a:ext cx="8059387" cy="1792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B1167CF5-7E7C-DB3C-EACE-4527276F9ACD}"/>
              </a:ext>
            </a:extLst>
          </p:cNvPr>
          <p:cNvCxnSpPr>
            <a:cxnSpLocks/>
          </p:cNvCxnSpPr>
          <p:nvPr/>
        </p:nvCxnSpPr>
        <p:spPr>
          <a:xfrm>
            <a:off x="3164441" y="1123730"/>
            <a:ext cx="0" cy="573427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ersonalidad_manejo_clinico_global">
            <a:extLst>
              <a:ext uri="{FF2B5EF4-FFF2-40B4-BE49-F238E27FC236}">
                <a16:creationId xmlns:a16="http://schemas.microsoft.com/office/drawing/2014/main" id="{4A15B02A-EADD-4CFD-A16E-8F2F687FDCE6}"/>
              </a:ext>
            </a:extLst>
          </p:cNvPr>
          <p:cNvSpPr/>
          <p:nvPr/>
        </p:nvSpPr>
        <p:spPr>
          <a:xfrm>
            <a:off x="662597" y="2816192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7%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7" name="Google Shape;517;p43">
            <a:extLst>
              <a:ext uri="{FF2B5EF4-FFF2-40B4-BE49-F238E27FC236}">
                <a16:creationId xmlns:a16="http://schemas.microsoft.com/office/drawing/2014/main" id="{AAF2B077-D465-4664-A199-9628C809AD07}"/>
              </a:ext>
            </a:extLst>
          </p:cNvPr>
          <p:cNvSpPr txBox="1"/>
          <p:nvPr/>
        </p:nvSpPr>
        <p:spPr>
          <a:xfrm>
            <a:off x="70571" y="4662679"/>
            <a:ext cx="2752025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 estudiantes que participaron en el estudio, presentan sintomatología clínica de </a:t>
            </a:r>
            <a:r>
              <a:rPr lang="es-MX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trastorno de la personalidad.</a:t>
            </a:r>
          </a:p>
        </p:txBody>
      </p:sp>
      <p:sp>
        <p:nvSpPr>
          <p:cNvPr id="14" name="Google Shape;427;p32">
            <a:extLst>
              <a:ext uri="{FF2B5EF4-FFF2-40B4-BE49-F238E27FC236}">
                <a16:creationId xmlns:a16="http://schemas.microsoft.com/office/drawing/2014/main" id="{030BA3F9-B700-4141-897C-07AF8F13467F}"/>
              </a:ext>
            </a:extLst>
          </p:cNvPr>
          <p:cNvSpPr/>
          <p:nvPr/>
        </p:nvSpPr>
        <p:spPr>
          <a:xfrm>
            <a:off x="70571" y="2018566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E53C3E">
              <a:alpha val="74902"/>
            </a:srgbClr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9%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(2022)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2" name="personalidad_manejo_clinico_sede">
            <a:extLst>
              <a:ext uri="{FF2B5EF4-FFF2-40B4-BE49-F238E27FC236}">
                <a16:creationId xmlns:a16="http://schemas.microsoft.com/office/drawing/2014/main" id="{6241263E-26F4-7EF6-3560-4584B2882E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4949707"/>
              </p:ext>
            </p:extLst>
          </p:nvPr>
        </p:nvGraphicFramePr>
        <p:xfrm>
          <a:off x="3788229" y="3690256"/>
          <a:ext cx="8403771" cy="2926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878148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49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Uso problemático de marihuana – Grupo manejo clínico</a:t>
            </a:r>
            <a:endParaRPr dirty="0"/>
          </a:p>
        </p:txBody>
      </p:sp>
      <p:sp>
        <p:nvSpPr>
          <p:cNvPr id="11" name="Google Shape;261;p14">
            <a:extLst>
              <a:ext uri="{FF2B5EF4-FFF2-40B4-BE49-F238E27FC236}">
                <a16:creationId xmlns:a16="http://schemas.microsoft.com/office/drawing/2014/main" id="{D5EE1FC8-4C9F-9588-BEAA-C9DBDE333AA9}"/>
              </a:ext>
            </a:extLst>
          </p:cNvPr>
          <p:cNvSpPr txBox="1"/>
          <p:nvPr/>
        </p:nvSpPr>
        <p:spPr>
          <a:xfrm>
            <a:off x="3550761" y="1313105"/>
            <a:ext cx="846719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7F7F7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Los datos presentados por sexo, jornada, tipo de alumno y sede, corresponden al porcentaje de prevalencia para cada categoría. Por ejemplo, el 2% de las mujeres que participaron del estudio presentan síntomas clínicos de consumo problemático de marihuana.</a:t>
            </a:r>
          </a:p>
        </p:txBody>
      </p:sp>
      <p:graphicFrame>
        <p:nvGraphicFramePr>
          <p:cNvPr id="12" name="marihuana_manejo_clinico">
            <a:extLst>
              <a:ext uri="{FF2B5EF4-FFF2-40B4-BE49-F238E27FC236}">
                <a16:creationId xmlns:a16="http://schemas.microsoft.com/office/drawing/2014/main" id="{287C095F-BA3B-8676-D0FD-DF67FC9FB4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7534391"/>
              </p:ext>
            </p:extLst>
          </p:nvPr>
        </p:nvGraphicFramePr>
        <p:xfrm>
          <a:off x="3686635" y="2040224"/>
          <a:ext cx="8059387" cy="1792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8445420-BD48-4385-0EB7-9F2240401967}"/>
              </a:ext>
            </a:extLst>
          </p:cNvPr>
          <p:cNvCxnSpPr>
            <a:cxnSpLocks/>
          </p:cNvCxnSpPr>
          <p:nvPr/>
        </p:nvCxnSpPr>
        <p:spPr>
          <a:xfrm>
            <a:off x="3164441" y="1123730"/>
            <a:ext cx="0" cy="573427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arihuana_manejo_clinico_global">
            <a:extLst>
              <a:ext uri="{FF2B5EF4-FFF2-40B4-BE49-F238E27FC236}">
                <a16:creationId xmlns:a16="http://schemas.microsoft.com/office/drawing/2014/main" id="{6AAD2FCA-01A4-42F3-AD03-3CC5BA51A249}"/>
              </a:ext>
            </a:extLst>
          </p:cNvPr>
          <p:cNvSpPr/>
          <p:nvPr/>
        </p:nvSpPr>
        <p:spPr>
          <a:xfrm>
            <a:off x="662597" y="2816192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18%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7" name="Google Shape;517;p43">
            <a:extLst>
              <a:ext uri="{FF2B5EF4-FFF2-40B4-BE49-F238E27FC236}">
                <a16:creationId xmlns:a16="http://schemas.microsoft.com/office/drawing/2014/main" id="{27419DD5-BAD0-4F44-86FB-0BACCAD1132E}"/>
              </a:ext>
            </a:extLst>
          </p:cNvPr>
          <p:cNvSpPr txBox="1"/>
          <p:nvPr/>
        </p:nvSpPr>
        <p:spPr>
          <a:xfrm>
            <a:off x="70571" y="4662679"/>
            <a:ext cx="2752024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 estudiantes que participaron en el estudio, presentan sintomatología clínica de </a:t>
            </a:r>
            <a:r>
              <a:rPr lang="es-MX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uso problemático de marihuana.</a:t>
            </a:r>
          </a:p>
        </p:txBody>
      </p:sp>
      <p:sp>
        <p:nvSpPr>
          <p:cNvPr id="15" name="Google Shape;427;p32">
            <a:extLst>
              <a:ext uri="{FF2B5EF4-FFF2-40B4-BE49-F238E27FC236}">
                <a16:creationId xmlns:a16="http://schemas.microsoft.com/office/drawing/2014/main" id="{47B7E482-5A25-4776-939A-DB4D1F21BAC1}"/>
              </a:ext>
            </a:extLst>
          </p:cNvPr>
          <p:cNvSpPr/>
          <p:nvPr/>
        </p:nvSpPr>
        <p:spPr>
          <a:xfrm>
            <a:off x="70571" y="2018566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E53C3E">
              <a:alpha val="74902"/>
            </a:srgbClr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29%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SENDA 2025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2" name="marihuana_manejo_clinico_sede">
            <a:extLst>
              <a:ext uri="{FF2B5EF4-FFF2-40B4-BE49-F238E27FC236}">
                <a16:creationId xmlns:a16="http://schemas.microsoft.com/office/drawing/2014/main" id="{F89F952C-3CC9-9940-0617-02635B18A9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9945051"/>
              </p:ext>
            </p:extLst>
          </p:nvPr>
        </p:nvGraphicFramePr>
        <p:xfrm>
          <a:off x="3788229" y="3690256"/>
          <a:ext cx="8403771" cy="2926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67764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49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Uso problemático de marihuana – Grupo manejo clínico</a:t>
            </a:r>
            <a:endParaRPr dirty="0"/>
          </a:p>
        </p:txBody>
      </p:sp>
      <p:sp>
        <p:nvSpPr>
          <p:cNvPr id="16" name="cupit_marihuana_porcentaje">
            <a:extLst>
              <a:ext uri="{FF2B5EF4-FFF2-40B4-BE49-F238E27FC236}">
                <a16:creationId xmlns:a16="http://schemas.microsoft.com/office/drawing/2014/main" id="{6AAD2FCA-01A4-42F3-AD03-3CC5BA51A249}"/>
              </a:ext>
            </a:extLst>
          </p:cNvPr>
          <p:cNvSpPr/>
          <p:nvPr/>
        </p:nvSpPr>
        <p:spPr>
          <a:xfrm>
            <a:off x="5016000" y="2771368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18%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7" name="Google Shape;517;p43">
            <a:extLst>
              <a:ext uri="{FF2B5EF4-FFF2-40B4-BE49-F238E27FC236}">
                <a16:creationId xmlns:a16="http://schemas.microsoft.com/office/drawing/2014/main" id="{27419DD5-BAD0-4F44-86FB-0BACCAD1132E}"/>
              </a:ext>
            </a:extLst>
          </p:cNvPr>
          <p:cNvSpPr txBox="1"/>
          <p:nvPr/>
        </p:nvSpPr>
        <p:spPr>
          <a:xfrm>
            <a:off x="4423974" y="4617855"/>
            <a:ext cx="2752026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Porcentaje de </a:t>
            </a:r>
            <a:r>
              <a:rPr lang="es-MX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uso problemático</a:t>
            </a:r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a la pregunta “</a:t>
            </a:r>
            <a:r>
              <a:rPr lang="es-MX" sz="1600" i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¿Cuántos días has consumido marihuana en los últimos 12 meses?”</a:t>
            </a:r>
          </a:p>
        </p:txBody>
      </p:sp>
      <p:sp>
        <p:nvSpPr>
          <p:cNvPr id="6" name="Google Shape;427;p32">
            <a:extLst>
              <a:ext uri="{FF2B5EF4-FFF2-40B4-BE49-F238E27FC236}">
                <a16:creationId xmlns:a16="http://schemas.microsoft.com/office/drawing/2014/main" id="{9E2487C7-8E98-46E2-AFBB-59DE13BF8AD2}"/>
              </a:ext>
            </a:extLst>
          </p:cNvPr>
          <p:cNvSpPr/>
          <p:nvPr/>
        </p:nvSpPr>
        <p:spPr>
          <a:xfrm>
            <a:off x="4423974" y="1973742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E53C3E">
              <a:alpha val="74902"/>
            </a:srgbClr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(2022)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59084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50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Uso problemático de alcohol – Grupo manejo clínico</a:t>
            </a:r>
            <a:endParaRPr dirty="0"/>
          </a:p>
        </p:txBody>
      </p:sp>
      <p:graphicFrame>
        <p:nvGraphicFramePr>
          <p:cNvPr id="12" name="alcohol_manejo_clinico">
            <a:extLst>
              <a:ext uri="{FF2B5EF4-FFF2-40B4-BE49-F238E27FC236}">
                <a16:creationId xmlns:a16="http://schemas.microsoft.com/office/drawing/2014/main" id="{D796B308-03C5-AE1C-2D66-6C45FE9F8F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9092776"/>
              </p:ext>
            </p:extLst>
          </p:nvPr>
        </p:nvGraphicFramePr>
        <p:xfrm>
          <a:off x="3686635" y="2040224"/>
          <a:ext cx="8059387" cy="1792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BD2BC845-CDD7-EA3A-4D1D-DB1A113B34E2}"/>
              </a:ext>
            </a:extLst>
          </p:cNvPr>
          <p:cNvCxnSpPr>
            <a:cxnSpLocks/>
          </p:cNvCxnSpPr>
          <p:nvPr/>
        </p:nvCxnSpPr>
        <p:spPr>
          <a:xfrm>
            <a:off x="3164441" y="1123730"/>
            <a:ext cx="0" cy="573427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261;p14">
            <a:extLst>
              <a:ext uri="{FF2B5EF4-FFF2-40B4-BE49-F238E27FC236}">
                <a16:creationId xmlns:a16="http://schemas.microsoft.com/office/drawing/2014/main" id="{F293E2A6-C6F6-E567-0F79-1BC23E493A50}"/>
              </a:ext>
            </a:extLst>
          </p:cNvPr>
          <p:cNvSpPr txBox="1"/>
          <p:nvPr/>
        </p:nvSpPr>
        <p:spPr>
          <a:xfrm>
            <a:off x="3550761" y="1313105"/>
            <a:ext cx="846719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7F7F7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Los datos presentados por sexo, jornada, tipo de alumno y sede, corresponden al porcentaje de prevalencia para cada categoría. Por ejemplo, el 39% de las mujeres que participaron del estudio presentan síntomas clínicos de consumo problemático de alcohol.</a:t>
            </a:r>
          </a:p>
        </p:txBody>
      </p:sp>
      <p:sp>
        <p:nvSpPr>
          <p:cNvPr id="11" name="alcohol_manejo_clinico_global">
            <a:extLst>
              <a:ext uri="{FF2B5EF4-FFF2-40B4-BE49-F238E27FC236}">
                <a16:creationId xmlns:a16="http://schemas.microsoft.com/office/drawing/2014/main" id="{8468DAE6-FCF5-483D-96C6-E50F9934653F}"/>
              </a:ext>
            </a:extLst>
          </p:cNvPr>
          <p:cNvSpPr/>
          <p:nvPr/>
        </p:nvSpPr>
        <p:spPr>
          <a:xfrm>
            <a:off x="662597" y="2816192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5%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6" name="Google Shape;517;p43">
            <a:extLst>
              <a:ext uri="{FF2B5EF4-FFF2-40B4-BE49-F238E27FC236}">
                <a16:creationId xmlns:a16="http://schemas.microsoft.com/office/drawing/2014/main" id="{5E47208B-1A02-43B7-917E-B6EE6D7C6A64}"/>
              </a:ext>
            </a:extLst>
          </p:cNvPr>
          <p:cNvSpPr txBox="1"/>
          <p:nvPr/>
        </p:nvSpPr>
        <p:spPr>
          <a:xfrm>
            <a:off x="70571" y="4662679"/>
            <a:ext cx="2752025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 estudiantes que participaron en el estudio, presentan sintomatología clínica de </a:t>
            </a:r>
            <a:r>
              <a:rPr lang="es-MX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consumo problemático de alcohol.</a:t>
            </a:r>
          </a:p>
        </p:txBody>
      </p:sp>
      <p:sp>
        <p:nvSpPr>
          <p:cNvPr id="18" name="Google Shape;427;p32">
            <a:extLst>
              <a:ext uri="{FF2B5EF4-FFF2-40B4-BE49-F238E27FC236}">
                <a16:creationId xmlns:a16="http://schemas.microsoft.com/office/drawing/2014/main" id="{89F61867-C384-48B7-A889-7BD5A17C9828}"/>
              </a:ext>
            </a:extLst>
          </p:cNvPr>
          <p:cNvSpPr/>
          <p:nvPr/>
        </p:nvSpPr>
        <p:spPr>
          <a:xfrm>
            <a:off x="70571" y="2018566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E53C3E">
              <a:alpha val="74902"/>
            </a:srgbClr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6%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2" name="alcohol_manejo_clinico_sede">
            <a:extLst>
              <a:ext uri="{FF2B5EF4-FFF2-40B4-BE49-F238E27FC236}">
                <a16:creationId xmlns:a16="http://schemas.microsoft.com/office/drawing/2014/main" id="{B01047FB-43DE-E2BF-31F1-DD4BF2B4F2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216247"/>
              </p:ext>
            </p:extLst>
          </p:nvPr>
        </p:nvGraphicFramePr>
        <p:xfrm>
          <a:off x="3788229" y="3690256"/>
          <a:ext cx="8403771" cy="2926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658814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8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Ideación suicida – Grupo manejo clínico</a:t>
            </a:r>
            <a:endParaRPr dirty="0"/>
          </a:p>
        </p:txBody>
      </p:sp>
      <p:graphicFrame>
        <p:nvGraphicFramePr>
          <p:cNvPr id="10" name="suicidio_manejo_clinico_sede">
            <a:extLst>
              <a:ext uri="{FF2B5EF4-FFF2-40B4-BE49-F238E27FC236}">
                <a16:creationId xmlns:a16="http://schemas.microsoft.com/office/drawing/2014/main" id="{CD8FBB64-7F94-B9A3-C3E7-546AA8E5FE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2817837"/>
              </p:ext>
            </p:extLst>
          </p:nvPr>
        </p:nvGraphicFramePr>
        <p:xfrm>
          <a:off x="3550761" y="4099389"/>
          <a:ext cx="8298165" cy="2708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Google Shape;261;p14">
            <a:extLst>
              <a:ext uri="{FF2B5EF4-FFF2-40B4-BE49-F238E27FC236}">
                <a16:creationId xmlns:a16="http://schemas.microsoft.com/office/drawing/2014/main" id="{5DB4E260-3D29-A0B2-8D2D-BD2DFABCFABC}"/>
              </a:ext>
            </a:extLst>
          </p:cNvPr>
          <p:cNvSpPr txBox="1"/>
          <p:nvPr/>
        </p:nvSpPr>
        <p:spPr>
          <a:xfrm>
            <a:off x="3550761" y="1313105"/>
            <a:ext cx="846719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7F7F7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Los datos presentados por sexo, jornada, tipo de alumno y sede, corresponden al porcentaje de prevalencia para cada categoría. Por ejemplo, el 50% de las mujeres que participaron del estudio presentan sospecha de  ideación suicida.</a:t>
            </a:r>
          </a:p>
        </p:txBody>
      </p:sp>
      <p:graphicFrame>
        <p:nvGraphicFramePr>
          <p:cNvPr id="13" name="suicidio_manejo_clinico">
            <a:extLst>
              <a:ext uri="{FF2B5EF4-FFF2-40B4-BE49-F238E27FC236}">
                <a16:creationId xmlns:a16="http://schemas.microsoft.com/office/drawing/2014/main" id="{81869CB5-73A7-DF84-909A-1813CC7BEA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8207190"/>
              </p:ext>
            </p:extLst>
          </p:nvPr>
        </p:nvGraphicFramePr>
        <p:xfrm>
          <a:off x="3686635" y="2040224"/>
          <a:ext cx="8059387" cy="1792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27B810F-C4EB-D7EA-5F30-CBDBF088C9C1}"/>
              </a:ext>
            </a:extLst>
          </p:cNvPr>
          <p:cNvCxnSpPr>
            <a:cxnSpLocks/>
          </p:cNvCxnSpPr>
          <p:nvPr/>
        </p:nvCxnSpPr>
        <p:spPr>
          <a:xfrm>
            <a:off x="3164441" y="1123730"/>
            <a:ext cx="0" cy="573427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ideacion_suicida_manejo_clinico_global">
            <a:extLst>
              <a:ext uri="{FF2B5EF4-FFF2-40B4-BE49-F238E27FC236}">
                <a16:creationId xmlns:a16="http://schemas.microsoft.com/office/drawing/2014/main" id="{12AB57C7-F7DA-4221-BADE-83670CEE61B7}"/>
              </a:ext>
            </a:extLst>
          </p:cNvPr>
          <p:cNvSpPr/>
          <p:nvPr/>
        </p:nvSpPr>
        <p:spPr>
          <a:xfrm>
            <a:off x="662597" y="2816192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32%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5" name="Google Shape;517;p43">
            <a:extLst>
              <a:ext uri="{FF2B5EF4-FFF2-40B4-BE49-F238E27FC236}">
                <a16:creationId xmlns:a16="http://schemas.microsoft.com/office/drawing/2014/main" id="{343DADBB-CAEF-4CEC-9C41-586E2F79E8E1}"/>
              </a:ext>
            </a:extLst>
          </p:cNvPr>
          <p:cNvSpPr txBox="1"/>
          <p:nvPr/>
        </p:nvSpPr>
        <p:spPr>
          <a:xfrm>
            <a:off x="70571" y="4662679"/>
            <a:ext cx="2752026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 estudiantes que participaron en el estudio, presentan</a:t>
            </a:r>
            <a:r>
              <a:rPr lang="es-MX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ideación suicida.</a:t>
            </a:r>
          </a:p>
        </p:txBody>
      </p:sp>
      <p:sp>
        <p:nvSpPr>
          <p:cNvPr id="18" name="Google Shape;427;p32">
            <a:extLst>
              <a:ext uri="{FF2B5EF4-FFF2-40B4-BE49-F238E27FC236}">
                <a16:creationId xmlns:a16="http://schemas.microsoft.com/office/drawing/2014/main" id="{CE4D427B-C854-412F-847E-7DC359AAE967}"/>
              </a:ext>
            </a:extLst>
          </p:cNvPr>
          <p:cNvSpPr/>
          <p:nvPr/>
        </p:nvSpPr>
        <p:spPr>
          <a:xfrm>
            <a:off x="70571" y="2018566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E53C3E">
              <a:alpha val="74902"/>
            </a:srgbClr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35%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8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Ideación suicida – Grupo manejo clínico</a:t>
            </a:r>
            <a:endParaRPr dirty="0"/>
          </a:p>
        </p:txBody>
      </p:sp>
      <p:sp>
        <p:nvSpPr>
          <p:cNvPr id="3" name="Google Shape;352;p25">
            <a:extLst>
              <a:ext uri="{FF2B5EF4-FFF2-40B4-BE49-F238E27FC236}">
                <a16:creationId xmlns:a16="http://schemas.microsoft.com/office/drawing/2014/main" id="{326B51B7-1C22-48BA-9610-950AB69B0192}"/>
              </a:ext>
            </a:extLst>
          </p:cNvPr>
          <p:cNvSpPr txBox="1"/>
          <p:nvPr/>
        </p:nvSpPr>
        <p:spPr>
          <a:xfrm>
            <a:off x="203473" y="1701860"/>
            <a:ext cx="554808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¿Se te han ocurrido pensamientos de que sería mejor estar muerto/a o de hacerte daño de alguna manera?</a:t>
            </a:r>
            <a:endParaRPr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4" name="ideacion_suicida_1_pie_chart">
            <a:extLst>
              <a:ext uri="{FF2B5EF4-FFF2-40B4-BE49-F238E27FC236}">
                <a16:creationId xmlns:a16="http://schemas.microsoft.com/office/drawing/2014/main" id="{7E792B05-8C97-42DA-A3B2-187727929A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5488034"/>
              </p:ext>
            </p:extLst>
          </p:nvPr>
        </p:nvGraphicFramePr>
        <p:xfrm>
          <a:off x="0" y="2225080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Google Shape;354;p25">
            <a:extLst>
              <a:ext uri="{FF2B5EF4-FFF2-40B4-BE49-F238E27FC236}">
                <a16:creationId xmlns:a16="http://schemas.microsoft.com/office/drawing/2014/main" id="{0A5FACBF-8CFB-4AFD-868E-DD4F809A0D5D}"/>
              </a:ext>
            </a:extLst>
          </p:cNvPr>
          <p:cNvSpPr txBox="1"/>
          <p:nvPr/>
        </p:nvSpPr>
        <p:spPr>
          <a:xfrm>
            <a:off x="6022685" y="2715408"/>
            <a:ext cx="5548087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¿Has deseado estar muerto/a o poder dormir y no despertar? (i1)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6" name="ideacion_suicida_2_pie_chart">
            <a:extLst>
              <a:ext uri="{FF2B5EF4-FFF2-40B4-BE49-F238E27FC236}">
                <a16:creationId xmlns:a16="http://schemas.microsoft.com/office/drawing/2014/main" id="{4B9F7D73-BE70-43F4-A9F7-4B70B1ED42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3241571"/>
              </p:ext>
            </p:extLst>
          </p:nvPr>
        </p:nvGraphicFramePr>
        <p:xfrm>
          <a:off x="6053528" y="3140317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Google Shape;356;p25">
            <a:extLst>
              <a:ext uri="{FF2B5EF4-FFF2-40B4-BE49-F238E27FC236}">
                <a16:creationId xmlns:a16="http://schemas.microsoft.com/office/drawing/2014/main" id="{32929CF0-35EC-4BA8-9267-A7C6D83372E9}"/>
              </a:ext>
            </a:extLst>
          </p:cNvPr>
          <p:cNvSpPr/>
          <p:nvPr/>
        </p:nvSpPr>
        <p:spPr>
          <a:xfrm>
            <a:off x="4627349" y="4344588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57;p25">
            <a:extLst>
              <a:ext uri="{FF2B5EF4-FFF2-40B4-BE49-F238E27FC236}">
                <a16:creationId xmlns:a16="http://schemas.microsoft.com/office/drawing/2014/main" id="{E2A3606E-CAF5-4A94-A4A4-6C19F21D87D0}"/>
              </a:ext>
            </a:extLst>
          </p:cNvPr>
          <p:cNvSpPr txBox="1"/>
          <p:nvPr/>
        </p:nvSpPr>
        <p:spPr>
          <a:xfrm>
            <a:off x="2712356" y="5081137"/>
            <a:ext cx="55480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9" name="Google Shape;352;p25">
            <a:extLst>
              <a:ext uri="{FF2B5EF4-FFF2-40B4-BE49-F238E27FC236}">
                <a16:creationId xmlns:a16="http://schemas.microsoft.com/office/drawing/2014/main" id="{866AC697-A7E5-4C46-9845-DCD8666FDE72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Nota: a quienes se les despliega instrumento de profundización, contestan obligatoriamente i1, i2 e i6.</a:t>
            </a:r>
          </a:p>
        </p:txBody>
      </p:sp>
    </p:spTree>
    <p:extLst>
      <p:ext uri="{BB962C8B-B14F-4D97-AF65-F5344CB8AC3E}">
        <p14:creationId xmlns:p14="http://schemas.microsoft.com/office/powerpoint/2010/main" val="616273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8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Ideación suicida – Grupo manejo clínico</a:t>
            </a:r>
            <a:endParaRPr dirty="0"/>
          </a:p>
        </p:txBody>
      </p:sp>
      <p:sp>
        <p:nvSpPr>
          <p:cNvPr id="3" name="Google Shape;352;p25">
            <a:extLst>
              <a:ext uri="{FF2B5EF4-FFF2-40B4-BE49-F238E27FC236}">
                <a16:creationId xmlns:a16="http://schemas.microsoft.com/office/drawing/2014/main" id="{326B51B7-1C22-48BA-9610-950AB69B0192}"/>
              </a:ext>
            </a:extLst>
          </p:cNvPr>
          <p:cNvSpPr txBox="1"/>
          <p:nvPr/>
        </p:nvSpPr>
        <p:spPr>
          <a:xfrm>
            <a:off x="-182011" y="1361403"/>
            <a:ext cx="438645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¿Has tenido realmente la idea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 suicidarte? (i2)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4" name="ideacion_suicida_3_pie_chart">
            <a:extLst>
              <a:ext uri="{FF2B5EF4-FFF2-40B4-BE49-F238E27FC236}">
                <a16:creationId xmlns:a16="http://schemas.microsoft.com/office/drawing/2014/main" id="{7E792B05-8C97-42DA-A3B2-187727929A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7379809"/>
              </p:ext>
            </p:extLst>
          </p:nvPr>
        </p:nvGraphicFramePr>
        <p:xfrm>
          <a:off x="-1039907" y="1872529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Google Shape;356;p25">
            <a:extLst>
              <a:ext uri="{FF2B5EF4-FFF2-40B4-BE49-F238E27FC236}">
                <a16:creationId xmlns:a16="http://schemas.microsoft.com/office/drawing/2014/main" id="{32929CF0-35EC-4BA8-9267-A7C6D83372E9}"/>
              </a:ext>
            </a:extLst>
          </p:cNvPr>
          <p:cNvSpPr/>
          <p:nvPr/>
        </p:nvSpPr>
        <p:spPr>
          <a:xfrm>
            <a:off x="3474409" y="2817628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57;p25">
            <a:extLst>
              <a:ext uri="{FF2B5EF4-FFF2-40B4-BE49-F238E27FC236}">
                <a16:creationId xmlns:a16="http://schemas.microsoft.com/office/drawing/2014/main" id="{E2A3606E-CAF5-4A94-A4A4-6C19F21D87D0}"/>
              </a:ext>
            </a:extLst>
          </p:cNvPr>
          <p:cNvSpPr txBox="1"/>
          <p:nvPr/>
        </p:nvSpPr>
        <p:spPr>
          <a:xfrm>
            <a:off x="2886277" y="3573526"/>
            <a:ext cx="31595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9" name="ideacion_suicida_4_bar_chart">
            <a:extLst>
              <a:ext uri="{FF2B5EF4-FFF2-40B4-BE49-F238E27FC236}">
                <a16:creationId xmlns:a16="http://schemas.microsoft.com/office/drawing/2014/main" id="{026100B7-BCF2-4798-8F7B-0F35B259D6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74773385"/>
              </p:ext>
            </p:extLst>
          </p:nvPr>
        </p:nvGraphicFramePr>
        <p:xfrm>
          <a:off x="6346822" y="1333717"/>
          <a:ext cx="5548086" cy="32229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Google Shape;352;p25">
            <a:extLst>
              <a:ext uri="{FF2B5EF4-FFF2-40B4-BE49-F238E27FC236}">
                <a16:creationId xmlns:a16="http://schemas.microsoft.com/office/drawing/2014/main" id="{9E05397D-284D-4B8B-984E-159DDDDA70F9}"/>
              </a:ext>
            </a:extLst>
          </p:cNvPr>
          <p:cNvSpPr txBox="1"/>
          <p:nvPr/>
        </p:nvSpPr>
        <p:spPr>
          <a:xfrm>
            <a:off x="3474409" y="5508691"/>
            <a:ext cx="554808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¿Alguna vez has hecho algo, comenzado a hacer algo o te has preparado para hacer algo para terminar tu vida? (i6)</a:t>
            </a:r>
            <a:endParaRPr lang="es-MX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11" name="ideacion_suicida_5_pie_chart">
            <a:extLst>
              <a:ext uri="{FF2B5EF4-FFF2-40B4-BE49-F238E27FC236}">
                <a16:creationId xmlns:a16="http://schemas.microsoft.com/office/drawing/2014/main" id="{A0DFB884-61B2-4090-806B-51B9E01CE2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3976324"/>
              </p:ext>
            </p:extLst>
          </p:nvPr>
        </p:nvGraphicFramePr>
        <p:xfrm>
          <a:off x="7920846" y="4753194"/>
          <a:ext cx="3643625" cy="21048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Google Shape;352;p25">
            <a:extLst>
              <a:ext uri="{FF2B5EF4-FFF2-40B4-BE49-F238E27FC236}">
                <a16:creationId xmlns:a16="http://schemas.microsoft.com/office/drawing/2014/main" id="{C0EADD7D-E426-4F32-956A-5B89C71EE333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Nota: a quienes se les despliega instrumento de profundización, contestan obligatoriamente i1, i2 e i6.</a:t>
            </a:r>
          </a:p>
        </p:txBody>
      </p:sp>
    </p:spTree>
    <p:extLst>
      <p:ext uri="{BB962C8B-B14F-4D97-AF65-F5344CB8AC3E}">
        <p14:creationId xmlns:p14="http://schemas.microsoft.com/office/powerpoint/2010/main" val="2452151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Resultados eje riegos de salud mental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endParaRPr lang="es-CL" sz="4000" b="1" cap="small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3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Sub eje búsqueda de ayuda</a:t>
            </a:r>
            <a:endParaRPr sz="3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466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"/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>
                <a:solidFill>
                  <a:srgbClr val="3F3F3F"/>
                </a:solidFill>
              </a:rPr>
              <a:t>Percepción de necesidad y acceso a tratamiento</a:t>
            </a:r>
            <a:endParaRPr sz="3200">
              <a:solidFill>
                <a:srgbClr val="0070C0"/>
              </a:solidFill>
            </a:endParaRPr>
          </a:p>
        </p:txBody>
      </p:sp>
      <p:sp>
        <p:nvSpPr>
          <p:cNvPr id="351" name="Google Shape;351;p25"/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203473" y="1701860"/>
            <a:ext cx="554808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 los últimos dos meses, ¿has necesitado algún tipo de apoyo o tratamiento en salud mental?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3" name="nectto_pie_chart"/>
          <p:cNvGraphicFramePr/>
          <p:nvPr>
            <p:extLst>
              <p:ext uri="{D42A27DB-BD31-4B8C-83A1-F6EECF244321}">
                <p14:modId xmlns:p14="http://schemas.microsoft.com/office/powerpoint/2010/main" val="3522761521"/>
              </p:ext>
            </p:extLst>
          </p:nvPr>
        </p:nvGraphicFramePr>
        <p:xfrm>
          <a:off x="0" y="2225080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4" name="Google Shape;354;p25"/>
          <p:cNvSpPr txBox="1"/>
          <p:nvPr/>
        </p:nvSpPr>
        <p:spPr>
          <a:xfrm>
            <a:off x="6022685" y="2715408"/>
            <a:ext cx="5548087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</a:t>
            </a: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Pudiste acceder al tratamiento que necesitabas</a:t>
            </a:r>
            <a:r>
              <a:rPr lang="es-CL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? 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5" name="acctto_pie_chart"/>
          <p:cNvGraphicFramePr/>
          <p:nvPr>
            <p:extLst>
              <p:ext uri="{D42A27DB-BD31-4B8C-83A1-F6EECF244321}">
                <p14:modId xmlns:p14="http://schemas.microsoft.com/office/powerpoint/2010/main" val="1905505387"/>
              </p:ext>
            </p:extLst>
          </p:nvPr>
        </p:nvGraphicFramePr>
        <p:xfrm>
          <a:off x="6053528" y="3140317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56" name="Google Shape;356;p25"/>
          <p:cNvSpPr/>
          <p:nvPr/>
        </p:nvSpPr>
        <p:spPr>
          <a:xfrm>
            <a:off x="4627349" y="4344588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5"/>
          <p:cNvSpPr txBox="1"/>
          <p:nvPr/>
        </p:nvSpPr>
        <p:spPr>
          <a:xfrm>
            <a:off x="2712356" y="5081137"/>
            <a:ext cx="55480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358" name="Google Shape;358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039476" y="190198"/>
            <a:ext cx="857143" cy="9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"/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>
                <a:solidFill>
                  <a:srgbClr val="3F3F3F"/>
                </a:solidFill>
              </a:rPr>
              <a:t>Percepción de necesidad y acceso a tratamiento</a:t>
            </a:r>
            <a:endParaRPr sz="3200">
              <a:solidFill>
                <a:srgbClr val="0070C0"/>
              </a:solidFill>
            </a:endParaRPr>
          </a:p>
        </p:txBody>
      </p:sp>
      <p:sp>
        <p:nvSpPr>
          <p:cNvPr id="351" name="Google Shape;351;p25"/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203473" y="1701860"/>
            <a:ext cx="5548087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¿Dónde accediste al tratamiento? 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3" name="lugtto_pie_chart"/>
          <p:cNvGraphicFramePr/>
          <p:nvPr>
            <p:extLst>
              <p:ext uri="{D42A27DB-BD31-4B8C-83A1-F6EECF244321}">
                <p14:modId xmlns:p14="http://schemas.microsoft.com/office/powerpoint/2010/main" val="53984066"/>
              </p:ext>
            </p:extLst>
          </p:nvPr>
        </p:nvGraphicFramePr>
        <p:xfrm>
          <a:off x="0" y="2225080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4" name="Google Shape;354;p25"/>
          <p:cNvSpPr txBox="1"/>
          <p:nvPr/>
        </p:nvSpPr>
        <p:spPr>
          <a:xfrm>
            <a:off x="6022685" y="2715408"/>
            <a:ext cx="554808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¿Qué tipo de tratamiento obtuviste?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5" name="tiptto_pie_chart"/>
          <p:cNvGraphicFramePr/>
          <p:nvPr>
            <p:extLst>
              <p:ext uri="{D42A27DB-BD31-4B8C-83A1-F6EECF244321}">
                <p14:modId xmlns:p14="http://schemas.microsoft.com/office/powerpoint/2010/main" val="2922636718"/>
              </p:ext>
            </p:extLst>
          </p:nvPr>
        </p:nvGraphicFramePr>
        <p:xfrm>
          <a:off x="6053528" y="3140317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358" name="Google Shape;358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039476" y="190198"/>
            <a:ext cx="857143" cy="90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7416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6"/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>
                <a:solidFill>
                  <a:srgbClr val="3F3F3F"/>
                </a:solidFill>
              </a:rPr>
              <a:t>Percepción de barreras de acceso a tratamiento</a:t>
            </a:r>
            <a:endParaRPr sz="3200">
              <a:solidFill>
                <a:srgbClr val="0070C0"/>
              </a:solidFill>
            </a:endParaRPr>
          </a:p>
        </p:txBody>
      </p:sp>
      <p:graphicFrame>
        <p:nvGraphicFramePr>
          <p:cNvPr id="373" name="Google Shape;373;p26"/>
          <p:cNvGraphicFramePr/>
          <p:nvPr>
            <p:extLst>
              <p:ext uri="{D42A27DB-BD31-4B8C-83A1-F6EECF244321}">
                <p14:modId xmlns:p14="http://schemas.microsoft.com/office/powerpoint/2010/main" val="2767031248"/>
              </p:ext>
            </p:extLst>
          </p:nvPr>
        </p:nvGraphicFramePr>
        <p:xfrm>
          <a:off x="491319" y="1338944"/>
          <a:ext cx="11225724" cy="44577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74" name="Google Shape;374;p26"/>
          <p:cNvSpPr txBox="1"/>
          <p:nvPr/>
        </p:nvSpPr>
        <p:spPr>
          <a:xfrm>
            <a:off x="2058452" y="6504523"/>
            <a:ext cx="8505022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*Entre aquellos que mencionaron no haber tenido acceso a algún apoyo o tratamiento de salud mental.</a:t>
            </a:r>
            <a:endParaRPr dirty="0"/>
          </a:p>
        </p:txBody>
      </p:sp>
      <p:pic>
        <p:nvPicPr>
          <p:cNvPr id="375" name="Google Shape;375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39476" y="190198"/>
            <a:ext cx="857143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3733269E-93A7-E828-46C8-5215B9D790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7334" y="5864487"/>
            <a:ext cx="3371850" cy="3619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Resultados eje bienestar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780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1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Nivel de bienestar</a:t>
            </a:r>
            <a:endParaRPr dirty="0"/>
          </a:p>
        </p:txBody>
      </p:sp>
      <p:graphicFrame>
        <p:nvGraphicFramePr>
          <p:cNvPr id="416" name="Google Shape;416;p31"/>
          <p:cNvGraphicFramePr/>
          <p:nvPr>
            <p:extLst>
              <p:ext uri="{D42A27DB-BD31-4B8C-83A1-F6EECF244321}">
                <p14:modId xmlns:p14="http://schemas.microsoft.com/office/powerpoint/2010/main" val="2652988043"/>
              </p:ext>
            </p:extLst>
          </p:nvPr>
        </p:nvGraphicFramePr>
        <p:xfrm>
          <a:off x="3537857" y="3663937"/>
          <a:ext cx="8298165" cy="2926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19" name="Google Shape;419;p31"/>
          <p:cNvGraphicFramePr/>
          <p:nvPr>
            <p:extLst>
              <p:ext uri="{D42A27DB-BD31-4B8C-83A1-F6EECF244321}">
                <p14:modId xmlns:p14="http://schemas.microsoft.com/office/powerpoint/2010/main" val="3523129359"/>
              </p:ext>
            </p:extLst>
          </p:nvPr>
        </p:nvGraphicFramePr>
        <p:xfrm>
          <a:off x="3708022" y="819066"/>
          <a:ext cx="8128000" cy="291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Google Shape;418;p31"/>
          <p:cNvSpPr txBox="1"/>
          <p:nvPr/>
        </p:nvSpPr>
        <p:spPr>
          <a:xfrm>
            <a:off x="321370" y="4690834"/>
            <a:ext cx="2724402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s-CL" sz="1600" dirty="0">
                <a:solidFill>
                  <a:schemeClr val="dk1"/>
                </a:solidFill>
                <a:latin typeface="Calibri Light"/>
                <a:ea typeface="Calibri"/>
                <a:cs typeface="Calibri Light"/>
                <a:sym typeface="Calibri"/>
              </a:rPr>
              <a:t>Es el </a:t>
            </a:r>
            <a:r>
              <a:rPr lang="es-CL" sz="1600" b="1" dirty="0">
                <a:solidFill>
                  <a:schemeClr val="dk1"/>
                </a:solidFill>
                <a:latin typeface="Calibri Light"/>
                <a:ea typeface="Calibri"/>
                <a:cs typeface="Calibri Light"/>
                <a:sym typeface="Calibri"/>
              </a:rPr>
              <a:t>nivel de bienestar</a:t>
            </a:r>
            <a:r>
              <a:rPr lang="es-CL" sz="1600" dirty="0">
                <a:solidFill>
                  <a:schemeClr val="dk1"/>
                </a:solidFill>
                <a:latin typeface="Calibri Light"/>
                <a:ea typeface="Calibri"/>
                <a:cs typeface="Calibri Light"/>
                <a:sym typeface="Calibri"/>
              </a:rPr>
              <a:t> para los estudiantes que participaron </a:t>
            </a:r>
            <a:r>
              <a:rPr lang="es-CL" sz="1600">
                <a:solidFill>
                  <a:schemeClr val="dk1"/>
                </a:solidFill>
                <a:latin typeface="Calibri Light"/>
                <a:ea typeface="Calibri"/>
                <a:cs typeface="Calibri Light"/>
                <a:sym typeface="Calibri"/>
              </a:rPr>
              <a:t>en el estudio (de un máximo de </a:t>
            </a:r>
            <a:r>
              <a:rPr lang="es-CL" sz="1600" dirty="0">
                <a:solidFill>
                  <a:schemeClr val="dk1"/>
                </a:solidFill>
                <a:latin typeface="Calibri Light"/>
                <a:ea typeface="Calibri"/>
                <a:cs typeface="Calibri Light"/>
                <a:sym typeface="Calibri"/>
              </a:rPr>
              <a:t>7 puntos)  .</a:t>
            </a:r>
            <a:endParaRPr lang="es-CL" sz="1600" dirty="0">
              <a:solidFill>
                <a:schemeClr val="dk1"/>
              </a:solidFill>
              <a:latin typeface="Calibri Light"/>
              <a:ea typeface="Calibri"/>
              <a:cs typeface="Calibri Light"/>
            </a:endParaRPr>
          </a:p>
        </p:txBody>
      </p:sp>
      <p:sp>
        <p:nvSpPr>
          <p:cNvPr id="8" name="Google Shape;427;p32">
            <a:extLst>
              <a:ext uri="{FF2B5EF4-FFF2-40B4-BE49-F238E27FC236}">
                <a16:creationId xmlns:a16="http://schemas.microsoft.com/office/drawing/2014/main" id="{842259C6-A8AD-4051-AF5D-227E700CD252}"/>
              </a:ext>
            </a:extLst>
          </p:cNvPr>
          <p:cNvSpPr/>
          <p:nvPr/>
        </p:nvSpPr>
        <p:spPr>
          <a:xfrm>
            <a:off x="321370" y="1382356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55B296">
              <a:alpha val="74902"/>
            </a:srgbClr>
          </a:solidFill>
          <a:ln>
            <a:solidFill>
              <a:srgbClr val="55B296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4,8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1" name="Google Shape;427;p32">
            <a:extLst>
              <a:ext uri="{FF2B5EF4-FFF2-40B4-BE49-F238E27FC236}">
                <a16:creationId xmlns:a16="http://schemas.microsoft.com/office/drawing/2014/main" id="{40DF7B16-764D-4914-823B-140AA1ACE6EB}"/>
              </a:ext>
            </a:extLst>
          </p:cNvPr>
          <p:cNvSpPr/>
          <p:nvPr/>
        </p:nvSpPr>
        <p:spPr>
          <a:xfrm>
            <a:off x="326077" y="3582629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00223A">
              <a:alpha val="74902"/>
            </a:srgbClr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5,6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Duoc UC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2" name="Google Shape;417;p31">
            <a:extLst>
              <a:ext uri="{FF2B5EF4-FFF2-40B4-BE49-F238E27FC236}">
                <a16:creationId xmlns:a16="http://schemas.microsoft.com/office/drawing/2014/main" id="{C4A0C148-5530-45DA-B12D-9F270320538C}"/>
              </a:ext>
            </a:extLst>
          </p:cNvPr>
          <p:cNvSpPr/>
          <p:nvPr/>
        </p:nvSpPr>
        <p:spPr>
          <a:xfrm>
            <a:off x="885772" y="2121677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55B2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5,6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3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 err="1"/>
              <a:t>Perma</a:t>
            </a:r>
            <a:endParaRPr dirty="0"/>
          </a:p>
        </p:txBody>
      </p:sp>
      <p:sp>
        <p:nvSpPr>
          <p:cNvPr id="438" name="Google Shape;438;p33"/>
          <p:cNvSpPr txBox="1"/>
          <p:nvPr/>
        </p:nvSpPr>
        <p:spPr>
          <a:xfrm>
            <a:off x="658805" y="2403619"/>
            <a:ext cx="4490600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 = Positive </a:t>
            </a:r>
            <a:r>
              <a:rPr lang="es-CL" sz="1800" dirty="0" err="1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emotion</a:t>
            </a: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(Emoción positiva)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 = </a:t>
            </a:r>
            <a:r>
              <a:rPr lang="es-CL" sz="1800" dirty="0" err="1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Engagement</a:t>
            </a: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(Entusiasmo)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 = </a:t>
            </a:r>
            <a:r>
              <a:rPr lang="es-CL" sz="1800" dirty="0" err="1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Relationships</a:t>
            </a: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(Relaciones)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M = </a:t>
            </a:r>
            <a:r>
              <a:rPr lang="es-CL" sz="1800" dirty="0" err="1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Meaning</a:t>
            </a: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(Significado)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A = </a:t>
            </a:r>
            <a:r>
              <a:rPr lang="es-CL" sz="1800" dirty="0" err="1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Accomplishment</a:t>
            </a: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(Logro)</a:t>
            </a:r>
          </a:p>
        </p:txBody>
      </p:sp>
      <p:pic>
        <p:nvPicPr>
          <p:cNvPr id="5" name="Google Shape;344;p24">
            <a:extLst>
              <a:ext uri="{FF2B5EF4-FFF2-40B4-BE49-F238E27FC236}">
                <a16:creationId xmlns:a16="http://schemas.microsoft.com/office/drawing/2014/main" id="{C5A4A206-492B-4093-A96C-B421A5A9FA7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8537" y="109707"/>
            <a:ext cx="878108" cy="90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11CED9D8-F5B6-42A2-AEE8-EB8C32855B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61686367"/>
              </p:ext>
            </p:extLst>
          </p:nvPr>
        </p:nvGraphicFramePr>
        <p:xfrm>
          <a:off x="5149405" y="1365898"/>
          <a:ext cx="6040811" cy="42908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3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 err="1"/>
              <a:t>Perma</a:t>
            </a:r>
            <a:endParaRPr dirty="0"/>
          </a:p>
        </p:txBody>
      </p:sp>
      <p:sp>
        <p:nvSpPr>
          <p:cNvPr id="438" name="Google Shape;438;p33"/>
          <p:cNvSpPr txBox="1"/>
          <p:nvPr/>
        </p:nvSpPr>
        <p:spPr>
          <a:xfrm>
            <a:off x="658805" y="2403619"/>
            <a:ext cx="449060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N = Negative </a:t>
            </a:r>
            <a:r>
              <a:rPr lang="es-CL" sz="1800" dirty="0" err="1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emotion</a:t>
            </a: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(Emoción negativa)</a:t>
            </a:r>
            <a:endParaRPr lang="es-CL" sz="1800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H = </a:t>
            </a:r>
            <a:r>
              <a:rPr lang="es-CL" sz="1800" dirty="0" err="1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Health</a:t>
            </a: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(Salud)</a:t>
            </a:r>
            <a:endParaRPr lang="es-CL" sz="1800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L = </a:t>
            </a:r>
            <a:r>
              <a:rPr lang="es-CL" sz="1800" dirty="0" err="1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Loneliness</a:t>
            </a: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(Soledad)</a:t>
            </a:r>
          </a:p>
        </p:txBody>
      </p:sp>
      <p:pic>
        <p:nvPicPr>
          <p:cNvPr id="5" name="Google Shape;344;p24">
            <a:extLst>
              <a:ext uri="{FF2B5EF4-FFF2-40B4-BE49-F238E27FC236}">
                <a16:creationId xmlns:a16="http://schemas.microsoft.com/office/drawing/2014/main" id="{C5A4A206-492B-4093-A96C-B421A5A9FA7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8537" y="109707"/>
            <a:ext cx="878108" cy="90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11CED9D8-F5B6-42A2-AEE8-EB8C32855B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3172701"/>
              </p:ext>
            </p:extLst>
          </p:nvPr>
        </p:nvGraphicFramePr>
        <p:xfrm>
          <a:off x="5149405" y="1365898"/>
          <a:ext cx="6040811" cy="42908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774972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4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/>
              <a:t>Apoyo percibido</a:t>
            </a:r>
            <a:endParaRPr/>
          </a:p>
        </p:txBody>
      </p:sp>
      <p:graphicFrame>
        <p:nvGraphicFramePr>
          <p:cNvPr id="343" name="Google Shape;343;p24"/>
          <p:cNvGraphicFramePr/>
          <p:nvPr>
            <p:extLst>
              <p:ext uri="{D42A27DB-BD31-4B8C-83A1-F6EECF244321}">
                <p14:modId xmlns:p14="http://schemas.microsoft.com/office/powerpoint/2010/main" val="1951455050"/>
              </p:ext>
            </p:extLst>
          </p:nvPr>
        </p:nvGraphicFramePr>
        <p:xfrm>
          <a:off x="981247" y="1547253"/>
          <a:ext cx="10659431" cy="44062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44" name="Google Shape;344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58537" y="109707"/>
            <a:ext cx="878108" cy="9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4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Flow </a:t>
            </a:r>
            <a:r>
              <a:rPr lang="es-CL" dirty="0" err="1"/>
              <a:t>states</a:t>
            </a:r>
            <a:r>
              <a:rPr lang="es-CL" dirty="0"/>
              <a:t> – Estados de inmersión</a:t>
            </a:r>
            <a:endParaRPr dirty="0"/>
          </a:p>
        </p:txBody>
      </p:sp>
      <p:pic>
        <p:nvPicPr>
          <p:cNvPr id="344" name="Google Shape;34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8537" y="109707"/>
            <a:ext cx="878108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8AFAAC6B-B4AE-4649-881A-F216154540BE}"/>
              </a:ext>
            </a:extLst>
          </p:cNvPr>
          <p:cNvSpPr/>
          <p:nvPr/>
        </p:nvSpPr>
        <p:spPr>
          <a:xfrm>
            <a:off x="3842551" y="4957200"/>
            <a:ext cx="457968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Aft>
                <a:spcPts val="1200"/>
              </a:spcAft>
              <a:buClr>
                <a:srgbClr val="3F3F3F"/>
              </a:buClr>
              <a:buSzPts val="1600"/>
            </a:pPr>
            <a:r>
              <a:rPr lang="es-MX" sz="24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Apreciación positiva total de estados de inmersión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DDE6B7A8-6B45-4F4D-A905-E693E5A21E61}"/>
              </a:ext>
            </a:extLst>
          </p:cNvPr>
          <p:cNvSpPr/>
          <p:nvPr/>
        </p:nvSpPr>
        <p:spPr>
          <a:xfrm>
            <a:off x="4888800" y="2084400"/>
            <a:ext cx="2520000" cy="2520000"/>
          </a:xfrm>
          <a:prstGeom prst="ellipse">
            <a:avLst/>
          </a:prstGeom>
          <a:noFill/>
          <a:ln w="57150">
            <a:solidFill>
              <a:srgbClr val="27B6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s-CL" sz="6600" b="1" dirty="0">
              <a:solidFill>
                <a:schemeClr val="tx1"/>
              </a:solidFill>
            </a:endParaRPr>
          </a:p>
        </p:txBody>
      </p:sp>
      <p:pic>
        <p:nvPicPr>
          <p:cNvPr id="7" name="Picture 4" descr="https://o.remove.bg/downloads/a2fe74ba-119e-4176-840d-2e2a91317f11/image-removebg-preview.png">
            <a:extLst>
              <a:ext uri="{FF2B5EF4-FFF2-40B4-BE49-F238E27FC236}">
                <a16:creationId xmlns:a16="http://schemas.microsoft.com/office/drawing/2014/main" id="{CDF56695-D92C-4F9C-9B2A-16F4B11BAB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1" y="4240530"/>
            <a:ext cx="1935196" cy="1935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Marcador de texto 4">
            <a:extLst>
              <a:ext uri="{FF2B5EF4-FFF2-40B4-BE49-F238E27FC236}">
                <a16:creationId xmlns:a16="http://schemas.microsoft.com/office/drawing/2014/main" id="{FC13E964-DD1E-4C3A-869E-802D0783EA58}"/>
              </a:ext>
            </a:extLst>
          </p:cNvPr>
          <p:cNvSpPr txBox="1">
            <a:spLocks/>
          </p:cNvSpPr>
          <p:nvPr/>
        </p:nvSpPr>
        <p:spPr>
          <a:xfrm>
            <a:off x="4870800" y="2959200"/>
            <a:ext cx="2552351" cy="76349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/>
              <a:t>72%</a:t>
            </a:r>
          </a:p>
        </p:txBody>
      </p:sp>
    </p:spTree>
    <p:extLst>
      <p:ext uri="{BB962C8B-B14F-4D97-AF65-F5344CB8AC3E}">
        <p14:creationId xmlns:p14="http://schemas.microsoft.com/office/powerpoint/2010/main" val="4072898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4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Flow </a:t>
            </a:r>
            <a:r>
              <a:rPr lang="es-CL" dirty="0" err="1"/>
              <a:t>states</a:t>
            </a:r>
            <a:r>
              <a:rPr lang="es-CL" dirty="0"/>
              <a:t> – Estados de inmersión</a:t>
            </a:r>
            <a:endParaRPr dirty="0"/>
          </a:p>
        </p:txBody>
      </p:sp>
      <p:pic>
        <p:nvPicPr>
          <p:cNvPr id="344" name="Google Shape;34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8537" y="109707"/>
            <a:ext cx="878108" cy="90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Gráfico 7">
            <a:extLst>
              <a:ext uri="{FF2B5EF4-FFF2-40B4-BE49-F238E27FC236}">
                <a16:creationId xmlns:a16="http://schemas.microsoft.com/office/drawing/2014/main" id="{FC54E293-B2B7-448C-AA1C-9F85ED19D9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3444727"/>
              </p:ext>
            </p:extLst>
          </p:nvPr>
        </p:nvGraphicFramePr>
        <p:xfrm>
          <a:off x="-1762024" y="1283027"/>
          <a:ext cx="13790737" cy="52168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Marcador de texto 5">
            <a:extLst>
              <a:ext uri="{FF2B5EF4-FFF2-40B4-BE49-F238E27FC236}">
                <a16:creationId xmlns:a16="http://schemas.microsoft.com/office/drawing/2014/main" id="{5D964812-2EFF-4587-B3D9-60CE9FB2FA87}"/>
              </a:ext>
            </a:extLst>
          </p:cNvPr>
          <p:cNvSpPr txBox="1">
            <a:spLocks/>
          </p:cNvSpPr>
          <p:nvPr/>
        </p:nvSpPr>
        <p:spPr>
          <a:xfrm>
            <a:off x="5994827" y="6499878"/>
            <a:ext cx="6455708" cy="28267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s-ES" sz="1070" kern="1200" dirty="0" smtClean="0">
                <a:solidFill>
                  <a:srgbClr val="7F7F7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ym typeface="Calibri"/>
              </a:rPr>
              <a:t>* La suma de los porcentajes podría no totalizar 100% por la aproximación de decimales</a:t>
            </a:r>
            <a:endParaRPr lang="es-ES" sz="1100" dirty="0">
              <a:solidFill>
                <a:srgbClr val="7F7F7F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8361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101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Actividad física</a:t>
            </a:r>
            <a:endParaRPr dirty="0"/>
          </a:p>
        </p:txBody>
      </p:sp>
      <p:pic>
        <p:nvPicPr>
          <p:cNvPr id="1135" name="Google Shape;1135;p1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89743" y="204482"/>
            <a:ext cx="534146" cy="90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" name="Google Shape;1128;p101">
            <a:extLst>
              <a:ext uri="{FF2B5EF4-FFF2-40B4-BE49-F238E27FC236}">
                <a16:creationId xmlns:a16="http://schemas.microsoft.com/office/drawing/2014/main" id="{94A38310-71C6-4207-916A-109C05A68E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521160"/>
              </p:ext>
            </p:extLst>
          </p:nvPr>
        </p:nvGraphicFramePr>
        <p:xfrm>
          <a:off x="3854075" y="1327178"/>
          <a:ext cx="4913775" cy="4507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102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/>
              <a:t>Alimentación</a:t>
            </a:r>
            <a:endParaRPr/>
          </a:p>
        </p:txBody>
      </p:sp>
      <p:graphicFrame>
        <p:nvGraphicFramePr>
          <p:cNvPr id="1141" name="Google Shape;1141;p102"/>
          <p:cNvGraphicFramePr/>
          <p:nvPr/>
        </p:nvGraphicFramePr>
        <p:xfrm>
          <a:off x="190837" y="1069864"/>
          <a:ext cx="11724937" cy="20050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142" name="Google Shape;1142;p10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81764" y="169864"/>
            <a:ext cx="1062259" cy="785265"/>
          </a:xfrm>
          <a:prstGeom prst="rect">
            <a:avLst/>
          </a:prstGeom>
          <a:noFill/>
          <a:ln>
            <a:noFill/>
          </a:ln>
        </p:spPr>
      </p:pic>
      <p:sp>
        <p:nvSpPr>
          <p:cNvPr id="1143" name="Google Shape;1143;p102"/>
          <p:cNvSpPr/>
          <p:nvPr/>
        </p:nvSpPr>
        <p:spPr>
          <a:xfrm>
            <a:off x="190837" y="1605303"/>
            <a:ext cx="11565734" cy="819397"/>
          </a:xfrm>
          <a:prstGeom prst="rect">
            <a:avLst/>
          </a:prstGeom>
          <a:noFill/>
          <a:ln w="38100" cap="flat" cmpd="sng">
            <a:solidFill>
              <a:srgbClr val="55B29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102"/>
          <p:cNvSpPr/>
          <p:nvPr/>
        </p:nvSpPr>
        <p:spPr>
          <a:xfrm>
            <a:off x="190837" y="3074874"/>
            <a:ext cx="11565734" cy="364123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" name="Google Shape;1141;p102"/>
          <p:cNvGraphicFramePr/>
          <p:nvPr/>
        </p:nvGraphicFramePr>
        <p:xfrm>
          <a:off x="254879" y="3074873"/>
          <a:ext cx="11682242" cy="33481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937084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105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/>
              <a:t>Ingesta de líquidos</a:t>
            </a:r>
            <a:endParaRPr/>
          </a:p>
        </p:txBody>
      </p:sp>
      <p:graphicFrame>
        <p:nvGraphicFramePr>
          <p:cNvPr id="1168" name="Google Shape;1168;p105"/>
          <p:cNvGraphicFramePr/>
          <p:nvPr>
            <p:extLst>
              <p:ext uri="{D42A27DB-BD31-4B8C-83A1-F6EECF244321}">
                <p14:modId xmlns:p14="http://schemas.microsoft.com/office/powerpoint/2010/main" val="1438025513"/>
              </p:ext>
            </p:extLst>
          </p:nvPr>
        </p:nvGraphicFramePr>
        <p:xfrm>
          <a:off x="3652837" y="1474104"/>
          <a:ext cx="4886326" cy="45571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169" name="Google Shape;1169;p10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06150" y="119748"/>
            <a:ext cx="903030" cy="9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105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Tabaquismo</a:t>
            </a:r>
            <a:endParaRPr dirty="0"/>
          </a:p>
        </p:txBody>
      </p:sp>
      <p:graphicFrame>
        <p:nvGraphicFramePr>
          <p:cNvPr id="5" name="Google Shape;1168;p105">
            <a:extLst>
              <a:ext uri="{FF2B5EF4-FFF2-40B4-BE49-F238E27FC236}">
                <a16:creationId xmlns:a16="http://schemas.microsoft.com/office/drawing/2014/main" id="{5BBC86A8-A241-4C94-B947-C736276A19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7823850"/>
              </p:ext>
            </p:extLst>
          </p:nvPr>
        </p:nvGraphicFramePr>
        <p:xfrm>
          <a:off x="3652837" y="1474104"/>
          <a:ext cx="4886326" cy="45571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" name="Picture 2" descr="A black and white image of a cigarette&#10;&#10;AI-generated content may be incorrect.">
            <a:extLst>
              <a:ext uri="{FF2B5EF4-FFF2-40B4-BE49-F238E27FC236}">
                <a16:creationId xmlns:a16="http://schemas.microsoft.com/office/drawing/2014/main" id="{4EE0938B-A1F5-E213-9763-4E9C398097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0650" y="97004"/>
            <a:ext cx="969044" cy="92893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06740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Experiencia emocional e insights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937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15" descr="Text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63639" y="1801198"/>
            <a:ext cx="6464721" cy="401689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19;p11">
            <a:extLst>
              <a:ext uri="{FF2B5EF4-FFF2-40B4-BE49-F238E27FC236}">
                <a16:creationId xmlns:a16="http://schemas.microsoft.com/office/drawing/2014/main" id="{4EF4A740-ABAE-4AB2-99BC-A93D5DBB2DD7}"/>
              </a:ext>
            </a:extLst>
          </p:cNvPr>
          <p:cNvSpPr txBox="1"/>
          <p:nvPr/>
        </p:nvSpPr>
        <p:spPr>
          <a:xfrm>
            <a:off x="491319" y="419556"/>
            <a:ext cx="11639289" cy="61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lang="es-CL" sz="3400" b="1" cap="small" dirty="0">
                <a:solidFill>
                  <a:srgbClr val="00223A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¿Cómo es la experiencia emocional de las y los estudiantes?</a:t>
            </a:r>
            <a:endParaRPr dirty="0">
              <a:solidFill>
                <a:srgbClr val="00223A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16" descr="Text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319" y="2436074"/>
            <a:ext cx="5139389" cy="3094929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6"/>
          <p:cNvSpPr txBox="1"/>
          <p:nvPr/>
        </p:nvSpPr>
        <p:spPr>
          <a:xfrm>
            <a:off x="2464422" y="1630198"/>
            <a:ext cx="119318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Mujeres</a:t>
            </a:r>
            <a:endParaRPr sz="2000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277" name="Google Shape;277;p16" descr="Texto&#10;&#10;Descripción generada automá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50330" y="2436073"/>
            <a:ext cx="5139389" cy="309492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6"/>
          <p:cNvSpPr txBox="1"/>
          <p:nvPr/>
        </p:nvSpPr>
        <p:spPr>
          <a:xfrm>
            <a:off x="8534397" y="1630198"/>
            <a:ext cx="119318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Hombres</a:t>
            </a:r>
            <a:endParaRPr sz="200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9" name="Google Shape;219;p11">
            <a:extLst>
              <a:ext uri="{FF2B5EF4-FFF2-40B4-BE49-F238E27FC236}">
                <a16:creationId xmlns:a16="http://schemas.microsoft.com/office/drawing/2014/main" id="{A867D09D-7D5A-41EE-AB42-CAC7999ECCDF}"/>
              </a:ext>
            </a:extLst>
          </p:cNvPr>
          <p:cNvSpPr txBox="1"/>
          <p:nvPr/>
        </p:nvSpPr>
        <p:spPr>
          <a:xfrm>
            <a:off x="491319" y="419556"/>
            <a:ext cx="11639289" cy="61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lang="es-CL" sz="3400" b="1" cap="small" dirty="0">
                <a:solidFill>
                  <a:srgbClr val="00223A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¿Cómo es la experiencia emocional de las y los estudiantes?</a:t>
            </a:r>
            <a:endParaRPr dirty="0">
              <a:solidFill>
                <a:srgbClr val="00223A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16" descr="Text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319" y="2436074"/>
            <a:ext cx="5139389" cy="3094929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6"/>
          <p:cNvSpPr txBox="1"/>
          <p:nvPr/>
        </p:nvSpPr>
        <p:spPr>
          <a:xfrm>
            <a:off x="2464422" y="1630198"/>
            <a:ext cx="119318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2000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277" name="Google Shape;277;p16" descr="Texto&#10;&#10;Descripción generada automá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50330" y="2436073"/>
            <a:ext cx="5139389" cy="309492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6"/>
          <p:cNvSpPr txBox="1"/>
          <p:nvPr/>
        </p:nvSpPr>
        <p:spPr>
          <a:xfrm>
            <a:off x="8534397" y="1630198"/>
            <a:ext cx="119318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2025</a:t>
            </a:r>
            <a:endParaRPr sz="2000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9" name="Google Shape;219;p11">
            <a:extLst>
              <a:ext uri="{FF2B5EF4-FFF2-40B4-BE49-F238E27FC236}">
                <a16:creationId xmlns:a16="http://schemas.microsoft.com/office/drawing/2014/main" id="{A867D09D-7D5A-41EE-AB42-CAC7999ECCDF}"/>
              </a:ext>
            </a:extLst>
          </p:cNvPr>
          <p:cNvSpPr txBox="1"/>
          <p:nvPr/>
        </p:nvSpPr>
        <p:spPr>
          <a:xfrm>
            <a:off x="491319" y="419556"/>
            <a:ext cx="11639289" cy="61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lang="es-CL" sz="3400" b="1" cap="small" dirty="0">
                <a:solidFill>
                  <a:srgbClr val="00223A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¿Cómo es la experiencia emocional de las y los estudiantes?</a:t>
            </a:r>
            <a:endParaRPr dirty="0">
              <a:solidFill>
                <a:srgbClr val="00223A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5873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5B296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8796604" y="4882487"/>
            <a:ext cx="322766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4657432" y="4882950"/>
            <a:ext cx="330706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b="1" dirty="0">
              <a:solidFill>
                <a:schemeClr val="dk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483862" y="4861615"/>
            <a:ext cx="30546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96" name="Google Shape;196;p10"/>
          <p:cNvSpPr txBox="1"/>
          <p:nvPr/>
        </p:nvSpPr>
        <p:spPr>
          <a:xfrm>
            <a:off x="491319" y="419556"/>
            <a:ext cx="11639289" cy="61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lang="es-CL" sz="34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Insights resultados descriptivos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6391729" y="1789881"/>
            <a:ext cx="2372779" cy="9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solidFill>
                <a:schemeClr val="dk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2208329" y="1783754"/>
            <a:ext cx="2449103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solidFill>
                <a:schemeClr val="dk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100A3E5-955F-3CC1-516C-1D3434FCA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48" y="1872869"/>
            <a:ext cx="779581" cy="73438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CFC49A5-F79E-0434-8679-358EF8735E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2463" y="4122545"/>
            <a:ext cx="637397" cy="61865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A684C97-F342-C05A-2748-1D45C222AE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1781" y="4001975"/>
            <a:ext cx="777311" cy="80633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7F8DF50-0CFD-D43A-64C4-7BA055DC19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2226" y="1872869"/>
            <a:ext cx="1268787" cy="73438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ADE7885-19BF-06E8-3FC0-ABD542D94A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9971013" y="4001975"/>
            <a:ext cx="878845" cy="85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35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8"/>
          <p:cNvSpPr txBox="1">
            <a:spLocks noGrp="1"/>
          </p:cNvSpPr>
          <p:nvPr>
            <p:ph type="ctrTitle"/>
          </p:nvPr>
        </p:nvSpPr>
        <p:spPr>
          <a:xfrm>
            <a:off x="1523999" y="2192338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s-CL" cap="small" dirty="0"/>
              <a:t>Resultados inferenciales</a:t>
            </a:r>
            <a:endParaRPr cap="small" dirty="0"/>
          </a:p>
        </p:txBody>
      </p:sp>
    </p:spTree>
    <p:extLst>
      <p:ext uri="{BB962C8B-B14F-4D97-AF65-F5344CB8AC3E}">
        <p14:creationId xmlns:p14="http://schemas.microsoft.com/office/powerpoint/2010/main" val="2705197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01;p2"/>
          <p:cNvSpPr txBox="1">
            <a:spLocks/>
          </p:cNvSpPr>
          <p:nvPr/>
        </p:nvSpPr>
        <p:spPr>
          <a:xfrm>
            <a:off x="379264" y="0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  <a:defRPr sz="3400" b="1" i="0" u="none" strike="noStrike" cap="small">
                <a:solidFill>
                  <a:srgbClr val="3A434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3F3F3F"/>
              </a:buClr>
              <a:buSzPts val="3200"/>
            </a:pPr>
            <a:r>
              <a:rPr lang="es-ES" dirty="0"/>
              <a:t>Metodología: Selección de grupos y predictores</a:t>
            </a:r>
          </a:p>
        </p:txBody>
      </p:sp>
      <p:sp>
        <p:nvSpPr>
          <p:cNvPr id="14" name="Google Shape;102;p2"/>
          <p:cNvSpPr txBox="1"/>
          <p:nvPr/>
        </p:nvSpPr>
        <p:spPr>
          <a:xfrm>
            <a:off x="0" y="876905"/>
            <a:ext cx="11767301" cy="1338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lang="es-CL" sz="1600" b="0" i="0" u="none" strike="noStrike" cap="none" dirty="0">
              <a:solidFill>
                <a:srgbClr val="3F3F3F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s-MX" sz="1600" b="0" i="0" u="none" strike="noStrike" cap="none" dirty="0">
                <a:solidFill>
                  <a:srgbClr val="3A434C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	XXX</a:t>
            </a:r>
            <a:endParaRPr sz="1600" b="0" i="0" u="none" strike="noStrike" cap="none" dirty="0">
              <a:solidFill>
                <a:srgbClr val="3A434C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285750" marR="0" lvl="0" indent="-196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 dirty="0">
              <a:solidFill>
                <a:srgbClr val="3A434C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233B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5D7BB72-E332-4027-AA43-2CAAB5082592}"/>
              </a:ext>
            </a:extLst>
          </p:cNvPr>
          <p:cNvSpPr txBox="1"/>
          <p:nvPr/>
        </p:nvSpPr>
        <p:spPr>
          <a:xfrm>
            <a:off x="9278471" y="365125"/>
            <a:ext cx="1532963" cy="738664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L" dirty="0"/>
              <a:t>Apartado completo por diseñar</a:t>
            </a:r>
          </a:p>
        </p:txBody>
      </p:sp>
    </p:spTree>
    <p:extLst>
      <p:ext uri="{BB962C8B-B14F-4D97-AF65-F5344CB8AC3E}">
        <p14:creationId xmlns:p14="http://schemas.microsoft.com/office/powerpoint/2010/main" val="3295250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Resultados eje iniciativas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743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"/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 dirty="0">
                <a:solidFill>
                  <a:srgbClr val="3F3F3F"/>
                </a:solidFill>
              </a:rPr>
              <a:t>App Vivo</a:t>
            </a:r>
            <a:endParaRPr sz="3200" dirty="0">
              <a:solidFill>
                <a:srgbClr val="0070C0"/>
              </a:solidFill>
            </a:endParaRPr>
          </a:p>
        </p:txBody>
      </p:sp>
      <p:sp>
        <p:nvSpPr>
          <p:cNvPr id="351" name="Google Shape;351;p25"/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264865" y="1324321"/>
            <a:ext cx="554808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¿Conoces la APP Vivo Duoc UC (de recursos de apoyo a la salud mental)?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3" name="Google Shape;353;p25"/>
          <p:cNvGraphicFramePr/>
          <p:nvPr>
            <p:extLst>
              <p:ext uri="{D42A27DB-BD31-4B8C-83A1-F6EECF244321}">
                <p14:modId xmlns:p14="http://schemas.microsoft.com/office/powerpoint/2010/main" val="2855820774"/>
              </p:ext>
            </p:extLst>
          </p:nvPr>
        </p:nvGraphicFramePr>
        <p:xfrm>
          <a:off x="61392" y="1847541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4" name="Google Shape;354;p25"/>
          <p:cNvSpPr txBox="1"/>
          <p:nvPr/>
        </p:nvSpPr>
        <p:spPr>
          <a:xfrm>
            <a:off x="7579239" y="995920"/>
            <a:ext cx="399559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¿Has utilizado uno o más de los siguientes recursos de la APP Vivo?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5" name="Google Shape;355;p25"/>
          <p:cNvGraphicFramePr/>
          <p:nvPr>
            <p:extLst>
              <p:ext uri="{D42A27DB-BD31-4B8C-83A1-F6EECF244321}">
                <p14:modId xmlns:p14="http://schemas.microsoft.com/office/powerpoint/2010/main" val="1746136637"/>
              </p:ext>
            </p:extLst>
          </p:nvPr>
        </p:nvGraphicFramePr>
        <p:xfrm>
          <a:off x="7240365" y="1584016"/>
          <a:ext cx="4673343" cy="25968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56" name="Google Shape;356;p25"/>
          <p:cNvSpPr/>
          <p:nvPr/>
        </p:nvSpPr>
        <p:spPr>
          <a:xfrm>
            <a:off x="5149779" y="3743952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5"/>
          <p:cNvSpPr txBox="1"/>
          <p:nvPr/>
        </p:nvSpPr>
        <p:spPr>
          <a:xfrm>
            <a:off x="3234786" y="4480501"/>
            <a:ext cx="55480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3" name="Gráfico 2" descr="Smartphone con relleno sólido">
            <a:extLst>
              <a:ext uri="{FF2B5EF4-FFF2-40B4-BE49-F238E27FC236}">
                <a16:creationId xmlns:a16="http://schemas.microsoft.com/office/drawing/2014/main" id="{A3AD8259-4015-4012-946D-A7609DEF0C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11373" y="218299"/>
            <a:ext cx="802335" cy="802335"/>
          </a:xfrm>
          <a:prstGeom prst="rect">
            <a:avLst/>
          </a:prstGeom>
        </p:spPr>
      </p:pic>
      <p:sp>
        <p:nvSpPr>
          <p:cNvPr id="13" name="Google Shape;354;p25">
            <a:extLst>
              <a:ext uri="{FF2B5EF4-FFF2-40B4-BE49-F238E27FC236}">
                <a16:creationId xmlns:a16="http://schemas.microsoft.com/office/drawing/2014/main" id="{A6CE897F-3EE9-4809-86CA-43423642C230}"/>
              </a:ext>
            </a:extLst>
          </p:cNvPr>
          <p:cNvSpPr txBox="1"/>
          <p:nvPr/>
        </p:nvSpPr>
        <p:spPr>
          <a:xfrm>
            <a:off x="6096000" y="5604291"/>
            <a:ext cx="399559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¿Recomendarías el uso de la APP Vivo a un compañero/a de Duoc UC?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15" name="Google Shape;355;p25">
            <a:extLst>
              <a:ext uri="{FF2B5EF4-FFF2-40B4-BE49-F238E27FC236}">
                <a16:creationId xmlns:a16="http://schemas.microsoft.com/office/drawing/2014/main" id="{BD9444E5-5C53-4BF1-95A4-B2945CDECC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1442259"/>
              </p:ext>
            </p:extLst>
          </p:nvPr>
        </p:nvGraphicFramePr>
        <p:xfrm>
          <a:off x="8910117" y="4935319"/>
          <a:ext cx="3671609" cy="19226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4" name="Google Shape;352;p25">
            <a:extLst>
              <a:ext uri="{FF2B5EF4-FFF2-40B4-BE49-F238E27FC236}">
                <a16:creationId xmlns:a16="http://schemas.microsoft.com/office/drawing/2014/main" id="{EBB1B67D-3C61-4669-AB83-031845671B43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Nota: este eje incluye un total de XXXX respuestas.</a:t>
            </a:r>
          </a:p>
        </p:txBody>
      </p:sp>
    </p:spTree>
    <p:extLst>
      <p:ext uri="{BB962C8B-B14F-4D97-AF65-F5344CB8AC3E}">
        <p14:creationId xmlns:p14="http://schemas.microsoft.com/office/powerpoint/2010/main" val="521981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50;p25">
            <a:extLst>
              <a:ext uri="{FF2B5EF4-FFF2-40B4-BE49-F238E27FC236}">
                <a16:creationId xmlns:a16="http://schemas.microsoft.com/office/drawing/2014/main" id="{96F2476E-E0D6-4966-BCA8-C68C105541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 dirty="0">
                <a:solidFill>
                  <a:srgbClr val="3F3F3F"/>
                </a:solidFill>
              </a:rPr>
              <a:t>Embajadores de la salud mental</a:t>
            </a:r>
            <a:endParaRPr sz="3200" dirty="0">
              <a:solidFill>
                <a:srgbClr val="0070C0"/>
              </a:solidFill>
            </a:endParaRPr>
          </a:p>
        </p:txBody>
      </p:sp>
      <p:sp>
        <p:nvSpPr>
          <p:cNvPr id="3" name="Google Shape;352;p25">
            <a:extLst>
              <a:ext uri="{FF2B5EF4-FFF2-40B4-BE49-F238E27FC236}">
                <a16:creationId xmlns:a16="http://schemas.microsoft.com/office/drawing/2014/main" id="{2E56C581-1558-470F-99EE-A5203AFEE9DE}"/>
              </a:ext>
            </a:extLst>
          </p:cNvPr>
          <p:cNvSpPr txBox="1"/>
          <p:nvPr/>
        </p:nvSpPr>
        <p:spPr>
          <a:xfrm>
            <a:off x="264865" y="1933923"/>
            <a:ext cx="5548087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¿Eres un Embajador/a del Bienestar y la Salud Mental en tu sede?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5" name="Google Shape;353;p25">
            <a:extLst>
              <a:ext uri="{FF2B5EF4-FFF2-40B4-BE49-F238E27FC236}">
                <a16:creationId xmlns:a16="http://schemas.microsoft.com/office/drawing/2014/main" id="{AC2D723C-4DB5-442F-B75B-B5F5C5C1B9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8624439"/>
              </p:ext>
            </p:extLst>
          </p:nvPr>
        </p:nvGraphicFramePr>
        <p:xfrm>
          <a:off x="61392" y="2457143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Google Shape;356;p25">
            <a:extLst>
              <a:ext uri="{FF2B5EF4-FFF2-40B4-BE49-F238E27FC236}">
                <a16:creationId xmlns:a16="http://schemas.microsoft.com/office/drawing/2014/main" id="{946EBDD2-4718-4BBC-8D0C-05216453049A}"/>
              </a:ext>
            </a:extLst>
          </p:cNvPr>
          <p:cNvSpPr/>
          <p:nvPr/>
        </p:nvSpPr>
        <p:spPr>
          <a:xfrm>
            <a:off x="5149779" y="3743952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57;p25">
            <a:extLst>
              <a:ext uri="{FF2B5EF4-FFF2-40B4-BE49-F238E27FC236}">
                <a16:creationId xmlns:a16="http://schemas.microsoft.com/office/drawing/2014/main" id="{3DA4C849-6E7F-482C-BF9F-A3328D3FBF00}"/>
              </a:ext>
            </a:extLst>
          </p:cNvPr>
          <p:cNvSpPr txBox="1"/>
          <p:nvPr/>
        </p:nvSpPr>
        <p:spPr>
          <a:xfrm>
            <a:off x="3234786" y="4480501"/>
            <a:ext cx="55480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8" name="Google Shape;354;p25">
            <a:extLst>
              <a:ext uri="{FF2B5EF4-FFF2-40B4-BE49-F238E27FC236}">
                <a16:creationId xmlns:a16="http://schemas.microsoft.com/office/drawing/2014/main" id="{B60CEC6B-0A92-467C-9B01-CBB762D01254}"/>
              </a:ext>
            </a:extLst>
          </p:cNvPr>
          <p:cNvSpPr txBox="1"/>
          <p:nvPr/>
        </p:nvSpPr>
        <p:spPr>
          <a:xfrm>
            <a:off x="7579239" y="1883425"/>
            <a:ext cx="399559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¿En qué medida el curso de embajadores ha aportado a tu bienestar y salud mental?</a:t>
            </a:r>
          </a:p>
        </p:txBody>
      </p:sp>
      <p:graphicFrame>
        <p:nvGraphicFramePr>
          <p:cNvPr id="9" name="Google Shape;355;p25">
            <a:extLst>
              <a:ext uri="{FF2B5EF4-FFF2-40B4-BE49-F238E27FC236}">
                <a16:creationId xmlns:a16="http://schemas.microsoft.com/office/drawing/2014/main" id="{37ACE16A-3504-4F03-B475-BC352B0B33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7960910"/>
              </p:ext>
            </p:extLst>
          </p:nvPr>
        </p:nvGraphicFramePr>
        <p:xfrm>
          <a:off x="7240365" y="2471521"/>
          <a:ext cx="4673343" cy="25968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2" name="Gráfico 11" descr="Maestro con relleno sólido">
            <a:extLst>
              <a:ext uri="{FF2B5EF4-FFF2-40B4-BE49-F238E27FC236}">
                <a16:creationId xmlns:a16="http://schemas.microsoft.com/office/drawing/2014/main" id="{CDAB06D9-1ED0-4835-81FB-8E9909DE8D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24815" y="211636"/>
            <a:ext cx="788893" cy="788893"/>
          </a:xfrm>
          <a:prstGeom prst="rect">
            <a:avLst/>
          </a:prstGeom>
        </p:spPr>
      </p:pic>
      <p:sp>
        <p:nvSpPr>
          <p:cNvPr id="10" name="Google Shape;352;p25">
            <a:extLst>
              <a:ext uri="{FF2B5EF4-FFF2-40B4-BE49-F238E27FC236}">
                <a16:creationId xmlns:a16="http://schemas.microsoft.com/office/drawing/2014/main" id="{5E084309-8FF2-4496-AEDF-F99EC463E9A1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Nota: este eje incluye un total de XXXX respuestas.</a:t>
            </a:r>
          </a:p>
        </p:txBody>
      </p:sp>
    </p:spTree>
    <p:extLst>
      <p:ext uri="{BB962C8B-B14F-4D97-AF65-F5344CB8AC3E}">
        <p14:creationId xmlns:p14="http://schemas.microsoft.com/office/powerpoint/2010/main" val="475492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"/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 dirty="0">
                <a:solidFill>
                  <a:srgbClr val="3F3F3F"/>
                </a:solidFill>
              </a:rPr>
              <a:t>Embajadores de la salud mental</a:t>
            </a:r>
            <a:endParaRPr sz="3200" dirty="0">
              <a:solidFill>
                <a:srgbClr val="0070C0"/>
              </a:solidFill>
            </a:endParaRPr>
          </a:p>
        </p:txBody>
      </p:sp>
      <p:sp>
        <p:nvSpPr>
          <p:cNvPr id="351" name="Google Shape;351;p25"/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61392" y="1582659"/>
            <a:ext cx="554808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Desde que eres Embajador/a, ¿a cuántas personas has podido apoyar en tu rol de Embajador/a del Bienestar y la Salud Mental?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3" name="Google Shape;353;p25"/>
          <p:cNvGraphicFramePr/>
          <p:nvPr>
            <p:extLst>
              <p:ext uri="{D42A27DB-BD31-4B8C-83A1-F6EECF244321}">
                <p14:modId xmlns:p14="http://schemas.microsoft.com/office/powerpoint/2010/main" val="954821951"/>
              </p:ext>
            </p:extLst>
          </p:nvPr>
        </p:nvGraphicFramePr>
        <p:xfrm>
          <a:off x="617165" y="2304740"/>
          <a:ext cx="4770584" cy="2700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4" name="Google Shape;354;p25"/>
          <p:cNvSpPr txBox="1"/>
          <p:nvPr/>
        </p:nvSpPr>
        <p:spPr>
          <a:xfrm>
            <a:off x="6912319" y="432789"/>
            <a:ext cx="3995596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Pensando en cuando te formaste como Embajador/a, ¿qué tan satisfecho/a te encuentras con lo aprendido en el curso?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5" name="Google Shape;355;p25"/>
          <p:cNvGraphicFramePr/>
          <p:nvPr>
            <p:extLst>
              <p:ext uri="{D42A27DB-BD31-4B8C-83A1-F6EECF244321}">
                <p14:modId xmlns:p14="http://schemas.microsoft.com/office/powerpoint/2010/main" val="3284221420"/>
              </p:ext>
            </p:extLst>
          </p:nvPr>
        </p:nvGraphicFramePr>
        <p:xfrm>
          <a:off x="6748312" y="1331770"/>
          <a:ext cx="4673343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Google Shape;354;p25">
            <a:extLst>
              <a:ext uri="{FF2B5EF4-FFF2-40B4-BE49-F238E27FC236}">
                <a16:creationId xmlns:a16="http://schemas.microsoft.com/office/drawing/2014/main" id="{A6CE897F-3EE9-4809-86CA-43423642C230}"/>
              </a:ext>
            </a:extLst>
          </p:cNvPr>
          <p:cNvSpPr txBox="1"/>
          <p:nvPr/>
        </p:nvSpPr>
        <p:spPr>
          <a:xfrm>
            <a:off x="5946485" y="5604291"/>
            <a:ext cx="399559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¿Recomendarías este curso a un compañero/a de Duoc UC?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14" name="Google Shape;355;p25">
            <a:extLst>
              <a:ext uri="{FF2B5EF4-FFF2-40B4-BE49-F238E27FC236}">
                <a16:creationId xmlns:a16="http://schemas.microsoft.com/office/drawing/2014/main" id="{83DF4F8F-2F7D-48B6-A524-9C0F8C3386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293499"/>
              </p:ext>
            </p:extLst>
          </p:nvPr>
        </p:nvGraphicFramePr>
        <p:xfrm>
          <a:off x="8910117" y="4935319"/>
          <a:ext cx="3671609" cy="19226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15" name="Gráfico 14" descr="Maestro con relleno sólido">
            <a:extLst>
              <a:ext uri="{FF2B5EF4-FFF2-40B4-BE49-F238E27FC236}">
                <a16:creationId xmlns:a16="http://schemas.microsoft.com/office/drawing/2014/main" id="{C0BF5ED7-C501-452A-A57E-5168D36516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24815" y="211636"/>
            <a:ext cx="788893" cy="788893"/>
          </a:xfrm>
          <a:prstGeom prst="rect">
            <a:avLst/>
          </a:prstGeom>
        </p:spPr>
      </p:pic>
      <p:sp>
        <p:nvSpPr>
          <p:cNvPr id="11" name="Google Shape;352;p25">
            <a:extLst>
              <a:ext uri="{FF2B5EF4-FFF2-40B4-BE49-F238E27FC236}">
                <a16:creationId xmlns:a16="http://schemas.microsoft.com/office/drawing/2014/main" id="{4B800D6F-1AB2-4122-99CA-643F191AEB4E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Nota: este eje incluye un total de XXXX respuestas.</a:t>
            </a:r>
          </a:p>
        </p:txBody>
      </p:sp>
    </p:spTree>
    <p:extLst>
      <p:ext uri="{BB962C8B-B14F-4D97-AF65-F5344CB8AC3E}">
        <p14:creationId xmlns:p14="http://schemas.microsoft.com/office/powerpoint/2010/main" val="1605333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"/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 dirty="0">
                <a:solidFill>
                  <a:srgbClr val="3F3F3F"/>
                </a:solidFill>
              </a:rPr>
              <a:t>Embajadores de la salud mental</a:t>
            </a:r>
            <a:endParaRPr sz="3200" dirty="0">
              <a:solidFill>
                <a:srgbClr val="0070C0"/>
              </a:solidFill>
            </a:endParaRPr>
          </a:p>
        </p:txBody>
      </p:sp>
      <p:sp>
        <p:nvSpPr>
          <p:cNvPr id="351" name="Google Shape;351;p25"/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6582521" y="2142479"/>
            <a:ext cx="5548087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¿Cuál de las siguientes alternativas representa la razón por la que no te interesaría ser Embajador/a del Bienestar y la Salud Mental?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3" name="Google Shape;354;p25">
            <a:extLst>
              <a:ext uri="{FF2B5EF4-FFF2-40B4-BE49-F238E27FC236}">
                <a16:creationId xmlns:a16="http://schemas.microsoft.com/office/drawing/2014/main" id="{A6CE897F-3EE9-4809-86CA-43423642C230}"/>
              </a:ext>
            </a:extLst>
          </p:cNvPr>
          <p:cNvSpPr txBox="1"/>
          <p:nvPr/>
        </p:nvSpPr>
        <p:spPr>
          <a:xfrm>
            <a:off x="411018" y="2842193"/>
            <a:ext cx="2954156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Con la información que acabas de leer sobre el programa, ¿te interesaría ser un Embajador/a del Bienestar y la Salud Mental?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14" name="Google Shape;355;p25">
            <a:extLst>
              <a:ext uri="{FF2B5EF4-FFF2-40B4-BE49-F238E27FC236}">
                <a16:creationId xmlns:a16="http://schemas.microsoft.com/office/drawing/2014/main" id="{83DF4F8F-2F7D-48B6-A524-9C0F8C3386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1659039"/>
              </p:ext>
            </p:extLst>
          </p:nvPr>
        </p:nvGraphicFramePr>
        <p:xfrm>
          <a:off x="2153256" y="2460840"/>
          <a:ext cx="3671609" cy="19226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5" name="Gráfico 14" descr="Maestro con relleno sólido">
            <a:extLst>
              <a:ext uri="{FF2B5EF4-FFF2-40B4-BE49-F238E27FC236}">
                <a16:creationId xmlns:a16="http://schemas.microsoft.com/office/drawing/2014/main" id="{C0BF5ED7-C501-452A-A57E-5168D36516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24815" y="211636"/>
            <a:ext cx="788893" cy="788893"/>
          </a:xfrm>
          <a:prstGeom prst="rect">
            <a:avLst/>
          </a:prstGeom>
        </p:spPr>
      </p:pic>
      <p:sp>
        <p:nvSpPr>
          <p:cNvPr id="11" name="Google Shape;356;p25">
            <a:extLst>
              <a:ext uri="{FF2B5EF4-FFF2-40B4-BE49-F238E27FC236}">
                <a16:creationId xmlns:a16="http://schemas.microsoft.com/office/drawing/2014/main" id="{10DA074B-A1FB-4F80-942A-AE4C11D45B52}"/>
              </a:ext>
            </a:extLst>
          </p:cNvPr>
          <p:cNvSpPr/>
          <p:nvPr/>
        </p:nvSpPr>
        <p:spPr>
          <a:xfrm>
            <a:off x="577779" y="1052410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357;p25">
            <a:extLst>
              <a:ext uri="{FF2B5EF4-FFF2-40B4-BE49-F238E27FC236}">
                <a16:creationId xmlns:a16="http://schemas.microsoft.com/office/drawing/2014/main" id="{6FB4132F-D76E-4E3E-8E23-53EAC608586D}"/>
              </a:ext>
            </a:extLst>
          </p:cNvPr>
          <p:cNvSpPr txBox="1"/>
          <p:nvPr/>
        </p:nvSpPr>
        <p:spPr>
          <a:xfrm>
            <a:off x="188259" y="1788959"/>
            <a:ext cx="4022614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NO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ser Embajadores/as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6" name="Google Shape;356;p25">
            <a:extLst>
              <a:ext uri="{FF2B5EF4-FFF2-40B4-BE49-F238E27FC236}">
                <a16:creationId xmlns:a16="http://schemas.microsoft.com/office/drawing/2014/main" id="{A26C57F8-2A87-4EE3-8496-2C95FDD56E54}"/>
              </a:ext>
            </a:extLst>
          </p:cNvPr>
          <p:cNvSpPr/>
          <p:nvPr/>
        </p:nvSpPr>
        <p:spPr>
          <a:xfrm>
            <a:off x="4340452" y="4383521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357;p25">
            <a:extLst>
              <a:ext uri="{FF2B5EF4-FFF2-40B4-BE49-F238E27FC236}">
                <a16:creationId xmlns:a16="http://schemas.microsoft.com/office/drawing/2014/main" id="{4EA7B50B-DE97-4456-B5F5-73463E06EFDE}"/>
              </a:ext>
            </a:extLst>
          </p:cNvPr>
          <p:cNvSpPr txBox="1"/>
          <p:nvPr/>
        </p:nvSpPr>
        <p:spPr>
          <a:xfrm>
            <a:off x="2425459" y="5120070"/>
            <a:ext cx="55480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</a:t>
            </a:r>
            <a:r>
              <a:rPr lang="es-CL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NO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18" name="Google Shape;355;p25">
            <a:extLst>
              <a:ext uri="{FF2B5EF4-FFF2-40B4-BE49-F238E27FC236}">
                <a16:creationId xmlns:a16="http://schemas.microsoft.com/office/drawing/2014/main" id="{6290A1D2-8902-43E5-8B1F-E6BE8BE885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0880292"/>
              </p:ext>
            </p:extLst>
          </p:nvPr>
        </p:nvGraphicFramePr>
        <p:xfrm>
          <a:off x="7107639" y="3098627"/>
          <a:ext cx="4673343" cy="34741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9" name="Google Shape;352;p25">
            <a:extLst>
              <a:ext uri="{FF2B5EF4-FFF2-40B4-BE49-F238E27FC236}">
                <a16:creationId xmlns:a16="http://schemas.microsoft.com/office/drawing/2014/main" id="{01C0C771-A37A-4258-9408-2FE8102EF8C6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Nota: este eje incluye un total de XXXX respuestas.</a:t>
            </a:r>
          </a:p>
        </p:txBody>
      </p:sp>
    </p:spTree>
    <p:extLst>
      <p:ext uri="{BB962C8B-B14F-4D97-AF65-F5344CB8AC3E}">
        <p14:creationId xmlns:p14="http://schemas.microsoft.com/office/powerpoint/2010/main" val="2197535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50;p25">
            <a:extLst>
              <a:ext uri="{FF2B5EF4-FFF2-40B4-BE49-F238E27FC236}">
                <a16:creationId xmlns:a16="http://schemas.microsoft.com/office/drawing/2014/main" id="{96F2476E-E0D6-4966-BCA8-C68C105541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 dirty="0">
                <a:solidFill>
                  <a:srgbClr val="3F3F3F"/>
                </a:solidFill>
              </a:rPr>
              <a:t>Embajadores de la salud mental</a:t>
            </a:r>
            <a:endParaRPr sz="3200" dirty="0">
              <a:solidFill>
                <a:srgbClr val="0070C0"/>
              </a:solidFill>
            </a:endParaRPr>
          </a:p>
        </p:txBody>
      </p:sp>
      <p:sp>
        <p:nvSpPr>
          <p:cNvPr id="3" name="Google Shape;352;p25">
            <a:extLst>
              <a:ext uri="{FF2B5EF4-FFF2-40B4-BE49-F238E27FC236}">
                <a16:creationId xmlns:a16="http://schemas.microsoft.com/office/drawing/2014/main" id="{2E56C581-1558-470F-99EE-A5203AFEE9DE}"/>
              </a:ext>
            </a:extLst>
          </p:cNvPr>
          <p:cNvSpPr txBox="1"/>
          <p:nvPr/>
        </p:nvSpPr>
        <p:spPr>
          <a:xfrm>
            <a:off x="264865" y="1933923"/>
            <a:ext cx="5548087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¿En algún momento has buscado o recibido apoyo, orientación o información sobre bienestar y salud mental a través de alguien de la comunidad Duoc UC?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5" name="Google Shape;353;p25">
            <a:extLst>
              <a:ext uri="{FF2B5EF4-FFF2-40B4-BE49-F238E27FC236}">
                <a16:creationId xmlns:a16="http://schemas.microsoft.com/office/drawing/2014/main" id="{AC2D723C-4DB5-442F-B75B-B5F5C5C1B9EF}"/>
              </a:ext>
            </a:extLst>
          </p:cNvPr>
          <p:cNvGraphicFramePr/>
          <p:nvPr/>
        </p:nvGraphicFramePr>
        <p:xfrm>
          <a:off x="61392" y="2457143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Google Shape;356;p25">
            <a:extLst>
              <a:ext uri="{FF2B5EF4-FFF2-40B4-BE49-F238E27FC236}">
                <a16:creationId xmlns:a16="http://schemas.microsoft.com/office/drawing/2014/main" id="{946EBDD2-4718-4BBC-8D0C-05216453049A}"/>
              </a:ext>
            </a:extLst>
          </p:cNvPr>
          <p:cNvSpPr/>
          <p:nvPr/>
        </p:nvSpPr>
        <p:spPr>
          <a:xfrm>
            <a:off x="5149779" y="3743952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57;p25">
            <a:extLst>
              <a:ext uri="{FF2B5EF4-FFF2-40B4-BE49-F238E27FC236}">
                <a16:creationId xmlns:a16="http://schemas.microsoft.com/office/drawing/2014/main" id="{3DA4C849-6E7F-482C-BF9F-A3328D3FBF00}"/>
              </a:ext>
            </a:extLst>
          </p:cNvPr>
          <p:cNvSpPr txBox="1"/>
          <p:nvPr/>
        </p:nvSpPr>
        <p:spPr>
          <a:xfrm>
            <a:off x="3234786" y="4480501"/>
            <a:ext cx="55480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8" name="Google Shape;354;p25">
            <a:extLst>
              <a:ext uri="{FF2B5EF4-FFF2-40B4-BE49-F238E27FC236}">
                <a16:creationId xmlns:a16="http://schemas.microsoft.com/office/drawing/2014/main" id="{B60CEC6B-0A92-467C-9B01-CBB762D01254}"/>
              </a:ext>
            </a:extLst>
          </p:cNvPr>
          <p:cNvSpPr txBox="1"/>
          <p:nvPr/>
        </p:nvSpPr>
        <p:spPr>
          <a:xfrm>
            <a:off x="7579238" y="2377499"/>
            <a:ext cx="399559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¿Recuerdas si persona era un Embajador/a del Bienestar y la Salud Mental?</a:t>
            </a:r>
          </a:p>
        </p:txBody>
      </p:sp>
      <p:pic>
        <p:nvPicPr>
          <p:cNvPr id="12" name="Gráfico 11" descr="Maestro con relleno sólido">
            <a:extLst>
              <a:ext uri="{FF2B5EF4-FFF2-40B4-BE49-F238E27FC236}">
                <a16:creationId xmlns:a16="http://schemas.microsoft.com/office/drawing/2014/main" id="{CDAB06D9-1ED0-4835-81FB-8E9909DE8D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24815" y="211636"/>
            <a:ext cx="788893" cy="788893"/>
          </a:xfrm>
          <a:prstGeom prst="rect">
            <a:avLst/>
          </a:prstGeom>
        </p:spPr>
      </p:pic>
      <p:graphicFrame>
        <p:nvGraphicFramePr>
          <p:cNvPr id="10" name="Google Shape;355;p25">
            <a:extLst>
              <a:ext uri="{FF2B5EF4-FFF2-40B4-BE49-F238E27FC236}">
                <a16:creationId xmlns:a16="http://schemas.microsoft.com/office/drawing/2014/main" id="{7A0475B1-3D5E-4E26-B0B5-02AB009CFB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9565316"/>
              </p:ext>
            </p:extLst>
          </p:nvPr>
        </p:nvGraphicFramePr>
        <p:xfrm>
          <a:off x="7846169" y="3368785"/>
          <a:ext cx="3461735" cy="25312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Google Shape;352;p25">
            <a:extLst>
              <a:ext uri="{FF2B5EF4-FFF2-40B4-BE49-F238E27FC236}">
                <a16:creationId xmlns:a16="http://schemas.microsoft.com/office/drawing/2014/main" id="{43D80E74-3F7B-4003-90E6-9FEBB162022B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Nota: este eje incluye un total de XXXX respuestas.</a:t>
            </a:r>
          </a:p>
        </p:txBody>
      </p:sp>
    </p:spTree>
    <p:extLst>
      <p:ext uri="{BB962C8B-B14F-4D97-AF65-F5344CB8AC3E}">
        <p14:creationId xmlns:p14="http://schemas.microsoft.com/office/powerpoint/2010/main" val="1582945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"/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 dirty="0">
                <a:solidFill>
                  <a:srgbClr val="3F3F3F"/>
                </a:solidFill>
              </a:rPr>
              <a:t>Atenciones psicológicas</a:t>
            </a:r>
            <a:endParaRPr sz="3200" dirty="0">
              <a:solidFill>
                <a:srgbClr val="0070C0"/>
              </a:solidFill>
            </a:endParaRPr>
          </a:p>
        </p:txBody>
      </p:sp>
      <p:sp>
        <p:nvSpPr>
          <p:cNvPr id="351" name="Google Shape;351;p25"/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-136175" y="1375795"/>
            <a:ext cx="554808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¿Has recibido atención psicológica en el programa de salud mental de Duoc UC?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3" name="Google Shape;353;p25"/>
          <p:cNvGraphicFramePr/>
          <p:nvPr>
            <p:extLst>
              <p:ext uri="{D42A27DB-BD31-4B8C-83A1-F6EECF244321}">
                <p14:modId xmlns:p14="http://schemas.microsoft.com/office/powerpoint/2010/main" val="3589019802"/>
              </p:ext>
            </p:extLst>
          </p:nvPr>
        </p:nvGraphicFramePr>
        <p:xfrm>
          <a:off x="-339648" y="1899015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4" name="Google Shape;354;p25"/>
          <p:cNvSpPr txBox="1"/>
          <p:nvPr/>
        </p:nvSpPr>
        <p:spPr>
          <a:xfrm>
            <a:off x="6961680" y="561364"/>
            <a:ext cx="399559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¿Qué tan satisfecho/a te encuentras con las atenciones que has recibido?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356" name="Google Shape;356;p25"/>
          <p:cNvSpPr/>
          <p:nvPr/>
        </p:nvSpPr>
        <p:spPr>
          <a:xfrm>
            <a:off x="3768298" y="3957919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5"/>
          <p:cNvSpPr txBox="1"/>
          <p:nvPr/>
        </p:nvSpPr>
        <p:spPr>
          <a:xfrm>
            <a:off x="1853305" y="4694468"/>
            <a:ext cx="55480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3" name="Google Shape;354;p25">
            <a:extLst>
              <a:ext uri="{FF2B5EF4-FFF2-40B4-BE49-F238E27FC236}">
                <a16:creationId xmlns:a16="http://schemas.microsoft.com/office/drawing/2014/main" id="{A6CE897F-3EE9-4809-86CA-43423642C230}"/>
              </a:ext>
            </a:extLst>
          </p:cNvPr>
          <p:cNvSpPr txBox="1"/>
          <p:nvPr/>
        </p:nvSpPr>
        <p:spPr>
          <a:xfrm>
            <a:off x="6096000" y="5481181"/>
            <a:ext cx="3995596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¿Recomendarías a un compañero/a usar las atenciones psicológicas del programa de salud mental Duoc UC?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6" name="Gráfico 5" descr="Cerebro en la cabeza con relleno sólido">
            <a:extLst>
              <a:ext uri="{FF2B5EF4-FFF2-40B4-BE49-F238E27FC236}">
                <a16:creationId xmlns:a16="http://schemas.microsoft.com/office/drawing/2014/main" id="{DBC26442-7E3B-44F6-BDA3-1BA5CCB59E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17256" y="190682"/>
            <a:ext cx="796452" cy="796452"/>
          </a:xfrm>
          <a:prstGeom prst="rect">
            <a:avLst/>
          </a:prstGeom>
        </p:spPr>
      </p:pic>
      <p:graphicFrame>
        <p:nvGraphicFramePr>
          <p:cNvPr id="15" name="Google Shape;355;p25">
            <a:extLst>
              <a:ext uri="{FF2B5EF4-FFF2-40B4-BE49-F238E27FC236}">
                <a16:creationId xmlns:a16="http://schemas.microsoft.com/office/drawing/2014/main" id="{63C467E0-9AA7-46E5-A81A-0DA2603FED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3155318"/>
              </p:ext>
            </p:extLst>
          </p:nvPr>
        </p:nvGraphicFramePr>
        <p:xfrm>
          <a:off x="6622807" y="1222225"/>
          <a:ext cx="4673343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7" name="Google Shape;355;p25">
            <a:extLst>
              <a:ext uri="{FF2B5EF4-FFF2-40B4-BE49-F238E27FC236}">
                <a16:creationId xmlns:a16="http://schemas.microsoft.com/office/drawing/2014/main" id="{8A1D3D71-A9C2-4366-A645-81B3965CD5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1442259"/>
              </p:ext>
            </p:extLst>
          </p:nvPr>
        </p:nvGraphicFramePr>
        <p:xfrm>
          <a:off x="8910117" y="4935319"/>
          <a:ext cx="3671609" cy="19226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4" name="Google Shape;352;p25">
            <a:extLst>
              <a:ext uri="{FF2B5EF4-FFF2-40B4-BE49-F238E27FC236}">
                <a16:creationId xmlns:a16="http://schemas.microsoft.com/office/drawing/2014/main" id="{234E88FB-D38E-4557-B143-D444BA337034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Nota: este eje incluye un total de XXXX respuestas.</a:t>
            </a:r>
          </a:p>
        </p:txBody>
      </p:sp>
    </p:spTree>
    <p:extLst>
      <p:ext uri="{BB962C8B-B14F-4D97-AF65-F5344CB8AC3E}">
        <p14:creationId xmlns:p14="http://schemas.microsoft.com/office/powerpoint/2010/main" val="2447127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"/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 dirty="0">
                <a:solidFill>
                  <a:srgbClr val="3F3F3F"/>
                </a:solidFill>
              </a:rPr>
              <a:t>Bienestar integral en movimiento</a:t>
            </a:r>
            <a:endParaRPr sz="3200" dirty="0">
              <a:solidFill>
                <a:srgbClr val="0070C0"/>
              </a:solidFill>
            </a:endParaRPr>
          </a:p>
        </p:txBody>
      </p:sp>
      <p:sp>
        <p:nvSpPr>
          <p:cNvPr id="351" name="Google Shape;351;p25"/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264865" y="1324321"/>
            <a:ext cx="554808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¿Has participado de los talleres y/o intervenciones en sala de bienestar integral en movimiento?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3" name="Google Shape;353;p25"/>
          <p:cNvGraphicFramePr/>
          <p:nvPr/>
        </p:nvGraphicFramePr>
        <p:xfrm>
          <a:off x="61392" y="1847541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4" name="Google Shape;354;p25"/>
          <p:cNvSpPr txBox="1"/>
          <p:nvPr/>
        </p:nvSpPr>
        <p:spPr>
          <a:xfrm>
            <a:off x="7195118" y="420780"/>
            <a:ext cx="399559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¿En qué medida estos talleres o intervenciones han aportado a tu bienestar?</a:t>
            </a:r>
          </a:p>
        </p:txBody>
      </p:sp>
      <p:sp>
        <p:nvSpPr>
          <p:cNvPr id="356" name="Google Shape;356;p25"/>
          <p:cNvSpPr/>
          <p:nvPr/>
        </p:nvSpPr>
        <p:spPr>
          <a:xfrm>
            <a:off x="5149779" y="3743952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5"/>
          <p:cNvSpPr txBox="1"/>
          <p:nvPr/>
        </p:nvSpPr>
        <p:spPr>
          <a:xfrm>
            <a:off x="3234786" y="4480501"/>
            <a:ext cx="55480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3" name="Google Shape;354;p25">
            <a:extLst>
              <a:ext uri="{FF2B5EF4-FFF2-40B4-BE49-F238E27FC236}">
                <a16:creationId xmlns:a16="http://schemas.microsoft.com/office/drawing/2014/main" id="{A6CE897F-3EE9-4809-86CA-43423642C230}"/>
              </a:ext>
            </a:extLst>
          </p:cNvPr>
          <p:cNvSpPr txBox="1"/>
          <p:nvPr/>
        </p:nvSpPr>
        <p:spPr>
          <a:xfrm>
            <a:off x="6155799" y="5416397"/>
            <a:ext cx="3995596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¿Recomendarías estos talleres o intervenciones a un compañero/a de Duoc UC?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4" name="Gráfico 3" descr="Corazón con pulso con relleno sólido">
            <a:extLst>
              <a:ext uri="{FF2B5EF4-FFF2-40B4-BE49-F238E27FC236}">
                <a16:creationId xmlns:a16="http://schemas.microsoft.com/office/drawing/2014/main" id="{A755F92F-F1CB-41A6-8BA9-C571CB7AFB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52067" y="171541"/>
            <a:ext cx="817188" cy="817188"/>
          </a:xfrm>
          <a:prstGeom prst="rect">
            <a:avLst/>
          </a:prstGeom>
        </p:spPr>
      </p:pic>
      <p:graphicFrame>
        <p:nvGraphicFramePr>
          <p:cNvPr id="16" name="Google Shape;355;p25">
            <a:extLst>
              <a:ext uri="{FF2B5EF4-FFF2-40B4-BE49-F238E27FC236}">
                <a16:creationId xmlns:a16="http://schemas.microsoft.com/office/drawing/2014/main" id="{E083B0BE-F40A-4DA8-99A8-1BB1A5FE04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0034336"/>
              </p:ext>
            </p:extLst>
          </p:nvPr>
        </p:nvGraphicFramePr>
        <p:xfrm>
          <a:off x="7200439" y="1152556"/>
          <a:ext cx="3671610" cy="2550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7" name="Google Shape;355;p25">
            <a:extLst>
              <a:ext uri="{FF2B5EF4-FFF2-40B4-BE49-F238E27FC236}">
                <a16:creationId xmlns:a16="http://schemas.microsoft.com/office/drawing/2014/main" id="{2C55B24B-8049-42C6-8E5E-F7DDDD8A90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1442259"/>
              </p:ext>
            </p:extLst>
          </p:nvPr>
        </p:nvGraphicFramePr>
        <p:xfrm>
          <a:off x="8910117" y="4935319"/>
          <a:ext cx="3671609" cy="19226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4" name="Google Shape;352;p25">
            <a:extLst>
              <a:ext uri="{FF2B5EF4-FFF2-40B4-BE49-F238E27FC236}">
                <a16:creationId xmlns:a16="http://schemas.microsoft.com/office/drawing/2014/main" id="{7C56A666-3BD6-4DAA-9F10-4A5300EDC186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Nota: este eje incluye un total de XXXX respuestas.</a:t>
            </a:r>
          </a:p>
        </p:txBody>
      </p:sp>
    </p:spTree>
    <p:extLst>
      <p:ext uri="{BB962C8B-B14F-4D97-AF65-F5344CB8AC3E}">
        <p14:creationId xmlns:p14="http://schemas.microsoft.com/office/powerpoint/2010/main" val="2225050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82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Síntesis global y conclusiones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85"/>
          <p:cNvSpPr txBox="1">
            <a:spLocks noGrp="1"/>
          </p:cNvSpPr>
          <p:nvPr>
            <p:ph type="title"/>
          </p:nvPr>
        </p:nvSpPr>
        <p:spPr>
          <a:xfrm>
            <a:off x="491319" y="210715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>
                <a:solidFill>
                  <a:srgbClr val="3F3F3F"/>
                </a:solidFill>
              </a:rPr>
              <a:t>Conclusiones</a:t>
            </a:r>
            <a:endParaRPr sz="3200">
              <a:solidFill>
                <a:srgbClr val="E30613"/>
              </a:solidFill>
            </a:endParaRPr>
          </a:p>
        </p:txBody>
      </p:sp>
      <p:sp>
        <p:nvSpPr>
          <p:cNvPr id="981" name="Google Shape;981;p85"/>
          <p:cNvSpPr txBox="1">
            <a:spLocks noGrp="1"/>
          </p:cNvSpPr>
          <p:nvPr>
            <p:ph type="body" idx="1"/>
          </p:nvPr>
        </p:nvSpPr>
        <p:spPr>
          <a:xfrm>
            <a:off x="491319" y="1288472"/>
            <a:ext cx="11250112" cy="4950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12897" lvl="0" indent="-285750" algn="just">
              <a:lnSpc>
                <a:spcPct val="150000"/>
              </a:lnSpc>
              <a:buClr>
                <a:schemeClr val="dk1"/>
              </a:buClr>
              <a:buSzPct val="105555"/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rgbClr val="3F3F3F"/>
                </a:solidFill>
              </a:rPr>
              <a:t>XXX</a:t>
            </a:r>
            <a:endParaRPr lang="es-ES" sz="1800" dirty="0">
              <a:solidFill>
                <a:srgbClr val="3F3F3F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D00FDE6-70C2-4D7B-A270-DE0D8F289D64}"/>
              </a:ext>
            </a:extLst>
          </p:cNvPr>
          <p:cNvSpPr txBox="1"/>
          <p:nvPr/>
        </p:nvSpPr>
        <p:spPr>
          <a:xfrm>
            <a:off x="9278471" y="365125"/>
            <a:ext cx="1532963" cy="5232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L" dirty="0"/>
              <a:t>Texto por redactar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89"/>
          <p:cNvSpPr/>
          <p:nvPr/>
        </p:nvSpPr>
        <p:spPr>
          <a:xfrm>
            <a:off x="279127" y="665853"/>
            <a:ext cx="1121490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Noto Sans Symbols"/>
              <a:buChar char="✔"/>
            </a:pPr>
            <a:r>
              <a:rPr lang="es-CL" sz="1600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Junto al reporte global se entregan </a:t>
            </a:r>
            <a:r>
              <a:rPr lang="es-CL" sz="1600" b="1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29 reportes</a:t>
            </a:r>
            <a:r>
              <a:rPr lang="es-CL" sz="1600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:</a:t>
            </a:r>
            <a:endParaRPr dirty="0">
              <a:solidFill>
                <a:srgbClr val="3F3F3F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32" name="Google Shape;1032;p89"/>
          <p:cNvSpPr txBox="1">
            <a:spLocks noGrp="1"/>
          </p:cNvSpPr>
          <p:nvPr>
            <p:ph type="title"/>
          </p:nvPr>
        </p:nvSpPr>
        <p:spPr>
          <a:xfrm>
            <a:off x="279127" y="-161253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Calibri"/>
              <a:buNone/>
            </a:pPr>
            <a:r>
              <a:rPr lang="es-CL" dirty="0">
                <a:solidFill>
                  <a:srgbClr val="3F3F3F"/>
                </a:solidFill>
              </a:rPr>
              <a:t>Reportes específicos</a:t>
            </a:r>
            <a:endParaRPr sz="2400" dirty="0">
              <a:solidFill>
                <a:srgbClr val="E30613"/>
              </a:solidFill>
            </a:endParaRPr>
          </a:p>
        </p:txBody>
      </p:sp>
      <p:grpSp>
        <p:nvGrpSpPr>
          <p:cNvPr id="1033" name="Google Shape;1033;p89"/>
          <p:cNvGrpSpPr/>
          <p:nvPr/>
        </p:nvGrpSpPr>
        <p:grpSpPr>
          <a:xfrm>
            <a:off x="2463839" y="1249254"/>
            <a:ext cx="8127920" cy="5160361"/>
            <a:chOff x="39" y="13611"/>
            <a:chExt cx="8127920" cy="5160361"/>
          </a:xfrm>
        </p:grpSpPr>
        <p:sp>
          <p:nvSpPr>
            <p:cNvPr id="1034" name="Google Shape;1034;p89"/>
            <p:cNvSpPr/>
            <p:nvPr/>
          </p:nvSpPr>
          <p:spPr>
            <a:xfrm>
              <a:off x="39" y="13611"/>
              <a:ext cx="3798093" cy="616248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89"/>
            <p:cNvSpPr txBox="1"/>
            <p:nvPr/>
          </p:nvSpPr>
          <p:spPr>
            <a:xfrm>
              <a:off x="39" y="13611"/>
              <a:ext cx="3798093" cy="6162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7800" tIns="101600" rIns="177800" bIns="1016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lang="es-CL" sz="25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Sedes</a:t>
              </a:r>
              <a:endParaRPr/>
            </a:p>
          </p:txBody>
        </p:sp>
        <p:sp>
          <p:nvSpPr>
            <p:cNvPr id="1036" name="Google Shape;1036;p89"/>
            <p:cNvSpPr/>
            <p:nvPr/>
          </p:nvSpPr>
          <p:spPr>
            <a:xfrm>
              <a:off x="39" y="624135"/>
              <a:ext cx="3798093" cy="4549837"/>
            </a:xfrm>
            <a:prstGeom prst="rect">
              <a:avLst/>
            </a:prstGeom>
            <a:solidFill>
              <a:srgbClr val="F7D5CB">
                <a:alpha val="89803"/>
              </a:srgbClr>
            </a:solidFill>
            <a:ln w="12700" cap="flat" cmpd="sng">
              <a:solidFill>
                <a:srgbClr val="F7D5CB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89"/>
            <p:cNvSpPr txBox="1"/>
            <p:nvPr/>
          </p:nvSpPr>
          <p:spPr>
            <a:xfrm>
              <a:off x="39" y="624135"/>
              <a:ext cx="3798093" cy="45498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4675" tIns="74675" rIns="99550" bIns="112000" anchor="t" anchorCtr="0">
              <a:noAutofit/>
            </a:bodyPr>
            <a:lstStyle/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Alameda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Antonio Varas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Campus Arauco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Campus Villarrica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Comunicaciones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Concepción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Maipú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Melipilla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Online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Padre Alonso de Ovalle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Plaza Norte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Plaza Oeste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Plaza Vespucio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Puente Alto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Puerto Montt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San Bernardo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San Carlos de Apoquindo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San Joaquín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Valparaíso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Viña del Mar</a:t>
              </a:r>
            </a:p>
          </p:txBody>
        </p:sp>
        <p:sp>
          <p:nvSpPr>
            <p:cNvPr id="1038" name="Google Shape;1038;p89"/>
            <p:cNvSpPr/>
            <p:nvPr/>
          </p:nvSpPr>
          <p:spPr>
            <a:xfrm>
              <a:off x="4329866" y="13611"/>
              <a:ext cx="3798093" cy="616248"/>
            </a:xfrm>
            <a:prstGeom prst="rect">
              <a:avLst/>
            </a:prstGeom>
            <a:solidFill>
              <a:schemeClr val="accent3"/>
            </a:solidFill>
            <a:ln w="1270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89"/>
            <p:cNvSpPr txBox="1"/>
            <p:nvPr/>
          </p:nvSpPr>
          <p:spPr>
            <a:xfrm>
              <a:off x="4329866" y="13611"/>
              <a:ext cx="3798093" cy="6162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7800" tIns="101600" rIns="177800" bIns="1016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lang="es-CL" sz="25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Escuelas</a:t>
              </a:r>
              <a:endParaRPr/>
            </a:p>
          </p:txBody>
        </p:sp>
        <p:sp>
          <p:nvSpPr>
            <p:cNvPr id="1040" name="Google Shape;1040;p89"/>
            <p:cNvSpPr/>
            <p:nvPr/>
          </p:nvSpPr>
          <p:spPr>
            <a:xfrm>
              <a:off x="4329866" y="624135"/>
              <a:ext cx="3798093" cy="4549837"/>
            </a:xfrm>
            <a:prstGeom prst="rect">
              <a:avLst/>
            </a:prstGeom>
            <a:solidFill>
              <a:srgbClr val="E0E0E0">
                <a:alpha val="89803"/>
              </a:srgbClr>
            </a:solidFill>
            <a:ln w="12700" cap="flat" cmpd="sng">
              <a:solidFill>
                <a:srgbClr val="E0E0E0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89"/>
            <p:cNvSpPr txBox="1"/>
            <p:nvPr/>
          </p:nvSpPr>
          <p:spPr>
            <a:xfrm>
              <a:off x="4329866" y="624135"/>
              <a:ext cx="3798093" cy="45498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2000" tIns="112000" rIns="149350" bIns="168000" anchor="t" anchorCtr="0">
              <a:noAutofit/>
            </a:bodyPr>
            <a:lstStyle/>
            <a:p>
              <a:pPr marL="228600" lvl="1" indent="-228600">
                <a:lnSpc>
                  <a:spcPct val="90000"/>
                </a:lnSpc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lang="es-ES" sz="18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Administración y Negocios</a:t>
              </a:r>
            </a:p>
            <a:p>
              <a:pPr marL="228600" lvl="1" indent="-228600">
                <a:lnSpc>
                  <a:spcPct val="90000"/>
                </a:lnSpc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lang="es-ES" sz="18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Comunicación</a:t>
              </a:r>
            </a:p>
            <a:p>
              <a:pPr marL="228600" lvl="1" indent="-228600">
                <a:lnSpc>
                  <a:spcPct val="90000"/>
                </a:lnSpc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lang="es-ES" sz="18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Construcción</a:t>
              </a:r>
            </a:p>
            <a:p>
              <a:pPr marL="228600" lvl="1" indent="-228600">
                <a:lnSpc>
                  <a:spcPct val="90000"/>
                </a:lnSpc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lang="es-ES" sz="18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Diseño</a:t>
              </a:r>
            </a:p>
            <a:p>
              <a:pPr marL="228600" lvl="1" indent="-228600">
                <a:lnSpc>
                  <a:spcPct val="90000"/>
                </a:lnSpc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lang="es-ES" sz="18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Gastronomía</a:t>
              </a:r>
            </a:p>
            <a:p>
              <a:pPr marL="228600" lvl="1" indent="-228600">
                <a:lnSpc>
                  <a:spcPct val="90000"/>
                </a:lnSpc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lang="es-ES" sz="18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Informática y Telecomunicaciones</a:t>
              </a:r>
            </a:p>
            <a:p>
              <a:pPr marL="228600" lvl="1" indent="-228600">
                <a:lnSpc>
                  <a:spcPct val="90000"/>
                </a:lnSpc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lang="es-ES" sz="18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Ingeniería, Medio Ambiente y Recursos Naturales</a:t>
              </a:r>
            </a:p>
            <a:p>
              <a:pPr marL="228600" lvl="1" indent="-228600">
                <a:lnSpc>
                  <a:spcPct val="90000"/>
                </a:lnSpc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lang="es-ES" sz="1800" dirty="0">
                  <a:solidFill>
                    <a:srgbClr val="3F3F3F"/>
                  </a:solidFill>
                  <a:latin typeface="Calibri Light"/>
                  <a:ea typeface="Calibri"/>
                  <a:cs typeface="Calibri Light"/>
                  <a:sym typeface="Calibri"/>
                </a:rPr>
                <a:t>Salud y Bienestar</a:t>
              </a:r>
              <a:endParaRPr lang="es-ES" sz="1800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</a:endParaRPr>
            </a:p>
            <a:p>
              <a:pPr marL="228600" lvl="1" indent="-228600">
                <a:lnSpc>
                  <a:spcPct val="90000"/>
                </a:lnSpc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lang="es-ES" sz="18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Turismo y Hotelería</a:t>
              </a:r>
            </a:p>
          </p:txBody>
        </p: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C4BE4B2-5DA3-407E-AF87-08AB689F523B}"/>
              </a:ext>
            </a:extLst>
          </p:cNvPr>
          <p:cNvSpPr txBox="1"/>
          <p:nvPr/>
        </p:nvSpPr>
        <p:spPr>
          <a:xfrm>
            <a:off x="9278471" y="365125"/>
            <a:ext cx="1532963" cy="5232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L" dirty="0"/>
              <a:t>Texto por redactar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"/>
          <p:cNvSpPr txBox="1">
            <a:spLocks noGrp="1"/>
          </p:cNvSpPr>
          <p:nvPr>
            <p:ph type="ctrTitle"/>
          </p:nvPr>
        </p:nvSpPr>
        <p:spPr>
          <a:xfrm>
            <a:off x="336645" y="2377934"/>
            <a:ext cx="11518709" cy="2102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br>
              <a:rPr lang="es-CL" sz="5400" b="1" cap="small" dirty="0">
                <a:solidFill>
                  <a:schemeClr val="lt1"/>
                </a:solidFill>
                <a:sym typeface="Calibri"/>
              </a:rPr>
            </a:br>
            <a:r>
              <a:rPr lang="es-CL" sz="4400" b="1" cap="small" dirty="0">
                <a:solidFill>
                  <a:schemeClr val="lt1"/>
                </a:solidFill>
                <a:sym typeface="Calibri"/>
              </a:rPr>
              <a:t>Radiografía del Bienestar y la Salud Mental </a:t>
            </a:r>
            <a:br>
              <a:rPr lang="es-CL" sz="4400" b="1" cap="small" dirty="0">
                <a:solidFill>
                  <a:schemeClr val="lt1"/>
                </a:solidFill>
                <a:sym typeface="Calibri"/>
              </a:rPr>
            </a:br>
            <a:r>
              <a:rPr lang="es-CL" sz="4400" b="1" cap="small" dirty="0">
                <a:solidFill>
                  <a:schemeClr val="lt1"/>
                </a:solidFill>
                <a:sym typeface="Calibri"/>
              </a:rPr>
              <a:t>2025</a:t>
            </a:r>
            <a:br>
              <a:rPr lang="es-CL" sz="4400" b="1" cap="small" dirty="0">
                <a:solidFill>
                  <a:schemeClr val="lt1"/>
                </a:solidFill>
                <a:sym typeface="Calibri"/>
              </a:rPr>
            </a:br>
            <a:br>
              <a:rPr lang="es-CL" sz="4400" b="1" cap="small" dirty="0">
                <a:solidFill>
                  <a:schemeClr val="lt1"/>
                </a:solidFill>
                <a:sym typeface="Calibri"/>
              </a:rPr>
            </a:br>
            <a:r>
              <a:rPr lang="es-CL" sz="4400" b="1" cap="small" dirty="0">
                <a:solidFill>
                  <a:schemeClr val="lt1"/>
                </a:solidFill>
                <a:sym typeface="Calibri"/>
              </a:rPr>
              <a:t>Duoc UC</a:t>
            </a:r>
            <a:endParaRPr sz="4400" dirty="0"/>
          </a:p>
        </p:txBody>
      </p:sp>
      <p:sp>
        <p:nvSpPr>
          <p:cNvPr id="50" name="Google Shape;50;p1" descr="Francisco Urdinez @ PUC Chile - Portfolio de curso de master China-Am.Latina"/>
          <p:cNvSpPr/>
          <p:nvPr/>
        </p:nvSpPr>
        <p:spPr>
          <a:xfrm>
            <a:off x="155574" y="-144463"/>
            <a:ext cx="1836779" cy="1836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 descr="Francisco Urdinez @ PUC Chile - Portfolio de curso de master China-Am.Latina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AE343CB-8787-4608-975F-885D0F5E7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645" y="5116057"/>
            <a:ext cx="2008093" cy="112829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75435ED-B307-42EA-9874-9FCE3BFE7F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4738" y="5116056"/>
            <a:ext cx="1922034" cy="112829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9D393B4-F575-4F80-BEE5-ADDE360BD8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1027" y="5107231"/>
            <a:ext cx="1824526" cy="113711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39009F9-0C94-40D2-AFFE-9A5B3B21D6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6773" y="5116054"/>
            <a:ext cx="2014813" cy="112829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2562DBC-C7EE-421E-915C-CB124164BB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8724" y="5116055"/>
            <a:ext cx="2033630" cy="112829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1B5CE52-3FF0-47FC-BB74-A93CAF11E464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5026"/>
          <a:stretch/>
        </p:blipFill>
        <p:spPr>
          <a:xfrm>
            <a:off x="9923929" y="5096181"/>
            <a:ext cx="1931425" cy="1142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963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90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Anexos: otros datos de interés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69" name="Google Shape;1069;p93"/>
          <p:cNvGraphicFramePr/>
          <p:nvPr>
            <p:extLst>
              <p:ext uri="{D42A27DB-BD31-4B8C-83A1-F6EECF244321}">
                <p14:modId xmlns:p14="http://schemas.microsoft.com/office/powerpoint/2010/main" val="1767397548"/>
              </p:ext>
            </p:extLst>
          </p:nvPr>
        </p:nvGraphicFramePr>
        <p:xfrm>
          <a:off x="6096000" y="1774682"/>
          <a:ext cx="5872973" cy="34652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70" name="Google Shape;1070;p93"/>
          <p:cNvGraphicFramePr/>
          <p:nvPr>
            <p:extLst>
              <p:ext uri="{D42A27DB-BD31-4B8C-83A1-F6EECF244321}">
                <p14:modId xmlns:p14="http://schemas.microsoft.com/office/powerpoint/2010/main" val="1127330587"/>
              </p:ext>
            </p:extLst>
          </p:nvPr>
        </p:nvGraphicFramePr>
        <p:xfrm>
          <a:off x="491318" y="1228726"/>
          <a:ext cx="4998357" cy="45571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71" name="Google Shape;1071;p93"/>
          <p:cNvSpPr/>
          <p:nvPr/>
        </p:nvSpPr>
        <p:spPr>
          <a:xfrm>
            <a:off x="2650671" y="1774682"/>
            <a:ext cx="2324101" cy="2914650"/>
          </a:xfrm>
          <a:prstGeom prst="rightBracket">
            <a:avLst>
              <a:gd name="adj" fmla="val 8333"/>
            </a:avLst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2" name="Google Shape;1072;p93"/>
          <p:cNvCxnSpPr/>
          <p:nvPr/>
        </p:nvCxnSpPr>
        <p:spPr>
          <a:xfrm>
            <a:off x="5127172" y="3212957"/>
            <a:ext cx="1142999" cy="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73" name="Google Shape;1073;p93"/>
          <p:cNvSpPr txBox="1">
            <a:spLocks noGrp="1"/>
          </p:cNvSpPr>
          <p:nvPr>
            <p:ph type="title"/>
          </p:nvPr>
        </p:nvSpPr>
        <p:spPr>
          <a:xfrm>
            <a:off x="490538" y="365125"/>
            <a:ext cx="1163955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Personas al cuidado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9" name="Google Shape;1079;p94"/>
          <p:cNvGraphicFramePr/>
          <p:nvPr>
            <p:extLst>
              <p:ext uri="{D42A27DB-BD31-4B8C-83A1-F6EECF244321}">
                <p14:modId xmlns:p14="http://schemas.microsoft.com/office/powerpoint/2010/main" val="289917196"/>
              </p:ext>
            </p:extLst>
          </p:nvPr>
        </p:nvGraphicFramePr>
        <p:xfrm>
          <a:off x="2393949" y="1228725"/>
          <a:ext cx="7559676" cy="45571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80" name="Google Shape;1080;p94"/>
          <p:cNvSpPr txBox="1">
            <a:spLocks noGrp="1"/>
          </p:cNvSpPr>
          <p:nvPr>
            <p:ph type="title"/>
          </p:nvPr>
        </p:nvSpPr>
        <p:spPr>
          <a:xfrm>
            <a:off x="490538" y="365125"/>
            <a:ext cx="1163955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Situación de empleo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2" name="Google Shape;1092;p96"/>
          <p:cNvGraphicFramePr/>
          <p:nvPr>
            <p:extLst>
              <p:ext uri="{D42A27DB-BD31-4B8C-83A1-F6EECF244321}">
                <p14:modId xmlns:p14="http://schemas.microsoft.com/office/powerpoint/2010/main" val="4037156662"/>
              </p:ext>
            </p:extLst>
          </p:nvPr>
        </p:nvGraphicFramePr>
        <p:xfrm>
          <a:off x="491319" y="1225868"/>
          <a:ext cx="11283329" cy="45571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93" name="Google Shape;1093;p96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Condiciones para la actividad académica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9" name="Google Shape;1079;p94"/>
          <p:cNvGraphicFramePr/>
          <p:nvPr>
            <p:extLst>
              <p:ext uri="{D42A27DB-BD31-4B8C-83A1-F6EECF244321}">
                <p14:modId xmlns:p14="http://schemas.microsoft.com/office/powerpoint/2010/main" val="832067760"/>
              </p:ext>
            </p:extLst>
          </p:nvPr>
        </p:nvGraphicFramePr>
        <p:xfrm>
          <a:off x="394447" y="1703294"/>
          <a:ext cx="5371538" cy="41859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80" name="Google Shape;1080;p94"/>
          <p:cNvSpPr txBox="1">
            <a:spLocks noGrp="1"/>
          </p:cNvSpPr>
          <p:nvPr>
            <p:ph type="title"/>
          </p:nvPr>
        </p:nvSpPr>
        <p:spPr>
          <a:xfrm>
            <a:off x="490538" y="365125"/>
            <a:ext cx="1163955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Uso de espacios sedes Duoc UC</a:t>
            </a:r>
            <a:endParaRPr dirty="0"/>
          </a:p>
        </p:txBody>
      </p:sp>
      <p:graphicFrame>
        <p:nvGraphicFramePr>
          <p:cNvPr id="4" name="Google Shape;1079;p94">
            <a:extLst>
              <a:ext uri="{FF2B5EF4-FFF2-40B4-BE49-F238E27FC236}">
                <a16:creationId xmlns:a16="http://schemas.microsoft.com/office/drawing/2014/main" id="{859778A9-F63C-449A-BA9D-FEBAB63394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4304576"/>
              </p:ext>
            </p:extLst>
          </p:nvPr>
        </p:nvGraphicFramePr>
        <p:xfrm>
          <a:off x="6310313" y="1650066"/>
          <a:ext cx="5371538" cy="42391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7B6FDD2D-F84E-47DF-BF7B-8406A0B1C918}"/>
              </a:ext>
            </a:extLst>
          </p:cNvPr>
          <p:cNvSpPr txBox="1"/>
          <p:nvPr/>
        </p:nvSpPr>
        <p:spPr>
          <a:xfrm>
            <a:off x="1838604" y="1220321"/>
            <a:ext cx="2483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800" b="1" kern="1200" dirty="0">
                <a:solidFill>
                  <a:srgbClr val="000000">
                    <a:lumMod val="65000"/>
                    <a:lumOff val="35000"/>
                  </a:srgb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Sedes</a:t>
            </a:r>
            <a:r>
              <a:rPr lang="es-CL" sz="1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CL" sz="1800" b="1" kern="1200" dirty="0">
                <a:solidFill>
                  <a:srgbClr val="000000">
                    <a:lumMod val="65000"/>
                    <a:lumOff val="35000"/>
                  </a:srgb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presenciales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D16981D-DBE7-4150-9841-99AC7262C74A}"/>
              </a:ext>
            </a:extLst>
          </p:cNvPr>
          <p:cNvSpPr txBox="1"/>
          <p:nvPr/>
        </p:nvSpPr>
        <p:spPr>
          <a:xfrm>
            <a:off x="7870173" y="1199491"/>
            <a:ext cx="2483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800" b="1" kern="1200" dirty="0">
                <a:solidFill>
                  <a:srgbClr val="000000">
                    <a:lumMod val="65000"/>
                    <a:lumOff val="35000"/>
                  </a:srgb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Sedes</a:t>
            </a:r>
            <a:r>
              <a:rPr lang="es-CL" sz="1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CL" sz="1800" b="1" kern="1200" dirty="0">
                <a:solidFill>
                  <a:srgbClr val="000000">
                    <a:lumMod val="65000"/>
                    <a:lumOff val="35000"/>
                  </a:srgb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online</a:t>
            </a:r>
          </a:p>
        </p:txBody>
      </p:sp>
      <p:sp>
        <p:nvSpPr>
          <p:cNvPr id="8" name="Google Shape;352;p25">
            <a:extLst>
              <a:ext uri="{FF2B5EF4-FFF2-40B4-BE49-F238E27FC236}">
                <a16:creationId xmlns:a16="http://schemas.microsoft.com/office/drawing/2014/main" id="{F814E454-C5B2-42C8-BEBA-27EE748E9747}"/>
              </a:ext>
            </a:extLst>
          </p:cNvPr>
          <p:cNvSpPr txBox="1"/>
          <p:nvPr/>
        </p:nvSpPr>
        <p:spPr>
          <a:xfrm>
            <a:off x="2335484" y="6492875"/>
            <a:ext cx="8017912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MX" sz="1200" dirty="0">
                <a:solidFill>
                  <a:srgbClr val="595959"/>
                </a:solidFill>
                <a:latin typeface="Calibri Light"/>
                <a:ea typeface="Calibri"/>
                <a:cs typeface="Calibri Light"/>
                <a:sym typeface="Calibri"/>
              </a:rPr>
              <a:t>Nota: esta pregunta incluye un total de XXXX respuestas y se desplegó solo a quienes habían profundizado en ideación suicida.</a:t>
            </a:r>
          </a:p>
        </p:txBody>
      </p:sp>
    </p:spTree>
    <p:extLst>
      <p:ext uri="{BB962C8B-B14F-4D97-AF65-F5344CB8AC3E}">
        <p14:creationId xmlns:p14="http://schemas.microsoft.com/office/powerpoint/2010/main" val="1135431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4617</TotalTime>
  <Words>2764</Words>
  <Application>Microsoft Office PowerPoint</Application>
  <PresentationFormat>Panorámica</PresentationFormat>
  <Paragraphs>439</Paragraphs>
  <Slides>74</Slides>
  <Notes>72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74</vt:i4>
      </vt:variant>
    </vt:vector>
  </HeadingPairs>
  <TitlesOfParts>
    <vt:vector size="79" baseType="lpstr">
      <vt:lpstr>Arial</vt:lpstr>
      <vt:lpstr>Calibri</vt:lpstr>
      <vt:lpstr>Calibri Light</vt:lpstr>
      <vt:lpstr>Noto Sans Symbols</vt:lpstr>
      <vt:lpstr>Tema de Office</vt:lpstr>
      <vt:lpstr> Radiografía del Bienestar y la Salud Mental  2025  Duoc UC</vt:lpstr>
      <vt:lpstr>Estructura de la presentación</vt:lpstr>
      <vt:lpstr>Presentación de PowerPoint</vt:lpstr>
      <vt:lpstr>Propósito</vt:lpstr>
      <vt:lpstr>Ficha técnica</vt:lpstr>
      <vt:lpstr>Batería de evaluación</vt:lpstr>
      <vt:lpstr>Caracterización de participantes </vt:lpstr>
      <vt:lpstr>Caracterización de participantes </vt:lpstr>
      <vt:lpstr>Presentación de PowerPoint</vt:lpstr>
      <vt:lpstr>Presentación de PowerPoint</vt:lpstr>
      <vt:lpstr>Presentación de PowerPoint</vt:lpstr>
      <vt:lpstr>Presentación de PowerPoint</vt:lpstr>
      <vt:lpstr>Resultados descriptivos</vt:lpstr>
      <vt:lpstr>Presentación de PowerPoint</vt:lpstr>
      <vt:lpstr>Nivel de estrés percibido</vt:lpstr>
      <vt:lpstr>Estresores ¿Cuáles de las siguientes situaciones presentan un problema que te afecte actualmente?  Resultados por Sexo </vt:lpstr>
      <vt:lpstr>Estresores ¿Cuáles de las siguientes situaciones presentan un problema que te afecte actualmente?  Resultados por Jornada </vt:lpstr>
      <vt:lpstr>Estresores – Exigencia carga académica Entre quienes reportaron como estresor “Carga académica exigente”</vt:lpstr>
      <vt:lpstr>Estresores – Exigencia carga académica ¿Cuáles de las siguientes razones explican que la carga académica te resulte exigente? Entre quienes reportaron como estresor “Carga académica exigente” Resultados por tipo de alumno </vt:lpstr>
      <vt:lpstr>Estresores 2022 - 2025</vt:lpstr>
      <vt:lpstr>Estrategias de afrontamiento  </vt:lpstr>
      <vt:lpstr>Condición de salud crónica</vt:lpstr>
      <vt:lpstr>Presentación de PowerPoint</vt:lpstr>
      <vt:lpstr>Salud mental</vt:lpstr>
      <vt:lpstr>Factor carga de enfermedad</vt:lpstr>
      <vt:lpstr>Patologías recurrentes grupo prevención indicada</vt:lpstr>
      <vt:lpstr>Episodio depresión – Grupo manejo clínico</vt:lpstr>
      <vt:lpstr>Trastorno de ansiedad generalizada – Grupo manejo clínico</vt:lpstr>
      <vt:lpstr>Trastorno de la personalidad – Grupo manejo clínico</vt:lpstr>
      <vt:lpstr>Uso problemático de marihuana – Grupo manejo clínico</vt:lpstr>
      <vt:lpstr>Uso problemático de marihuana – Grupo manejo clínico</vt:lpstr>
      <vt:lpstr>Uso problemático de alcohol – Grupo manejo clínico</vt:lpstr>
      <vt:lpstr>Ideación suicida – Grupo manejo clínico</vt:lpstr>
      <vt:lpstr>Ideación suicida – Grupo manejo clínico</vt:lpstr>
      <vt:lpstr>Ideación suicida – Grupo manejo clínico</vt:lpstr>
      <vt:lpstr>Presentación de PowerPoint</vt:lpstr>
      <vt:lpstr>Percepción de necesidad y acceso a tratamiento</vt:lpstr>
      <vt:lpstr>Percepción de necesidad y acceso a tratamiento</vt:lpstr>
      <vt:lpstr>Percepción de barreras de acceso a tratamiento</vt:lpstr>
      <vt:lpstr>Presentación de PowerPoint</vt:lpstr>
      <vt:lpstr>Nivel de bienestar</vt:lpstr>
      <vt:lpstr>Perma</vt:lpstr>
      <vt:lpstr>Perma</vt:lpstr>
      <vt:lpstr>Apoyo percibido</vt:lpstr>
      <vt:lpstr>Flow states – Estados de inmersión</vt:lpstr>
      <vt:lpstr>Flow states – Estados de inmersión</vt:lpstr>
      <vt:lpstr>Actividad física</vt:lpstr>
      <vt:lpstr>Alimentación</vt:lpstr>
      <vt:lpstr>Ingesta de líquidos</vt:lpstr>
      <vt:lpstr>Tabaquismo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Resultados inferenciales</vt:lpstr>
      <vt:lpstr>Presentación de PowerPoint</vt:lpstr>
      <vt:lpstr>Presentación de PowerPoint</vt:lpstr>
      <vt:lpstr>App Vivo</vt:lpstr>
      <vt:lpstr>Embajadores de la salud mental</vt:lpstr>
      <vt:lpstr>Embajadores de la salud mental</vt:lpstr>
      <vt:lpstr>Embajadores de la salud mental</vt:lpstr>
      <vt:lpstr>Embajadores de la salud mental</vt:lpstr>
      <vt:lpstr>Atenciones psicológicas</vt:lpstr>
      <vt:lpstr>Bienestar integral en movimiento</vt:lpstr>
      <vt:lpstr>Presentación de PowerPoint</vt:lpstr>
      <vt:lpstr>Conclusiones</vt:lpstr>
      <vt:lpstr>Reportes específicos</vt:lpstr>
      <vt:lpstr> Radiografía del Bienestar y la Salud Mental  2025  Duoc UC</vt:lpstr>
      <vt:lpstr>Presentación de PowerPoint</vt:lpstr>
      <vt:lpstr>Personas al cuidado</vt:lpstr>
      <vt:lpstr>Situación de empleo</vt:lpstr>
      <vt:lpstr>Condiciones para la actividad académica</vt:lpstr>
      <vt:lpstr>Uso de espacios sedes Duoc UC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Reporte Radiografía del Bienestar 2025 Duoc UC</dc:title>
  <dc:creator>Felipe Zapata</dc:creator>
  <cp:lastModifiedBy>Sebastián Eduardo Valenzuela Garrido</cp:lastModifiedBy>
  <cp:revision>321</cp:revision>
  <dcterms:created xsi:type="dcterms:W3CDTF">2021-01-18T15:18:56Z</dcterms:created>
  <dcterms:modified xsi:type="dcterms:W3CDTF">2025-10-20T17:21:37Z</dcterms:modified>
</cp:coreProperties>
</file>