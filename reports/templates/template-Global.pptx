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1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22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7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8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29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30.xml" ContentType="application/vnd.openxmlformats-officedocument.presentationml.notesSl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33.xml" ContentType="application/vnd.openxmlformats-officedocument.presentationml.notesSl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34.xml" ContentType="application/vnd.openxmlformats-officedocument.presentationml.notesSlid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notesSlides/notesSlide35.xml" ContentType="application/vnd.openxmlformats-officedocument.presentationml.notesSlid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38.xml" ContentType="application/vnd.openxmlformats-officedocument.presentationml.notesSl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39.xml" ContentType="application/vnd.openxmlformats-officedocument.presentationml.notesSlid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42.xml" ContentType="application/vnd.openxmlformats-officedocument.presentationml.notesSlid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notesSlides/notesSlide43.xml" ContentType="application/vnd.openxmlformats-officedocument.presentationml.notesSlid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notesSlides/notesSlide44.xml" ContentType="application/vnd.openxmlformats-officedocument.presentationml.notesSlid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notesSlides/notesSlide47.xml" ContentType="application/vnd.openxmlformats-officedocument.presentationml.notesSlid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48.xml" ContentType="application/vnd.openxmlformats-officedocument.presentationml.notesSl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49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notesSlides/notesSlide50.xml" ContentType="application/vnd.openxmlformats-officedocument.presentationml.notesSlid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notesSlides/notesSlide60.xml" ContentType="application/vnd.openxmlformats-officedocument.presentationml.notesSlid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61.xml" ContentType="application/vnd.openxmlformats-officedocument.presentationml.notesSlid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notesSlides/notesSlide62.xml" ContentType="application/vnd.openxmlformats-officedocument.presentationml.notesSlid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notesSlides/notesSlide63.xml" ContentType="application/vnd.openxmlformats-officedocument.presentationml.notesSlid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notesSlides/notesSlide70.xml" ContentType="application/vnd.openxmlformats-officedocument.presentationml.notesSlid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notesSlides/notesSlide71.xml" ContentType="application/vnd.openxmlformats-officedocument.presentationml.notesSlid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notesSlides/notesSlide72.xml" ContentType="application/vnd.openxmlformats-officedocument.presentationml.notesSlid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463" r:id="rId3"/>
    <p:sldId id="413" r:id="rId4"/>
    <p:sldId id="259" r:id="rId5"/>
    <p:sldId id="261" r:id="rId6"/>
    <p:sldId id="264" r:id="rId7"/>
    <p:sldId id="275" r:id="rId8"/>
    <p:sldId id="276" r:id="rId9"/>
    <p:sldId id="464" r:id="rId10"/>
    <p:sldId id="369" r:id="rId11"/>
    <p:sldId id="371" r:id="rId12"/>
    <p:sldId id="370" r:id="rId13"/>
    <p:sldId id="285" r:id="rId14"/>
    <p:sldId id="277" r:id="rId15"/>
    <p:sldId id="416" r:id="rId16"/>
    <p:sldId id="431" r:id="rId17"/>
    <p:sldId id="462" r:id="rId18"/>
    <p:sldId id="279" r:id="rId19"/>
    <p:sldId id="409" r:id="rId20"/>
    <p:sldId id="278" r:id="rId21"/>
    <p:sldId id="280" r:id="rId22"/>
    <p:sldId id="435" r:id="rId23"/>
    <p:sldId id="436" r:id="rId24"/>
    <p:sldId id="418" r:id="rId25"/>
    <p:sldId id="318" r:id="rId26"/>
    <p:sldId id="427" r:id="rId27"/>
    <p:sldId id="419" r:id="rId28"/>
    <p:sldId id="420" r:id="rId29"/>
    <p:sldId id="421" r:id="rId30"/>
    <p:sldId id="422" r:id="rId31"/>
    <p:sldId id="452" r:id="rId32"/>
    <p:sldId id="423" r:id="rId33"/>
    <p:sldId id="325" r:id="rId34"/>
    <p:sldId id="428" r:id="rId35"/>
    <p:sldId id="460" r:id="rId36"/>
    <p:sldId id="438" r:id="rId37"/>
    <p:sldId id="282" r:id="rId38"/>
    <p:sldId id="424" r:id="rId39"/>
    <p:sldId id="283" r:id="rId40"/>
    <p:sldId id="414" r:id="rId41"/>
    <p:sldId id="288" r:id="rId42"/>
    <p:sldId id="290" r:id="rId43"/>
    <p:sldId id="455" r:id="rId44"/>
    <p:sldId id="281" r:id="rId45"/>
    <p:sldId id="439" r:id="rId46"/>
    <p:sldId id="456" r:id="rId47"/>
    <p:sldId id="358" r:id="rId48"/>
    <p:sldId id="374" r:id="rId49"/>
    <p:sldId id="362" r:id="rId50"/>
    <p:sldId id="458" r:id="rId51"/>
    <p:sldId id="465" r:id="rId52"/>
    <p:sldId id="272" r:id="rId53"/>
    <p:sldId id="273" r:id="rId54"/>
    <p:sldId id="426" r:id="rId55"/>
    <p:sldId id="425" r:id="rId56"/>
    <p:sldId id="376" r:id="rId57"/>
    <p:sldId id="377" r:id="rId58"/>
    <p:sldId id="440" r:id="rId59"/>
    <p:sldId id="441" r:id="rId60"/>
    <p:sldId id="442" r:id="rId61"/>
    <p:sldId id="449" r:id="rId62"/>
    <p:sldId id="450" r:id="rId63"/>
    <p:sldId id="451" r:id="rId64"/>
    <p:sldId id="443" r:id="rId65"/>
    <p:sldId id="444" r:id="rId66"/>
    <p:sldId id="339" r:id="rId67"/>
    <p:sldId id="342" r:id="rId68"/>
    <p:sldId id="346" r:id="rId69"/>
    <p:sldId id="448" r:id="rId70"/>
    <p:sldId id="347" r:id="rId71"/>
    <p:sldId id="350" r:id="rId72"/>
    <p:sldId id="351" r:id="rId73"/>
    <p:sldId id="353" r:id="rId74"/>
    <p:sldId id="446" r:id="rId7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E"/>
    <a:srgbClr val="00223A"/>
    <a:srgbClr val="F8961E"/>
    <a:srgbClr val="92D050"/>
    <a:srgbClr val="FFC000"/>
    <a:srgbClr val="ED7D31"/>
    <a:srgbClr val="FFFF99"/>
    <a:srgbClr val="55B296"/>
    <a:srgbClr val="E53C3E"/>
    <a:srgbClr val="3A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751CB-BC3B-D43B-038B-C4F7789A143D}" v="1064" dt="2025-09-29T19:55:58.298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31" d="100"/>
          <a:sy n="31" d="100"/>
        </p:scale>
        <p:origin x="34" y="11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38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3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14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3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14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moralesruiz@ug.uchile.cl" userId="S::urn:spo:guest#pmoralesruiz@ug.uchile.cl::" providerId="AD" clId="Web-{F44751CB-BC3B-D43B-038B-C4F7789A143D}"/>
    <pc:docChg chg="modSld sldOrd">
      <pc:chgData name="pmoralesruiz@ug.uchile.cl" userId="S::urn:spo:guest#pmoralesruiz@ug.uchile.cl::" providerId="AD" clId="Web-{F44751CB-BC3B-D43B-038B-C4F7789A143D}" dt="2025-09-29T19:55:56.142" v="579" actId="20577"/>
      <pc:docMkLst>
        <pc:docMk/>
      </pc:docMkLst>
      <pc:sldChg chg="addSp modSp">
        <pc:chgData name="pmoralesruiz@ug.uchile.cl" userId="S::urn:spo:guest#pmoralesruiz@ug.uchile.cl::" providerId="AD" clId="Web-{F44751CB-BC3B-D43B-038B-C4F7789A143D}" dt="2025-09-29T19:30:34.956" v="19"/>
        <pc:sldMkLst>
          <pc:docMk/>
          <pc:sldMk cId="0" sldId="276"/>
        </pc:sldMkLst>
        <pc:spChg chg="add mod">
          <ac:chgData name="pmoralesruiz@ug.uchile.cl" userId="S::urn:spo:guest#pmoralesruiz@ug.uchile.cl::" providerId="AD" clId="Web-{F44751CB-BC3B-D43B-038B-C4F7789A143D}" dt="2025-09-29T19:30:34.956" v="19"/>
          <ac:spMkLst>
            <pc:docMk/>
            <pc:sldMk cId="0" sldId="276"/>
            <ac:spMk id="2" creationId="{E10BBA97-F9A8-A8B9-0649-333B75BE159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7:20.501" v="451" actId="20577"/>
        <pc:sldMkLst>
          <pc:docMk/>
          <pc:sldMk cId="0" sldId="288"/>
        </pc:sldMkLst>
        <pc:spChg chg="add mod">
          <ac:chgData name="pmoralesruiz@ug.uchile.cl" userId="S::urn:spo:guest#pmoralesruiz@ug.uchile.cl::" providerId="AD" clId="Web-{F44751CB-BC3B-D43B-038B-C4F7789A143D}" dt="2025-09-29T19:47:12.517" v="446" actId="1076"/>
          <ac:spMkLst>
            <pc:docMk/>
            <pc:sldMk cId="0" sldId="288"/>
            <ac:spMk id="2" creationId="{6C63D560-5F7E-79D1-71E2-8846E8A84BCE}"/>
          </ac:spMkLst>
        </pc:spChg>
        <pc:spChg chg="mod">
          <ac:chgData name="pmoralesruiz@ug.uchile.cl" userId="S::urn:spo:guest#pmoralesruiz@ug.uchile.cl::" providerId="AD" clId="Web-{F44751CB-BC3B-D43B-038B-C4F7789A143D}" dt="2025-09-29T19:47:20.501" v="451" actId="20577"/>
          <ac:spMkLst>
            <pc:docMk/>
            <pc:sldMk cId="0" sldId="288"/>
            <ac:spMk id="10" creationId="{00000000-0000-0000-0000-000000000000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5:48.501" v="380" actId="20577"/>
        <pc:sldMkLst>
          <pc:docMk/>
          <pc:sldMk cId="2360770230" sldId="320"/>
        </pc:sldMkLst>
        <pc:spChg chg="add del mod">
          <ac:chgData name="pmoralesruiz@ug.uchile.cl" userId="S::urn:spo:guest#pmoralesruiz@ug.uchile.cl::" providerId="AD" clId="Web-{F44751CB-BC3B-D43B-038B-C4F7789A143D}" dt="2025-09-29T19:45:08.595" v="376"/>
          <ac:spMkLst>
            <pc:docMk/>
            <pc:sldMk cId="2360770230" sldId="320"/>
            <ac:spMk id="3" creationId="{6EAEB634-A22E-B8E5-B970-95FB322137BD}"/>
          </ac:spMkLst>
        </pc:spChg>
        <pc:spChg chg="add mod">
          <ac:chgData name="pmoralesruiz@ug.uchile.cl" userId="S::urn:spo:guest#pmoralesruiz@ug.uchile.cl::" providerId="AD" clId="Web-{F44751CB-BC3B-D43B-038B-C4F7789A143D}" dt="2025-09-29T19:45:48.501" v="380" actId="20577"/>
          <ac:spMkLst>
            <pc:docMk/>
            <pc:sldMk cId="2360770230" sldId="320"/>
            <ac:spMk id="5" creationId="{A8C824A5-4E68-AF01-B39D-8E84DD3EEFDA}"/>
          </ac:spMkLst>
        </pc:spChg>
        <pc:spChg chg="mod">
          <ac:chgData name="pmoralesruiz@ug.uchile.cl" userId="S::urn:spo:guest#pmoralesruiz@ug.uchile.cl::" providerId="AD" clId="Web-{F44751CB-BC3B-D43B-038B-C4F7789A143D}" dt="2025-09-29T19:43:48.580" v="286" actId="20577"/>
          <ac:spMkLst>
            <pc:docMk/>
            <pc:sldMk cId="2360770230" sldId="320"/>
            <ac:spMk id="16" creationId="{0DD7486D-237B-42B2-BCA9-866AB0479A58}"/>
          </ac:spMkLst>
        </pc:spChg>
      </pc:sldChg>
      <pc:sldChg chg="modSp">
        <pc:chgData name="pmoralesruiz@ug.uchile.cl" userId="S::urn:spo:guest#pmoralesruiz@ug.uchile.cl::" providerId="AD" clId="Web-{F44751CB-BC3B-D43B-038B-C4F7789A143D}" dt="2025-09-29T19:54:28.548" v="497" actId="20577"/>
        <pc:sldMkLst>
          <pc:docMk/>
          <pc:sldMk cId="0" sldId="346"/>
        </pc:sldMkLst>
        <pc:spChg chg="mod">
          <ac:chgData name="pmoralesruiz@ug.uchile.cl" userId="S::urn:spo:guest#pmoralesruiz@ug.uchile.cl::" providerId="AD" clId="Web-{F44751CB-BC3B-D43B-038B-C4F7789A143D}" dt="2025-09-29T19:54:28.548" v="497" actId="20577"/>
          <ac:spMkLst>
            <pc:docMk/>
            <pc:sldMk cId="0" sldId="346"/>
            <ac:spMk id="1041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3:56.642" v="488"/>
        <pc:sldMkLst>
          <pc:docMk/>
          <pc:sldMk cId="479603681" sldId="403"/>
        </pc:sldMkLst>
        <pc:spChg chg="add mod">
          <ac:chgData name="pmoralesruiz@ug.uchile.cl" userId="S::urn:spo:guest#pmoralesruiz@ug.uchile.cl::" providerId="AD" clId="Web-{F44751CB-BC3B-D43B-038B-C4F7789A143D}" dt="2025-09-29T19:53:56.642" v="488"/>
          <ac:spMkLst>
            <pc:docMk/>
            <pc:sldMk cId="479603681" sldId="403"/>
            <ac:spMk id="3" creationId="{B6FB5695-1728-C720-4FF5-9799E92D87B5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1:52.831" v="39" actId="20577"/>
        <pc:sldMkLst>
          <pc:docMk/>
          <pc:sldMk cId="3006985062" sldId="416"/>
        </pc:sldMkLst>
        <pc:spChg chg="add mod">
          <ac:chgData name="pmoralesruiz@ug.uchile.cl" userId="S::urn:spo:guest#pmoralesruiz@ug.uchile.cl::" providerId="AD" clId="Web-{F44751CB-BC3B-D43B-038B-C4F7789A143D}" dt="2025-09-29T19:31:28.565" v="21" actId="1076"/>
          <ac:spMkLst>
            <pc:docMk/>
            <pc:sldMk cId="3006985062" sldId="416"/>
            <ac:spMk id="3" creationId="{CA4C0EE7-D175-AF7D-E4D6-E685DF194632}"/>
          </ac:spMkLst>
        </pc:spChg>
        <pc:spChg chg="add mod">
          <ac:chgData name="pmoralesruiz@ug.uchile.cl" userId="S::urn:spo:guest#pmoralesruiz@ug.uchile.cl::" providerId="AD" clId="Web-{F44751CB-BC3B-D43B-038B-C4F7789A143D}" dt="2025-09-29T19:31:52.831" v="39" actId="20577"/>
          <ac:spMkLst>
            <pc:docMk/>
            <pc:sldMk cId="3006985062" sldId="416"/>
            <ac:spMk id="4" creationId="{1B3D275E-11A2-7608-1591-00D1CAE8809D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1:53.611" v="284"/>
        <pc:sldMkLst>
          <pc:docMk/>
          <pc:sldMk cId="1012220188" sldId="419"/>
        </pc:sldMkLst>
        <pc:spChg chg="add del mod">
          <ac:chgData name="pmoralesruiz@ug.uchile.cl" userId="S::urn:spo:guest#pmoralesruiz@ug.uchile.cl::" providerId="AD" clId="Web-{F44751CB-BC3B-D43B-038B-C4F7789A143D}" dt="2025-09-29T19:41:53.611" v="284"/>
          <ac:spMkLst>
            <pc:docMk/>
            <pc:sldMk cId="1012220188" sldId="419"/>
            <ac:spMk id="4" creationId="{C3082D89-D0C0-96A5-693D-DF9A15524AD3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9:56.565" v="277" actId="1076"/>
        <pc:sldMkLst>
          <pc:docMk/>
          <pc:sldMk cId="235619057" sldId="427"/>
        </pc:sldMkLst>
        <pc:spChg chg="add mod">
          <ac:chgData name="pmoralesruiz@ug.uchile.cl" userId="S::urn:spo:guest#pmoralesruiz@ug.uchile.cl::" providerId="AD" clId="Web-{F44751CB-BC3B-D43B-038B-C4F7789A143D}" dt="2025-09-29T19:39:56.565" v="277" actId="1076"/>
          <ac:spMkLst>
            <pc:docMk/>
            <pc:sldMk cId="235619057" sldId="427"/>
            <ac:spMk id="3" creationId="{FC6C4110-BC77-F365-BE6F-6511F3962DDA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3:19.596" v="103" actId="20577"/>
        <pc:sldMkLst>
          <pc:docMk/>
          <pc:sldMk cId="391928943" sldId="431"/>
        </pc:sldMkLst>
        <pc:spChg chg="add mod">
          <ac:chgData name="pmoralesruiz@ug.uchile.cl" userId="S::urn:spo:guest#pmoralesruiz@ug.uchile.cl::" providerId="AD" clId="Web-{F44751CB-BC3B-D43B-038B-C4F7789A143D}" dt="2025-09-29T19:33:19.596" v="103" actId="20577"/>
          <ac:spMkLst>
            <pc:docMk/>
            <pc:sldMk cId="391928943" sldId="431"/>
            <ac:spMk id="3" creationId="{C16525DD-1487-9270-0D9C-49B03147F162}"/>
          </ac:spMkLst>
        </pc:spChg>
      </pc:sldChg>
      <pc:sldChg chg="addSp">
        <pc:chgData name="pmoralesruiz@ug.uchile.cl" userId="S::urn:spo:guest#pmoralesruiz@ug.uchile.cl::" providerId="AD" clId="Web-{F44751CB-BC3B-D43B-038B-C4F7789A143D}" dt="2025-09-29T19:33:34.909" v="104"/>
        <pc:sldMkLst>
          <pc:docMk/>
          <pc:sldMk cId="3091702772" sldId="433"/>
        </pc:sldMkLst>
        <pc:spChg chg="add">
          <ac:chgData name="pmoralesruiz@ug.uchile.cl" userId="S::urn:spo:guest#pmoralesruiz@ug.uchile.cl::" providerId="AD" clId="Web-{F44751CB-BC3B-D43B-038B-C4F7789A143D}" dt="2025-09-29T19:33:34.909" v="104"/>
          <ac:spMkLst>
            <pc:docMk/>
            <pc:sldMk cId="3091702772" sldId="433"/>
            <ac:spMk id="3" creationId="{09F731A5-D0D0-0D79-953D-70652C21F9FD}"/>
          </ac:spMkLst>
        </pc:spChg>
      </pc:sldChg>
      <pc:sldChg chg="addSp modSp ord">
        <pc:chgData name="pmoralesruiz@ug.uchile.cl" userId="S::urn:spo:guest#pmoralesruiz@ug.uchile.cl::" providerId="AD" clId="Web-{F44751CB-BC3B-D43B-038B-C4F7789A143D}" dt="2025-09-29T19:52:51.720" v="469" actId="20577"/>
        <pc:sldMkLst>
          <pc:docMk/>
          <pc:sldMk cId="391977841" sldId="435"/>
        </pc:sldMkLst>
        <pc:spChg chg="add mod">
          <ac:chgData name="pmoralesruiz@ug.uchile.cl" userId="S::urn:spo:guest#pmoralesruiz@ug.uchile.cl::" providerId="AD" clId="Web-{F44751CB-BC3B-D43B-038B-C4F7789A143D}" dt="2025-09-29T19:52:51.720" v="469" actId="20577"/>
          <ac:spMkLst>
            <pc:docMk/>
            <pc:sldMk cId="391977841" sldId="435"/>
            <ac:spMk id="3" creationId="{84778075-D042-C787-5FE4-DE07A0445984}"/>
          </ac:spMkLst>
        </pc:spChg>
        <pc:spChg chg="add mod">
          <ac:chgData name="pmoralesruiz@ug.uchile.cl" userId="S::urn:spo:guest#pmoralesruiz@ug.uchile.cl::" providerId="AD" clId="Web-{F44751CB-BC3B-D43B-038B-C4F7789A143D}" dt="2025-09-29T19:52:23.423" v="464" actId="20577"/>
          <ac:spMkLst>
            <pc:docMk/>
            <pc:sldMk cId="391977841" sldId="435"/>
            <ac:spMk id="5" creationId="{04A490B3-5449-7620-0CCB-915C57BEB288}"/>
          </ac:spMkLst>
        </pc:spChg>
        <pc:spChg chg="mod">
          <ac:chgData name="pmoralesruiz@ug.uchile.cl" userId="S::urn:spo:guest#pmoralesruiz@ug.uchile.cl::" providerId="AD" clId="Web-{F44751CB-BC3B-D43B-038B-C4F7789A143D}" dt="2025-09-29T19:52:30.345" v="466" actId="1076"/>
          <ac:spMkLst>
            <pc:docMk/>
            <pc:sldMk cId="391977841" sldId="435"/>
            <ac:spMk id="352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4:55.470" v="373"/>
        <pc:sldMkLst>
          <pc:docMk/>
          <pc:sldMk cId="2351128133" sldId="437"/>
        </pc:sldMkLst>
        <pc:spChg chg="add mod">
          <ac:chgData name="pmoralesruiz@ug.uchile.cl" userId="S::urn:spo:guest#pmoralesruiz@ug.uchile.cl::" providerId="AD" clId="Web-{F44751CB-BC3B-D43B-038B-C4F7789A143D}" dt="2025-09-29T19:44:55.470" v="373"/>
          <ac:spMkLst>
            <pc:docMk/>
            <pc:sldMk cId="2351128133" sldId="437"/>
            <ac:spMk id="2" creationId="{2EC0A6D2-294E-1A82-7359-45C1F595CE77}"/>
          </ac:spMkLst>
        </pc:spChg>
        <pc:spChg chg="mod">
          <ac:chgData name="pmoralesruiz@ug.uchile.cl" userId="S::urn:spo:guest#pmoralesruiz@ug.uchile.cl::" providerId="AD" clId="Web-{F44751CB-BC3B-D43B-038B-C4F7789A143D}" dt="2025-09-29T19:44:00.517" v="288" actId="20577"/>
          <ac:spMkLst>
            <pc:docMk/>
            <pc:sldMk cId="2351128133" sldId="437"/>
            <ac:spMk id="16" creationId="{0DD7486D-237B-42B2-BCA9-866AB0479A58}"/>
          </ac:spMkLst>
        </pc:spChg>
        <pc:spChg chg="mod">
          <ac:chgData name="pmoralesruiz@ug.uchile.cl" userId="S::urn:spo:guest#pmoralesruiz@ug.uchile.cl::" providerId="AD" clId="Web-{F44751CB-BC3B-D43B-038B-C4F7789A143D}" dt="2025-09-29T19:44:05.376" v="290" actId="20577"/>
          <ac:spMkLst>
            <pc:docMk/>
            <pc:sldMk cId="2351128133" sldId="437"/>
            <ac:spMk id="20" creationId="{FFACC3AB-CC36-4F63-8B2F-36DA5A2322C4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5:56.142" v="579" actId="20577"/>
        <pc:sldMkLst>
          <pc:docMk/>
          <pc:sldMk cId="1135431551" sldId="446"/>
        </pc:sldMkLst>
        <pc:spChg chg="add mod">
          <ac:chgData name="pmoralesruiz@ug.uchile.cl" userId="S::urn:spo:guest#pmoralesruiz@ug.uchile.cl::" providerId="AD" clId="Web-{F44751CB-BC3B-D43B-038B-C4F7789A143D}" dt="2025-09-29T19:55:56.142" v="579" actId="20577"/>
          <ac:spMkLst>
            <pc:docMk/>
            <pc:sldMk cId="1135431551" sldId="446"/>
            <ac:spMk id="3" creationId="{D2D2A4D6-0F7F-9CB9-86B4-2B52E4F49A74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51:14.704" v="458"/>
        <pc:sldMkLst>
          <pc:docMk/>
          <pc:sldMk cId="806740195" sldId="458"/>
        </pc:sldMkLst>
        <pc:picChg chg="add del mod">
          <ac:chgData name="pmoralesruiz@ug.uchile.cl" userId="S::urn:spo:guest#pmoralesruiz@ug.uchile.cl::" providerId="AD" clId="Web-{F44751CB-BC3B-D43B-038B-C4F7789A143D}" dt="2025-09-29T19:49:46.157" v="453"/>
          <ac:picMkLst>
            <pc:docMk/>
            <pc:sldMk cId="806740195" sldId="458"/>
            <ac:picMk id="2" creationId="{3CA887A3-D19A-1FFF-B830-45968020083E}"/>
          </ac:picMkLst>
        </pc:picChg>
        <pc:picChg chg="add mod">
          <ac:chgData name="pmoralesruiz@ug.uchile.cl" userId="S::urn:spo:guest#pmoralesruiz@ug.uchile.cl::" providerId="AD" clId="Web-{F44751CB-BC3B-D43B-038B-C4F7789A143D}" dt="2025-09-29T19:51:14.704" v="458"/>
          <ac:picMkLst>
            <pc:docMk/>
            <pc:sldMk cId="806740195" sldId="458"/>
            <ac:picMk id="3" creationId="{4EE0938B-A1F5-E213-9763-4E9C39809749}"/>
          </ac:picMkLst>
        </pc:picChg>
        <pc:picChg chg="del">
          <ac:chgData name="pmoralesruiz@ug.uchile.cl" userId="S::urn:spo:guest#pmoralesruiz@ug.uchile.cl::" providerId="AD" clId="Web-{F44751CB-BC3B-D43B-038B-C4F7789A143D}" dt="2025-09-29T19:50:05.845" v="454"/>
          <ac:picMkLst>
            <pc:docMk/>
            <pc:sldMk cId="806740195" sldId="458"/>
            <ac:picMk id="1169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Mujeres</c:v>
                </c:pt>
                <c:pt idx="1">
                  <c:v>Hombres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0.54729347948920781</c:v>
                </c:pt>
                <c:pt idx="1">
                  <c:v>0.45112442083851284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Diurna</c:v>
                </c:pt>
                <c:pt idx="1">
                  <c:v>Vespertino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0.73465928353486265</c:v>
                </c:pt>
                <c:pt idx="1">
                  <c:v>0.26477568086789466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Inicio</c:v>
                </c:pt>
                <c:pt idx="1">
                  <c:v>Continuidad</c:v>
                </c:pt>
                <c:pt idx="2">
                  <c:v>Admisión especial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0.50378573850152564</c:v>
                </c:pt>
                <c:pt idx="1">
                  <c:v>0.44377895807435869</c:v>
                </c:pt>
                <c:pt idx="2">
                  <c:v>5.2435303424115717E-2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s-CL" sz="2000" b="0" dirty="0">
                <a:effectLst/>
              </a:rPr>
              <a:t>Escuelas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Hotelería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0.29879082382190075</c:v>
                </c:pt>
                <c:pt idx="1">
                  <c:v>3.7631370776358912E-2</c:v>
                </c:pt>
                <c:pt idx="2">
                  <c:v>8.1930161600180809E-2</c:v>
                </c:pt>
                <c:pt idx="3">
                  <c:v>4.9158096960108484E-2</c:v>
                </c:pt>
                <c:pt idx="4">
                  <c:v>4.9949146796248164E-2</c:v>
                </c:pt>
                <c:pt idx="5">
                  <c:v>0.15515877500282518</c:v>
                </c:pt>
                <c:pt idx="6">
                  <c:v>0.16453836591705279</c:v>
                </c:pt>
                <c:pt idx="7">
                  <c:v>0.11176404113459149</c:v>
                </c:pt>
                <c:pt idx="8">
                  <c:v>5.1079217990733415E-2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Campus y Sedes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Online</c:v>
                </c:pt>
                <c:pt idx="8">
                  <c:v>Padre Alonso De Ovalle</c:v>
                </c:pt>
                <c:pt idx="9">
                  <c:v>Plaza Norte</c:v>
                </c:pt>
                <c:pt idx="10">
                  <c:v>Plaza Oeste</c:v>
                </c:pt>
                <c:pt idx="11">
                  <c:v>Plaza Vespucio</c:v>
                </c:pt>
                <c:pt idx="12">
                  <c:v>Puente Alto</c:v>
                </c:pt>
                <c:pt idx="13">
                  <c:v>Puerto Montt</c:v>
                </c:pt>
                <c:pt idx="14">
                  <c:v>San Bernardo</c:v>
                </c:pt>
                <c:pt idx="15">
                  <c:v>San Carlos De Apoquindo</c:v>
                </c:pt>
                <c:pt idx="16">
                  <c:v>San Joaquín</c:v>
                </c:pt>
                <c:pt idx="17">
                  <c:v>Valparaíso</c:v>
                </c:pt>
                <c:pt idx="18">
                  <c:v>Viña Del Mar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3.3111085998417902E-2</c:v>
                </c:pt>
                <c:pt idx="1">
                  <c:v>6.2379929935585943E-2</c:v>
                </c:pt>
                <c:pt idx="2" formatCode="0.0%">
                  <c:v>2.9381851056616568E-3</c:v>
                </c:pt>
                <c:pt idx="3" formatCode="0.0%">
                  <c:v>3.503220702904283E-3</c:v>
                </c:pt>
                <c:pt idx="4">
                  <c:v>2.2149395411910952E-2</c:v>
                </c:pt>
                <c:pt idx="5">
                  <c:v>0.12815007345462764</c:v>
                </c:pt>
                <c:pt idx="6">
                  <c:v>6.4075036727313822E-2</c:v>
                </c:pt>
                <c:pt idx="7">
                  <c:v>0.15</c:v>
                </c:pt>
                <c:pt idx="8">
                  <c:v>0.10012430783139338</c:v>
                </c:pt>
                <c:pt idx="9">
                  <c:v>3.8196406373601534E-2</c:v>
                </c:pt>
                <c:pt idx="10">
                  <c:v>5.6164538365917054E-2</c:v>
                </c:pt>
                <c:pt idx="11">
                  <c:v>3.6840320940219232E-2</c:v>
                </c:pt>
                <c:pt idx="12">
                  <c:v>5.0288168154593742E-2</c:v>
                </c:pt>
                <c:pt idx="13">
                  <c:v>1.2430783139337778E-2</c:v>
                </c:pt>
                <c:pt idx="14">
                  <c:v>4.1360605718160241E-2</c:v>
                </c:pt>
                <c:pt idx="15">
                  <c:v>3.4015142954006101E-2</c:v>
                </c:pt>
                <c:pt idx="16">
                  <c:v>7.5036727313820772E-2</c:v>
                </c:pt>
                <c:pt idx="17">
                  <c:v>0.16589445135043507</c:v>
                </c:pt>
                <c:pt idx="18">
                  <c:v>7.2776584924850271E-2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7-44AE-A7F4-269D5B6FB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Hoja1!$B$2:$B$19</c:f>
              <c:strCache>
                <c:ptCount val="18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Construcción</c:v>
                </c:pt>
                <c:pt idx="12">
                  <c:v>Diseño</c:v>
                </c:pt>
                <c:pt idx="13">
                  <c:v>Gastronomía</c:v>
                </c:pt>
                <c:pt idx="14">
                  <c:v>Informática y Telecomunicaciones</c:v>
                </c:pt>
                <c:pt idx="15">
                  <c:v>Ingeniería, Medio Ambiente y Recursos Naturales</c:v>
                </c:pt>
                <c:pt idx="16">
                  <c:v>Salud y Bienestar</c:v>
                </c:pt>
                <c:pt idx="17">
                  <c:v>Turismo y Hotelería</c:v>
                </c:pt>
              </c:strCache>
            </c:strRef>
          </c:cat>
          <c:val>
            <c:numRef>
              <c:f>Hoja1!$C$2:$C$19</c:f>
              <c:numCache>
                <c:formatCode>0%</c:formatCode>
                <c:ptCount val="18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0.16964285714285715</c:v>
                </c:pt>
                <c:pt idx="12">
                  <c:v>0.25</c:v>
                </c:pt>
                <c:pt idx="13">
                  <c:v>0.15625</c:v>
                </c:pt>
                <c:pt idx="14">
                  <c:v>0.19021739130434784</c:v>
                </c:pt>
                <c:pt idx="15">
                  <c:v>0.22198275862068967</c:v>
                </c:pt>
                <c:pt idx="16">
                  <c:v>0.18303571428571427</c:v>
                </c:pt>
                <c:pt idx="17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9.3985540686048294E-2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0.18335640670666051</c:v>
                </c:pt>
                <c:pt idx="12">
                  <c:v>0.18581756652822642</c:v>
                </c:pt>
                <c:pt idx="13">
                  <c:v>0.20996769727734194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0.26149823104137826</c:v>
                </c:pt>
                <c:pt idx="17">
                  <c:v>0.28164897708044917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0.51099830795262269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4.3985540686048291E-2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8.3356406706660502E-2</c:v>
                </c:pt>
                <c:pt idx="12">
                  <c:v>8.5817566528226419E-2</c:v>
                </c:pt>
                <c:pt idx="13">
                  <c:v>0.10996769727734193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0.16149823104137825</c:v>
                </c:pt>
                <c:pt idx="17">
                  <c:v>0.18164897708044916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0.41099830795262271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0.22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0.08</c:v>
                </c:pt>
                <c:pt idx="12">
                  <c:v>0.18581756652822642</c:v>
                </c:pt>
                <c:pt idx="13">
                  <c:v>0.15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0.14000000000000001</c:v>
                </c:pt>
                <c:pt idx="17">
                  <c:v>0.12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0.45099830795262302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0.16999999999999998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-2.0000000000000004E-2</c:v>
                </c:pt>
                <c:pt idx="12">
                  <c:v>8.5817566528226419E-2</c:v>
                </c:pt>
                <c:pt idx="13">
                  <c:v>4.9999999999999989E-2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4.0000000000000008E-2</c:v>
                </c:pt>
                <c:pt idx="17">
                  <c:v>1.999999999999999E-2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0.43099830795262301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A Distancia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Hoja1!$D$2:$D$23</c:f>
              <c:numCache>
                <c:formatCode>0%</c:formatCode>
                <c:ptCount val="22"/>
                <c:pt idx="0">
                  <c:v>-0.02</c:v>
                </c:pt>
                <c:pt idx="1">
                  <c:v>1.0000000000000002E-2</c:v>
                </c:pt>
                <c:pt idx="2">
                  <c:v>0.08</c:v>
                </c:pt>
                <c:pt idx="3">
                  <c:v>4.9999999999999989E-2</c:v>
                </c:pt>
                <c:pt idx="4">
                  <c:v>-1.0000000000000009E-2</c:v>
                </c:pt>
                <c:pt idx="5">
                  <c:v>0.11999999999999998</c:v>
                </c:pt>
                <c:pt idx="6">
                  <c:v>3.336409783110289E-2</c:v>
                </c:pt>
                <c:pt idx="7">
                  <c:v>5.5976003691739717E-2</c:v>
                </c:pt>
                <c:pt idx="8">
                  <c:v>8.5663744039378528E-2</c:v>
                </c:pt>
                <c:pt idx="9">
                  <c:v>9.0000000000000011E-2</c:v>
                </c:pt>
                <c:pt idx="10">
                  <c:v>6.7666512844177823E-2</c:v>
                </c:pt>
                <c:pt idx="11">
                  <c:v>-0.12000000000000001</c:v>
                </c:pt>
                <c:pt idx="12">
                  <c:v>-1.4182433471773587E-2</c:v>
                </c:pt>
                <c:pt idx="13">
                  <c:v>-5.0000000000000017E-2</c:v>
                </c:pt>
                <c:pt idx="14">
                  <c:v>4.3347177357329625E-2</c:v>
                </c:pt>
                <c:pt idx="15">
                  <c:v>2.4303953237963249E-3</c:v>
                </c:pt>
                <c:pt idx="16">
                  <c:v>-0.06</c:v>
                </c:pt>
                <c:pt idx="17">
                  <c:v>-8.0000000000000016E-2</c:v>
                </c:pt>
                <c:pt idx="18">
                  <c:v>0.11441316720504535</c:v>
                </c:pt>
                <c:pt idx="19">
                  <c:v>0.14425473004153205</c:v>
                </c:pt>
                <c:pt idx="20">
                  <c:v>0.19855406860483002</c:v>
                </c:pt>
                <c:pt idx="21">
                  <c:v>0.41099830795262299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E-4059-BEAA-7E126A664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Mi trabajo me quita más tiempo del que desearía</c:v>
                </c:pt>
                <c:pt idx="2">
                  <c:v>Me faltan hábitos de estudio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Tengo dificultades para concentrarme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0.20489296636085627</c:v>
                </c:pt>
                <c:pt idx="1">
                  <c:v>0.28728606356968217</c:v>
                </c:pt>
                <c:pt idx="2">
                  <c:v>0.36552567237163813</c:v>
                </c:pt>
                <c:pt idx="3">
                  <c:v>0.38630806845965771</c:v>
                </c:pt>
                <c:pt idx="4">
                  <c:v>0.41136919315403425</c:v>
                </c:pt>
                <c:pt idx="5">
                  <c:v>0.55317848410757942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0.14453781512605043</c:v>
                </c:pt>
                <c:pt idx="1">
                  <c:v>0.46386554621848741</c:v>
                </c:pt>
                <c:pt idx="2">
                  <c:v>0.59663865546218486</c:v>
                </c:pt>
                <c:pt idx="3">
                  <c:v>0.49411764705882355</c:v>
                </c:pt>
                <c:pt idx="4">
                  <c:v>0.35798319327731093</c:v>
                </c:pt>
                <c:pt idx="5">
                  <c:v>0.25714285714285712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0.24574468085106382</c:v>
                </c:pt>
                <c:pt idx="1">
                  <c:v>0.30531914893617024</c:v>
                </c:pt>
                <c:pt idx="2">
                  <c:v>0.51702127659574471</c:v>
                </c:pt>
                <c:pt idx="3">
                  <c:v>0.3202127659574468</c:v>
                </c:pt>
                <c:pt idx="4">
                  <c:v>0.43829787234042555</c:v>
                </c:pt>
                <c:pt idx="5">
                  <c:v>0.30106382978723406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0.17821782178217821</c:v>
                </c:pt>
                <c:pt idx="1">
                  <c:v>0.34653465346534651</c:v>
                </c:pt>
                <c:pt idx="2">
                  <c:v>0.63366336633663367</c:v>
                </c:pt>
                <c:pt idx="3">
                  <c:v>0.36633663366336633</c:v>
                </c:pt>
                <c:pt idx="4">
                  <c:v>0.47524752475247523</c:v>
                </c:pt>
                <c:pt idx="5">
                  <c:v>0.33663366336633666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FF-4693-967B-B77EDD1001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FF-4693-967B-B77EDD1001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FF-4693-967B-B77EDD1001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FF-4693-967B-B77EDD1001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FF-4693-967B-B77EDD1001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FF-4693-967B-B77EDD1001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FF-4693-967B-B77EDD100121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04-4ABE-8F43-686DF35E780A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04-4ABE-8F43-686DF35E780A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04-4ABE-8F43-686DF35E780A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4-4ABE-8F43-686DF35E780A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4-4ABE-8F43-686DF35E780A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4-4ABE-8F43-686DF35E780A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E04-4ABE-8F43-686DF35E78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9D9-A8E1-E35B4B82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E4C-4D5F-ACDA-088BECD01F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4C-4D5F-ACDA-088BECD01F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E4C-4D5F-ACDA-088BECD01F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4C-4D5F-ACDA-088BECD01F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E4C-4D5F-ACDA-088BECD01F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4C-4D5F-ACDA-088BECD01F3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E4C-4D5F-ACDA-088BECD01F37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E4C-4D5F-ACDA-088BECD01F37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E4C-4D5F-ACDA-088BECD01F37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E4C-4D5F-ACDA-088BECD01F37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E4C-4D5F-ACDA-088BECD01F37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E4C-4D5F-ACDA-088BECD01F37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E4C-4D5F-ACDA-088BECD01F37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E4C-4D5F-ACDA-088BECD01F3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E4C-4D5F-ACDA-088BECD01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Me hago cargo de solucionar el problema tomando acciones concretas.</c:v>
                </c:pt>
                <c:pt idx="1">
                  <c:v>Intento verlo con otros ojos, para hacer que parezca más positivo.</c:v>
                </c:pt>
                <c:pt idx="2">
                  <c:v>Aprendo a vivir con ello.</c:v>
                </c:pt>
                <c:pt idx="3">
                  <c:v>Pienso detenidamente escenarios de cómo solucionarlo.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0.18499265453723585</c:v>
                </c:pt>
                <c:pt idx="1">
                  <c:v>0.19527630240705166</c:v>
                </c:pt>
                <c:pt idx="2">
                  <c:v>0.2447734207255057</c:v>
                </c:pt>
                <c:pt idx="3">
                  <c:v>0.26387162391230645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Hoja1!$B$2</c:f>
              <c:numCache>
                <c:formatCode>0%</c:formatCode>
                <c:ptCount val="1"/>
                <c:pt idx="0">
                  <c:v>0.26375861679285795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Prefiero no responder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0.44581308622443216</c:v>
                </c:pt>
                <c:pt idx="1">
                  <c:v>0.5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 </c:v>
                </c:pt>
                <c:pt idx="3">
                  <c:v>Prefiero no responder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Trastornos de personalidad</c:v>
                </c:pt>
                <c:pt idx="1">
                  <c:v>Uso problemático marihuana</c:v>
                </c:pt>
                <c:pt idx="2">
                  <c:v>Uso problemático alcohol</c:v>
                </c:pt>
                <c:pt idx="3">
                  <c:v>Depresión</c:v>
                </c:pt>
                <c:pt idx="4">
                  <c:v>Ansiedad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0.03</c:v>
                </c:pt>
                <c:pt idx="1">
                  <c:v>0.13</c:v>
                </c:pt>
                <c:pt idx="2">
                  <c:v>0.16</c:v>
                </c:pt>
                <c:pt idx="3">
                  <c:v>0.35</c:v>
                </c:pt>
                <c:pt idx="4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DD-44CE-B899-3B6D1EAEE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0.18645467685319017</c:v>
                </c:pt>
                <c:pt idx="1">
                  <c:v>0.25350701402805609</c:v>
                </c:pt>
                <c:pt idx="3">
                  <c:v>0.21504383940932165</c:v>
                </c:pt>
                <c:pt idx="4">
                  <c:v>0.22193768672641911</c:v>
                </c:pt>
                <c:pt idx="6">
                  <c:v>0.22005383580080753</c:v>
                </c:pt>
                <c:pt idx="7">
                  <c:v>0.21797810033104151</c:v>
                </c:pt>
                <c:pt idx="8">
                  <c:v>0.17672413793103448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E-4E42-93C1-E1F389557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04-499B-B668-74910BF93A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0.311170761924427</c:v>
                </c:pt>
                <c:pt idx="1">
                  <c:v>0.36748496993987978</c:v>
                </c:pt>
                <c:pt idx="3">
                  <c:v>0.33625596062144286</c:v>
                </c:pt>
                <c:pt idx="4">
                  <c:v>0.33674775928297057</c:v>
                </c:pt>
                <c:pt idx="6">
                  <c:v>0.35307312696276355</c:v>
                </c:pt>
                <c:pt idx="7">
                  <c:v>0.32543926661573719</c:v>
                </c:pt>
                <c:pt idx="8">
                  <c:v>0.27155172413793105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B-4254-B72D-39B3489FE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B-407A-8C20-EE2251E21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0.41874870947759651</c:v>
                </c:pt>
                <c:pt idx="1">
                  <c:v>0.39053106212424848</c:v>
                </c:pt>
                <c:pt idx="3">
                  <c:v>0.42485771419781571</c:v>
                </c:pt>
                <c:pt idx="4">
                  <c:v>0.352112676056338</c:v>
                </c:pt>
                <c:pt idx="6">
                  <c:v>0.38784208165096457</c:v>
                </c:pt>
                <c:pt idx="7">
                  <c:v>0.41914947797300739</c:v>
                </c:pt>
                <c:pt idx="8">
                  <c:v>0.46336206896551724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8-49D4-A093-841FE5087A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1.7138137518067312E-2</c:v>
                </c:pt>
                <c:pt idx="1">
                  <c:v>1.5280561122244489E-2</c:v>
                </c:pt>
                <c:pt idx="3">
                  <c:v>1.6151361329026302E-2</c:v>
                </c:pt>
                <c:pt idx="4">
                  <c:v>1.6645326504481434E-2</c:v>
                </c:pt>
                <c:pt idx="6">
                  <c:v>1.7720951099147599E-2</c:v>
                </c:pt>
                <c:pt idx="7">
                  <c:v>1.4260249554367201E-2</c:v>
                </c:pt>
                <c:pt idx="8">
                  <c:v>1.9396551724137932E-2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5-46F0-BF73-8BC6E06B4D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0.38880858971711751</c:v>
                </c:pt>
                <c:pt idx="1">
                  <c:v>0.36973947895791581</c:v>
                </c:pt>
                <c:pt idx="3">
                  <c:v>0.36794339332410397</c:v>
                </c:pt>
                <c:pt idx="4">
                  <c:v>0.41357234314980795</c:v>
                </c:pt>
                <c:pt idx="6">
                  <c:v>0.36742934051144011</c:v>
                </c:pt>
                <c:pt idx="7">
                  <c:v>0.39623121976063153</c:v>
                </c:pt>
                <c:pt idx="8">
                  <c:v>0.36637931034482757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2-484C-B378-D643C89DCC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0.45733788395904434</c:v>
                </c:pt>
                <c:pt idx="1">
                  <c:v>0.48369565217391303</c:v>
                </c:pt>
                <c:pt idx="2">
                  <c:v>0.38461538461538464</c:v>
                </c:pt>
                <c:pt idx="3">
                  <c:v>0.35483870967741937</c:v>
                </c:pt>
                <c:pt idx="4">
                  <c:v>0.4</c:v>
                </c:pt>
                <c:pt idx="5">
                  <c:v>0.52040816326530615</c:v>
                </c:pt>
                <c:pt idx="6">
                  <c:v>0.46031746031746029</c:v>
                </c:pt>
                <c:pt idx="7">
                  <c:v>0.40388007054673719</c:v>
                </c:pt>
                <c:pt idx="8">
                  <c:v>0.32</c:v>
                </c:pt>
                <c:pt idx="9">
                  <c:v>0.45033860045146729</c:v>
                </c:pt>
                <c:pt idx="10">
                  <c:v>0.48816568047337278</c:v>
                </c:pt>
                <c:pt idx="11">
                  <c:v>0.48490945674044267</c:v>
                </c:pt>
                <c:pt idx="12">
                  <c:v>0.46319018404907975</c:v>
                </c:pt>
                <c:pt idx="13">
                  <c:v>0.49213483146067416</c:v>
                </c:pt>
                <c:pt idx="14">
                  <c:v>0.57272727272727275</c:v>
                </c:pt>
                <c:pt idx="15">
                  <c:v>0.48087431693989069</c:v>
                </c:pt>
                <c:pt idx="16">
                  <c:v>0.59468438538205981</c:v>
                </c:pt>
                <c:pt idx="17">
                  <c:v>0.45331325301204817</c:v>
                </c:pt>
                <c:pt idx="18">
                  <c:v>0.42983651226158037</c:v>
                </c:pt>
                <c:pt idx="19">
                  <c:v>0.50931677018633537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70000000000000007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0.50485236423704316</c:v>
                </c:pt>
                <c:pt idx="1">
                  <c:v>0.4220941883767535</c:v>
                </c:pt>
                <c:pt idx="3">
                  <c:v>0.49084756191355178</c:v>
                </c:pt>
                <c:pt idx="4">
                  <c:v>0.39991463935125909</c:v>
                </c:pt>
                <c:pt idx="6">
                  <c:v>0.46141767608793183</c:v>
                </c:pt>
                <c:pt idx="7">
                  <c:v>0.47033358798064678</c:v>
                </c:pt>
                <c:pt idx="8">
                  <c:v>0.48922413793103448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0.51039290240811197</c:v>
                </c:pt>
                <c:pt idx="1">
                  <c:v>0.48960709759188797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5-4FA5-B234-845B1F50F89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45-4FA5-B234-845B1F50F89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0.41039290240811155</c:v>
                </c:pt>
                <c:pt idx="1">
                  <c:v>0.58960709759188845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Psicológico</c:v>
                </c:pt>
                <c:pt idx="1">
                  <c:v>Médico/psiquiátrico</c:v>
                </c:pt>
                <c:pt idx="2">
                  <c:v>Ambos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Importante + Muy importante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Preferiste hablarlo con amigos o parientes. </c:v>
                </c:pt>
                <c:pt idx="1">
                  <c:v>No estabas seguro de que los tratamientos disponibles fueran muy eficaces. </c:v>
                </c:pt>
                <c:pt idx="2">
                  <c:v>Te preocupaba que la gente te tratara diferente si supiera que estabas en tratamiento.</c:v>
                </c:pt>
                <c:pt idx="3">
                  <c:v>Te daba demasiada vergüenza. </c:v>
                </c:pt>
                <c:pt idx="4">
                  <c:v>Temías que pudiese perjudicar tu carrera académica. </c:v>
                </c:pt>
                <c:pt idx="5">
                  <c:v>Tuviste problemas de tiempo, desplazamientos o de horario. </c:v>
                </c:pt>
                <c:pt idx="6">
                  <c:v>Querías afrontar el problema por tu cuenta. </c:v>
                </c:pt>
                <c:pt idx="7">
                  <c:v>No estabas seguro de a dónde ir o a quién consultar. </c:v>
                </c:pt>
                <c:pt idx="8">
                  <c:v>Costaba demasiado dinero. </c:v>
                </c:pt>
              </c:strCache>
            </c:strRef>
          </c:cat>
          <c:val>
            <c:numRef>
              <c:f>Hoja1!$B$2:$B$10</c:f>
              <c:numCache>
                <c:formatCode>0%</c:formatCode>
                <c:ptCount val="9"/>
                <c:pt idx="0">
                  <c:v>0.24247635425623387</c:v>
                </c:pt>
                <c:pt idx="1">
                  <c:v>0.27687016337059328</c:v>
                </c:pt>
                <c:pt idx="2">
                  <c:v>0.2936371453138435</c:v>
                </c:pt>
                <c:pt idx="3">
                  <c:v>0.34307824591573521</c:v>
                </c:pt>
                <c:pt idx="4">
                  <c:v>0.39036973344797932</c:v>
                </c:pt>
                <c:pt idx="5">
                  <c:v>0.48753224419604474</c:v>
                </c:pt>
                <c:pt idx="6">
                  <c:v>0.5438521066208083</c:v>
                </c:pt>
                <c:pt idx="7">
                  <c:v>0.64531384350816845</c:v>
                </c:pt>
                <c:pt idx="8">
                  <c:v>0.71066208082545146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0.0</c:formatCode>
                <c:ptCount val="20"/>
                <c:pt idx="0">
                  <c:v>6.625</c:v>
                </c:pt>
                <c:pt idx="1">
                  <c:v>6.34375</c:v>
                </c:pt>
                <c:pt idx="2">
                  <c:v>6.875</c:v>
                </c:pt>
                <c:pt idx="3">
                  <c:v>4.625</c:v>
                </c:pt>
                <c:pt idx="4">
                  <c:v>4.5</c:v>
                </c:pt>
                <c:pt idx="5">
                  <c:v>6.875</c:v>
                </c:pt>
                <c:pt idx="6">
                  <c:v>5.0625</c:v>
                </c:pt>
                <c:pt idx="7">
                  <c:v>4.65625</c:v>
                </c:pt>
                <c:pt idx="8">
                  <c:v>5.5</c:v>
                </c:pt>
                <c:pt idx="9">
                  <c:v>6</c:v>
                </c:pt>
                <c:pt idx="10">
                  <c:v>4.15625</c:v>
                </c:pt>
                <c:pt idx="11">
                  <c:v>5.59375</c:v>
                </c:pt>
                <c:pt idx="12">
                  <c:v>6.5625</c:v>
                </c:pt>
                <c:pt idx="13">
                  <c:v>6</c:v>
                </c:pt>
                <c:pt idx="14">
                  <c:v>5.6</c:v>
                </c:pt>
                <c:pt idx="15">
                  <c:v>4.6875</c:v>
                </c:pt>
                <c:pt idx="16">
                  <c:v>4.6875</c:v>
                </c:pt>
                <c:pt idx="17">
                  <c:v>6.0625</c:v>
                </c:pt>
                <c:pt idx="18">
                  <c:v>5.375</c:v>
                </c:pt>
                <c:pt idx="19">
                  <c:v>5.875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Hoja1!$B$2:$B$19</c:f>
              <c:strCache>
                <c:ptCount val="18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Construcción</c:v>
                </c:pt>
                <c:pt idx="12">
                  <c:v>Diseño</c:v>
                </c:pt>
                <c:pt idx="13">
                  <c:v>Gastronomía</c:v>
                </c:pt>
                <c:pt idx="14">
                  <c:v>Informática y Telecomunicaciones</c:v>
                </c:pt>
                <c:pt idx="15">
                  <c:v>Ingeniería, Medio Ambiente y Recursos Naturales</c:v>
                </c:pt>
                <c:pt idx="16">
                  <c:v>Salud</c:v>
                </c:pt>
                <c:pt idx="17">
                  <c:v>Turismo y Hotelería</c:v>
                </c:pt>
              </c:strCache>
            </c:strRef>
          </c:cat>
          <c:val>
            <c:numRef>
              <c:f>Hoja1!$C$2:$C$19</c:f>
              <c:numCache>
                <c:formatCode>0.0</c:formatCode>
                <c:ptCount val="18"/>
                <c:pt idx="0">
                  <c:v>5.90625</c:v>
                </c:pt>
                <c:pt idx="1">
                  <c:v>5.5</c:v>
                </c:pt>
                <c:pt idx="3">
                  <c:v>5.6875</c:v>
                </c:pt>
                <c:pt idx="4">
                  <c:v>5.5625</c:v>
                </c:pt>
                <c:pt idx="6">
                  <c:v>5.625</c:v>
                </c:pt>
                <c:pt idx="7">
                  <c:v>5.9375</c:v>
                </c:pt>
                <c:pt idx="8">
                  <c:v>5.0625</c:v>
                </c:pt>
                <c:pt idx="10">
                  <c:v>5.96875</c:v>
                </c:pt>
                <c:pt idx="11">
                  <c:v>5.5</c:v>
                </c:pt>
                <c:pt idx="12">
                  <c:v>6</c:v>
                </c:pt>
                <c:pt idx="13">
                  <c:v>5.4375</c:v>
                </c:pt>
                <c:pt idx="14">
                  <c:v>5.53125</c:v>
                </c:pt>
                <c:pt idx="15">
                  <c:v>4.75</c:v>
                </c:pt>
                <c:pt idx="16">
                  <c:v>5.875</c:v>
                </c:pt>
                <c:pt idx="17">
                  <c:v>6.03125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Hoja1!$B$3:$B$7</c:f>
              <c:numCache>
                <c:formatCode>General</c:formatCode>
                <c:ptCount val="5"/>
                <c:pt idx="0">
                  <c:v>5.7</c:v>
                </c:pt>
                <c:pt idx="1">
                  <c:v>5.3</c:v>
                </c:pt>
                <c:pt idx="2">
                  <c:v>5.7</c:v>
                </c:pt>
                <c:pt idx="3" formatCode="0.00">
                  <c:v>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Hoja1!$C$3:$C$7</c:f>
              <c:numCache>
                <c:formatCode>General</c:formatCode>
                <c:ptCount val="5"/>
                <c:pt idx="0" formatCode="0.0">
                  <c:v>6</c:v>
                </c:pt>
                <c:pt idx="1">
                  <c:v>5.4</c:v>
                </c:pt>
                <c:pt idx="2">
                  <c:v>5.9</c:v>
                </c:pt>
                <c:pt idx="3">
                  <c:v>5.4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Hoja1!$B$3:$B$5</c:f>
              <c:numCache>
                <c:formatCode>General</c:formatCode>
                <c:ptCount val="3"/>
                <c:pt idx="0" formatCode="0.0">
                  <c:v>3</c:v>
                </c:pt>
                <c:pt idx="1">
                  <c:v>5.3</c:v>
                </c:pt>
                <c:pt idx="2" formatCode="0.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Hoja1!$C$3:$C$5</c:f>
              <c:numCache>
                <c:formatCode>General</c:formatCode>
                <c:ptCount val="3"/>
                <c:pt idx="0" formatCode="0.0">
                  <c:v>2.7</c:v>
                </c:pt>
                <c:pt idx="1">
                  <c:v>5.8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5.6051531246468528E-2</c:v>
                </c:pt>
                <c:pt idx="1">
                  <c:v>5.6051531246468528E-2</c:v>
                </c:pt>
                <c:pt idx="2">
                  <c:v>5.0966210871284889E-2</c:v>
                </c:pt>
                <c:pt idx="3">
                  <c:v>9.0744716917165777E-2</c:v>
                </c:pt>
                <c:pt idx="4">
                  <c:v>6.6900214713526945E-2</c:v>
                </c:pt>
                <c:pt idx="5">
                  <c:v>3.2320036162278222E-2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5.8989716352130184E-2</c:v>
                </c:pt>
                <c:pt idx="1">
                  <c:v>5.8989716352130184E-2</c:v>
                </c:pt>
                <c:pt idx="2">
                  <c:v>6.7804271669115151E-2</c:v>
                </c:pt>
                <c:pt idx="3">
                  <c:v>0.11639733303198102</c:v>
                </c:pt>
                <c:pt idx="4">
                  <c:v>9.481297321731269E-2</c:v>
                </c:pt>
                <c:pt idx="5">
                  <c:v>4.0682563001469094E-2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Hoja1!$D$2:$D$7</c:f>
              <c:numCache>
                <c:formatCode>0%</c:formatCode>
                <c:ptCount val="6"/>
                <c:pt idx="0">
                  <c:v>0.13</c:v>
                </c:pt>
                <c:pt idx="1">
                  <c:v>0.23302068030285908</c:v>
                </c:pt>
                <c:pt idx="2">
                  <c:v>0.1785512487286699</c:v>
                </c:pt>
                <c:pt idx="3">
                  <c:v>0.47519493728104872</c:v>
                </c:pt>
                <c:pt idx="4">
                  <c:v>0.41665724940671262</c:v>
                </c:pt>
                <c:pt idx="5">
                  <c:v>0.27200813651260031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Hoja1!$E$2:$E$7</c:f>
              <c:numCache>
                <c:formatCode>0%</c:formatCode>
                <c:ptCount val="6"/>
                <c:pt idx="0">
                  <c:v>0.18</c:v>
                </c:pt>
                <c:pt idx="1">
                  <c:v>0.37518363656910386</c:v>
                </c:pt>
                <c:pt idx="2">
                  <c:v>0.34455870719855353</c:v>
                </c:pt>
                <c:pt idx="3">
                  <c:v>0.23686292236410894</c:v>
                </c:pt>
                <c:pt idx="4">
                  <c:v>0.31370776358910613</c:v>
                </c:pt>
                <c:pt idx="5">
                  <c:v>0.43790258786303538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Hoja1!$F$2:$F$7</c:f>
              <c:numCache>
                <c:formatCode>0%</c:formatCode>
                <c:ptCount val="6"/>
                <c:pt idx="0">
                  <c:v>0.38</c:v>
                </c:pt>
                <c:pt idx="1">
                  <c:v>0.27675443552943835</c:v>
                </c:pt>
                <c:pt idx="2">
                  <c:v>0.35811956153237656</c:v>
                </c:pt>
                <c:pt idx="3">
                  <c:v>8.0800090405695565E-2</c:v>
                </c:pt>
                <c:pt idx="4">
                  <c:v>0.10792179907334162</c:v>
                </c:pt>
                <c:pt idx="5">
                  <c:v>0.21708667646061702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Apreciación negativa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5.6234845860755098E-2</c:v>
                </c:pt>
                <c:pt idx="1">
                  <c:v>0.22099064773120891</c:v>
                </c:pt>
                <c:pt idx="2">
                  <c:v>0.10350883269830199</c:v>
                </c:pt>
                <c:pt idx="3">
                  <c:v>0.123900242466227</c:v>
                </c:pt>
                <c:pt idx="4">
                  <c:v>0.21939729823345999</c:v>
                </c:pt>
                <c:pt idx="5">
                  <c:v>0.13775545549012799</c:v>
                </c:pt>
                <c:pt idx="6">
                  <c:v>0.1905091790786283</c:v>
                </c:pt>
                <c:pt idx="7">
                  <c:v>0.2105992379632837</c:v>
                </c:pt>
                <c:pt idx="8">
                  <c:v>0.13775545549012799</c:v>
                </c:pt>
                <c:pt idx="9">
                  <c:v>0.22099064773120891</c:v>
                </c:pt>
                <c:pt idx="10">
                  <c:v>0.13775545549012799</c:v>
                </c:pt>
                <c:pt idx="11">
                  <c:v>0.24260478004849301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Apreciación neutra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4.6414963630065822E-2</c:v>
                </c:pt>
                <c:pt idx="1">
                  <c:v>0.32455836508486319</c:v>
                </c:pt>
                <c:pt idx="2">
                  <c:v>9.0751645306546586E-2</c:v>
                </c:pt>
                <c:pt idx="3">
                  <c:v>0.14409421544856249</c:v>
                </c:pt>
                <c:pt idx="4">
                  <c:v>0.1236577762383097</c:v>
                </c:pt>
                <c:pt idx="5">
                  <c:v>9.9168687218566004E-2</c:v>
                </c:pt>
                <c:pt idx="6">
                  <c:v>0.31763075857291312</c:v>
                </c:pt>
                <c:pt idx="7">
                  <c:v>0.35885001731901628</c:v>
                </c:pt>
                <c:pt idx="8">
                  <c:v>0.19916868721856601</c:v>
                </c:pt>
                <c:pt idx="9">
                  <c:v>0.32455836508486319</c:v>
                </c:pt>
                <c:pt idx="10">
                  <c:v>9.9168687218566004E-2</c:v>
                </c:pt>
                <c:pt idx="11">
                  <c:v>0.16522341531001039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Apreciación 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0.89735019050917897</c:v>
                </c:pt>
                <c:pt idx="1">
                  <c:v>0.45445098718392801</c:v>
                </c:pt>
                <c:pt idx="2">
                  <c:v>0.79573952199515097</c:v>
                </c:pt>
                <c:pt idx="3">
                  <c:v>0.73200554208520996</c:v>
                </c:pt>
                <c:pt idx="4">
                  <c:v>0.65694492552823003</c:v>
                </c:pt>
                <c:pt idx="5">
                  <c:v>0.76307585729130589</c:v>
                </c:pt>
                <c:pt idx="6">
                  <c:v>0.49186006234845858</c:v>
                </c:pt>
                <c:pt idx="7">
                  <c:v>0.43055074471770011</c:v>
                </c:pt>
                <c:pt idx="8">
                  <c:v>0.66307585729130603</c:v>
                </c:pt>
                <c:pt idx="9">
                  <c:v>0.45445098718392801</c:v>
                </c:pt>
                <c:pt idx="10">
                  <c:v>0.76307585729130589</c:v>
                </c:pt>
                <c:pt idx="11">
                  <c:v>0.59217180464149599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Nunca</c:v>
                </c:pt>
                <c:pt idx="1">
                  <c:v>1 vez por semana</c:v>
                </c:pt>
                <c:pt idx="2">
                  <c:v>2 veces por semana</c:v>
                </c:pt>
                <c:pt idx="3">
                  <c:v>3 o más veces por semana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0.375893697083725</c:v>
                </c:pt>
                <c:pt idx="1">
                  <c:v>0.25119002822201297</c:v>
                </c:pt>
                <c:pt idx="2">
                  <c:v>0.111933207902164</c:v>
                </c:pt>
                <c:pt idx="3">
                  <c:v>0.26098306679209798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0.15666901905434016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0.41766643142789933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0.27205363443895553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0.15361091507880498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6.5741502998941548E-2</c:v>
                </c:pt>
                <c:pt idx="1">
                  <c:v>0.19204986475361638</c:v>
                </c:pt>
                <c:pt idx="2">
                  <c:v>0.19760056457304165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0.69163824532517937</c:v>
                </c:pt>
                <c:pt idx="1">
                  <c:v>0.50076443608138299</c:v>
                </c:pt>
                <c:pt idx="2">
                  <c:v>0.42695836273817928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0.20122309773021288</c:v>
                </c:pt>
                <c:pt idx="1">
                  <c:v>0.20686816417734918</c:v>
                </c:pt>
                <c:pt idx="2">
                  <c:v>0.23147494707127736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4.1397153945666239E-2</c:v>
                </c:pt>
                <c:pt idx="1">
                  <c:v>0.10031753498765142</c:v>
                </c:pt>
                <c:pt idx="2">
                  <c:v>0.14396612561750177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E8-4475-AB72-6C5B26DF9D0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E8-4475-AB72-6C5B26DF9D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8-4475-AB72-6C5B26DF9D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E8-4475-AB72-6C5B26DF9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9BC-487B-8394-FF2418C4C78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BC-487B-8394-FF2418C4C7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BC-487B-8394-FF2418C4C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9C-428F-9898-62E981D77A74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9C-428F-9898-62E981D77A74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9C-428F-9898-62E981D77A74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9C-428F-9898-62E981D77A74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79C-428F-9898-62E981D77A74}"/>
              </c:ext>
            </c:extLst>
          </c:dPt>
          <c:dPt>
            <c:idx val="5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79C-428F-9898-62E981D77A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0.17</c:v>
                </c:pt>
                <c:pt idx="1">
                  <c:v>0.08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9C-428F-9898-62E981D77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CB-410F-8DD0-1DFD755FBC03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CB-410F-8DD0-1DFD755FBC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CB-410F-8DD0-1DFD755FB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66-4D24-9DF3-E67E5E2759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666-4D24-9DF3-E67E5E2759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666-4D24-9DF3-E67E5E2759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66-4D24-9DF3-E67E5E275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7D-472E-8592-030DDF59B014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7D-472E-8592-030DDF59B014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7D-472E-8592-030DDF59B014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7D-472E-8592-030DDF59B014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C7D-472E-8592-030DDF59B0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7D-472E-8592-030DDF59B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30000000000000004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A9-4D1F-B6B6-8354DB25D2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A9-4D1F-B6B6-8354DB25D2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A9-4D1F-B6B6-8354DB25D2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A9-4D1F-B6B6-8354DB25D2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A9-4D1F-B6B6-8354DB25D2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A9-4D1F-B6B6-8354DB25D2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14-44E3-9AB9-EB5B6158E2F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14-44E3-9AB9-EB5B6158E2F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14-44E3-9AB9-EB5B6158E2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14-44E3-9AB9-EB5B6158E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9E-4AA1-A380-E747EDF66323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9E-4AA1-A380-E747EDF6632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9E-4AA1-A380-E747EDF663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9E-4AA1-A380-E747EDF66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97-47EC-8A67-6166FFC5421C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97-47EC-8A67-6166FFC5421C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097-47EC-8A67-6166FFC5421C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097-47EC-8A67-6166FFC5421C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097-47EC-8A67-6166FFC5421C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097-47EC-8A67-6166FFC5421C}"/>
              </c:ext>
            </c:extLst>
          </c:dPt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097-47EC-8A67-6166FFC542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FD3-4AC9-85B7-E98C02E7740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FD3-4AC9-85B7-E98C02E774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D3-4AC9-85B7-E98C02E774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C1-4DAB-8AE4-A4E933F52427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C1-4DAB-8AE4-A4E933F52427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C1-4DAB-8AE4-A4E933F52427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2C1-4DAB-8AE4-A4E933F52427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2C1-4DAB-8AE4-A4E933F52427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2C1-4DAB-8AE4-A4E933F524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2C1-4DAB-8AE4-A4E933F52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0A9-40A9-8487-CFBE7A07574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0A9-40A9-8487-CFBE7A07574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A9-40A9-8487-CFBE7A0757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1B-449B-A24F-D30CD042C84E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1B-449B-A24F-D30CD042C84E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1B-449B-A24F-D30CD042C84E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1B-449B-A24F-D30CD042C84E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D1B-449B-A24F-D30CD042C84E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1B-449B-A24F-D30CD042C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0C-4490-B9D4-AAC522CDF17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0C-4490-B9D4-AAC522CDF1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70C-4490-B9D4-AAC522CDF1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0C-4490-B9D4-AAC522CDF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F6-409B-897B-142F9C97362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F6-409B-897B-142F9C97362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F6-409B-897B-142F9C973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3E-48EF-8A4B-9DBC72DCB148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3E-48EF-8A4B-9DBC72DCB148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3E-48EF-8A4B-9DBC72DCB148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3E-48EF-8A4B-9DBC72DCB148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E3E-48EF-8A4B-9DBC72DCB1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E3E-48EF-8A4B-9DBC72DCB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0D-4374-B4F0-D656508299A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0D-4374-B4F0-D656508299A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0D-4374-B4F0-D656508299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0D-4374-B4F0-D656508299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7B-4CEA-B90A-63A3ECEAA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7-4BBE-A2A5-4D7576E64F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2-4D7F-9A26-010E8E505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8.4190303989151311E-2</c:v>
                </c:pt>
                <c:pt idx="1">
                  <c:v>0.21403548423550683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7-4196-9EF6-F695F76761A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Hoja1!$C$2:$C$3</c:f>
              <c:numCache>
                <c:formatCode>0%</c:formatCode>
                <c:ptCount val="2"/>
                <c:pt idx="0">
                  <c:v>0.22443213922477115</c:v>
                </c:pt>
                <c:pt idx="1">
                  <c:v>0.36975929483557463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37-4196-9EF6-F695F76761A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Hoja1!$D$2:$D$3</c:f>
              <c:numCache>
                <c:formatCode>0%</c:formatCode>
                <c:ptCount val="2"/>
                <c:pt idx="0">
                  <c:v>0.50265566730704037</c:v>
                </c:pt>
                <c:pt idx="1">
                  <c:v>0.30794440049723132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7-4196-9EF6-F695F76761A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Hoja1!$E$2:$E$3</c:f>
              <c:numCache>
                <c:formatCode>0%</c:formatCode>
                <c:ptCount val="2"/>
                <c:pt idx="0">
                  <c:v>0.18872188947903717</c:v>
                </c:pt>
                <c:pt idx="1">
                  <c:v>0.10826082043168719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37-4196-9EF6-F695F76761A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0.272437563566504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38-46AD-AF6C-81C3BA58361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0.26340829472256799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38-46AD-AF6C-81C3BA58361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0.31090518702678299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38-46AD-AF6C-81C3BA58361D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0.15324895468414501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38-46AD-AF6C-81C3BA58361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Otros espacios cercanos a sede (plazas, malls, etc.)</c:v>
                </c:pt>
                <c:pt idx="1">
                  <c:v>Áreas verdes</c:v>
                </c:pt>
                <c:pt idx="2">
                  <c:v>Espacios deportivos</c:v>
                </c:pt>
                <c:pt idx="3">
                  <c:v>Punto estudiantil</c:v>
                </c:pt>
                <c:pt idx="4">
                  <c:v>Biblioteca</c:v>
                </c:pt>
                <c:pt idx="5">
                  <c:v>Casino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0.353678381738049</c:v>
                </c:pt>
                <c:pt idx="1">
                  <c:v>0.16770256526161148</c:v>
                </c:pt>
                <c:pt idx="2">
                  <c:v>0.25</c:v>
                </c:pt>
                <c:pt idx="3">
                  <c:v>0.15640185331675896</c:v>
                </c:pt>
                <c:pt idx="4">
                  <c:v>0.15459373940558255</c:v>
                </c:pt>
                <c:pt idx="5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4E-4E86-A335-7D6734A75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Portal VIVO Duoc</c:v>
                </c:pt>
                <c:pt idx="1">
                  <c:v>AVA (Ambiente virtual de aprendizaje)</c:v>
                </c:pt>
                <c:pt idx="2">
                  <c:v>Correo institucional</c:v>
                </c:pt>
                <c:pt idx="3">
                  <c:v>Portal de acceso a clases</c:v>
                </c:pt>
                <c:pt idx="4">
                  <c:v>No utilizo mucho los espacios Duoc UC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6.7702565261611003E-2</c:v>
                </c:pt>
                <c:pt idx="1">
                  <c:v>5.3678381738049494E-2</c:v>
                </c:pt>
                <c:pt idx="2">
                  <c:v>0.22</c:v>
                </c:pt>
                <c:pt idx="3">
                  <c:v>5.6401853316759003E-2</c:v>
                </c:pt>
                <c:pt idx="4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4-4C35-9C61-6B6B62029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8" name="Google Shape;29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90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05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25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003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7849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520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873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9070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67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8" name="Google Shape;102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68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70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5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5"/>
          <p:cNvSpPr/>
          <p:nvPr/>
        </p:nvSpPr>
        <p:spPr>
          <a:xfrm>
            <a:off x="336644" y="2543175"/>
            <a:ext cx="11518711" cy="1685926"/>
          </a:xfrm>
          <a:prstGeom prst="rect">
            <a:avLst/>
          </a:prstGeom>
          <a:solidFill>
            <a:srgbClr val="F8B3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8" name="Google Shape;38;p115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5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CC69DE7-6545-4CBA-9723-11EC6CE39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31" name="Google Shape;31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hart" Target="../charts/char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4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chart" Target="../charts/chart56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5.xml"/><Relationship Id="rId5" Type="http://schemas.openxmlformats.org/officeDocument/2006/relationships/chart" Target="../charts/chart54.xml"/><Relationship Id="rId4" Type="http://schemas.openxmlformats.org/officeDocument/2006/relationships/image" Target="../media/image50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hart" Target="../charts/chart61.xml"/><Relationship Id="rId4" Type="http://schemas.openxmlformats.org/officeDocument/2006/relationships/chart" Target="../charts/chart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3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5.xml"/><Relationship Id="rId4" Type="http://schemas.openxmlformats.org/officeDocument/2006/relationships/image" Target="../media/image52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6.xml"/><Relationship Id="rId7" Type="http://schemas.openxmlformats.org/officeDocument/2006/relationships/chart" Target="../charts/chart68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7.xml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9.xml"/><Relationship Id="rId7" Type="http://schemas.openxmlformats.org/officeDocument/2006/relationships/chart" Target="../charts/chart71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0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4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5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7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85846"/>
              </p:ext>
            </p:extLst>
          </p:nvPr>
        </p:nvGraphicFramePr>
        <p:xfrm>
          <a:off x="489884" y="1523074"/>
          <a:ext cx="7966362" cy="37084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Principales hallazgos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 e insights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inferenciales 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1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72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Síntesis y 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9;p6">
            <a:extLst>
              <a:ext uri="{FF2B5EF4-FFF2-40B4-BE49-F238E27FC236}">
                <a16:creationId xmlns:a16="http://schemas.microsoft.com/office/drawing/2014/main" id="{6794A8EC-8CA7-1ADC-CFCA-028CC56EC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Ficha técnica</a:t>
            </a:r>
            <a:endParaRPr/>
          </a:p>
        </p:txBody>
      </p:sp>
      <p:sp>
        <p:nvSpPr>
          <p:cNvPr id="8" name="Google Shape;90;p6">
            <a:extLst>
              <a:ext uri="{FF2B5EF4-FFF2-40B4-BE49-F238E27FC236}">
                <a16:creationId xmlns:a16="http://schemas.microsoft.com/office/drawing/2014/main" id="{E8A77F86-6F3D-59FE-EB61-BAAE845A6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1319" y="137758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Universo total: 97.239 estudiantes.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Estudiantes considerados como casos válidos para análisis: 18.540 (corresponden a un 19% del universo total de estudiantes).</a:t>
            </a:r>
            <a:endParaRPr sz="1600"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sz="1600" dirty="0" err="1">
                <a:solidFill>
                  <a:srgbClr val="3F3F3F"/>
                </a:solidFill>
              </a:rPr>
              <a:t>auto-reportes</a:t>
            </a:r>
            <a:r>
              <a:rPr lang="es-CL" sz="1600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La estructura de medición de trastornos de salud mental fue adaptativa y personalizada.</a:t>
            </a:r>
            <a:endParaRPr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CE246C-DC08-9198-FBDE-0C32CAF58D5A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3246087290"/>
              </p:ext>
            </p:extLst>
          </p:nvPr>
        </p:nvGraphicFramePr>
        <p:xfrm>
          <a:off x="491319" y="1320256"/>
          <a:ext cx="10998851" cy="485653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strés percibido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ED-15 	(Trastornos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u="none" strike="noStrike" cap="none" dirty="0" err="1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1840723605"/>
              </p:ext>
            </p:extLst>
          </p:nvPr>
        </p:nvGraphicFramePr>
        <p:xfrm>
          <a:off x="804568" y="23633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1811007523"/>
              </p:ext>
            </p:extLst>
          </p:nvPr>
        </p:nvGraphicFramePr>
        <p:xfrm>
          <a:off x="4692496" y="2363338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3237093768"/>
              </p:ext>
            </p:extLst>
          </p:nvPr>
        </p:nvGraphicFramePr>
        <p:xfrm>
          <a:off x="8362089" y="2134373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FD6594E2-3B12-FB73-4BD3-7B79F0E7FDB7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casos válidos </a:t>
            </a:r>
            <a:r>
              <a:rPr lang="es-CL" sz="1200" dirty="0"/>
              <a:t>(N=8.849)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escuelas_bar_chart"/>
          <p:cNvGraphicFramePr/>
          <p:nvPr>
            <p:extLst>
              <p:ext uri="{D42A27DB-BD31-4B8C-83A1-F6EECF244321}">
                <p14:modId xmlns:p14="http://schemas.microsoft.com/office/powerpoint/2010/main" val="2439517272"/>
              </p:ext>
            </p:extLst>
          </p:nvPr>
        </p:nvGraphicFramePr>
        <p:xfrm>
          <a:off x="1858210" y="1416783"/>
          <a:ext cx="8628929" cy="2495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2" name="sedes_bar_chart"/>
          <p:cNvGraphicFramePr/>
          <p:nvPr>
            <p:extLst>
              <p:ext uri="{D42A27DB-BD31-4B8C-83A1-F6EECF244321}">
                <p14:modId xmlns:p14="http://schemas.microsoft.com/office/powerpoint/2010/main" val="1126109642"/>
              </p:ext>
            </p:extLst>
          </p:nvPr>
        </p:nvGraphicFramePr>
        <p:xfrm>
          <a:off x="1165225" y="4100597"/>
          <a:ext cx="10291476" cy="219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290;p18">
            <a:extLst>
              <a:ext uri="{FF2B5EF4-FFF2-40B4-BE49-F238E27FC236}">
                <a16:creationId xmlns:a16="http://schemas.microsoft.com/office/drawing/2014/main" id="{A0121B43-BDE4-4EA8-B1D2-962DBEEA7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sp>
        <p:nvSpPr>
          <p:cNvPr id="2" name="total_participantes_2">
            <a:extLst>
              <a:ext uri="{FF2B5EF4-FFF2-40B4-BE49-F238E27FC236}">
                <a16:creationId xmlns:a16="http://schemas.microsoft.com/office/drawing/2014/main" id="{E58931B8-8BCA-499E-1D4B-D021B6210CFF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casos válidos </a:t>
            </a:r>
            <a:r>
              <a:rPr lang="es-CL" sz="1200" dirty="0"/>
              <a:t>(N=8.849)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3C3E"/>
          </a:solidFill>
          <a:ln w="12700" cap="flat" cmpd="sng">
            <a:solidFill>
              <a:srgbClr val="E53C3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84049" y="5436109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576018" y="3080785"/>
            <a:ext cx="34941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124373" y="3053024"/>
            <a:ext cx="35845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669221" y="543610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610332" y="544536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91319" y="410031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desafíos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046" y="3137487"/>
            <a:ext cx="718480" cy="725031"/>
          </a:xfrm>
          <a:prstGeom prst="rect">
            <a:avLst/>
          </a:prstGeom>
          <a:solidFill>
            <a:srgbClr val="E63C3F"/>
          </a:solidFill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2372" y="3116273"/>
            <a:ext cx="852488" cy="76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14" y="4637287"/>
            <a:ext cx="868598" cy="7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8004" y="4504482"/>
            <a:ext cx="895991" cy="93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9084" y="4477122"/>
            <a:ext cx="700087" cy="95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/>
          <p:nvPr/>
        </p:nvSpPr>
        <p:spPr>
          <a:xfrm>
            <a:off x="1689135" y="1427402"/>
            <a:ext cx="35845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962837" y="1449927"/>
            <a:ext cx="339712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2EA514-1EFC-8FB3-D077-5355F553D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51" y="1476719"/>
            <a:ext cx="650863" cy="6934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24FBDE-A207-EA14-4924-512208C054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8004" y="1381810"/>
            <a:ext cx="440826" cy="97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-3977" y="7883"/>
            <a:ext cx="12192000" cy="6858000"/>
          </a:xfrm>
          <a:prstGeom prst="rect">
            <a:avLst/>
          </a:prstGeom>
          <a:solidFill>
            <a:srgbClr val="F8B31C"/>
          </a:solidFill>
          <a:ln w="12700" cap="flat" cmpd="sng">
            <a:solidFill>
              <a:srgbClr val="FFB8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84049" y="5194369"/>
            <a:ext cx="27592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301800" y="2483663"/>
            <a:ext cx="36715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669221" y="519436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10332" y="520362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4215" y="1486234"/>
            <a:ext cx="675617" cy="72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6109" y="4200044"/>
            <a:ext cx="851831" cy="90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5190" y="4192381"/>
            <a:ext cx="667875" cy="8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Comparación 2022 - 2025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-80884" y="2482991"/>
            <a:ext cx="4089115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049127" y="2510321"/>
            <a:ext cx="4320000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40FE8-4822-276E-E4F7-BE6F4199A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929" y="4397688"/>
            <a:ext cx="708930" cy="7382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F86B05-7DCA-4AD9-8478-76AE5247E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767" y="1458665"/>
            <a:ext cx="722884" cy="779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80746A-2954-0CAA-20F7-E8EE6F2B9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876" y="1486234"/>
            <a:ext cx="535394" cy="8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descriptivos</a:t>
            </a:r>
            <a:endParaRPr cap="smal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nada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</a:t>
            </a:r>
            <a:endParaRPr dirty="0"/>
          </a:p>
        </p:txBody>
      </p:sp>
      <p:graphicFrame>
        <p:nvGraphicFramePr>
          <p:cNvPr id="428" name="nivel_estres_categorias"/>
          <p:cNvGraphicFramePr/>
          <p:nvPr>
            <p:extLst>
              <p:ext uri="{D42A27DB-BD31-4B8C-83A1-F6EECF244321}">
                <p14:modId xmlns:p14="http://schemas.microsoft.com/office/powerpoint/2010/main" val="290521915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nivel_estres_sedes"/>
          <p:cNvGraphicFramePr/>
          <p:nvPr>
            <p:extLst>
              <p:ext uri="{D42A27DB-BD31-4B8C-83A1-F6EECF244321}">
                <p14:modId xmlns:p14="http://schemas.microsoft.com/office/powerpoint/2010/main" val="379272034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37;p33">
            <a:extLst>
              <a:ext uri="{FF2B5EF4-FFF2-40B4-BE49-F238E27FC236}">
                <a16:creationId xmlns:a16="http://schemas.microsoft.com/office/drawing/2014/main" id="{0BFC570E-2A22-DF4E-8EBD-0FE30D76288A}"/>
              </a:ext>
            </a:extLst>
          </p:cNvPr>
          <p:cNvSpPr txBox="1"/>
          <p:nvPr/>
        </p:nvSpPr>
        <p:spPr>
          <a:xfrm>
            <a:off x="541698" y="4659417"/>
            <a:ext cx="28725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E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para los estudiantes que participaron en el estudio (considerando un 100% como un nivel de estrés extremo e intolerable).</a:t>
            </a:r>
            <a:endParaRPr lang="es-MX"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nada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1" name="nivel_estres_promedio_2025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</a:p>
        </p:txBody>
      </p:sp>
      <p:sp>
        <p:nvSpPr>
          <p:cNvPr id="2" name="nivel_estres_promedio_2022">
            <a:extLst>
              <a:ext uri="{FF2B5EF4-FFF2-40B4-BE49-F238E27FC236}">
                <a16:creationId xmlns:a16="http://schemas.microsoft.com/office/drawing/2014/main" id="{47E56322-8BBA-B4A3-9149-EB21D1FABE89}"/>
              </a:ext>
            </a:extLst>
          </p:cNvPr>
          <p:cNvSpPr txBox="1"/>
          <p:nvPr/>
        </p:nvSpPr>
        <p:spPr>
          <a:xfrm>
            <a:off x="699796" y="151155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genero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031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jornada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0021436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exigencia_academica"/>
          <p:cNvGraphicFramePr/>
          <p:nvPr>
            <p:extLst>
              <p:ext uri="{D42A27DB-BD31-4B8C-83A1-F6EECF244321}">
                <p14:modId xmlns:p14="http://schemas.microsoft.com/office/powerpoint/2010/main" val="2296239787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nota_exigencia">
            <a:extLst>
              <a:ext uri="{FF2B5EF4-FFF2-40B4-BE49-F238E27FC236}">
                <a16:creationId xmlns:a16="http://schemas.microsoft.com/office/drawing/2014/main" id="{043A6CF9-AD15-3764-DD0C-9D4C1DB95FF9}"/>
              </a:ext>
            </a:extLst>
          </p:cNvPr>
          <p:cNvSpPr txBox="1"/>
          <p:nvPr/>
        </p:nvSpPr>
        <p:spPr>
          <a:xfrm>
            <a:off x="2331940" y="6481232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exigencia_academica_inicio"/>
          <p:cNvGraphicFramePr/>
          <p:nvPr>
            <p:extLst>
              <p:ext uri="{D42A27DB-BD31-4B8C-83A1-F6EECF244321}">
                <p14:modId xmlns:p14="http://schemas.microsoft.com/office/powerpoint/2010/main" val="2046050906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exigencia_academica_continuidad"/>
          <p:cNvGraphicFramePr/>
          <p:nvPr>
            <p:extLst>
              <p:ext uri="{D42A27DB-BD31-4B8C-83A1-F6EECF244321}">
                <p14:modId xmlns:p14="http://schemas.microsoft.com/office/powerpoint/2010/main" val="389852781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exigencia_academica_admision_especial"/>
          <p:cNvGraphicFramePr/>
          <p:nvPr>
            <p:extLst>
              <p:ext uri="{D42A27DB-BD31-4B8C-83A1-F6EECF244321}">
                <p14:modId xmlns:p14="http://schemas.microsoft.com/office/powerpoint/2010/main" val="3853227668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graphicFrame>
        <p:nvGraphicFramePr>
          <p:cNvPr id="315" name="estresores_top5_2022"/>
          <p:cNvGraphicFramePr/>
          <p:nvPr>
            <p:extLst>
              <p:ext uri="{D42A27DB-BD31-4B8C-83A1-F6EECF244321}">
                <p14:modId xmlns:p14="http://schemas.microsoft.com/office/powerpoint/2010/main" val="1727685633"/>
              </p:ext>
            </p:extLst>
          </p:nvPr>
        </p:nvGraphicFramePr>
        <p:xfrm>
          <a:off x="2533127" y="1390650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" name="estresores_top5_2025">
            <a:extLst>
              <a:ext uri="{FF2B5EF4-FFF2-40B4-BE49-F238E27FC236}">
                <a16:creationId xmlns:a16="http://schemas.microsoft.com/office/drawing/2014/main" id="{62EC4AD2-3B7D-90FC-D213-96859FBC3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110466"/>
              </p:ext>
            </p:extLst>
          </p:nvPr>
        </p:nvGraphicFramePr>
        <p:xfrm>
          <a:off x="2533126" y="3943133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afrontamiento_estres"/>
          <p:cNvGraphicFramePr/>
          <p:nvPr>
            <p:extLst>
              <p:ext uri="{D42A27DB-BD31-4B8C-83A1-F6EECF244321}">
                <p14:modId xmlns:p14="http://schemas.microsoft.com/office/powerpoint/2010/main" val="2530827904"/>
              </p:ext>
            </p:extLst>
          </p:nvPr>
        </p:nvGraphicFramePr>
        <p:xfrm>
          <a:off x="1171575" y="1797227"/>
          <a:ext cx="6572248" cy="4015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procrastinacion"/>
          <p:cNvGraphicFramePr/>
          <p:nvPr>
            <p:extLst>
              <p:ext uri="{D42A27DB-BD31-4B8C-83A1-F6EECF244321}">
                <p14:modId xmlns:p14="http://schemas.microsoft.com/office/powerpoint/2010/main" val="994849556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</a:t>
            </a:r>
            <a:r>
              <a:rPr lang="es-MX" sz="1600" dirty="0">
                <a:solidFill>
                  <a:schemeClr val="accent3">
                    <a:lumMod val="50000"/>
                  </a:schemeClr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médica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salud_cronica1"/>
          <p:cNvGraphicFramePr/>
          <p:nvPr>
            <p:extLst>
              <p:ext uri="{D42A27DB-BD31-4B8C-83A1-F6EECF244321}">
                <p14:modId xmlns:p14="http://schemas.microsoft.com/office/powerpoint/2010/main" val="351922268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53527" y="1711886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salud_cronica2"/>
          <p:cNvGraphicFramePr/>
          <p:nvPr>
            <p:extLst>
              <p:ext uri="{D42A27DB-BD31-4B8C-83A1-F6EECF244321}">
                <p14:modId xmlns:p14="http://schemas.microsoft.com/office/powerpoint/2010/main" val="3529957238"/>
              </p:ext>
            </p:extLst>
          </p:nvPr>
        </p:nvGraphicFramePr>
        <p:xfrm>
          <a:off x="6053527" y="2305760"/>
          <a:ext cx="5843091" cy="3899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ntidad_salfis1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</a:t>
            </a:r>
            <a:r>
              <a:rPr lang="es-MX" sz="1200" dirty="0">
                <a:solidFill>
                  <a:schemeClr val="accent3">
                    <a:lumMod val="50000"/>
                  </a:schemeClr>
                </a:solidFill>
                <a:latin typeface="Calibri Light"/>
                <a:ea typeface="Calibri"/>
                <a:cs typeface="Calibri Light"/>
                <a:sym typeface="Calibri"/>
              </a:rPr>
              <a:t>XXXX</a:t>
            </a:r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rupo_verde"/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3" name="Google Shape;403;p30"/>
          <p:cNvSpPr txBox="1"/>
          <p:nvPr/>
        </p:nvSpPr>
        <p:spPr>
          <a:xfrm>
            <a:off x="910207" y="3381335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Salud mental</a:t>
            </a:r>
            <a:endParaRPr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902523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rupo_amarillo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381335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rupo_rojo">
            <a:extLst>
              <a:ext uri="{FF2B5EF4-FFF2-40B4-BE49-F238E27FC236}">
                <a16:creationId xmlns:a16="http://schemas.microsoft.com/office/drawing/2014/main" id="{A19FAF1E-0939-450A-BBB7-A13B0053E6E9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4851" y="338444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8157783" y="823121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419077"/>
            <a:ext cx="2880000" cy="1600398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419077"/>
            <a:ext cx="2880000" cy="1600398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419077"/>
            <a:ext cx="2880000" cy="1600398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55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</a:t>
            </a:r>
            <a:endParaRPr dirty="0"/>
          </a:p>
        </p:txBody>
      </p:sp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factor_carga_enfermedad_amarillo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factor_carga_enfermedad_rojo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" name="factor_carga_enfermedad_amarillo_2022">
            <a:extLst>
              <a:ext uri="{FF2B5EF4-FFF2-40B4-BE49-F238E27FC236}">
                <a16:creationId xmlns:a16="http://schemas.microsoft.com/office/drawing/2014/main" id="{2C72AC1A-68C3-36FA-97E8-6DCA24396F2E}"/>
              </a:ext>
            </a:extLst>
          </p:cNvPr>
          <p:cNvSpPr txBox="1"/>
          <p:nvPr/>
        </p:nvSpPr>
        <p:spPr>
          <a:xfrm>
            <a:off x="1548882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</a:t>
            </a:r>
          </a:p>
        </p:txBody>
      </p:sp>
      <p:sp>
        <p:nvSpPr>
          <p:cNvPr id="4" name="factor_carga_enfermedad_rojo_2022">
            <a:extLst>
              <a:ext uri="{FF2B5EF4-FFF2-40B4-BE49-F238E27FC236}">
                <a16:creationId xmlns:a16="http://schemas.microsoft.com/office/drawing/2014/main" id="{5B4F7694-51C4-91D6-1CEE-ED331D1E5867}"/>
              </a:ext>
            </a:extLst>
          </p:cNvPr>
          <p:cNvSpPr txBox="1"/>
          <p:nvPr/>
        </p:nvSpPr>
        <p:spPr>
          <a:xfrm>
            <a:off x="7305355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L" dirty="0"/>
              <a:t>Patologías recurrentes grupo prevención indicada</a:t>
            </a:r>
            <a:endParaRPr dirty="0"/>
          </a:p>
        </p:txBody>
      </p:sp>
      <p:sp>
        <p:nvSpPr>
          <p:cNvPr id="9" name="grupo_amarillo2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3815351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6" name="porcentaje_grupo_amarillo_por_condicion">
            <a:extLst>
              <a:ext uri="{FF2B5EF4-FFF2-40B4-BE49-F238E27FC236}">
                <a16:creationId xmlns:a16="http://schemas.microsoft.com/office/drawing/2014/main" id="{175773B8-ED6B-42F3-9707-57AEF3B27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469587"/>
              </p:ext>
            </p:extLst>
          </p:nvPr>
        </p:nvGraphicFramePr>
        <p:xfrm>
          <a:off x="5305097" y="1771330"/>
          <a:ext cx="4947590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6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</a:t>
            </a:r>
            <a:endParaRPr dirty="0"/>
          </a:p>
        </p:txBody>
      </p:sp>
      <p:sp>
        <p:nvSpPr>
          <p:cNvPr id="516" name="depresion_manejo_clinico_global"/>
          <p:cNvSpPr/>
          <p:nvPr/>
        </p:nvSpPr>
        <p:spPr>
          <a:xfrm>
            <a:off x="671559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BBB57DB-71A5-D147-88A9-C6E8887B06FF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epresion_femenino">
            <a:extLst>
              <a:ext uri="{FF2B5EF4-FFF2-40B4-BE49-F238E27FC236}">
                <a16:creationId xmlns:a16="http://schemas.microsoft.com/office/drawing/2014/main" id="{C4376D5B-F88D-4949-8EC2-E9886A08F7F6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19% de las mujeres que participaron del estudio presentan síntomas clínicos de depresión.</a:t>
            </a:r>
          </a:p>
        </p:txBody>
      </p:sp>
      <p:graphicFrame>
        <p:nvGraphicFramePr>
          <p:cNvPr id="15" name="depresion_manejo_clinico">
            <a:extLst>
              <a:ext uri="{FF2B5EF4-FFF2-40B4-BE49-F238E27FC236}">
                <a16:creationId xmlns:a16="http://schemas.microsoft.com/office/drawing/2014/main" id="{3E291FAC-2870-66F8-18A0-85A22E7FB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293067"/>
              </p:ext>
            </p:extLst>
          </p:nvPr>
        </p:nvGraphicFramePr>
        <p:xfrm>
          <a:off x="3670149" y="1802244"/>
          <a:ext cx="8059387" cy="218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517;p43"/>
          <p:cNvSpPr txBox="1"/>
          <p:nvPr/>
        </p:nvSpPr>
        <p:spPr>
          <a:xfrm>
            <a:off x="70571" y="4662679"/>
            <a:ext cx="276098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52FB3E6A-36DC-49F0-ADC1-9B11C595FF4C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depresion_manejo_clinico_sede">
            <a:extLst>
              <a:ext uri="{FF2B5EF4-FFF2-40B4-BE49-F238E27FC236}">
                <a16:creationId xmlns:a16="http://schemas.microsoft.com/office/drawing/2014/main" id="{DE06A805-CA0B-0EFB-85BF-BA202146A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9350158"/>
              </p:ext>
            </p:extLst>
          </p:nvPr>
        </p:nvGraphicFramePr>
        <p:xfrm>
          <a:off x="3788229" y="3931379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depresion_2022">
            <a:extLst>
              <a:ext uri="{FF2B5EF4-FFF2-40B4-BE49-F238E27FC236}">
                <a16:creationId xmlns:a16="http://schemas.microsoft.com/office/drawing/2014/main" id="{4FD20774-ADC7-AC60-30DC-313F86FD11D6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1222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endParaRPr dirty="0"/>
          </a:p>
        </p:txBody>
      </p:sp>
      <p:sp>
        <p:nvSpPr>
          <p:cNvPr id="11" name="ansiedad_femenino">
            <a:extLst>
              <a:ext uri="{FF2B5EF4-FFF2-40B4-BE49-F238E27FC236}">
                <a16:creationId xmlns:a16="http://schemas.microsoft.com/office/drawing/2014/main" id="{403575CC-2FD9-0129-47F0-02351CE8710B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31% de las mujeres que participaron del estudio presentan síntomas clínicos de ansiedad generalizada.</a:t>
            </a:r>
          </a:p>
        </p:txBody>
      </p:sp>
      <p:graphicFrame>
        <p:nvGraphicFramePr>
          <p:cNvPr id="12" name="ansiedad_manejo_clinico">
            <a:extLst>
              <a:ext uri="{FF2B5EF4-FFF2-40B4-BE49-F238E27FC236}">
                <a16:creationId xmlns:a16="http://schemas.microsoft.com/office/drawing/2014/main" id="{B04CB13E-D1DF-4E02-B884-5DAB2CC89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386254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306887-2985-AD1C-9793-5C0B29A40D0A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nsiedad_manejo_clinico_global">
            <a:extLst>
              <a:ext uri="{FF2B5EF4-FFF2-40B4-BE49-F238E27FC236}">
                <a16:creationId xmlns:a16="http://schemas.microsoft.com/office/drawing/2014/main" id="{FAE4E925-CD5B-46FD-8FD8-E56C2E8E82E0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70571" y="4662679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D99100AD-C0D2-4999-AA70-713EEB13DC75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nsiedad_manejo_clinico_sede">
            <a:extLst>
              <a:ext uri="{FF2B5EF4-FFF2-40B4-BE49-F238E27FC236}">
                <a16:creationId xmlns:a16="http://schemas.microsoft.com/office/drawing/2014/main" id="{D80AAFB2-F153-D4D7-7243-320A9C262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7557"/>
              </p:ext>
            </p:extLst>
          </p:nvPr>
        </p:nvGraphicFramePr>
        <p:xfrm>
          <a:off x="3788229" y="3832261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ansiedad_2022">
            <a:extLst>
              <a:ext uri="{FF2B5EF4-FFF2-40B4-BE49-F238E27FC236}">
                <a16:creationId xmlns:a16="http://schemas.microsoft.com/office/drawing/2014/main" id="{C853C437-C7C0-F24D-C02D-4129C285258E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5825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</a:t>
            </a:r>
            <a:endParaRPr dirty="0"/>
          </a:p>
        </p:txBody>
      </p:sp>
      <p:sp>
        <p:nvSpPr>
          <p:cNvPr id="11" name="personalidad_femenino">
            <a:extLst>
              <a:ext uri="{FF2B5EF4-FFF2-40B4-BE49-F238E27FC236}">
                <a16:creationId xmlns:a16="http://schemas.microsoft.com/office/drawing/2014/main" id="{A4AA13EC-DF90-A411-4B29-48ED2E1E8DC1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42% de las mujeres que participaron del estudio presentan síntomas clínicos de trastorno de la personalidad.</a:t>
            </a:r>
          </a:p>
        </p:txBody>
      </p:sp>
      <p:graphicFrame>
        <p:nvGraphicFramePr>
          <p:cNvPr id="12" name="personalidad_manejo_clinico">
            <a:extLst>
              <a:ext uri="{FF2B5EF4-FFF2-40B4-BE49-F238E27FC236}">
                <a16:creationId xmlns:a16="http://schemas.microsoft.com/office/drawing/2014/main" id="{F7CD735D-2DF8-D68D-3553-D6EE70A3B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75523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167CF5-7E7C-DB3C-EACE-4527276F9ACD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ersonalidad_manejo_clinico_global">
            <a:extLst>
              <a:ext uri="{FF2B5EF4-FFF2-40B4-BE49-F238E27FC236}">
                <a16:creationId xmlns:a16="http://schemas.microsoft.com/office/drawing/2014/main" id="{4A15B02A-EADD-4CFD-A16E-8F2F687FDCE6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4" name="Google Shape;427;p32">
            <a:extLst>
              <a:ext uri="{FF2B5EF4-FFF2-40B4-BE49-F238E27FC236}">
                <a16:creationId xmlns:a16="http://schemas.microsoft.com/office/drawing/2014/main" id="{030BA3F9-B700-4141-897C-07AF8F13467F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personalidad_manejo_clinico_sede">
            <a:extLst>
              <a:ext uri="{FF2B5EF4-FFF2-40B4-BE49-F238E27FC236}">
                <a16:creationId xmlns:a16="http://schemas.microsoft.com/office/drawing/2014/main" id="{6241263E-26F4-7EF6-3560-4584B2882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239647"/>
              </p:ext>
            </p:extLst>
          </p:nvPr>
        </p:nvGraphicFramePr>
        <p:xfrm>
          <a:off x="3788229" y="3861067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personalidad_2022">
            <a:extLst>
              <a:ext uri="{FF2B5EF4-FFF2-40B4-BE49-F238E27FC236}">
                <a16:creationId xmlns:a16="http://schemas.microsoft.com/office/drawing/2014/main" id="{ED01071E-8634-4830-DA5F-5985A6978DE9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781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1" name="marihuana_femenino">
            <a:extLst>
              <a:ext uri="{FF2B5EF4-FFF2-40B4-BE49-F238E27FC236}">
                <a16:creationId xmlns:a16="http://schemas.microsoft.com/office/drawing/2014/main" id="{D5EE1FC8-4C9F-9588-BEAA-C9DBDE333AA9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2% de las mujeres que participaron del estudio presentan síntomas clínicos de consumo problemático de marihuana.</a:t>
            </a:r>
          </a:p>
        </p:txBody>
      </p:sp>
      <p:graphicFrame>
        <p:nvGraphicFramePr>
          <p:cNvPr id="12" name="marihuana_manejo_clinico">
            <a:extLst>
              <a:ext uri="{FF2B5EF4-FFF2-40B4-BE49-F238E27FC236}">
                <a16:creationId xmlns:a16="http://schemas.microsoft.com/office/drawing/2014/main" id="{287C095F-BA3B-8676-D0FD-DF67FC9FB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53439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445420-BD48-4385-0EB7-9F2240401967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ihuana_manejo_clinico_global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70571" y="4662679"/>
            <a:ext cx="27520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47B7E482-5A25-4776-939A-DB4D1F21BAC1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SENDA 2025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marihuana_manejo_clinico_sede">
            <a:extLst>
              <a:ext uri="{FF2B5EF4-FFF2-40B4-BE49-F238E27FC236}">
                <a16:creationId xmlns:a16="http://schemas.microsoft.com/office/drawing/2014/main" id="{F89F952C-3CC9-9940-0617-02635B18A9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45806"/>
              </p:ext>
            </p:extLst>
          </p:nvPr>
        </p:nvGraphicFramePr>
        <p:xfrm>
          <a:off x="3788229" y="3832261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77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6" name="cupit_marihuana_porcentaje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5016000" y="277136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617855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973742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marihuana_2022">
            <a:extLst>
              <a:ext uri="{FF2B5EF4-FFF2-40B4-BE49-F238E27FC236}">
                <a16:creationId xmlns:a16="http://schemas.microsoft.com/office/drawing/2014/main" id="{B8422F38-FB3D-3105-55CC-38B7279A1576}"/>
              </a:ext>
            </a:extLst>
          </p:cNvPr>
          <p:cNvSpPr txBox="1"/>
          <p:nvPr/>
        </p:nvSpPr>
        <p:spPr>
          <a:xfrm>
            <a:off x="4547741" y="2064778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590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</a:t>
            </a:r>
            <a:endParaRPr dirty="0"/>
          </a:p>
        </p:txBody>
      </p:sp>
      <p:graphicFrame>
        <p:nvGraphicFramePr>
          <p:cNvPr id="12" name="alcohol_manejo_clinico">
            <a:extLst>
              <a:ext uri="{FF2B5EF4-FFF2-40B4-BE49-F238E27FC236}">
                <a16:creationId xmlns:a16="http://schemas.microsoft.com/office/drawing/2014/main" id="{D796B308-03C5-AE1C-2D66-6C45FE9F8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092776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D2BC845-CDD7-EA3A-4D1D-DB1A113B34E2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lcohol_femenino">
            <a:extLst>
              <a:ext uri="{FF2B5EF4-FFF2-40B4-BE49-F238E27FC236}">
                <a16:creationId xmlns:a16="http://schemas.microsoft.com/office/drawing/2014/main" id="{F293E2A6-C6F6-E567-0F79-1BC23E493A50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39% de las mujeres que participaron del estudio presentan síntomas clínicos de consumo problemático de alcohol.</a:t>
            </a:r>
          </a:p>
        </p:txBody>
      </p:sp>
      <p:sp>
        <p:nvSpPr>
          <p:cNvPr id="11" name="alcohol_manejo_clinico_global">
            <a:extLst>
              <a:ext uri="{FF2B5EF4-FFF2-40B4-BE49-F238E27FC236}">
                <a16:creationId xmlns:a16="http://schemas.microsoft.com/office/drawing/2014/main" id="{8468DAE6-FCF5-483D-96C6-E50F9934653F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89F61867-C384-48B7-A889-7BD5A17C9828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" name="alcohol_manejo_clinico_sede">
            <a:extLst>
              <a:ext uri="{FF2B5EF4-FFF2-40B4-BE49-F238E27FC236}">
                <a16:creationId xmlns:a16="http://schemas.microsoft.com/office/drawing/2014/main" id="{B01047FB-43DE-E2BF-31F1-DD4BF2B4F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775773"/>
              </p:ext>
            </p:extLst>
          </p:nvPr>
        </p:nvGraphicFramePr>
        <p:xfrm>
          <a:off x="3788229" y="3832261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alcohol_2022">
            <a:extLst>
              <a:ext uri="{FF2B5EF4-FFF2-40B4-BE49-F238E27FC236}">
                <a16:creationId xmlns:a16="http://schemas.microsoft.com/office/drawing/2014/main" id="{06C6C2F5-69FA-9E6B-51AB-7059E0302640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588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graphicFrame>
        <p:nvGraphicFramePr>
          <p:cNvPr id="10" name="suicidio_manejo_clinico_sede">
            <a:extLst>
              <a:ext uri="{FF2B5EF4-FFF2-40B4-BE49-F238E27FC236}">
                <a16:creationId xmlns:a16="http://schemas.microsoft.com/office/drawing/2014/main" id="{CD8FBB64-7F94-B9A3-C3E7-546AA8E5F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81783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uicidio_femenino">
            <a:extLst>
              <a:ext uri="{FF2B5EF4-FFF2-40B4-BE49-F238E27FC236}">
                <a16:creationId xmlns:a16="http://schemas.microsoft.com/office/drawing/2014/main" id="{5DB4E260-3D29-A0B2-8D2D-BD2DFABCFABC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50% de las mujeres que participaron del estudio presentan sospecha de  ideación suicida.</a:t>
            </a:r>
          </a:p>
        </p:txBody>
      </p:sp>
      <p:graphicFrame>
        <p:nvGraphicFramePr>
          <p:cNvPr id="13" name="suicidio_manejo_clinico">
            <a:extLst>
              <a:ext uri="{FF2B5EF4-FFF2-40B4-BE49-F238E27FC236}">
                <a16:creationId xmlns:a16="http://schemas.microsoft.com/office/drawing/2014/main" id="{81869CB5-73A7-DF84-909A-1813CC7BE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207190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7B810F-C4EB-D7EA-5F30-CBDBF088C9C1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deacion_suicida_manejo_clinico_global">
            <a:extLst>
              <a:ext uri="{FF2B5EF4-FFF2-40B4-BE49-F238E27FC236}">
                <a16:creationId xmlns:a16="http://schemas.microsoft.com/office/drawing/2014/main" id="{12AB57C7-F7DA-4221-BADE-83670CEE61B7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517;p43">
            <a:extLst>
              <a:ext uri="{FF2B5EF4-FFF2-40B4-BE49-F238E27FC236}">
                <a16:creationId xmlns:a16="http://schemas.microsoft.com/office/drawing/2014/main" id="{343DADBB-CAEF-4CEC-9C41-586E2F79E8E1}"/>
              </a:ext>
            </a:extLst>
          </p:cNvPr>
          <p:cNvSpPr txBox="1"/>
          <p:nvPr/>
        </p:nvSpPr>
        <p:spPr>
          <a:xfrm>
            <a:off x="70571" y="4662679"/>
            <a:ext cx="275202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CE4D427B-C854-412F-847E-7DC359AAE967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icidio_2022">
            <a:extLst>
              <a:ext uri="{FF2B5EF4-FFF2-40B4-BE49-F238E27FC236}">
                <a16:creationId xmlns:a16="http://schemas.microsoft.com/office/drawing/2014/main" id="{39128688-D021-4407-26D5-AF29CA2BEA59}"/>
              </a:ext>
            </a:extLst>
          </p:cNvPr>
          <p:cNvSpPr txBox="1"/>
          <p:nvPr/>
        </p:nvSpPr>
        <p:spPr>
          <a:xfrm>
            <a:off x="194338" y="214258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1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48803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ideacion_suicida_2_pie_chart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241571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3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379809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9" name="ideacion_suicida_4_bar_chart">
            <a:extLst>
              <a:ext uri="{FF2B5EF4-FFF2-40B4-BE49-F238E27FC236}">
                <a16:creationId xmlns:a16="http://schemas.microsoft.com/office/drawing/2014/main" id="{026100B7-BCF2-4798-8F7B-0F35B259D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2995202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ideacion_suicida_5_pie_chart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976324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2452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nectto_pie_chart"/>
          <p:cNvGraphicFramePr/>
          <p:nvPr>
            <p:extLst>
              <p:ext uri="{D42A27DB-BD31-4B8C-83A1-F6EECF244321}">
                <p14:modId xmlns:p14="http://schemas.microsoft.com/office/powerpoint/2010/main" val="3522761521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acctto_pie_chart"/>
          <p:cNvGraphicFramePr/>
          <p:nvPr>
            <p:extLst>
              <p:ext uri="{D42A27DB-BD31-4B8C-83A1-F6EECF244321}">
                <p14:modId xmlns:p14="http://schemas.microsoft.com/office/powerpoint/2010/main" val="1905505387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lugtto_pie_chart"/>
          <p:cNvGraphicFramePr/>
          <p:nvPr>
            <p:extLst>
              <p:ext uri="{D42A27DB-BD31-4B8C-83A1-F6EECF244321}">
                <p14:modId xmlns:p14="http://schemas.microsoft.com/office/powerpoint/2010/main" val="5398406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tiptto_pie_chart"/>
          <p:cNvGraphicFramePr/>
          <p:nvPr>
            <p:extLst>
              <p:ext uri="{D42A27DB-BD31-4B8C-83A1-F6EECF244321}">
                <p14:modId xmlns:p14="http://schemas.microsoft.com/office/powerpoint/2010/main" val="292263671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barreras_acceso_tratamiento"/>
          <p:cNvGraphicFramePr/>
          <p:nvPr>
            <p:extLst>
              <p:ext uri="{D42A27DB-BD31-4B8C-83A1-F6EECF244321}">
                <p14:modId xmlns:p14="http://schemas.microsoft.com/office/powerpoint/2010/main" val="2357693527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</a:t>
            </a:r>
            <a:endParaRPr dirty="0"/>
          </a:p>
        </p:txBody>
      </p:sp>
      <p:graphicFrame>
        <p:nvGraphicFramePr>
          <p:cNvPr id="416" name="nivel_bienestar_sede"/>
          <p:cNvGraphicFramePr/>
          <p:nvPr>
            <p:extLst>
              <p:ext uri="{D42A27DB-BD31-4B8C-83A1-F6EECF244321}">
                <p14:modId xmlns:p14="http://schemas.microsoft.com/office/powerpoint/2010/main" val="22320101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nivel_bienestar"/>
          <p:cNvGraphicFramePr/>
          <p:nvPr>
            <p:extLst>
              <p:ext uri="{D42A27DB-BD31-4B8C-83A1-F6EECF244321}">
                <p14:modId xmlns:p14="http://schemas.microsoft.com/office/powerpoint/2010/main" val="1468821402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690834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</a:t>
            </a:r>
            <a:r>
              <a:rPr lang="es-CL" sz="160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en el estudio (de un máximo de 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7 puntos) 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nivel_bienestar_global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bienestar_global_2022">
            <a:extLst>
              <a:ext uri="{FF2B5EF4-FFF2-40B4-BE49-F238E27FC236}">
                <a16:creationId xmlns:a16="http://schemas.microsoft.com/office/drawing/2014/main" id="{2417B27F-F5F2-B22B-26A1-1129BC8CEE84}"/>
              </a:ext>
            </a:extLst>
          </p:cNvPr>
          <p:cNvSpPr txBox="1"/>
          <p:nvPr/>
        </p:nvSpPr>
        <p:spPr>
          <a:xfrm>
            <a:off x="445137" y="147582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perma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5728143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nhl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469420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Apoyo percibido</a:t>
            </a:r>
            <a:endParaRPr/>
          </a:p>
        </p:txBody>
      </p:sp>
      <p:graphicFrame>
        <p:nvGraphicFramePr>
          <p:cNvPr id="343" name="apoyo_percibido"/>
          <p:cNvGraphicFramePr/>
          <p:nvPr>
            <p:extLst>
              <p:ext uri="{D42A27DB-BD31-4B8C-83A1-F6EECF244321}">
                <p14:modId xmlns:p14="http://schemas.microsoft.com/office/powerpoint/2010/main" val="846906284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ow_positivo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72%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flow_states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0075271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</a:t>
            </a:r>
            <a:endParaRPr dirty="0"/>
          </a:p>
        </p:txBody>
      </p:sp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actividad_fisica_pie_chart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032442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Alimentación</a:t>
            </a:r>
            <a:endParaRPr/>
          </a:p>
        </p:txBody>
      </p:sp>
      <p:graphicFrame>
        <p:nvGraphicFramePr>
          <p:cNvPr id="1141" name="alimentacion3"/>
          <p:cNvGraphicFramePr/>
          <p:nvPr>
            <p:extLst>
              <p:ext uri="{D42A27DB-BD31-4B8C-83A1-F6EECF244321}">
                <p14:modId xmlns:p14="http://schemas.microsoft.com/office/powerpoint/2010/main" val="3110845280"/>
              </p:ext>
            </p:extLst>
          </p:nvPr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alimentacion"/>
          <p:cNvGraphicFramePr/>
          <p:nvPr>
            <p:extLst>
              <p:ext uri="{D42A27DB-BD31-4B8C-83A1-F6EECF244321}">
                <p14:modId xmlns:p14="http://schemas.microsoft.com/office/powerpoint/2010/main" val="1232558891"/>
              </p:ext>
            </p:extLst>
          </p:nvPr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Ingesta de líquidos</a:t>
            </a:r>
            <a:endParaRPr/>
          </a:p>
        </p:txBody>
      </p:sp>
      <p:graphicFrame>
        <p:nvGraphicFramePr>
          <p:cNvPr id="1168" name="ingesta_liquidos"/>
          <p:cNvGraphicFramePr/>
          <p:nvPr>
            <p:extLst>
              <p:ext uri="{D42A27DB-BD31-4B8C-83A1-F6EECF244321}">
                <p14:modId xmlns:p14="http://schemas.microsoft.com/office/powerpoint/2010/main" val="3163863960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Tabaquismo</a:t>
            </a:r>
            <a:endParaRPr dirty="0"/>
          </a:p>
        </p:txBody>
      </p:sp>
      <p:graphicFrame>
        <p:nvGraphicFramePr>
          <p:cNvPr id="5" name="tabaquismo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926301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 e insights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wordcloud_global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9;p11">
            <a:extLst>
              <a:ext uri="{FF2B5EF4-FFF2-40B4-BE49-F238E27FC236}">
                <a16:creationId xmlns:a16="http://schemas.microsoft.com/office/drawing/2014/main" id="{4EF4A740-ABAE-4AB2-99BC-A93D5DBB2DD7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wordcloud_mujeres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wordcloud_hombres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wordcloud_2022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wordcloud_2025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8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Insights resultados descriptivos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3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inferenciales</a:t>
            </a:r>
            <a:endParaRPr cap="small" dirty="0"/>
          </a:p>
        </p:txBody>
      </p:sp>
    </p:spTree>
    <p:extLst>
      <p:ext uri="{BB962C8B-B14F-4D97-AF65-F5344CB8AC3E}">
        <p14:creationId xmlns:p14="http://schemas.microsoft.com/office/powerpoint/2010/main" val="270519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1;p2"/>
          <p:cNvSpPr txBox="1">
            <a:spLocks/>
          </p:cNvSpPr>
          <p:nvPr/>
        </p:nvSpPr>
        <p:spPr>
          <a:xfrm>
            <a:off x="379264" y="0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i="0" u="none" strike="noStrike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F3F3F"/>
              </a:buClr>
              <a:buSzPts val="3200"/>
            </a:pPr>
            <a:r>
              <a:rPr lang="es-ES" dirty="0"/>
              <a:t>Metodología: Selección de grupos y predictores</a:t>
            </a:r>
          </a:p>
        </p:txBody>
      </p:sp>
      <p:sp>
        <p:nvSpPr>
          <p:cNvPr id="14" name="Google Shape;102;p2"/>
          <p:cNvSpPr txBox="1"/>
          <p:nvPr/>
        </p:nvSpPr>
        <p:spPr>
          <a:xfrm>
            <a:off x="0" y="876905"/>
            <a:ext cx="11767301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s-CL" sz="1600" b="0" i="0" u="none" strike="noStrike" cap="none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MX" sz="1600" b="0" i="0" u="none" strike="noStrike" cap="none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	XXX</a:t>
            </a:r>
            <a:endParaRPr sz="16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marR="0" lvl="0" indent="-196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D7BB72-E332-4027-AA43-2CAAB5082592}"/>
              </a:ext>
            </a:extLst>
          </p:cNvPr>
          <p:cNvSpPr txBox="1"/>
          <p:nvPr/>
        </p:nvSpPr>
        <p:spPr>
          <a:xfrm>
            <a:off x="9278471" y="365125"/>
            <a:ext cx="1532963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Apartado completo por diseñar</a:t>
            </a:r>
          </a:p>
        </p:txBody>
      </p:sp>
    </p:spTree>
    <p:extLst>
      <p:ext uri="{BB962C8B-B14F-4D97-AF65-F5344CB8AC3E}">
        <p14:creationId xmlns:p14="http://schemas.microsoft.com/office/powerpoint/2010/main" val="329525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Smartphone con relleno sólido">
            <a:extLst>
              <a:ext uri="{FF2B5EF4-FFF2-40B4-BE49-F238E27FC236}">
                <a16:creationId xmlns:a16="http://schemas.microsoft.com/office/drawing/2014/main" id="{512E1200-81DC-D283-EBD1-F61E10A48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7" name="Google Shape;354;p25">
            <a:extLst>
              <a:ext uri="{FF2B5EF4-FFF2-40B4-BE49-F238E27FC236}">
                <a16:creationId xmlns:a16="http://schemas.microsoft.com/office/drawing/2014/main" id="{3EEE8DE2-8C3B-3414-0CCA-34ABC7B0BB25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8" name="porcentaje_app_vivo3">
            <a:extLst>
              <a:ext uri="{FF2B5EF4-FFF2-40B4-BE49-F238E27FC236}">
                <a16:creationId xmlns:a16="http://schemas.microsoft.com/office/drawing/2014/main" id="{956A5CDA-434B-4C78-8AB4-12BCB0603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021243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spuestas_appvivo">
            <a:extLst>
              <a:ext uri="{FF2B5EF4-FFF2-40B4-BE49-F238E27FC236}">
                <a16:creationId xmlns:a16="http://schemas.microsoft.com/office/drawing/2014/main" id="{3CA78F12-F3BE-134E-8789-5F1ED917158B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E1500966-3199-A4A0-1C30-F9EE3BB62919}"/>
              </a:ext>
            </a:extLst>
          </p:cNvPr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porcentaje_app_vivo1">
            <a:extLst>
              <a:ext uri="{FF2B5EF4-FFF2-40B4-BE49-F238E27FC236}">
                <a16:creationId xmlns:a16="http://schemas.microsoft.com/office/drawing/2014/main" id="{79DBC961-D7BA-B044-7F83-9E9B7E89B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138980"/>
              </p:ext>
            </p:extLst>
          </p:nvPr>
        </p:nvGraphicFramePr>
        <p:xfrm>
          <a:off x="467920" y="1881934"/>
          <a:ext cx="4673343" cy="2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Google Shape;354;p25">
            <a:extLst>
              <a:ext uri="{FF2B5EF4-FFF2-40B4-BE49-F238E27FC236}">
                <a16:creationId xmlns:a16="http://schemas.microsoft.com/office/drawing/2014/main" id="{302F08DF-1D93-0006-4A76-810846557CBA}"/>
              </a:ext>
            </a:extLst>
          </p:cNvPr>
          <p:cNvSpPr txBox="1"/>
          <p:nvPr/>
        </p:nvSpPr>
        <p:spPr>
          <a:xfrm>
            <a:off x="7730253" y="1126512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6;p25">
            <a:extLst>
              <a:ext uri="{FF2B5EF4-FFF2-40B4-BE49-F238E27FC236}">
                <a16:creationId xmlns:a16="http://schemas.microsoft.com/office/drawing/2014/main" id="{848FA19F-BBBA-3DB6-F5D2-C3462DB01EC3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AE93161A-5148-71CA-2FCE-C7522AED6902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350;p25">
            <a:extLst>
              <a:ext uri="{FF2B5EF4-FFF2-40B4-BE49-F238E27FC236}">
                <a16:creationId xmlns:a16="http://schemas.microsoft.com/office/drawing/2014/main" id="{538CFB5A-6A98-0881-E6BD-CF80DAC4B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App Vivo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19" name="porcentaje_app_vivo2">
            <a:extLst>
              <a:ext uri="{FF2B5EF4-FFF2-40B4-BE49-F238E27FC236}">
                <a16:creationId xmlns:a16="http://schemas.microsoft.com/office/drawing/2014/main" id="{419160B3-9ACC-EC2C-C375-AAFE48ACE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225424"/>
              </p:ext>
            </p:extLst>
          </p:nvPr>
        </p:nvGraphicFramePr>
        <p:xfrm>
          <a:off x="7997184" y="172731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spuestas_embajador1">
            <a:extLst>
              <a:ext uri="{FF2B5EF4-FFF2-40B4-BE49-F238E27FC236}">
                <a16:creationId xmlns:a16="http://schemas.microsoft.com/office/drawing/2014/main" id="{3F7714F9-8359-2EC6-06EF-7C1969428194}"/>
              </a:ext>
            </a:extLst>
          </p:cNvPr>
          <p:cNvSpPr txBox="1"/>
          <p:nvPr/>
        </p:nvSpPr>
        <p:spPr>
          <a:xfrm>
            <a:off x="946603" y="1418295"/>
            <a:ext cx="425030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¿Eres un Embajador/a del Bienestar y la Salud Mental en tu sede?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6" name="embajador_salud_mental1">
            <a:extLst>
              <a:ext uri="{FF2B5EF4-FFF2-40B4-BE49-F238E27FC236}">
                <a16:creationId xmlns:a16="http://schemas.microsoft.com/office/drawing/2014/main" id="{FD640FA1-5552-2ADA-1C59-27CA9F9E6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210058"/>
              </p:ext>
            </p:extLst>
          </p:nvPr>
        </p:nvGraphicFramePr>
        <p:xfrm>
          <a:off x="729130" y="1885301"/>
          <a:ext cx="4673344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respuestas_embajador2">
            <a:extLst>
              <a:ext uri="{FF2B5EF4-FFF2-40B4-BE49-F238E27FC236}">
                <a16:creationId xmlns:a16="http://schemas.microsoft.com/office/drawing/2014/main" id="{466C20E7-4824-8540-C888-EC8B6EC83467}"/>
              </a:ext>
            </a:extLst>
          </p:cNvPr>
          <p:cNvSpPr txBox="1"/>
          <p:nvPr/>
        </p:nvSpPr>
        <p:spPr>
          <a:xfrm>
            <a:off x="7945670" y="1121971"/>
            <a:ext cx="365031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qué medida el curso de embajadores ha aportado a tu bienestar y salud mental? N = XXX</a:t>
            </a:r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8" name="embajador_salud_mental2">
            <a:extLst>
              <a:ext uri="{FF2B5EF4-FFF2-40B4-BE49-F238E27FC236}">
                <a16:creationId xmlns:a16="http://schemas.microsoft.com/office/drawing/2014/main" id="{9904FE9A-2C4F-1726-2541-E4163CDBFF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5160517"/>
              </p:ext>
            </p:extLst>
          </p:nvPr>
        </p:nvGraphicFramePr>
        <p:xfrm>
          <a:off x="7321047" y="1885300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9" name="Gráfico 28" descr="Maestro con relleno sólido">
            <a:extLst>
              <a:ext uri="{FF2B5EF4-FFF2-40B4-BE49-F238E27FC236}">
                <a16:creationId xmlns:a16="http://schemas.microsoft.com/office/drawing/2014/main" id="{E4C22231-6E02-DEBD-3D38-889E3C90D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30" name="Google Shape;356;p25">
            <a:extLst>
              <a:ext uri="{FF2B5EF4-FFF2-40B4-BE49-F238E27FC236}">
                <a16:creationId xmlns:a16="http://schemas.microsoft.com/office/drawing/2014/main" id="{45FF0703-05C6-C210-4063-3EBF1093611F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57;p25">
            <a:extLst>
              <a:ext uri="{FF2B5EF4-FFF2-40B4-BE49-F238E27FC236}">
                <a16:creationId xmlns:a16="http://schemas.microsoft.com/office/drawing/2014/main" id="{7D96F4A4-4B8D-B993-9BB9-65F6EBFCCF8B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2" name="Google Shape;350;p25">
            <a:extLst>
              <a:ext uri="{FF2B5EF4-FFF2-40B4-BE49-F238E27FC236}">
                <a16:creationId xmlns:a16="http://schemas.microsoft.com/office/drawing/2014/main" id="{6026BCE2-3A73-D2C3-346D-4325B1C78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350;p25">
            <a:extLst>
              <a:ext uri="{FF2B5EF4-FFF2-40B4-BE49-F238E27FC236}">
                <a16:creationId xmlns:a16="http://schemas.microsoft.com/office/drawing/2014/main" id="{FCCD91D5-9B55-DA6A-E245-E0D9F3A937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Embajadores de la salud mental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17" name="Google Shape;351;p25">
            <a:extLst>
              <a:ext uri="{FF2B5EF4-FFF2-40B4-BE49-F238E27FC236}">
                <a16:creationId xmlns:a16="http://schemas.microsoft.com/office/drawing/2014/main" id="{F13E2AAE-4B16-5B8D-BAD1-003B04BD2995}"/>
              </a:ext>
            </a:extLst>
          </p:cNvPr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dirty="0"/>
          </a:p>
        </p:txBody>
      </p:sp>
      <p:sp>
        <p:nvSpPr>
          <p:cNvPr id="18" name="Google Shape;352;p25">
            <a:extLst>
              <a:ext uri="{FF2B5EF4-FFF2-40B4-BE49-F238E27FC236}">
                <a16:creationId xmlns:a16="http://schemas.microsoft.com/office/drawing/2014/main" id="{EAF0C185-4F95-00DF-6992-7C43370A8F66}"/>
              </a:ext>
            </a:extLst>
          </p:cNvPr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9" name="embajador_salud_mental3">
            <a:extLst>
              <a:ext uri="{FF2B5EF4-FFF2-40B4-BE49-F238E27FC236}">
                <a16:creationId xmlns:a16="http://schemas.microsoft.com/office/drawing/2014/main" id="{11D1B94E-8E87-F0DA-C6E6-0C69B918B8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917082"/>
              </p:ext>
            </p:extLst>
          </p:nvPr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Google Shape;354;p25">
            <a:extLst>
              <a:ext uri="{FF2B5EF4-FFF2-40B4-BE49-F238E27FC236}">
                <a16:creationId xmlns:a16="http://schemas.microsoft.com/office/drawing/2014/main" id="{47E6D3D3-163C-5781-835A-5DD82431AC88}"/>
              </a:ext>
            </a:extLst>
          </p:cNvPr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1" name="embajador_salud_mental4">
            <a:extLst>
              <a:ext uri="{FF2B5EF4-FFF2-40B4-BE49-F238E27FC236}">
                <a16:creationId xmlns:a16="http://schemas.microsoft.com/office/drawing/2014/main" id="{85B70636-35DA-A26A-2F9E-08D14B332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4503494"/>
              </p:ext>
            </p:extLst>
          </p:nvPr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Google Shape;354;p25">
            <a:extLst>
              <a:ext uri="{FF2B5EF4-FFF2-40B4-BE49-F238E27FC236}">
                <a16:creationId xmlns:a16="http://schemas.microsoft.com/office/drawing/2014/main" id="{F08B2FE9-29C5-A2F6-4662-7A1AA946762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3" name="embajador_salud_mental5">
            <a:extLst>
              <a:ext uri="{FF2B5EF4-FFF2-40B4-BE49-F238E27FC236}">
                <a16:creationId xmlns:a16="http://schemas.microsoft.com/office/drawing/2014/main" id="{74F759F0-08B7-DDF1-31AF-C3F11CA39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99705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4" name="Gráfico 23" descr="Maestro con relleno sólido">
            <a:extLst>
              <a:ext uri="{FF2B5EF4-FFF2-40B4-BE49-F238E27FC236}">
                <a16:creationId xmlns:a16="http://schemas.microsoft.com/office/drawing/2014/main" id="{D4CB1032-EE45-95F8-0328-F826B1E4E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25" name="respuestas_embajador3">
            <a:extLst>
              <a:ext uri="{FF2B5EF4-FFF2-40B4-BE49-F238E27FC236}">
                <a16:creationId xmlns:a16="http://schemas.microsoft.com/office/drawing/2014/main" id="{C4D7D884-361B-27DF-A4D3-ECBFE2D169C4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6053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1;p25">
            <a:extLst>
              <a:ext uri="{FF2B5EF4-FFF2-40B4-BE49-F238E27FC236}">
                <a16:creationId xmlns:a16="http://schemas.microsoft.com/office/drawing/2014/main" id="{809F26FB-9A93-3E4A-104E-930A5747B26F}"/>
              </a:ext>
            </a:extLst>
          </p:cNvPr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5" name="respuestas_embajador5">
            <a:extLst>
              <a:ext uri="{FF2B5EF4-FFF2-40B4-BE49-F238E27FC236}">
                <a16:creationId xmlns:a16="http://schemas.microsoft.com/office/drawing/2014/main" id="{FC6556C7-2D93-00AC-4B5F-15E3CBE6C6B3}"/>
              </a:ext>
            </a:extLst>
          </p:cNvPr>
          <p:cNvSpPr txBox="1"/>
          <p:nvPr/>
        </p:nvSpPr>
        <p:spPr>
          <a:xfrm>
            <a:off x="6986129" y="742391"/>
            <a:ext cx="44255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¿Cuál de las siguientes alternativas representa la razón por la que no te interesaría ser Embajador/a?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6" name="respuestas_embajador4">
            <a:extLst>
              <a:ext uri="{FF2B5EF4-FFF2-40B4-BE49-F238E27FC236}">
                <a16:creationId xmlns:a16="http://schemas.microsoft.com/office/drawing/2014/main" id="{873C2DAB-B492-1E1E-ED70-EFAF2D08A81C}"/>
              </a:ext>
            </a:extLst>
          </p:cNvPr>
          <p:cNvSpPr txBox="1"/>
          <p:nvPr/>
        </p:nvSpPr>
        <p:spPr>
          <a:xfrm>
            <a:off x="175826" y="2197934"/>
            <a:ext cx="295415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Con la información que acabas de leer sobre el programa, ¿te interesaría ser un Embajador/a del Bienestar y la Salud Mental?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7" name="embajador_salud_mental6">
            <a:extLst>
              <a:ext uri="{FF2B5EF4-FFF2-40B4-BE49-F238E27FC236}">
                <a16:creationId xmlns:a16="http://schemas.microsoft.com/office/drawing/2014/main" id="{4D05D872-1836-1F20-DAB6-3B7249DE78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608247"/>
              </p:ext>
            </p:extLst>
          </p:nvPr>
        </p:nvGraphicFramePr>
        <p:xfrm>
          <a:off x="2075741" y="1894496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Gráfico 7" descr="Maestro con relleno sólido">
            <a:extLst>
              <a:ext uri="{FF2B5EF4-FFF2-40B4-BE49-F238E27FC236}">
                <a16:creationId xmlns:a16="http://schemas.microsoft.com/office/drawing/2014/main" id="{2E7EF863-6C41-37D1-8678-356EBF2F6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9" name="Google Shape;357;p25">
            <a:extLst>
              <a:ext uri="{FF2B5EF4-FFF2-40B4-BE49-F238E27FC236}">
                <a16:creationId xmlns:a16="http://schemas.microsoft.com/office/drawing/2014/main" id="{5E7ACCAE-DBB8-F249-0C35-321CEC7AA496}"/>
              </a:ext>
            </a:extLst>
          </p:cNvPr>
          <p:cNvSpPr txBox="1"/>
          <p:nvPr/>
        </p:nvSpPr>
        <p:spPr>
          <a:xfrm>
            <a:off x="2335484" y="1279709"/>
            <a:ext cx="31017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357;p25">
            <a:extLst>
              <a:ext uri="{FF2B5EF4-FFF2-40B4-BE49-F238E27FC236}">
                <a16:creationId xmlns:a16="http://schemas.microsoft.com/office/drawing/2014/main" id="{CF21A05C-FAB0-AC00-CA52-69F9399CF121}"/>
              </a:ext>
            </a:extLst>
          </p:cNvPr>
          <p:cNvSpPr txBox="1"/>
          <p:nvPr/>
        </p:nvSpPr>
        <p:spPr>
          <a:xfrm>
            <a:off x="4207240" y="4128784"/>
            <a:ext cx="30008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0" name="embajador_salud_mental7">
            <a:extLst>
              <a:ext uri="{FF2B5EF4-FFF2-40B4-BE49-F238E27FC236}">
                <a16:creationId xmlns:a16="http://schemas.microsoft.com/office/drawing/2014/main" id="{3B76D4A4-7C62-AC88-5EDA-8111EBA71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1954433"/>
              </p:ext>
            </p:extLst>
          </p:nvPr>
        </p:nvGraphicFramePr>
        <p:xfrm>
          <a:off x="7260562" y="1545008"/>
          <a:ext cx="3864253" cy="262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Google Shape;356;p25">
            <a:extLst>
              <a:ext uri="{FF2B5EF4-FFF2-40B4-BE49-F238E27FC236}">
                <a16:creationId xmlns:a16="http://schemas.microsoft.com/office/drawing/2014/main" id="{9940357A-6DAD-E245-1949-F6AC5EA68427}"/>
              </a:ext>
            </a:extLst>
          </p:cNvPr>
          <p:cNvSpPr/>
          <p:nvPr/>
        </p:nvSpPr>
        <p:spPr>
          <a:xfrm>
            <a:off x="4716025" y="345870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6;p25">
            <a:extLst>
              <a:ext uri="{FF2B5EF4-FFF2-40B4-BE49-F238E27FC236}">
                <a16:creationId xmlns:a16="http://schemas.microsoft.com/office/drawing/2014/main" id="{590CB71F-D6DB-1285-E4B1-5FA4B1CFA67B}"/>
              </a:ext>
            </a:extLst>
          </p:cNvPr>
          <p:cNvSpPr/>
          <p:nvPr/>
        </p:nvSpPr>
        <p:spPr>
          <a:xfrm>
            <a:off x="491319" y="116059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50;p25">
            <a:extLst>
              <a:ext uri="{FF2B5EF4-FFF2-40B4-BE49-F238E27FC236}">
                <a16:creationId xmlns:a16="http://schemas.microsoft.com/office/drawing/2014/main" id="{82269281-0218-22D4-5ABC-0313CF514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50;p25">
            <a:extLst>
              <a:ext uri="{FF2B5EF4-FFF2-40B4-BE49-F238E27FC236}">
                <a16:creationId xmlns:a16="http://schemas.microsoft.com/office/drawing/2014/main" id="{7EB8F025-0553-237C-E8B3-5F3CEEA28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Embajadores de la salud mental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14" name="respuestas_embajador6">
            <a:extLst>
              <a:ext uri="{FF2B5EF4-FFF2-40B4-BE49-F238E27FC236}">
                <a16:creationId xmlns:a16="http://schemas.microsoft.com/office/drawing/2014/main" id="{B323F692-402A-8263-855C-3AB6DC8D6B28}"/>
              </a:ext>
            </a:extLst>
          </p:cNvPr>
          <p:cNvSpPr txBox="1"/>
          <p:nvPr/>
        </p:nvSpPr>
        <p:spPr>
          <a:xfrm>
            <a:off x="360115" y="1541017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algún momento has buscado o recibido apoyo, orientación o información sobre bienestar y salud mental a través de alguien de la comunidad Duoc UC? (N=XXX)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embajador_salud_mental8">
            <a:extLst>
              <a:ext uri="{FF2B5EF4-FFF2-40B4-BE49-F238E27FC236}">
                <a16:creationId xmlns:a16="http://schemas.microsoft.com/office/drawing/2014/main" id="{5975CCB5-E3AB-7F32-6E8E-F9D5225AC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382299"/>
              </p:ext>
            </p:extLst>
          </p:nvPr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espuestas_embajador7">
            <a:extLst>
              <a:ext uri="{FF2B5EF4-FFF2-40B4-BE49-F238E27FC236}">
                <a16:creationId xmlns:a16="http://schemas.microsoft.com/office/drawing/2014/main" id="{BD9457A4-DC77-B412-C786-277B45C27A09}"/>
              </a:ext>
            </a:extLst>
          </p:cNvPr>
          <p:cNvSpPr txBox="1"/>
          <p:nvPr/>
        </p:nvSpPr>
        <p:spPr>
          <a:xfrm>
            <a:off x="7579238" y="237749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¿Recuerdas si esa persona era un Embajador/a del Bienestar y la Salud Mental? (N=XXX)</a:t>
            </a:r>
          </a:p>
        </p:txBody>
      </p:sp>
      <p:pic>
        <p:nvPicPr>
          <p:cNvPr id="17" name="Gráfico 16" descr="Maestro con relleno sólido">
            <a:extLst>
              <a:ext uri="{FF2B5EF4-FFF2-40B4-BE49-F238E27FC236}">
                <a16:creationId xmlns:a16="http://schemas.microsoft.com/office/drawing/2014/main" id="{5CF55F00-0D81-4D92-D304-041194127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8" name="embajador_salud_mental9">
            <a:extLst>
              <a:ext uri="{FF2B5EF4-FFF2-40B4-BE49-F238E27FC236}">
                <a16:creationId xmlns:a16="http://schemas.microsoft.com/office/drawing/2014/main" id="{A77144C7-00C1-E433-5D17-DA8C4F25F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2839542"/>
              </p:ext>
            </p:extLst>
          </p:nvPr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3668BA65-3C64-9EFB-190C-41309945F90A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E7FF2EAE-CCC7-24FD-677E-3D617E00D9AF}"/>
              </a:ext>
            </a:extLst>
          </p:cNvPr>
          <p:cNvSpPr/>
          <p:nvPr/>
        </p:nvSpPr>
        <p:spPr>
          <a:xfrm>
            <a:off x="5017198" y="3806927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9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3ACAF0CE-58B8-E423-D18A-22BC4F826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Atenciones psicológicas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5" name="Google Shape;351;p25">
            <a:extLst>
              <a:ext uri="{FF2B5EF4-FFF2-40B4-BE49-F238E27FC236}">
                <a16:creationId xmlns:a16="http://schemas.microsoft.com/office/drawing/2014/main" id="{77BBD4ED-F4C7-860F-0FFB-AB037F26534B}"/>
              </a:ext>
            </a:extLst>
          </p:cNvPr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" name="Google Shape;352;p25">
            <a:extLst>
              <a:ext uri="{FF2B5EF4-FFF2-40B4-BE49-F238E27FC236}">
                <a16:creationId xmlns:a16="http://schemas.microsoft.com/office/drawing/2014/main" id="{1BAF7FF9-0037-0311-080C-275B904A6717}"/>
              </a:ext>
            </a:extLst>
          </p:cNvPr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8" name="atencion_psicologica1">
            <a:extLst>
              <a:ext uri="{FF2B5EF4-FFF2-40B4-BE49-F238E27FC236}">
                <a16:creationId xmlns:a16="http://schemas.microsoft.com/office/drawing/2014/main" id="{B4B06A6B-59D3-4FD9-77F6-5A07396A4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555365"/>
              </p:ext>
            </p:extLst>
          </p:nvPr>
        </p:nvGraphicFramePr>
        <p:xfrm>
          <a:off x="66908" y="1899015"/>
          <a:ext cx="4537152" cy="237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54;p25">
            <a:extLst>
              <a:ext uri="{FF2B5EF4-FFF2-40B4-BE49-F238E27FC236}">
                <a16:creationId xmlns:a16="http://schemas.microsoft.com/office/drawing/2014/main" id="{87ADACC9-5DA2-3C04-9E34-3B1588E704A6}"/>
              </a:ext>
            </a:extLst>
          </p:cNvPr>
          <p:cNvSpPr txBox="1"/>
          <p:nvPr/>
        </p:nvSpPr>
        <p:spPr>
          <a:xfrm>
            <a:off x="7082033" y="55587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354;p25">
            <a:extLst>
              <a:ext uri="{FF2B5EF4-FFF2-40B4-BE49-F238E27FC236}">
                <a16:creationId xmlns:a16="http://schemas.microsoft.com/office/drawing/2014/main" id="{10DE6FC4-D54F-94FA-42FE-2F90B158EC83}"/>
              </a:ext>
            </a:extLst>
          </p:cNvPr>
          <p:cNvSpPr txBox="1"/>
          <p:nvPr/>
        </p:nvSpPr>
        <p:spPr>
          <a:xfrm>
            <a:off x="6096000" y="527761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11" name="Gráfico 10" descr="Cerebro en la cabeza con relleno sólido">
            <a:extLst>
              <a:ext uri="{FF2B5EF4-FFF2-40B4-BE49-F238E27FC236}">
                <a16:creationId xmlns:a16="http://schemas.microsoft.com/office/drawing/2014/main" id="{AE980510-43B6-0A14-5352-D3C87C893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2" name="atencion_psicologica2">
            <a:extLst>
              <a:ext uri="{FF2B5EF4-FFF2-40B4-BE49-F238E27FC236}">
                <a16:creationId xmlns:a16="http://schemas.microsoft.com/office/drawing/2014/main" id="{6B241851-03D2-35D9-2F36-191A4ECBCB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000860"/>
              </p:ext>
            </p:extLst>
          </p:nvPr>
        </p:nvGraphicFramePr>
        <p:xfrm>
          <a:off x="7275749" y="1382524"/>
          <a:ext cx="3708208" cy="22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atencion_psicologica3">
            <a:extLst>
              <a:ext uri="{FF2B5EF4-FFF2-40B4-BE49-F238E27FC236}">
                <a16:creationId xmlns:a16="http://schemas.microsoft.com/office/drawing/2014/main" id="{AABCB2FC-9C37-5DC3-A3E9-FA6F14DA65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794833"/>
              </p:ext>
            </p:extLst>
          </p:nvPr>
        </p:nvGraphicFramePr>
        <p:xfrm>
          <a:off x="8910117" y="4731755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respuestas_atencion_psiscologica1">
            <a:extLst>
              <a:ext uri="{FF2B5EF4-FFF2-40B4-BE49-F238E27FC236}">
                <a16:creationId xmlns:a16="http://schemas.microsoft.com/office/drawing/2014/main" id="{B7490006-F80B-1C5E-DCEB-43707895AA7D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"/>
              </a:rPr>
              <a:t>Nota: esta sección incluye un total de XXX respuestas.</a:t>
            </a:r>
            <a:endParaRPr lang="es-MX" sz="1200" dirty="0">
              <a:latin typeface="Calibri Light"/>
              <a:ea typeface="Calibri Light"/>
              <a:cs typeface="Calibri Light"/>
              <a:sym typeface="Calibri"/>
            </a:endParaRPr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9418A863-BA2F-5EC9-1327-287CE7AF216F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5FE1BF2F-FDC0-C608-4255-DD98785530E2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1;p25">
            <a:extLst>
              <a:ext uri="{FF2B5EF4-FFF2-40B4-BE49-F238E27FC236}">
                <a16:creationId xmlns:a16="http://schemas.microsoft.com/office/drawing/2014/main" id="{D0E89F16-BEC2-285A-9544-F13BBC171C61}"/>
              </a:ext>
            </a:extLst>
          </p:cNvPr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6" name="Google Shape;352;p25">
            <a:extLst>
              <a:ext uri="{FF2B5EF4-FFF2-40B4-BE49-F238E27FC236}">
                <a16:creationId xmlns:a16="http://schemas.microsoft.com/office/drawing/2014/main" id="{BC97C172-BB21-49D8-D680-5457393452D2}"/>
              </a:ext>
            </a:extLst>
          </p:cNvPr>
          <p:cNvSpPr txBox="1"/>
          <p:nvPr/>
        </p:nvSpPr>
        <p:spPr>
          <a:xfrm>
            <a:off x="203473" y="1394238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7" name="atencion_psicologica4">
            <a:extLst>
              <a:ext uri="{FF2B5EF4-FFF2-40B4-BE49-F238E27FC236}">
                <a16:creationId xmlns:a16="http://schemas.microsoft.com/office/drawing/2014/main" id="{2C1008F6-929D-F73A-DC1B-62C062F544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316625"/>
              </p:ext>
            </p:extLst>
          </p:nvPr>
        </p:nvGraphicFramePr>
        <p:xfrm>
          <a:off x="656337" y="1945242"/>
          <a:ext cx="4642357" cy="2544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E639F789-CDED-DDEB-1B64-D4905CF5282D}"/>
              </a:ext>
            </a:extLst>
          </p:cNvPr>
          <p:cNvSpPr txBox="1"/>
          <p:nvPr/>
        </p:nvSpPr>
        <p:spPr>
          <a:xfrm>
            <a:off x="7195118" y="3421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9" name="Google Shape;354;p25">
            <a:extLst>
              <a:ext uri="{FF2B5EF4-FFF2-40B4-BE49-F238E27FC236}">
                <a16:creationId xmlns:a16="http://schemas.microsoft.com/office/drawing/2014/main" id="{B196016A-49A9-0B8D-374E-ED9F3CDDC728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10" name="Gráfico 9" descr="Corazón con pulso con relleno sólido">
            <a:extLst>
              <a:ext uri="{FF2B5EF4-FFF2-40B4-BE49-F238E27FC236}">
                <a16:creationId xmlns:a16="http://schemas.microsoft.com/office/drawing/2014/main" id="{FD3DFF6A-F579-599A-180E-C88D7EC15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1" name="atencion_psicologica5">
            <a:extLst>
              <a:ext uri="{FF2B5EF4-FFF2-40B4-BE49-F238E27FC236}">
                <a16:creationId xmlns:a16="http://schemas.microsoft.com/office/drawing/2014/main" id="{45B93542-F05B-64D5-EFF6-E4DF289811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4926288"/>
              </p:ext>
            </p:extLst>
          </p:nvPr>
        </p:nvGraphicFramePr>
        <p:xfrm>
          <a:off x="7602750" y="1182640"/>
          <a:ext cx="3180331" cy="227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atencion_psicologica6">
            <a:extLst>
              <a:ext uri="{FF2B5EF4-FFF2-40B4-BE49-F238E27FC236}">
                <a16:creationId xmlns:a16="http://schemas.microsoft.com/office/drawing/2014/main" id="{5FCAE064-39AF-A388-3EAC-3BE14BA52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552554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respuestas_bienestar_integral">
            <a:extLst>
              <a:ext uri="{FF2B5EF4-FFF2-40B4-BE49-F238E27FC236}">
                <a16:creationId xmlns:a16="http://schemas.microsoft.com/office/drawing/2014/main" id="{6388D057-677A-3792-6DD6-FB534A2EA80A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"/>
              </a:rPr>
              <a:t>Nota: esta sección incluye un total de XXX respuestas.</a:t>
            </a:r>
            <a:endParaRPr lang="es-MX" sz="1200">
              <a:latin typeface="Calibri Light"/>
              <a:ea typeface="Calibri Light"/>
              <a:cs typeface="Calibri Light"/>
              <a:sym typeface="Calibri"/>
            </a:endParaRPr>
          </a:p>
        </p:txBody>
      </p:sp>
      <p:sp>
        <p:nvSpPr>
          <p:cNvPr id="18" name="Google Shape;357;p25">
            <a:extLst>
              <a:ext uri="{FF2B5EF4-FFF2-40B4-BE49-F238E27FC236}">
                <a16:creationId xmlns:a16="http://schemas.microsoft.com/office/drawing/2014/main" id="{4DE51EDB-AD0F-D611-1B84-60C39478FDE1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356;p25">
            <a:extLst>
              <a:ext uri="{FF2B5EF4-FFF2-40B4-BE49-F238E27FC236}">
                <a16:creationId xmlns:a16="http://schemas.microsoft.com/office/drawing/2014/main" id="{875E78AF-6592-B1F8-D445-6E9E867A0CBB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50;p25">
            <a:extLst>
              <a:ext uri="{FF2B5EF4-FFF2-40B4-BE49-F238E27FC236}">
                <a16:creationId xmlns:a16="http://schemas.microsoft.com/office/drawing/2014/main" id="{61D43187-6E9D-7B5C-61C8-B46EE9650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Bienestar integral en movimiento</a:t>
            </a:r>
            <a:endParaRPr sz="32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Síntesis global y 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9"/>
          <p:cNvSpPr/>
          <p:nvPr/>
        </p:nvSpPr>
        <p:spPr>
          <a:xfrm>
            <a:off x="279127" y="665853"/>
            <a:ext cx="112149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Junto al reporte global se entregan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 reportes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:</a:t>
            </a:r>
            <a:endParaRPr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2" name="Google Shape;1032;p89"/>
          <p:cNvSpPr txBox="1">
            <a:spLocks noGrp="1"/>
          </p:cNvSpPr>
          <p:nvPr>
            <p:ph type="title"/>
          </p:nvPr>
        </p:nvSpPr>
        <p:spPr>
          <a:xfrm>
            <a:off x="279127" y="-161253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Reportes específicos</a:t>
            </a:r>
            <a:endParaRPr sz="2400" dirty="0">
              <a:solidFill>
                <a:srgbClr val="E30613"/>
              </a:solidFill>
            </a:endParaRPr>
          </a:p>
        </p:txBody>
      </p:sp>
      <p:grpSp>
        <p:nvGrpSpPr>
          <p:cNvPr id="1033" name="Google Shape;1033;p89"/>
          <p:cNvGrpSpPr/>
          <p:nvPr/>
        </p:nvGrpSpPr>
        <p:grpSpPr>
          <a:xfrm>
            <a:off x="2463839" y="1249254"/>
            <a:ext cx="8127920" cy="5160361"/>
            <a:chOff x="39" y="13611"/>
            <a:chExt cx="8127920" cy="5160361"/>
          </a:xfrm>
        </p:grpSpPr>
        <p:sp>
          <p:nvSpPr>
            <p:cNvPr id="1034" name="Google Shape;1034;p89"/>
            <p:cNvSpPr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9"/>
            <p:cNvSpPr txBox="1"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Sedes</a:t>
              </a:r>
              <a:endParaRPr/>
            </a:p>
          </p:txBody>
        </p:sp>
        <p:sp>
          <p:nvSpPr>
            <p:cNvPr id="1036" name="Google Shape;1036;p89"/>
            <p:cNvSpPr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9"/>
            <p:cNvSpPr txBox="1"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Alameda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Antonio Varas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Arauco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Villarrica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Comunicaciones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Concepción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Maipú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Melipilla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Online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Padre Alonso de Ovalle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Norte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Oeste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Vespucio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Puente Alto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Puerto Montt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Bernardo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Carlos de Apoquindo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Joaquín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Valparaíso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Viña del Mar</a:t>
              </a:r>
            </a:p>
          </p:txBody>
        </p:sp>
        <p:sp>
          <p:nvSpPr>
            <p:cNvPr id="1038" name="Google Shape;1038;p89"/>
            <p:cNvSpPr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9"/>
            <p:cNvSpPr txBox="1"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Escuelas</a:t>
              </a:r>
              <a:endParaRPr/>
            </a:p>
          </p:txBody>
        </p:sp>
        <p:sp>
          <p:nvSpPr>
            <p:cNvPr id="1040" name="Google Shape;1040;p89"/>
            <p:cNvSpPr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w="12700" cap="flat" cmpd="sng">
              <a:solidFill>
                <a:srgbClr val="E0E0E0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9"/>
            <p:cNvSpPr txBox="1"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112000" rIns="149350" bIns="168000" anchor="t" anchorCtr="0">
              <a:noAutofit/>
            </a:bodyPr>
            <a:lstStyle/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Administración y Negocios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Construcción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Diseño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Gastronomía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Informática y Telecomunicaciones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Ingeniería, Medio Ambiente y Recursos Naturales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/>
                  <a:ea typeface="Calibri"/>
                  <a:cs typeface="Calibri Light"/>
                  <a:sym typeface="Calibri"/>
                </a:rPr>
                <a:t>Salud y Bienestar</a:t>
              </a:r>
              <a:endParaRPr lang="es-ES" sz="18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endParaRP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Turismo y Hotelería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4BE4B2-5DA3-407E-AF87-08AB689F523B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personas_cuidado2">
            <a:extLst>
              <a:ext uri="{FF2B5EF4-FFF2-40B4-BE49-F238E27FC236}">
                <a16:creationId xmlns:a16="http://schemas.microsoft.com/office/drawing/2014/main" id="{FB095207-12E8-81D3-A710-0558427612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82565"/>
              </p:ext>
            </p:extLst>
          </p:nvPr>
        </p:nvGraphicFramePr>
        <p:xfrm>
          <a:off x="6096000" y="177468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personas_cuidado1">
            <a:extLst>
              <a:ext uri="{FF2B5EF4-FFF2-40B4-BE49-F238E27FC236}">
                <a16:creationId xmlns:a16="http://schemas.microsoft.com/office/drawing/2014/main" id="{BA2DFC3A-3E74-B9FA-E196-4198214E03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825984"/>
              </p:ext>
            </p:extLst>
          </p:nvPr>
        </p:nvGraphicFramePr>
        <p:xfrm>
          <a:off x="491318" y="122872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Google Shape;1071;p93">
            <a:extLst>
              <a:ext uri="{FF2B5EF4-FFF2-40B4-BE49-F238E27FC236}">
                <a16:creationId xmlns:a16="http://schemas.microsoft.com/office/drawing/2014/main" id="{6B5808BB-4044-79C2-AB2D-72E1C08D5B49}"/>
              </a:ext>
            </a:extLst>
          </p:cNvPr>
          <p:cNvSpPr/>
          <p:nvPr/>
        </p:nvSpPr>
        <p:spPr>
          <a:xfrm>
            <a:off x="2650671" y="177468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072;p93">
            <a:extLst>
              <a:ext uri="{FF2B5EF4-FFF2-40B4-BE49-F238E27FC236}">
                <a16:creationId xmlns:a16="http://schemas.microsoft.com/office/drawing/2014/main" id="{50FAE27F-AE7C-0DFE-C0E4-ADB5496DD700}"/>
              </a:ext>
            </a:extLst>
          </p:cNvPr>
          <p:cNvCxnSpPr/>
          <p:nvPr/>
        </p:nvCxnSpPr>
        <p:spPr>
          <a:xfrm>
            <a:off x="5127172" y="321295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Google Shape;1073;p93">
            <a:extLst>
              <a:ext uri="{FF2B5EF4-FFF2-40B4-BE49-F238E27FC236}">
                <a16:creationId xmlns:a16="http://schemas.microsoft.com/office/drawing/2014/main" id="{3DE94597-1FE0-12AD-2349-256BE37AE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</a:t>
            </a:r>
            <a:endParaRPr dirty="0"/>
          </a:p>
        </p:txBody>
      </p:sp>
      <p:sp>
        <p:nvSpPr>
          <p:cNvPr id="9" name="respuestas_personas_cuidado2">
            <a:extLst>
              <a:ext uri="{FF2B5EF4-FFF2-40B4-BE49-F238E27FC236}">
                <a16:creationId xmlns:a16="http://schemas.microsoft.com/office/drawing/2014/main" id="{62BBD31C-698D-521F-657D-9A8918D07C73}"/>
              </a:ext>
            </a:extLst>
          </p:cNvPr>
          <p:cNvSpPr txBox="1"/>
          <p:nvPr/>
        </p:nvSpPr>
        <p:spPr>
          <a:xfrm>
            <a:off x="7055006" y="1094867"/>
            <a:ext cx="3954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¿Cuentas con apoyo para el cuidado de esa(s) persona(s) mientras estudias?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respuestas_personas_cuidado1">
            <a:extLst>
              <a:ext uri="{FF2B5EF4-FFF2-40B4-BE49-F238E27FC236}">
                <a16:creationId xmlns:a16="http://schemas.microsoft.com/office/drawing/2014/main" id="{047064F7-844A-87AF-9DE3-DC9FDB0882F3}"/>
              </a:ext>
            </a:extLst>
          </p:cNvPr>
          <p:cNvSpPr txBox="1"/>
          <p:nvPr/>
        </p:nvSpPr>
        <p:spPr>
          <a:xfrm>
            <a:off x="836515" y="1072091"/>
            <a:ext cx="4290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 N = XXX</a:t>
            </a:r>
            <a:endParaRPr lang="en-US" sz="1600" kern="1200" dirty="0">
              <a:solidFill>
                <a:srgbClr val="000000">
                  <a:lumMod val="65000"/>
                  <a:lumOff val="35000"/>
                </a:srgb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ituacion_empleo">
            <a:extLst>
              <a:ext uri="{FF2B5EF4-FFF2-40B4-BE49-F238E27FC236}">
                <a16:creationId xmlns:a16="http://schemas.microsoft.com/office/drawing/2014/main" id="{DEA6C64B-93D7-29B2-6C59-4EA3B40EFD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577864"/>
              </p:ext>
            </p:extLst>
          </p:nvPr>
        </p:nvGraphicFramePr>
        <p:xfrm>
          <a:off x="2393949" y="1667264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1080;p94">
            <a:extLst>
              <a:ext uri="{FF2B5EF4-FFF2-40B4-BE49-F238E27FC236}">
                <a16:creationId xmlns:a16="http://schemas.microsoft.com/office/drawing/2014/main" id="{F5173A55-5B59-C34B-FE86-7A882B61F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Situación de empleo</a:t>
            </a:r>
            <a:endParaRPr/>
          </a:p>
        </p:txBody>
      </p:sp>
      <p:sp>
        <p:nvSpPr>
          <p:cNvPr id="2" name="respuestas_empleo">
            <a:extLst>
              <a:ext uri="{FF2B5EF4-FFF2-40B4-BE49-F238E27FC236}">
                <a16:creationId xmlns:a16="http://schemas.microsoft.com/office/drawing/2014/main" id="{C8C78268-7186-D482-B475-268AE8AB5FCF}"/>
              </a:ext>
            </a:extLst>
          </p:cNvPr>
          <p:cNvSpPr txBox="1"/>
          <p:nvPr/>
        </p:nvSpPr>
        <p:spPr>
          <a:xfrm>
            <a:off x="4064619" y="976798"/>
            <a:ext cx="421833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</a:t>
            </a:r>
          </a:p>
          <a:p>
            <a:pPr algn="ctr">
              <a:defRPr sz="16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tu trabajo actual? N = XXX</a:t>
            </a:r>
            <a:endParaRPr lang="en-US" kern="1200" dirty="0">
              <a:solidFill>
                <a:srgbClr val="000000">
                  <a:lumMod val="65000"/>
                  <a:lumOff val="35000"/>
                </a:srgb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dicion_academica1">
            <a:extLst>
              <a:ext uri="{FF2B5EF4-FFF2-40B4-BE49-F238E27FC236}">
                <a16:creationId xmlns:a16="http://schemas.microsoft.com/office/drawing/2014/main" id="{14502EC0-F5C1-6AF5-8251-093858D94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143926"/>
              </p:ext>
            </p:extLst>
          </p:nvPr>
        </p:nvGraphicFramePr>
        <p:xfrm>
          <a:off x="654424" y="1512446"/>
          <a:ext cx="11120225" cy="312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1093;p96">
            <a:extLst>
              <a:ext uri="{FF2B5EF4-FFF2-40B4-BE49-F238E27FC236}">
                <a16:creationId xmlns:a16="http://schemas.microsoft.com/office/drawing/2014/main" id="{32A5CD62-338E-298A-2FBD-40AB86B34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Condiciones para la actividad académica</a:t>
            </a:r>
            <a:endParaRPr/>
          </a:p>
        </p:txBody>
      </p:sp>
      <p:graphicFrame>
        <p:nvGraphicFramePr>
          <p:cNvPr id="9" name="condicion_academica2">
            <a:extLst>
              <a:ext uri="{FF2B5EF4-FFF2-40B4-BE49-F238E27FC236}">
                <a16:creationId xmlns:a16="http://schemas.microsoft.com/office/drawing/2014/main" id="{183A7AAE-B4EF-43AE-6C7C-4284CE233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586625"/>
              </p:ext>
            </p:extLst>
          </p:nvPr>
        </p:nvGraphicFramePr>
        <p:xfrm>
          <a:off x="491320" y="4634459"/>
          <a:ext cx="11283329" cy="1703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respuestas_condicion_academica">
            <a:extLst>
              <a:ext uri="{FF2B5EF4-FFF2-40B4-BE49-F238E27FC236}">
                <a16:creationId xmlns:a16="http://schemas.microsoft.com/office/drawing/2014/main" id="{8D518FB7-EE8C-400C-3310-9E81D3DE915B}"/>
              </a:ext>
            </a:extLst>
          </p:cNvPr>
          <p:cNvSpPr txBox="1"/>
          <p:nvPr/>
        </p:nvSpPr>
        <p:spPr>
          <a:xfrm>
            <a:off x="2611375" y="1028975"/>
            <a:ext cx="7399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56565A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 acuerdo a las condiciones que tienes para desarrollar tus actividades académicas, ¿cuán de acuerdo estás con las siguientes afirmaciones? N = XXX</a:t>
            </a:r>
            <a:endParaRPr lang="es-CL" kern="1200" dirty="0">
              <a:solidFill>
                <a:srgbClr val="56565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io_sede1">
            <a:extLst>
              <a:ext uri="{FF2B5EF4-FFF2-40B4-BE49-F238E27FC236}">
                <a16:creationId xmlns:a16="http://schemas.microsoft.com/office/drawing/2014/main" id="{07B7BAE1-EB3C-3AE0-1451-10E15A83F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505910"/>
              </p:ext>
            </p:extLst>
          </p:nvPr>
        </p:nvGraphicFramePr>
        <p:xfrm>
          <a:off x="394446" y="1703294"/>
          <a:ext cx="5915867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1080;p94">
            <a:extLst>
              <a:ext uri="{FF2B5EF4-FFF2-40B4-BE49-F238E27FC236}">
                <a16:creationId xmlns:a16="http://schemas.microsoft.com/office/drawing/2014/main" id="{F0225060-202B-341E-E2B7-33D0E42FE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Uso de espacios sedes Duoc UC</a:t>
            </a:r>
            <a:endParaRPr/>
          </a:p>
        </p:txBody>
      </p:sp>
      <p:graphicFrame>
        <p:nvGraphicFramePr>
          <p:cNvPr id="10" name="espacio_sede2">
            <a:extLst>
              <a:ext uri="{FF2B5EF4-FFF2-40B4-BE49-F238E27FC236}">
                <a16:creationId xmlns:a16="http://schemas.microsoft.com/office/drawing/2014/main" id="{B77D7FB2-ACC3-9B17-234C-BE3E4CBA7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3603818"/>
              </p:ext>
            </p:extLst>
          </p:nvPr>
        </p:nvGraphicFramePr>
        <p:xfrm>
          <a:off x="6310312" y="1650066"/>
          <a:ext cx="5715783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F85008DA-0323-ABD6-1764-54477210DE3F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presenciales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BAF09B-833B-5561-B06D-0FB0D3C769C9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online</a:t>
            </a:r>
          </a:p>
        </p:txBody>
      </p:sp>
      <p:sp>
        <p:nvSpPr>
          <p:cNvPr id="13" name="respuestas_espacios_sedes">
            <a:extLst>
              <a:ext uri="{FF2B5EF4-FFF2-40B4-BE49-F238E27FC236}">
                <a16:creationId xmlns:a16="http://schemas.microsoft.com/office/drawing/2014/main" id="{5CEBEEC1-3E61-E375-DD77-718C14AFD059}"/>
              </a:ext>
            </a:extLst>
          </p:cNvPr>
          <p:cNvSpPr txBox="1"/>
          <p:nvPr/>
        </p:nvSpPr>
        <p:spPr>
          <a:xfrm>
            <a:off x="2335484" y="6492875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</p:spTree>
    <p:extLst>
      <p:ext uri="{BB962C8B-B14F-4D97-AF65-F5344CB8AC3E}">
        <p14:creationId xmlns:p14="http://schemas.microsoft.com/office/powerpoint/2010/main" val="11354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6879</TotalTime>
  <Words>2748</Words>
  <Application>Microsoft Office PowerPoint</Application>
  <PresentationFormat>Panorámica</PresentationFormat>
  <Paragraphs>428</Paragraphs>
  <Slides>74</Slides>
  <Notes>72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79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Duoc UC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Caracterización de participantes </vt:lpstr>
      <vt:lpstr>Presentación de PowerPoint</vt:lpstr>
      <vt:lpstr>Presentación de PowerPoint</vt:lpstr>
      <vt:lpstr>Presentación de PowerPoint</vt:lpstr>
      <vt:lpstr>Presentación de PowerPoint</vt:lpstr>
      <vt:lpstr>Resultados descriptivos</vt:lpstr>
      <vt:lpstr>Presentación de PowerPoint</vt:lpstr>
      <vt:lpstr>Nivel de estrés percibido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</vt:lpstr>
      <vt:lpstr>Factor carga de enfermedad</vt:lpstr>
      <vt:lpstr>Patologías recurrentes grupo prevención indicada</vt:lpstr>
      <vt:lpstr>Episodio depresión – Grupo manejo clínico</vt:lpstr>
      <vt:lpstr>Trastorno de ansiedad generalizada – Grupo manejo clínico</vt:lpstr>
      <vt:lpstr>Trastorno de la personalidad – Grupo manejo clínico</vt:lpstr>
      <vt:lpstr>Uso problemático de marihuana – Grupo manejo clínico</vt:lpstr>
      <vt:lpstr>Uso problemático de marihuana – Grupo manejo clínico</vt:lpstr>
      <vt:lpstr>Uso problemático de alcohol – Grupo manejo clínico</vt:lpstr>
      <vt:lpstr>Ideación suicida – Grupo manejo clínico</vt:lpstr>
      <vt:lpstr>Ideación suicida – Grupo manejo clínico</vt:lpstr>
      <vt:lpstr>Ideación suicida – Grupo manejo clínico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</vt:lpstr>
      <vt:lpstr>Perma</vt:lpstr>
      <vt:lpstr>Perma</vt:lpstr>
      <vt:lpstr>Apoyo percibido</vt:lpstr>
      <vt:lpstr>Flow states – Estados de inmersión</vt:lpstr>
      <vt:lpstr>Flow states – Estados de inmersión</vt:lpstr>
      <vt:lpstr>Actividad física</vt:lpstr>
      <vt:lpstr>Alimentación</vt:lpstr>
      <vt:lpstr>Ingesta de líquidos</vt:lpstr>
      <vt:lpstr>Tabaquismo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inferenciales</vt:lpstr>
      <vt:lpstr>Presentación de PowerPoint</vt:lpstr>
      <vt:lpstr>Presentación de PowerPoint</vt:lpstr>
      <vt:lpstr>App Vivo</vt:lpstr>
      <vt:lpstr>Embajadores de la salud mental</vt:lpstr>
      <vt:lpstr>Embajadores de la salud mental</vt:lpstr>
      <vt:lpstr>Embajadores de la salud mental</vt:lpstr>
      <vt:lpstr>Embajadores de la salud mental</vt:lpstr>
      <vt:lpstr>Atenciones psicológicas</vt:lpstr>
      <vt:lpstr>Bienestar integral en movimiento</vt:lpstr>
      <vt:lpstr>Presentación de PowerPoint</vt:lpstr>
      <vt:lpstr>Conclusiones</vt:lpstr>
      <vt:lpstr>Reportes específicos</vt:lpstr>
      <vt:lpstr> Radiografía del Bienestar y la Salud Mental  2025  Duoc UC</vt:lpstr>
      <vt:lpstr>Presentación de PowerPoint</vt:lpstr>
      <vt:lpstr>Personas al cuidado</vt:lpstr>
      <vt:lpstr>Situación de empleo</vt:lpstr>
      <vt:lpstr>Condiciones para la actividad académica</vt:lpstr>
      <vt:lpstr>Uso de espacios sedes Duoc UC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375</cp:revision>
  <dcterms:created xsi:type="dcterms:W3CDTF">2021-01-18T15:18:56Z</dcterms:created>
  <dcterms:modified xsi:type="dcterms:W3CDTF">2025-11-10T16:22:11Z</dcterms:modified>
</cp:coreProperties>
</file>