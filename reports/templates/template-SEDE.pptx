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16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21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22.xml" ContentType="application/vnd.openxmlformats-officedocument.presentationml.notesSl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23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24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7.xml" ContentType="application/vnd.openxmlformats-officedocument.presentationml.notesSlid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notesSlides/notesSlide28.xml" ContentType="application/vnd.openxmlformats-officedocument.presentationml.notesSlid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29.xml" ContentType="application/vnd.openxmlformats-officedocument.presentationml.notesSlid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notesSlides/notesSlide32.xml" ContentType="application/vnd.openxmlformats-officedocument.presentationml.notesSlid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notesSlides/notesSlide33.xml" ContentType="application/vnd.openxmlformats-officedocument.presentationml.notesSlid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36.xml" ContentType="application/vnd.openxmlformats-officedocument.presentationml.notesSlid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notesSlides/notesSlide37.xml" ContentType="application/vnd.openxmlformats-officedocument.presentationml.notesSlid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notesSlides/notesSlide38.xml" ContentType="application/vnd.openxmlformats-officedocument.presentationml.notesSlid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notesSlides/notesSlide41.xml" ContentType="application/vnd.openxmlformats-officedocument.presentationml.notesSlid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notesSlides/notesSlide42.xml" ContentType="application/vnd.openxmlformats-officedocument.presentationml.notesSlid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notesSlides/notesSlide43.xml" ContentType="application/vnd.openxmlformats-officedocument.presentationml.notesSlid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notesSlides/notesSlide44.xml" ContentType="application/vnd.openxmlformats-officedocument.presentationml.notesSlid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notesSlides/notesSlide50.xml" ContentType="application/vnd.openxmlformats-officedocument.presentationml.notesSlid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notesSlides/notesSlide51.xml" ContentType="application/vnd.openxmlformats-officedocument.presentationml.notesSlid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notesSlides/notesSlide52.xml" ContentType="application/vnd.openxmlformats-officedocument.presentationml.notesSlid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notesSlides/notesSlide53.xml" ContentType="application/vnd.openxmlformats-officedocument.presentationml.notesSlid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notesSlides/notesSlide54.xml" ContentType="application/vnd.openxmlformats-officedocument.presentationml.notesSlid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79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notesSlides/notesSlide55.xml" ContentType="application/vnd.openxmlformats-officedocument.presentationml.notesSlide+xml"/>
  <Override PartName="/ppt/charts/chart80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81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charts/chart82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notesSlides/notesSlide56.xml" ContentType="application/vnd.openxmlformats-officedocument.presentationml.notesSlide+xml"/>
  <Override PartName="/ppt/charts/chart83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charts/chart84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charts/chart85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charts/chart86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charts/chart87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charts/chart88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notesSlides/notesSlide62.xml" ContentType="application/vnd.openxmlformats-officedocument.presentationml.notesSlide+xml"/>
  <Override PartName="/ppt/charts/chart89.xml" ContentType="application/vnd.openxmlformats-officedocument.drawingml.chart+xml"/>
  <Override PartName="/ppt/charts/style89.xml" ContentType="application/vnd.ms-office.chartstyle+xml"/>
  <Override PartName="/ppt/charts/colors89.xml" ContentType="application/vnd.ms-office.chartcolorstyle+xml"/>
  <Override PartName="/ppt/notesSlides/notesSlide63.xml" ContentType="application/vnd.openxmlformats-officedocument.presentationml.notesSlide+xml"/>
  <Override PartName="/ppt/charts/chart90.xml" ContentType="application/vnd.openxmlformats-officedocument.drawingml.chart+xml"/>
  <Override PartName="/ppt/charts/style90.xml" ContentType="application/vnd.ms-office.chartstyle+xml"/>
  <Override PartName="/ppt/charts/colors90.xml" ContentType="application/vnd.ms-office.chartcolorstyle+xml"/>
  <Override PartName="/ppt/charts/chart91.xml" ContentType="application/vnd.openxmlformats-officedocument.drawingml.chart+xml"/>
  <Override PartName="/ppt/charts/style91.xml" ContentType="application/vnd.ms-office.chartstyle+xml"/>
  <Override PartName="/ppt/charts/colors91.xml" ContentType="application/vnd.ms-office.chartcolorstyle+xml"/>
  <Override PartName="/ppt/notesSlides/notesSlide64.xml" ContentType="application/vnd.openxmlformats-officedocument.presentationml.notesSlide+xml"/>
  <Override PartName="/ppt/charts/chart92.xml" ContentType="application/vnd.openxmlformats-officedocument.drawingml.chart+xml"/>
  <Override PartName="/ppt/charts/style92.xml" ContentType="application/vnd.ms-office.chartstyle+xml"/>
  <Override PartName="/ppt/charts/colors92.xml" ContentType="application/vnd.ms-office.chartcolorstyle+xml"/>
  <Override PartName="/ppt/charts/chart93.xml" ContentType="application/vnd.openxmlformats-officedocument.drawingml.chart+xml"/>
  <Override PartName="/ppt/charts/style93.xml" ContentType="application/vnd.ms-office.chartstyle+xml"/>
  <Override PartName="/ppt/charts/colors9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471" r:id="rId3"/>
    <p:sldId id="413" r:id="rId4"/>
    <p:sldId id="259" r:id="rId5"/>
    <p:sldId id="261" r:id="rId6"/>
    <p:sldId id="264" r:id="rId7"/>
    <p:sldId id="275" r:id="rId8"/>
    <p:sldId id="277" r:id="rId9"/>
    <p:sldId id="416" r:id="rId10"/>
    <p:sldId id="431" r:id="rId11"/>
    <p:sldId id="462" r:id="rId12"/>
    <p:sldId id="279" r:id="rId13"/>
    <p:sldId id="409" r:id="rId14"/>
    <p:sldId id="278" r:id="rId15"/>
    <p:sldId id="280" r:id="rId16"/>
    <p:sldId id="435" r:id="rId17"/>
    <p:sldId id="436" r:id="rId18"/>
    <p:sldId id="472" r:id="rId19"/>
    <p:sldId id="318" r:id="rId20"/>
    <p:sldId id="473" r:id="rId21"/>
    <p:sldId id="474" r:id="rId22"/>
    <p:sldId id="475" r:id="rId23"/>
    <p:sldId id="476" r:id="rId24"/>
    <p:sldId id="477" r:id="rId25"/>
    <p:sldId id="478" r:id="rId26"/>
    <p:sldId id="479" r:id="rId27"/>
    <p:sldId id="480" r:id="rId28"/>
    <p:sldId id="428" r:id="rId29"/>
    <p:sldId id="481" r:id="rId30"/>
    <p:sldId id="438" r:id="rId31"/>
    <p:sldId id="282" r:id="rId32"/>
    <p:sldId id="424" r:id="rId33"/>
    <p:sldId id="283" r:id="rId34"/>
    <p:sldId id="414" r:id="rId35"/>
    <p:sldId id="288" r:id="rId36"/>
    <p:sldId id="290" r:id="rId37"/>
    <p:sldId id="455" r:id="rId38"/>
    <p:sldId id="281" r:id="rId39"/>
    <p:sldId id="439" r:id="rId40"/>
    <p:sldId id="456" r:id="rId41"/>
    <p:sldId id="358" r:id="rId42"/>
    <p:sldId id="374" r:id="rId43"/>
    <p:sldId id="362" r:id="rId44"/>
    <p:sldId id="458" r:id="rId45"/>
    <p:sldId id="465" r:id="rId46"/>
    <p:sldId id="272" r:id="rId47"/>
    <p:sldId id="273" r:id="rId48"/>
    <p:sldId id="440" r:id="rId49"/>
    <p:sldId id="441" r:id="rId50"/>
    <p:sldId id="482" r:id="rId51"/>
    <p:sldId id="442" r:id="rId52"/>
    <p:sldId id="483" r:id="rId53"/>
    <p:sldId id="450" r:id="rId54"/>
    <p:sldId id="484" r:id="rId55"/>
    <p:sldId id="443" r:id="rId56"/>
    <p:sldId id="485" r:id="rId57"/>
    <p:sldId id="444" r:id="rId58"/>
    <p:sldId id="486" r:id="rId59"/>
    <p:sldId id="339" r:id="rId60"/>
    <p:sldId id="342" r:id="rId61"/>
    <p:sldId id="448" r:id="rId62"/>
    <p:sldId id="347" r:id="rId63"/>
    <p:sldId id="350" r:id="rId64"/>
    <p:sldId id="351" r:id="rId65"/>
    <p:sldId id="487" r:id="rId66"/>
    <p:sldId id="488" r:id="rId6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7" roundtripDataSignature="AMtx7miPE9wXBn+2MC/JZlwAQYKfkYfi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A"/>
    <a:srgbClr val="ED7D31"/>
    <a:srgbClr val="8C8C8E"/>
    <a:srgbClr val="F8961E"/>
    <a:srgbClr val="92D050"/>
    <a:srgbClr val="FFC000"/>
    <a:srgbClr val="FFFF99"/>
    <a:srgbClr val="55B296"/>
    <a:srgbClr val="E53C3E"/>
    <a:srgbClr val="3A4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3DB32-3096-5386-0D0F-A7D20634CC6A}" v="4" dt="2025-10-29T15:36:10.086"/>
  </p1510:revLst>
</p1510:revInfo>
</file>

<file path=ppt/tableStyles.xml><?xml version="1.0" encoding="utf-8"?>
<a:tblStyleLst xmlns:a="http://schemas.openxmlformats.org/drawingml/2006/main" def="{991015D7-D160-4A9F-BB4E-07FA0D646497}">
  <a:tblStyle styleId="{991015D7-D160-4A9F-BB4E-07FA0D6464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98" autoAdjust="0"/>
    <p:restoredTop sz="93979" autoAdjust="0"/>
  </p:normalViewPr>
  <p:slideViewPr>
    <p:cSldViewPr snapToGrid="0">
      <p:cViewPr varScale="1">
        <p:scale>
          <a:sx n="82" d="100"/>
          <a:sy n="82" d="100"/>
        </p:scale>
        <p:origin x="293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8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13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14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3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4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141" Type="http://schemas.openxmlformats.org/officeDocument/2006/relationships/tableStyles" Target="tableStyles.xml"/><Relationship Id="rId7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9.xlsx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1.xlsx"/><Relationship Id="rId2" Type="http://schemas.microsoft.com/office/2011/relationships/chartColorStyle" Target="colors82.xml"/><Relationship Id="rId1" Type="http://schemas.microsoft.com/office/2011/relationships/chartStyle" Target="style82.xm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2.xlsx"/><Relationship Id="rId2" Type="http://schemas.microsoft.com/office/2011/relationships/chartColorStyle" Target="colors83.xml"/><Relationship Id="rId1" Type="http://schemas.microsoft.com/office/2011/relationships/chartStyle" Target="style83.xm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3.xlsx"/><Relationship Id="rId2" Type="http://schemas.microsoft.com/office/2011/relationships/chartColorStyle" Target="colors84.xml"/><Relationship Id="rId1" Type="http://schemas.microsoft.com/office/2011/relationships/chartStyle" Target="style84.xm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4.xlsx"/><Relationship Id="rId2" Type="http://schemas.microsoft.com/office/2011/relationships/chartColorStyle" Target="colors85.xml"/><Relationship Id="rId1" Type="http://schemas.microsoft.com/office/2011/relationships/chartStyle" Target="style85.xm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5.xlsx"/><Relationship Id="rId2" Type="http://schemas.microsoft.com/office/2011/relationships/chartColorStyle" Target="colors86.xml"/><Relationship Id="rId1" Type="http://schemas.microsoft.com/office/2011/relationships/chartStyle" Target="style86.xm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6.xlsx"/><Relationship Id="rId2" Type="http://schemas.microsoft.com/office/2011/relationships/chartColorStyle" Target="colors87.xml"/><Relationship Id="rId1" Type="http://schemas.microsoft.com/office/2011/relationships/chartStyle" Target="style87.xm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7.xlsx"/><Relationship Id="rId2" Type="http://schemas.microsoft.com/office/2011/relationships/chartColorStyle" Target="colors88.xml"/><Relationship Id="rId1" Type="http://schemas.microsoft.com/office/2011/relationships/chartStyle" Target="style88.xm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8.xlsx"/><Relationship Id="rId2" Type="http://schemas.microsoft.com/office/2011/relationships/chartColorStyle" Target="colors89.xml"/><Relationship Id="rId1" Type="http://schemas.microsoft.com/office/2011/relationships/chartStyle" Target="style89.xm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9.xlsx"/><Relationship Id="rId2" Type="http://schemas.microsoft.com/office/2011/relationships/chartColorStyle" Target="colors90.xml"/><Relationship Id="rId1" Type="http://schemas.microsoft.com/office/2011/relationships/chartStyle" Target="style90.xml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0.xlsx"/><Relationship Id="rId2" Type="http://schemas.microsoft.com/office/2011/relationships/chartColorStyle" Target="colors91.xml"/><Relationship Id="rId1" Type="http://schemas.microsoft.com/office/2011/relationships/chartStyle" Target="style91.xml"/></Relationships>
</file>

<file path=ppt/charts/_rels/chart9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1.xlsx"/><Relationship Id="rId2" Type="http://schemas.microsoft.com/office/2011/relationships/chartColorStyle" Target="colors92.xml"/><Relationship Id="rId1" Type="http://schemas.microsoft.com/office/2011/relationships/chartStyle" Target="style92.xml"/></Relationships>
</file>

<file path=ppt/charts/_rels/chart9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2.xlsx"/><Relationship Id="rId2" Type="http://schemas.microsoft.com/office/2011/relationships/chartColorStyle" Target="colors93.xml"/><Relationship Id="rId1" Type="http://schemas.microsoft.com/office/2011/relationships/chartStyle" Target="style9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Sexo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3A-4C7D-A204-E84331F9C94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3A-4C7D-A204-E84331F9C9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Mujeres</c:v>
                </c:pt>
                <c:pt idx="1">
                  <c:v>Hombres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0.54729347948920781</c:v>
                </c:pt>
                <c:pt idx="1">
                  <c:v>0.45112442083851284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3A-4C7D-A204-E84331F9C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Jornada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6F-494C-8179-25AFB7FDEBB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6F-494C-8179-25AFB7FDEB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Diurna</c:v>
                </c:pt>
                <c:pt idx="1">
                  <c:v>Vespertino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0.73465928353486265</c:v>
                </c:pt>
                <c:pt idx="1">
                  <c:v>0.26477568086789466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6F-494C-8179-25AFB7FDEB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CL" sz="1600" dirty="0">
                <a:latin typeface="Calibri Light" panose="020F0302020204030204" pitchFamily="34" charset="0"/>
                <a:cs typeface="Calibri Light" panose="020F0302020204030204" pitchFamily="34" charset="0"/>
              </a:rPr>
              <a:t>Tipo de alumno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9804100723760052"/>
          <c:y val="0.1662291116218764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19A2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7E-4323-9B09-A4AFCD3C5E8B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7E-4323-9B09-A4AFCD3C5E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77E-4323-9B09-A4AFCD3C5E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Inicio</c:v>
                </c:pt>
                <c:pt idx="1">
                  <c:v>Continuidad</c:v>
                </c:pt>
                <c:pt idx="2">
                  <c:v>Admisión especial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0.50378573850152564</c:v>
                </c:pt>
                <c:pt idx="1">
                  <c:v>0.44377895807435869</c:v>
                </c:pt>
                <c:pt idx="2">
                  <c:v>5.2435303424115717E-2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77E-4323-9B09-A4AFCD3C5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pPr>
            <a:r>
              <a:rPr lang="es-ES" sz="16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Escuela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72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Hoja1!$B$2:$B$10</c:f>
              <c:strCache>
                <c:ptCount val="9"/>
                <c:pt idx="0">
                  <c:v>Administración y Negocios</c:v>
                </c:pt>
                <c:pt idx="1">
                  <c:v>Comunicación</c:v>
                </c:pt>
                <c:pt idx="2">
                  <c:v>Construcción</c:v>
                </c:pt>
                <c:pt idx="3">
                  <c:v>Diseño</c:v>
                </c:pt>
                <c:pt idx="4">
                  <c:v>Gastronomía</c:v>
                </c:pt>
                <c:pt idx="5">
                  <c:v>Informática y Telecomunicaciones</c:v>
                </c:pt>
                <c:pt idx="6">
                  <c:v>Ingeniería, Medio Ambiente y Recursos Naturales</c:v>
                </c:pt>
                <c:pt idx="7">
                  <c:v>Salud y Bienestar</c:v>
                </c:pt>
                <c:pt idx="8">
                  <c:v>Turismo y Hospitalidad</c:v>
                </c:pt>
              </c:strCache>
            </c:strRef>
          </c:cat>
          <c:val>
            <c:numRef>
              <c:f>Hoja1!$C$2:$C$10</c:f>
              <c:numCache>
                <c:formatCode>0%</c:formatCode>
                <c:ptCount val="9"/>
                <c:pt idx="0">
                  <c:v>0.18</c:v>
                </c:pt>
                <c:pt idx="1">
                  <c:v>0.18</c:v>
                </c:pt>
                <c:pt idx="2">
                  <c:v>0.19</c:v>
                </c:pt>
                <c:pt idx="3">
                  <c:v>0.22</c:v>
                </c:pt>
                <c:pt idx="4">
                  <c:v>0.22</c:v>
                </c:pt>
                <c:pt idx="5">
                  <c:v>0.19</c:v>
                </c:pt>
                <c:pt idx="6">
                  <c:v>0.18</c:v>
                </c:pt>
                <c:pt idx="7">
                  <c:v>0.28999999999999998</c:v>
                </c:pt>
                <c:pt idx="8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DB-4907-A3B7-794EAF23CC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latin typeface="+mj-lt"/>
        </a:defRPr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B-48F1-B16D-CC858EED68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C-422B-932E-773831900C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9.3985540686048294E-2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0.18335640670666051</c:v>
                </c:pt>
                <c:pt idx="12">
                  <c:v>0.18581756652822642</c:v>
                </c:pt>
                <c:pt idx="13">
                  <c:v>0.20996769727734194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0.26149823104137826</c:v>
                </c:pt>
                <c:pt idx="17">
                  <c:v>0.28164897708044917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0.51099830795262269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Femenino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4.3985540686048291E-2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8.3356406706660502E-2</c:v>
                </c:pt>
                <c:pt idx="12">
                  <c:v>8.5817566528226419E-2</c:v>
                </c:pt>
                <c:pt idx="13">
                  <c:v>0.10996769727734193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0.16149823104137825</c:v>
                </c:pt>
                <c:pt idx="17">
                  <c:v>0.18164897708044916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0.41099830795262271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Diurno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Hoja1!$B$2:$B$23</c:f>
              <c:numCache>
                <c:formatCode>0%</c:formatCode>
                <c:ptCount val="22"/>
                <c:pt idx="0">
                  <c:v>0.02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0.09</c:v>
                </c:pt>
                <c:pt idx="5">
                  <c:v>0.22</c:v>
                </c:pt>
                <c:pt idx="6">
                  <c:v>0.1333640978311029</c:v>
                </c:pt>
                <c:pt idx="7">
                  <c:v>0.15597600369173972</c:v>
                </c:pt>
                <c:pt idx="8">
                  <c:v>0.18566374403937855</c:v>
                </c:pt>
                <c:pt idx="9">
                  <c:v>0.19</c:v>
                </c:pt>
                <c:pt idx="10">
                  <c:v>0.16766651284417783</c:v>
                </c:pt>
                <c:pt idx="11">
                  <c:v>0.08</c:v>
                </c:pt>
                <c:pt idx="12">
                  <c:v>0.18581756652822642</c:v>
                </c:pt>
                <c:pt idx="13">
                  <c:v>0.15</c:v>
                </c:pt>
                <c:pt idx="14">
                  <c:v>0.24334717735732964</c:v>
                </c:pt>
                <c:pt idx="15">
                  <c:v>0.20243039532379634</c:v>
                </c:pt>
                <c:pt idx="16">
                  <c:v>0.14000000000000001</c:v>
                </c:pt>
                <c:pt idx="17">
                  <c:v>0.12</c:v>
                </c:pt>
                <c:pt idx="18">
                  <c:v>0.31441316720504536</c:v>
                </c:pt>
                <c:pt idx="19">
                  <c:v>0.34425473004153206</c:v>
                </c:pt>
                <c:pt idx="20">
                  <c:v>0.39855406860483</c:v>
                </c:pt>
                <c:pt idx="21">
                  <c:v>0.45099830795262302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0-4F67-B5F6-64488193F498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Vespertino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cat>
            <c:strRef>
              <c:f>Hoja1!$A$2:$A$23</c:f>
              <c:strCache>
                <c:ptCount val="22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Panorama político internacional o cambios en el mundo</c:v>
                </c:pt>
                <c:pt idx="3">
                  <c:v>Espacios de clase no adecuados en Duoc UC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Crisis climática y desastres naturales</c:v>
                </c:pt>
                <c:pt idx="10">
                  <c:v>Problemas de inseguridad en tu barrio</c:v>
                </c:pt>
                <c:pt idx="11">
                  <c:v>Carga académica exigente</c:v>
                </c:pt>
                <c:pt idx="12">
                  <c:v>Panorama político y social del país</c:v>
                </c:pt>
                <c:pt idx="13">
                  <c:v>Problemas de inseguridad al entrar y salir de la sede (delincuencia)</c:v>
                </c:pt>
                <c:pt idx="14">
                  <c:v>Problemas en relación sentimental</c:v>
                </c:pt>
                <c:pt idx="15">
                  <c:v>Dificultad para compatibilizar trabajo y estudios</c:v>
                </c:pt>
                <c:pt idx="16">
                  <c:v>Dificultades de transporte y desplazamiento </c:v>
                </c:pt>
                <c:pt idx="17">
                  <c:v>Problemas de salud personales</c:v>
                </c:pt>
                <c:pt idx="18">
                  <c:v>Futuro laboral</c:v>
                </c:pt>
                <c:pt idx="19">
                  <c:v>Problemas en relaciones familiares</c:v>
                </c:pt>
                <c:pt idx="20">
                  <c:v>Situación económica compleja</c:v>
                </c:pt>
                <c:pt idx="21">
                  <c:v>Problemas de autoestima</c:v>
                </c:pt>
              </c:strCache>
            </c:strRef>
          </c:cat>
          <c:val>
            <c:numRef>
              <c:f>Hoja1!$C$2:$C$23</c:f>
              <c:numCache>
                <c:formatCode>0%</c:formatCode>
                <c:ptCount val="22"/>
                <c:pt idx="0">
                  <c:v>0</c:v>
                </c:pt>
                <c:pt idx="1">
                  <c:v>3.0000000000000002E-2</c:v>
                </c:pt>
                <c:pt idx="2">
                  <c:v>0.08</c:v>
                </c:pt>
                <c:pt idx="3">
                  <c:v>6.9999999999999993E-2</c:v>
                </c:pt>
                <c:pt idx="4">
                  <c:v>3.9999999999999994E-2</c:v>
                </c:pt>
                <c:pt idx="5">
                  <c:v>0.16999999999999998</c:v>
                </c:pt>
                <c:pt idx="6">
                  <c:v>8.3364097831102893E-2</c:v>
                </c:pt>
                <c:pt idx="7">
                  <c:v>0.10597600369173972</c:v>
                </c:pt>
                <c:pt idx="8">
                  <c:v>0.13566374403937853</c:v>
                </c:pt>
                <c:pt idx="9">
                  <c:v>0.14000000000000001</c:v>
                </c:pt>
                <c:pt idx="10">
                  <c:v>0.11766651284417783</c:v>
                </c:pt>
                <c:pt idx="11">
                  <c:v>0.05</c:v>
                </c:pt>
                <c:pt idx="12">
                  <c:v>8.5817566528226419E-2</c:v>
                </c:pt>
                <c:pt idx="13">
                  <c:v>4.9999999999999989E-2</c:v>
                </c:pt>
                <c:pt idx="14">
                  <c:v>0.14334717735732963</c:v>
                </c:pt>
                <c:pt idx="15">
                  <c:v>0.10243039532379633</c:v>
                </c:pt>
                <c:pt idx="16">
                  <c:v>4.0000000000000008E-2</c:v>
                </c:pt>
                <c:pt idx="17">
                  <c:v>1.999999999999999E-2</c:v>
                </c:pt>
                <c:pt idx="18">
                  <c:v>0.21441316720504536</c:v>
                </c:pt>
                <c:pt idx="19">
                  <c:v>0.24425473004153206</c:v>
                </c:pt>
                <c:pt idx="20">
                  <c:v>0.29855406860483003</c:v>
                </c:pt>
                <c:pt idx="21">
                  <c:v>0.43099830795262301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0-4F67-B5F6-64488193F4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29858015"/>
        <c:axId val="1429862591"/>
      </c:barChart>
      <c:catAx>
        <c:axId val="14298580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429862591"/>
        <c:crosses val="autoZero"/>
        <c:auto val="1"/>
        <c:lblAlgn val="ctr"/>
        <c:lblOffset val="100"/>
        <c:noMultiLvlLbl val="0"/>
      </c:catAx>
      <c:valAx>
        <c:axId val="1429862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4298580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razones explican que la carga académica </a:t>
            </a:r>
          </a:p>
          <a:p>
            <a: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te resulte exigente?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Mi trabajo me quita más tiempo del que desearía</c:v>
                </c:pt>
                <c:pt idx="2">
                  <c:v>Me faltan hábitos de estudio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Tengo dificultades para concentrarme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0.20489296636085627</c:v>
                </c:pt>
                <c:pt idx="1">
                  <c:v>0.28728606356968217</c:v>
                </c:pt>
                <c:pt idx="2">
                  <c:v>0.36552567237163813</c:v>
                </c:pt>
                <c:pt idx="3">
                  <c:v>0.38630806845965771</c:v>
                </c:pt>
                <c:pt idx="4">
                  <c:v>0.41136919315403425</c:v>
                </c:pt>
                <c:pt idx="5">
                  <c:v>0.55317848410757942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Inicio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0.14453781512605043</c:v>
                </c:pt>
                <c:pt idx="1">
                  <c:v>0.46386554621848741</c:v>
                </c:pt>
                <c:pt idx="2">
                  <c:v>0.59663865546218486</c:v>
                </c:pt>
                <c:pt idx="3">
                  <c:v>0.49411764705882355</c:v>
                </c:pt>
                <c:pt idx="4">
                  <c:v>0.35798319327731093</c:v>
                </c:pt>
                <c:pt idx="5">
                  <c:v>0.25714285714285712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43-4A2B-87BC-A89F99D0E1C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Continuidad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0.24574468085106382</c:v>
                </c:pt>
                <c:pt idx="1">
                  <c:v>0.30531914893617024</c:v>
                </c:pt>
                <c:pt idx="2">
                  <c:v>0.51702127659574471</c:v>
                </c:pt>
                <c:pt idx="3">
                  <c:v>0.3202127659574468</c:v>
                </c:pt>
                <c:pt idx="4">
                  <c:v>0.43829787234042555</c:v>
                </c:pt>
                <c:pt idx="5">
                  <c:v>0.30106382978723406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40-452D-8DBF-0EDCDE950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Admisión especial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</c:v>
                </c:pt>
                <c:pt idx="1">
                  <c:v>Me faltan hábitos de estudio</c:v>
                </c:pt>
                <c:pt idx="2">
                  <c:v>Tengo dificultades para concentrarme</c:v>
                </c:pt>
                <c:pt idx="3">
                  <c:v>Tengo dificultades para entender la materia</c:v>
                </c:pt>
                <c:pt idx="4">
                  <c:v>Tengo muchas responsabilidades en el hogar</c:v>
                </c:pt>
                <c:pt idx="5">
                  <c:v>Mi trabajo me quita más tiempo del que desearía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0.17821782178217821</c:v>
                </c:pt>
                <c:pt idx="1">
                  <c:v>0.34653465346534651</c:v>
                </c:pt>
                <c:pt idx="2">
                  <c:v>0.63366336633663367</c:v>
                </c:pt>
                <c:pt idx="3">
                  <c:v>0.36633663366336633</c:v>
                </c:pt>
                <c:pt idx="4">
                  <c:v>0.47524752475247523</c:v>
                </c:pt>
                <c:pt idx="5">
                  <c:v>0.33663366336633666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F-4BB7-B3BC-20A7CF2829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AFF-4776-828B-02374C4DFAA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FF-4776-828B-02374C4DFAA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DAFF-4776-828B-02374C4DFAA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AFF-4776-828B-02374C4DFAA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DAFF-4776-828B-02374C4DFAA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AFF-4776-828B-02374C4DFAA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DAFF-4776-828B-02374C4DFAA6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FF-4776-828B-02374C4DFAA6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AFF-4776-828B-02374C4DFAA6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DAFF-4776-828B-02374C4DFAA6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DAFF-4776-828B-02374C4DFAA6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DAFF-4776-828B-02374C4DFAA6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DAFF-4776-828B-02374C4DFAA6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DAFF-4776-828B-02374C4DFAA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DAFF-4776-828B-02374C4DFA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¿Cuáles de las siguientes situaciones presentan un problema que te afecte actualmente? (marca todas las que apliquen)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>
                <a:alpha val="74902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7F2-408F-A567-E80F22A27D6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F2-408F-A567-E80F22A27D6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7F2-408F-A567-E80F22A27D6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7F2-408F-A567-E80F22A27D6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C7F2-408F-A567-E80F22A27D6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7F2-408F-A567-E80F22A27D6C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C7F2-408F-A567-E80F22A27D6C}"/>
              </c:ext>
            </c:extLst>
          </c:dPt>
          <c:dPt>
            <c:idx val="14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7F2-408F-A567-E80F22A27D6C}"/>
              </c:ext>
            </c:extLst>
          </c:dPt>
          <c:dPt>
            <c:idx val="15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C7F2-408F-A567-E80F22A27D6C}"/>
              </c:ext>
            </c:extLst>
          </c:dPt>
          <c:dPt>
            <c:idx val="16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C7F2-408F-A567-E80F22A27D6C}"/>
              </c:ext>
            </c:extLst>
          </c:dPt>
          <c:dPt>
            <c:idx val="17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C7F2-408F-A567-E80F22A27D6C}"/>
              </c:ext>
            </c:extLst>
          </c:dPt>
          <c:dPt>
            <c:idx val="18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C7F2-408F-A567-E80F22A27D6C}"/>
              </c:ext>
            </c:extLst>
          </c:dPt>
          <c:dPt>
            <c:idx val="19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C7F2-408F-A567-E80F22A27D6C}"/>
              </c:ext>
            </c:extLst>
          </c:dPt>
          <c:dPt>
            <c:idx val="20"/>
            <c:invertIfNegative val="0"/>
            <c:bubble3D val="0"/>
            <c:spPr>
              <a:solidFill>
                <a:srgbClr val="00223A">
                  <a:alpha val="74902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C7F2-408F-A567-E80F22A27D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Hoja1!$A$2:$A$22</c:f>
              <c:strCache>
                <c:ptCount val="21"/>
                <c:pt idx="0">
                  <c:v>Experiencias de discriminación en Duoc UC</c:v>
                </c:pt>
                <c:pt idx="1">
                  <c:v>Problemas en la relación con profesores</c:v>
                </c:pt>
                <c:pt idx="2">
                  <c:v>Espacios de clase no adecuados en Duoc UC</c:v>
                </c:pt>
                <c:pt idx="3">
                  <c:v>Problemas relacionados con la pandemia (COVID)</c:v>
                </c:pt>
                <c:pt idx="4">
                  <c:v>Recursos de la universidad poco actualizados</c:v>
                </c:pt>
                <c:pt idx="5">
                  <c:v>Problemas en la relación con compañeros</c:v>
                </c:pt>
                <c:pt idx="6">
                  <c:v>Duelos/pérdidas</c:v>
                </c:pt>
                <c:pt idx="7">
                  <c:v>Problemas de salud de un ser querido</c:v>
                </c:pt>
                <c:pt idx="8">
                  <c:v>Aislamiento</c:v>
                </c:pt>
                <c:pt idx="9">
                  <c:v>Problemas de inseguridad en tu barrio</c:v>
                </c:pt>
                <c:pt idx="10">
                  <c:v>Carga académica exigente</c:v>
                </c:pt>
                <c:pt idx="11">
                  <c:v>Panorama político y social del país</c:v>
                </c:pt>
                <c:pt idx="12">
                  <c:v>Problemas de inseguridad al entrar y salir de la sede (delincuencia)</c:v>
                </c:pt>
                <c:pt idx="13">
                  <c:v>Problemas en relación sentimental</c:v>
                </c:pt>
                <c:pt idx="14">
                  <c:v>Dificultad para compatibilizar trabajo y estudios</c:v>
                </c:pt>
                <c:pt idx="15">
                  <c:v>Dificultades de transporte y desplazamiento</c:v>
                </c:pt>
                <c:pt idx="16">
                  <c:v>Problemas de salud personales</c:v>
                </c:pt>
                <c:pt idx="17">
                  <c:v>Futuro laboral</c:v>
                </c:pt>
                <c:pt idx="18">
                  <c:v>Problemas en relaciones familiares</c:v>
                </c:pt>
                <c:pt idx="19">
                  <c:v>Situación económica compleja</c:v>
                </c:pt>
                <c:pt idx="20">
                  <c:v>Problemas de autoestima</c:v>
                </c:pt>
              </c:strCache>
            </c:strRef>
          </c:cat>
          <c:val>
            <c:numRef>
              <c:f>Hoja1!$B$2:$B$22</c:f>
              <c:numCache>
                <c:formatCode>0%</c:formatCode>
                <c:ptCount val="21"/>
                <c:pt idx="0">
                  <c:v>1.0170640750367273E-2</c:v>
                </c:pt>
                <c:pt idx="1">
                  <c:v>3.3676121595660524E-2</c:v>
                </c:pt>
                <c:pt idx="2">
                  <c:v>3.9778506045880888E-2</c:v>
                </c:pt>
                <c:pt idx="3">
                  <c:v>6.8482314385806306E-2</c:v>
                </c:pt>
                <c:pt idx="4">
                  <c:v>7.3115606283195841E-2</c:v>
                </c:pt>
                <c:pt idx="5">
                  <c:v>8.4981353825290998E-2</c:v>
                </c:pt>
                <c:pt idx="6">
                  <c:v>0.12837608769352468</c:v>
                </c:pt>
                <c:pt idx="7">
                  <c:v>0.15493276076392812</c:v>
                </c:pt>
                <c:pt idx="8">
                  <c:v>0.16917165781444232</c:v>
                </c:pt>
                <c:pt idx="9">
                  <c:v>0.17866425584811843</c:v>
                </c:pt>
                <c:pt idx="10">
                  <c:v>0.18487964741778731</c:v>
                </c:pt>
                <c:pt idx="11">
                  <c:v>0.18804384676234603</c:v>
                </c:pt>
                <c:pt idx="12">
                  <c:v>0.22443213922477115</c:v>
                </c:pt>
                <c:pt idx="13">
                  <c:v>0.23403774437789582</c:v>
                </c:pt>
                <c:pt idx="14">
                  <c:v>0.257317210984292</c:v>
                </c:pt>
                <c:pt idx="15">
                  <c:v>0.27336422194598259</c:v>
                </c:pt>
                <c:pt idx="16">
                  <c:v>0.27698044976833541</c:v>
                </c:pt>
                <c:pt idx="17">
                  <c:v>0.30263306588315064</c:v>
                </c:pt>
                <c:pt idx="18">
                  <c:v>0.331110859984179</c:v>
                </c:pt>
                <c:pt idx="19">
                  <c:v>0.42682789015707989</c:v>
                </c:pt>
                <c:pt idx="20">
                  <c:v>0.46197310430557126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C7F2-408F-A567-E80F22A27D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7181850106691046"/>
          <c:y val="9.5580515670835253E-2"/>
          <c:w val="0.37281891897910296"/>
          <c:h val="0.6495638432542881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595959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Me hago cargo de solucionar el problema tomando acciones concretas.</c:v>
                </c:pt>
                <c:pt idx="1">
                  <c:v>Intento verlo con otros ojos, para hacer que parezca más positivo.</c:v>
                </c:pt>
                <c:pt idx="2">
                  <c:v>Aprendo a vivir con ello.</c:v>
                </c:pt>
                <c:pt idx="3">
                  <c:v>Pienso detenidamente escenarios de cómo solucionarlo.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0.18499265453723585</c:v>
                </c:pt>
                <c:pt idx="1">
                  <c:v>0.19527630240705166</c:v>
                </c:pt>
                <c:pt idx="2">
                  <c:v>0.2447734207255057</c:v>
                </c:pt>
                <c:pt idx="3">
                  <c:v>0.26387162391230645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6-44F1-89B2-5684F8CF25B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¿Con qué frecuencia dejas para después tareas que te parecen desagradables?</a:t>
            </a:r>
            <a:endParaRPr lang="es-CL" sz="1400" dirty="0"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17E-466C-8388-09CC44045D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</c:f>
              <c:strCache>
                <c:ptCount val="1"/>
                <c:pt idx="0">
                  <c:v>A menudo + Muy a menudo</c:v>
                </c:pt>
              </c:strCache>
            </c:strRef>
          </c:cat>
          <c:val>
            <c:numRef>
              <c:f>Hoja1!$B$2</c:f>
              <c:numCache>
                <c:formatCode>0%</c:formatCode>
                <c:ptCount val="1"/>
                <c:pt idx="0">
                  <c:v>0.26375861679285795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7E-466C-8388-09CC44045D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1168497199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EA-4A29-A563-86A5ECC015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Prefiero no responder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0.44581308622443216</c:v>
                </c:pt>
                <c:pt idx="1">
                  <c:v>0.5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2ED-4C51-BC82-04D8E4E3896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2ED-4C51-BC82-04D8E4E3896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Sí, en tratamiento médico regular</c:v>
                </c:pt>
                <c:pt idx="1">
                  <c:v>No, pero la condición está diagnosticada</c:v>
                </c:pt>
                <c:pt idx="2">
                  <c:v>No estoy seguro/a </c:v>
                </c:pt>
                <c:pt idx="3">
                  <c:v>Prefiero no responder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483811310153025"/>
          <c:y val="5.6494222131277895E-2"/>
          <c:w val="0.63097649562716396"/>
          <c:h val="0.883551284631903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Sede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Malestar en áreas no profundizadas</c:v>
                </c:pt>
                <c:pt idx="1">
                  <c:v>Trastornos de personalidad</c:v>
                </c:pt>
                <c:pt idx="2">
                  <c:v>Uso problemático marihuana</c:v>
                </c:pt>
                <c:pt idx="3">
                  <c:v>Uso problemático alcohol</c:v>
                </c:pt>
                <c:pt idx="4">
                  <c:v>Depresión</c:v>
                </c:pt>
                <c:pt idx="5">
                  <c:v>Ansiedad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0.6</c:v>
                </c:pt>
                <c:pt idx="1">
                  <c:v>7.0000000000000007E-2</c:v>
                </c:pt>
                <c:pt idx="2">
                  <c:v>0.18</c:v>
                </c:pt>
                <c:pt idx="3">
                  <c:v>0.26</c:v>
                </c:pt>
                <c:pt idx="4">
                  <c:v>0.65</c:v>
                </c:pt>
                <c:pt idx="5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54-455A-978C-35259EFCF8D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Duoc UC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Malestar en áreas no profundizadas</c:v>
                </c:pt>
                <c:pt idx="1">
                  <c:v>Trastornos de personalidad</c:v>
                </c:pt>
                <c:pt idx="2">
                  <c:v>Uso problemático marihuana</c:v>
                </c:pt>
                <c:pt idx="3">
                  <c:v>Uso problemático alcohol</c:v>
                </c:pt>
                <c:pt idx="4">
                  <c:v>Depresión</c:v>
                </c:pt>
                <c:pt idx="5">
                  <c:v>Ansiedad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0.7</c:v>
                </c:pt>
                <c:pt idx="1">
                  <c:v>0.03</c:v>
                </c:pt>
                <c:pt idx="2">
                  <c:v>0.13</c:v>
                </c:pt>
                <c:pt idx="3">
                  <c:v>0.16</c:v>
                </c:pt>
                <c:pt idx="4">
                  <c:v>0.35</c:v>
                </c:pt>
                <c:pt idx="5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54-455A-978C-35259EFCF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39916351"/>
        <c:axId val="1139913855"/>
      </c:barChart>
      <c:catAx>
        <c:axId val="1139916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139913855"/>
        <c:crosses val="autoZero"/>
        <c:auto val="1"/>
        <c:lblAlgn val="ctr"/>
        <c:lblOffset val="100"/>
        <c:noMultiLvlLbl val="0"/>
      </c:catAx>
      <c:valAx>
        <c:axId val="113991385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139916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5-4984-9475-FE7C5BE819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17-4BFC-8A4C-7B3A510F73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C0-466D-BE8F-80AC0B77BD9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16-4C51-BC77-DBA6955702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41-4E19-8EB8-D12266B13A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C3-46E7-B168-12DF40231B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C0-42D9-B11B-6132EF9C3C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13-4FD5-81FA-AEEDD563CF9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5-4F46-A430-FC2745D3BA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C-442C-8C95-E94974EB775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0%</c:formatCode>
                <c:ptCount val="19"/>
                <c:pt idx="0">
                  <c:v>0.17334905660377359</c:v>
                </c:pt>
                <c:pt idx="1">
                  <c:v>0.21527777777777779</c:v>
                </c:pt>
                <c:pt idx="3">
                  <c:v>0.20884146341463414</c:v>
                </c:pt>
                <c:pt idx="4">
                  <c:v>0.17587209302325582</c:v>
                </c:pt>
                <c:pt idx="6">
                  <c:v>0.20416666666666666</c:v>
                </c:pt>
                <c:pt idx="7">
                  <c:v>0.17151162790697674</c:v>
                </c:pt>
                <c:pt idx="8">
                  <c:v>0.2857142857142857</c:v>
                </c:pt>
                <c:pt idx="10">
                  <c:v>0.18541666666666667</c:v>
                </c:pt>
                <c:pt idx="11">
                  <c:v>0.25</c:v>
                </c:pt>
                <c:pt idx="12">
                  <c:v>0.16964285714285715</c:v>
                </c:pt>
                <c:pt idx="13">
                  <c:v>0.25</c:v>
                </c:pt>
                <c:pt idx="14">
                  <c:v>0.15625</c:v>
                </c:pt>
                <c:pt idx="15">
                  <c:v>0.19021739130434784</c:v>
                </c:pt>
                <c:pt idx="16">
                  <c:v>0.22198275862068967</c:v>
                </c:pt>
                <c:pt idx="17">
                  <c:v>0.18303571428571427</c:v>
                </c:pt>
                <c:pt idx="18">
                  <c:v>0.3125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C-43BB-91BD-DD5085F2A7E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0%</c:formatCode>
                <c:ptCount val="20"/>
                <c:pt idx="0">
                  <c:v>3.125E-2</c:v>
                </c:pt>
                <c:pt idx="1">
                  <c:v>0.171875</c:v>
                </c:pt>
                <c:pt idx="2">
                  <c:v>0.1</c:v>
                </c:pt>
                <c:pt idx="3">
                  <c:v>0.25</c:v>
                </c:pt>
                <c:pt idx="4">
                  <c:v>0.25</c:v>
                </c:pt>
                <c:pt idx="5">
                  <c:v>0.1</c:v>
                </c:pt>
                <c:pt idx="6">
                  <c:v>0.26190476190476192</c:v>
                </c:pt>
                <c:pt idx="7">
                  <c:v>0.25892857142857145</c:v>
                </c:pt>
                <c:pt idx="8">
                  <c:v>0.25</c:v>
                </c:pt>
                <c:pt idx="9">
                  <c:v>0.15909090909090909</c:v>
                </c:pt>
                <c:pt idx="10">
                  <c:v>0.28125</c:v>
                </c:pt>
                <c:pt idx="11">
                  <c:v>0.125</c:v>
                </c:pt>
                <c:pt idx="12">
                  <c:v>8.3333333333333329E-2</c:v>
                </c:pt>
                <c:pt idx="13">
                  <c:v>0.21249999999999999</c:v>
                </c:pt>
                <c:pt idx="14">
                  <c:v>0.25</c:v>
                </c:pt>
                <c:pt idx="15">
                  <c:v>0.22916666666666666</c:v>
                </c:pt>
                <c:pt idx="16">
                  <c:v>0.25</c:v>
                </c:pt>
                <c:pt idx="17">
                  <c:v>0.15625</c:v>
                </c:pt>
                <c:pt idx="18">
                  <c:v>0.20535714285714285</c:v>
                </c:pt>
                <c:pt idx="19">
                  <c:v>0.16145833333333334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F0-4739-978D-2726C88976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B94-407E-A310-D2856421DBE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B94-407E-A310-D2856421DB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0.51039290240811197</c:v>
                </c:pt>
                <c:pt idx="1">
                  <c:v>0.48960709759188797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B94-407E-A310-D2856421D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CA8-4450-9627-F44119B2DC5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CA8-4450-9627-F44119B2DC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0.24581308622443199</c:v>
                </c:pt>
                <c:pt idx="1">
                  <c:v>0.75418691377556801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A8-4450-9627-F44119B2DC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AC-47D9-80D0-B6E43C10738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0AC-47D9-80D0-B6E43C1073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0AC-47D9-80D0-B6E43C1073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0.32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AC-47D9-80D0-B6E43C107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Sí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0.5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F2-4D6E-A768-B9F29F0E1AB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Ideación pasiva (i3)</c:v>
                </c:pt>
                <c:pt idx="1">
                  <c:v>Ideación activa (i4)</c:v>
                </c:pt>
                <c:pt idx="2">
                  <c:v>Ideación activa y detallada (i5)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F2-4D6E-A768-B9F29F0E1AB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770564719"/>
        <c:axId val="1771217823"/>
      </c:barChart>
      <c:catAx>
        <c:axId val="177056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771217823"/>
        <c:crosses val="autoZero"/>
        <c:auto val="1"/>
        <c:lblAlgn val="ctr"/>
        <c:lblOffset val="100"/>
        <c:noMultiLvlLbl val="0"/>
      </c:catAx>
      <c:valAx>
        <c:axId val="177121782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70564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0.41039290240811155</c:v>
                </c:pt>
                <c:pt idx="1">
                  <c:v>0.58960709759188845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Dentro de Duoc UC</c:v>
                </c:pt>
                <c:pt idx="1">
                  <c:v>Fuera de Duoc UC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0.72</c:v>
                </c:pt>
                <c:pt idx="1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21-4616-B0FC-616CC97A5B6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Psicológico</c:v>
                </c:pt>
                <c:pt idx="1">
                  <c:v>Médico/psiquiátrico</c:v>
                </c:pt>
                <c:pt idx="2">
                  <c:v>Ambos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0.7</c:v>
                </c:pt>
                <c:pt idx="1">
                  <c:v>0.25</c:v>
                </c:pt>
                <c:pt idx="2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Si crees haber necesitado apoyo o tratamiento en salud mental pero no has accedido a él, ¿qué tan importantes fueron las siguientes razones para no buscar ayuda?* (Importante + Muy importante)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Importante + Muy importante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AFB-4D12-9DE7-7B8A9AF6AB9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AFB-4D12-9DE7-7B8A9AF6AB9A}"/>
              </c:ext>
            </c:extLst>
          </c:dPt>
          <c:dPt>
            <c:idx val="7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AFB-4D12-9DE7-7B8A9AF6AB9A}"/>
              </c:ext>
            </c:extLst>
          </c:dPt>
          <c:dPt>
            <c:idx val="8"/>
            <c:invertIfNegative val="0"/>
            <c:bubble3D val="0"/>
            <c:spPr>
              <a:solidFill>
                <a:srgbClr val="74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7FF-46DC-AA1D-CCCF1222E3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Preferiste hablarlo con amigos o parientes. </c:v>
                </c:pt>
                <c:pt idx="1">
                  <c:v>No estabas seguro de que los tratamientos disponibles fueran muy eficaces. </c:v>
                </c:pt>
                <c:pt idx="2">
                  <c:v>Te preocupaba que la gente te tratara diferente si supiera que estabas en tratamiento.</c:v>
                </c:pt>
                <c:pt idx="3">
                  <c:v>Te daba demasiada vergüenza. </c:v>
                </c:pt>
                <c:pt idx="4">
                  <c:v>Temías que pudiese perjudicar tu carrera académica. </c:v>
                </c:pt>
                <c:pt idx="5">
                  <c:v>Tuviste problemas de tiempo, desplazamientos o de horario. </c:v>
                </c:pt>
                <c:pt idx="6">
                  <c:v>Querías afrontar el problema por tu cuenta. </c:v>
                </c:pt>
                <c:pt idx="7">
                  <c:v>No estabas seguro de a dónde ir o a quién consultar. </c:v>
                </c:pt>
                <c:pt idx="8">
                  <c:v>Costaba demasiado dinero. </c:v>
                </c:pt>
              </c:strCache>
            </c:strRef>
          </c:cat>
          <c:val>
            <c:numRef>
              <c:f>Hoja1!$B$2:$B$10</c:f>
              <c:numCache>
                <c:formatCode>0%</c:formatCode>
                <c:ptCount val="9"/>
                <c:pt idx="0">
                  <c:v>0.24247635425623387</c:v>
                </c:pt>
                <c:pt idx="1">
                  <c:v>0.27687016337059328</c:v>
                </c:pt>
                <c:pt idx="2">
                  <c:v>0.2936371453138435</c:v>
                </c:pt>
                <c:pt idx="3">
                  <c:v>0.34307824591573521</c:v>
                </c:pt>
                <c:pt idx="4">
                  <c:v>0.39036973344797932</c:v>
                </c:pt>
                <c:pt idx="5">
                  <c:v>0.48753224419604474</c:v>
                </c:pt>
                <c:pt idx="6">
                  <c:v>0.5438521066208083</c:v>
                </c:pt>
                <c:pt idx="7">
                  <c:v>0.64531384350816845</c:v>
                </c:pt>
                <c:pt idx="8">
                  <c:v>0.71066208082545146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7-43BC-9E2C-F8AC3E6A728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  <c:max val="1"/>
        </c:scaling>
        <c:delete val="1"/>
        <c:axPos val="b"/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Hoja1!$B$2:$B$21</c:f>
              <c:strCache>
                <c:ptCount val="20"/>
                <c:pt idx="0">
                  <c:v>Alameda</c:v>
                </c:pt>
                <c:pt idx="1">
                  <c:v>Antonio Varas</c:v>
                </c:pt>
                <c:pt idx="2">
                  <c:v>Campus Arauco</c:v>
                </c:pt>
                <c:pt idx="3">
                  <c:v>Campus Nacimiento</c:v>
                </c:pt>
                <c:pt idx="4">
                  <c:v>Campus Villarrica</c:v>
                </c:pt>
                <c:pt idx="5">
                  <c:v>Concepción</c:v>
                </c:pt>
                <c:pt idx="6">
                  <c:v>Maipú</c:v>
                </c:pt>
                <c:pt idx="7">
                  <c:v>Melipilla</c:v>
                </c:pt>
                <c:pt idx="8">
                  <c:v>Online</c:v>
                </c:pt>
                <c:pt idx="9">
                  <c:v>Padre Alonso De Ovalle</c:v>
                </c:pt>
                <c:pt idx="10">
                  <c:v>Plaza Norte</c:v>
                </c:pt>
                <c:pt idx="11">
                  <c:v>Plaza Oeste</c:v>
                </c:pt>
                <c:pt idx="12">
                  <c:v>Plaza Vespucio</c:v>
                </c:pt>
                <c:pt idx="13">
                  <c:v>Puente Alto</c:v>
                </c:pt>
                <c:pt idx="14">
                  <c:v>Puerto Montt</c:v>
                </c:pt>
                <c:pt idx="15">
                  <c:v>San Bernardo</c:v>
                </c:pt>
                <c:pt idx="16">
                  <c:v>San Carlos de Apoquindo</c:v>
                </c:pt>
                <c:pt idx="17">
                  <c:v>San Joaquín</c:v>
                </c:pt>
                <c:pt idx="18">
                  <c:v>Valparaíso</c:v>
                </c:pt>
                <c:pt idx="19">
                  <c:v>Viña Del Mar</c:v>
                </c:pt>
              </c:strCache>
            </c:strRef>
          </c:cat>
          <c:val>
            <c:numRef>
              <c:f>Hoja1!$C$2:$C$21</c:f>
              <c:numCache>
                <c:formatCode>0.0</c:formatCode>
                <c:ptCount val="20"/>
                <c:pt idx="0">
                  <c:v>6.625</c:v>
                </c:pt>
                <c:pt idx="1">
                  <c:v>6.34375</c:v>
                </c:pt>
                <c:pt idx="2">
                  <c:v>6.875</c:v>
                </c:pt>
                <c:pt idx="3">
                  <c:v>4.625</c:v>
                </c:pt>
                <c:pt idx="4">
                  <c:v>4.5</c:v>
                </c:pt>
                <c:pt idx="5">
                  <c:v>6.875</c:v>
                </c:pt>
                <c:pt idx="6">
                  <c:v>5.0625</c:v>
                </c:pt>
                <c:pt idx="7">
                  <c:v>4.65625</c:v>
                </c:pt>
                <c:pt idx="8">
                  <c:v>5.5</c:v>
                </c:pt>
                <c:pt idx="9">
                  <c:v>6</c:v>
                </c:pt>
                <c:pt idx="10">
                  <c:v>4.15625</c:v>
                </c:pt>
                <c:pt idx="11">
                  <c:v>5.59375</c:v>
                </c:pt>
                <c:pt idx="12">
                  <c:v>6.5625</c:v>
                </c:pt>
                <c:pt idx="13">
                  <c:v>6</c:v>
                </c:pt>
                <c:pt idx="14">
                  <c:v>5.6</c:v>
                </c:pt>
                <c:pt idx="15">
                  <c:v>4.6875</c:v>
                </c:pt>
                <c:pt idx="16">
                  <c:v>4.6875</c:v>
                </c:pt>
                <c:pt idx="17">
                  <c:v>6.0625</c:v>
                </c:pt>
                <c:pt idx="18">
                  <c:v>5.375</c:v>
                </c:pt>
                <c:pt idx="19">
                  <c:v>5.875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D2-49DB-81BA-194213ECDD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Hoja1!$B$2:$B$20</c:f>
              <c:strCache>
                <c:ptCount val="19"/>
                <c:pt idx="0">
                  <c:v>Mujer</c:v>
                </c:pt>
                <c:pt idx="1">
                  <c:v>Hombre</c:v>
                </c:pt>
                <c:pt idx="3">
                  <c:v>Diurna</c:v>
                </c:pt>
                <c:pt idx="4">
                  <c:v>Vespertina</c:v>
                </c:pt>
                <c:pt idx="6">
                  <c:v>Inicio</c:v>
                </c:pt>
                <c:pt idx="7">
                  <c:v>Continuidad</c:v>
                </c:pt>
                <c:pt idx="8">
                  <c:v>Admisión especial</c:v>
                </c:pt>
                <c:pt idx="10">
                  <c:v>Administración y Negocios</c:v>
                </c:pt>
                <c:pt idx="11">
                  <c:v>Comunicación</c:v>
                </c:pt>
                <c:pt idx="12">
                  <c:v>Construcción</c:v>
                </c:pt>
                <c:pt idx="13">
                  <c:v>Diseño</c:v>
                </c:pt>
                <c:pt idx="14">
                  <c:v>Gastronomía</c:v>
                </c:pt>
                <c:pt idx="15">
                  <c:v>Informática y Telecomunicaciones</c:v>
                </c:pt>
                <c:pt idx="16">
                  <c:v>Ingeniería, Medio Ambiente y Recursos Naturales</c:v>
                </c:pt>
                <c:pt idx="17">
                  <c:v>Salud y Bienestar</c:v>
                </c:pt>
                <c:pt idx="18">
                  <c:v>Turismo y Hospitalidad</c:v>
                </c:pt>
              </c:strCache>
            </c:strRef>
          </c:cat>
          <c:val>
            <c:numRef>
              <c:f>Hoja1!$C$2:$C$20</c:f>
              <c:numCache>
                <c:formatCode>0.0</c:formatCode>
                <c:ptCount val="19"/>
                <c:pt idx="0">
                  <c:v>5.90625</c:v>
                </c:pt>
                <c:pt idx="1">
                  <c:v>5.5</c:v>
                </c:pt>
                <c:pt idx="3">
                  <c:v>5.6875</c:v>
                </c:pt>
                <c:pt idx="4">
                  <c:v>5.5625</c:v>
                </c:pt>
                <c:pt idx="6">
                  <c:v>5.625</c:v>
                </c:pt>
                <c:pt idx="7">
                  <c:v>5.9375</c:v>
                </c:pt>
                <c:pt idx="8">
                  <c:v>5.0625</c:v>
                </c:pt>
                <c:pt idx="10">
                  <c:v>5.96875</c:v>
                </c:pt>
                <c:pt idx="11">
                  <c:v>5.2</c:v>
                </c:pt>
                <c:pt idx="12">
                  <c:v>5.5</c:v>
                </c:pt>
                <c:pt idx="13">
                  <c:v>6</c:v>
                </c:pt>
                <c:pt idx="14">
                  <c:v>5.4375</c:v>
                </c:pt>
                <c:pt idx="15">
                  <c:v>5.53125</c:v>
                </c:pt>
                <c:pt idx="16">
                  <c:v>4.75</c:v>
                </c:pt>
                <c:pt idx="17">
                  <c:v>5.2</c:v>
                </c:pt>
                <c:pt idx="18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0-4690-B858-EC10BFB34D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Hoja1!$B$3:$B$7</c:f>
              <c:numCache>
                <c:formatCode>General</c:formatCode>
                <c:ptCount val="5"/>
                <c:pt idx="0">
                  <c:v>5.7</c:v>
                </c:pt>
                <c:pt idx="1">
                  <c:v>5.3</c:v>
                </c:pt>
                <c:pt idx="2">
                  <c:v>5.7</c:v>
                </c:pt>
                <c:pt idx="3" formatCode="0.00">
                  <c:v>6</c:v>
                </c:pt>
                <c:pt idx="4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Hoja1!$A$3:$A$7</c:f>
              <c:strCache>
                <c:ptCount val="5"/>
                <c:pt idx="0">
                  <c:v>P</c:v>
                </c:pt>
                <c:pt idx="1">
                  <c:v>E</c:v>
                </c:pt>
                <c:pt idx="2">
                  <c:v>R</c:v>
                </c:pt>
                <c:pt idx="3">
                  <c:v>M</c:v>
                </c:pt>
                <c:pt idx="4">
                  <c:v>A</c:v>
                </c:pt>
              </c:strCache>
            </c:strRef>
          </c:cat>
          <c:val>
            <c:numRef>
              <c:f>Hoja1!$C$3:$C$7</c:f>
              <c:numCache>
                <c:formatCode>General</c:formatCode>
                <c:ptCount val="5"/>
                <c:pt idx="0" formatCode="0.0">
                  <c:v>6</c:v>
                </c:pt>
                <c:pt idx="1">
                  <c:v>5.4</c:v>
                </c:pt>
                <c:pt idx="2">
                  <c:v>5.9</c:v>
                </c:pt>
                <c:pt idx="3">
                  <c:v>5.4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223A"/>
            </a:solidFill>
            <a:ln>
              <a:solidFill>
                <a:srgbClr val="00223A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Hoja1!$B$3:$B$5</c:f>
              <c:numCache>
                <c:formatCode>General</c:formatCode>
                <c:ptCount val="3"/>
                <c:pt idx="0" formatCode="0.0">
                  <c:v>3</c:v>
                </c:pt>
                <c:pt idx="1">
                  <c:v>5.3</c:v>
                </c:pt>
                <c:pt idx="2" formatCode="0.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8-4D31-A3EF-70FFE360D91A}"/>
            </c:ext>
          </c:extLst>
        </c:ser>
        <c:ser>
          <c:idx val="1"/>
          <c:order val="1"/>
          <c:tx>
            <c:strRef>
              <c:f>Hoja1!$C$2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Hoja1!$A$3:$A$5</c:f>
              <c:strCache>
                <c:ptCount val="3"/>
                <c:pt idx="0">
                  <c:v>N</c:v>
                </c:pt>
                <c:pt idx="1">
                  <c:v>H</c:v>
                </c:pt>
                <c:pt idx="2">
                  <c:v>L</c:v>
                </c:pt>
              </c:strCache>
            </c:strRef>
          </c:cat>
          <c:val>
            <c:numRef>
              <c:f>Hoja1!$C$3:$C$5</c:f>
              <c:numCache>
                <c:formatCode>General</c:formatCode>
                <c:ptCount val="3"/>
                <c:pt idx="0" formatCode="0.0">
                  <c:v>2.7</c:v>
                </c:pt>
                <c:pt idx="1">
                  <c:v>5.8</c:v>
                </c:pt>
                <c:pt idx="2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8-4D31-A3EF-70FFE360D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32697903"/>
        <c:axId val="932698319"/>
      </c:barChart>
      <c:catAx>
        <c:axId val="932697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32698319"/>
        <c:crosses val="autoZero"/>
        <c:auto val="1"/>
        <c:lblAlgn val="ctr"/>
        <c:lblOffset val="100"/>
        <c:noMultiLvlLbl val="0"/>
      </c:catAx>
      <c:valAx>
        <c:axId val="932698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crossAx val="932697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1033579762717293"/>
          <c:y val="0.94622929684249979"/>
          <c:w val="0.17932823920496768"/>
          <c:h val="5.3770703157500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</a:rPr>
              <a:t>Durante el último año, ¿cuán satisfecho/a te has sentido con el apoyo que has recibido por parte de…</a:t>
            </a:r>
            <a:endParaRPr lang="es-CL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insatisfecho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5.6051531246468528E-2</c:v>
                </c:pt>
                <c:pt idx="1">
                  <c:v>5.6051531246468528E-2</c:v>
                </c:pt>
                <c:pt idx="2">
                  <c:v>5.0966210871284889E-2</c:v>
                </c:pt>
                <c:pt idx="3">
                  <c:v>9.0744716917165777E-2</c:v>
                </c:pt>
                <c:pt idx="4">
                  <c:v>6.6900214713526945E-2</c:v>
                </c:pt>
                <c:pt idx="5">
                  <c:v>3.2320036162278222E-2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BF-4212-9B4D-168CAC2258B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Insatisfecho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Hoja1!$C$2:$C$7</c:f>
              <c:numCache>
                <c:formatCode>0%</c:formatCode>
                <c:ptCount val="6"/>
                <c:pt idx="0">
                  <c:v>5.8989716352130184E-2</c:v>
                </c:pt>
                <c:pt idx="1">
                  <c:v>5.8989716352130184E-2</c:v>
                </c:pt>
                <c:pt idx="2">
                  <c:v>6.7804271669115151E-2</c:v>
                </c:pt>
                <c:pt idx="3">
                  <c:v>0.11639733303198102</c:v>
                </c:pt>
                <c:pt idx="4">
                  <c:v>9.481297321731269E-2</c:v>
                </c:pt>
                <c:pt idx="5">
                  <c:v>4.0682563001469094E-2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BF-4212-9B4D-168CAC2258B7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Ni satisfecho ni insatisfecho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Hoja1!$D$2:$D$7</c:f>
              <c:numCache>
                <c:formatCode>0%</c:formatCode>
                <c:ptCount val="6"/>
                <c:pt idx="0">
                  <c:v>0.13</c:v>
                </c:pt>
                <c:pt idx="1">
                  <c:v>0.23302068030285908</c:v>
                </c:pt>
                <c:pt idx="2">
                  <c:v>0.1785512487286699</c:v>
                </c:pt>
                <c:pt idx="3">
                  <c:v>0.47519493728104872</c:v>
                </c:pt>
                <c:pt idx="4">
                  <c:v>0.41665724940671262</c:v>
                </c:pt>
                <c:pt idx="5">
                  <c:v>0.27200813651260031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BF-4212-9B4D-168CAC2258B7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Satisfecho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Hoja1!$E$2:$E$7</c:f>
              <c:numCache>
                <c:formatCode>0%</c:formatCode>
                <c:ptCount val="6"/>
                <c:pt idx="0">
                  <c:v>0.18</c:v>
                </c:pt>
                <c:pt idx="1">
                  <c:v>0.37518363656910386</c:v>
                </c:pt>
                <c:pt idx="2">
                  <c:v>0.34455870719855353</c:v>
                </c:pt>
                <c:pt idx="3">
                  <c:v>0.23686292236410894</c:v>
                </c:pt>
                <c:pt idx="4">
                  <c:v>0.31370776358910613</c:v>
                </c:pt>
                <c:pt idx="5">
                  <c:v>0.43790258786303538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BF-4212-9B4D-168CAC2258B7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Muy satisfecho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Amistades fuera de Duoc UC</c:v>
                </c:pt>
                <c:pt idx="1">
                  <c:v>Amistades dentro de Duoc UC</c:v>
                </c:pt>
                <c:pt idx="2">
                  <c:v>Familia</c:v>
                </c:pt>
                <c:pt idx="3">
                  <c:v>Autoridades de Duoc UC</c:v>
                </c:pt>
                <c:pt idx="4">
                  <c:v>Administrativos/as</c:v>
                </c:pt>
                <c:pt idx="5">
                  <c:v>Profesores/as</c:v>
                </c:pt>
              </c:strCache>
            </c:strRef>
          </c:cat>
          <c:val>
            <c:numRef>
              <c:f>Hoja1!$F$2:$F$7</c:f>
              <c:numCache>
                <c:formatCode>0%</c:formatCode>
                <c:ptCount val="6"/>
                <c:pt idx="0">
                  <c:v>0.38</c:v>
                </c:pt>
                <c:pt idx="1">
                  <c:v>0.27675443552943835</c:v>
                </c:pt>
                <c:pt idx="2">
                  <c:v>0.35811956153237656</c:v>
                </c:pt>
                <c:pt idx="3">
                  <c:v>8.0800090405695565E-2</c:v>
                </c:pt>
                <c:pt idx="4">
                  <c:v>0.10792179907334162</c:v>
                </c:pt>
                <c:pt idx="5">
                  <c:v>0.21708667646061702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BF-4212-9B4D-168CAC2258B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3522976889398519"/>
          <c:y val="8.7589237262095474E-3"/>
          <c:w val="0.34693910847549336"/>
          <c:h val="0.8523666863400930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Apreciación negativa</c:v>
                </c:pt>
              </c:strCache>
            </c:strRef>
          </c:tx>
          <c:spPr>
            <a:solidFill>
              <a:srgbClr val="ED7D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Sheet1!$B$2:$B$13</c:f>
              <c:numCache>
                <c:formatCode>0%</c:formatCode>
                <c:ptCount val="12"/>
                <c:pt idx="0">
                  <c:v>5.6234845860755098E-2</c:v>
                </c:pt>
                <c:pt idx="1">
                  <c:v>0.22099064773120891</c:v>
                </c:pt>
                <c:pt idx="2">
                  <c:v>0.10350883269830199</c:v>
                </c:pt>
                <c:pt idx="3">
                  <c:v>0.123900242466227</c:v>
                </c:pt>
                <c:pt idx="4">
                  <c:v>0.21939729823345999</c:v>
                </c:pt>
                <c:pt idx="5">
                  <c:v>0.13775545549012799</c:v>
                </c:pt>
                <c:pt idx="6">
                  <c:v>0.1905091790786283</c:v>
                </c:pt>
                <c:pt idx="7">
                  <c:v>0.2105992379632837</c:v>
                </c:pt>
                <c:pt idx="8">
                  <c:v>0.13775545549012799</c:v>
                </c:pt>
                <c:pt idx="9">
                  <c:v>0.22099064773120891</c:v>
                </c:pt>
                <c:pt idx="10">
                  <c:v>0.13775545549012799</c:v>
                </c:pt>
                <c:pt idx="11">
                  <c:v>0.24260478004849301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9-4A59-BD93-ACABDE7B54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Apreciación neutra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090799788292679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239-4A59-BD93-ACABDE7B54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Sheet1!$C$2:$C$13</c:f>
              <c:numCache>
                <c:formatCode>0%</c:formatCode>
                <c:ptCount val="12"/>
                <c:pt idx="0">
                  <c:v>4.6414963630065822E-2</c:v>
                </c:pt>
                <c:pt idx="1">
                  <c:v>0.32455836508486319</c:v>
                </c:pt>
                <c:pt idx="2">
                  <c:v>9.0751645306546586E-2</c:v>
                </c:pt>
                <c:pt idx="3">
                  <c:v>0.14409421544856249</c:v>
                </c:pt>
                <c:pt idx="4">
                  <c:v>0.1236577762383097</c:v>
                </c:pt>
                <c:pt idx="5">
                  <c:v>9.9168687218566004E-2</c:v>
                </c:pt>
                <c:pt idx="6">
                  <c:v>0.31763075857291312</c:v>
                </c:pt>
                <c:pt idx="7">
                  <c:v>0.35885001731901628</c:v>
                </c:pt>
                <c:pt idx="8">
                  <c:v>0.19916868721856601</c:v>
                </c:pt>
                <c:pt idx="9">
                  <c:v>0.32455836508486319</c:v>
                </c:pt>
                <c:pt idx="10">
                  <c:v>9.9168687218566004E-2</c:v>
                </c:pt>
                <c:pt idx="11">
                  <c:v>0.16522341531001039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9-4A59-BD93-ACABDE7B54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Apreciación positiva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Confío en mi capacidad para afrontar las altas exigencias de la situación.</c:v>
                </c:pt>
                <c:pt idx="1">
                  <c:v>Me siento completamente en control de mis acciones.</c:v>
                </c:pt>
                <c:pt idx="2">
                  <c:v>En cada paso, sé exactamente lo que tengo que hacer.</c:v>
                </c:pt>
                <c:pt idx="3">
                  <c:v>Estoy totalmente absorto/a en lo que estoy haciendo.</c:v>
                </c:pt>
                <c:pt idx="4">
                  <c:v>Estoy profundamente concentrado/a en lo que estoy haciendo.</c:v>
                </c:pt>
                <c:pt idx="5">
                  <c:v>Suelo perder la noción del tiempo.</c:v>
                </c:pt>
                <c:pt idx="6">
                  <c:v>No me importa lo que los demás puedan pensar de mí.</c:v>
                </c:pt>
                <c:pt idx="7">
                  <c:v>No me preocupa el juicio de los demás.</c:v>
                </c:pt>
                <c:pt idx="8">
                  <c:v>No me preocupa lo que los demás puedan pensar de mí.</c:v>
                </c:pt>
                <c:pt idx="9">
                  <c:v>Tengo la sensación de que estoy viviendo una experiencia muy emocionante.</c:v>
                </c:pt>
                <c:pt idx="10">
                  <c:v>Esta actividad me produce una sensación de bienestar.</c:v>
                </c:pt>
                <c:pt idx="11">
                  <c:v>Cuando hablo de esta actividad, siento una emoción tan profunda que quiero compartirla.</c:v>
                </c:pt>
              </c:strCache>
            </c:strRef>
          </c:cat>
          <c:val>
            <c:numRef>
              <c:f>Sheet1!$D$2:$D$13</c:f>
              <c:numCache>
                <c:formatCode>0%</c:formatCode>
                <c:ptCount val="12"/>
                <c:pt idx="0">
                  <c:v>0.89735019050917897</c:v>
                </c:pt>
                <c:pt idx="1">
                  <c:v>0.45445098718392801</c:v>
                </c:pt>
                <c:pt idx="2">
                  <c:v>0.79573952199515097</c:v>
                </c:pt>
                <c:pt idx="3">
                  <c:v>0.73200554208520996</c:v>
                </c:pt>
                <c:pt idx="4">
                  <c:v>0.65694492552823003</c:v>
                </c:pt>
                <c:pt idx="5">
                  <c:v>0.76307585729130589</c:v>
                </c:pt>
                <c:pt idx="6">
                  <c:v>0.49186006234845858</c:v>
                </c:pt>
                <c:pt idx="7">
                  <c:v>0.43055074471770011</c:v>
                </c:pt>
                <c:pt idx="8">
                  <c:v>0.66307585729130603</c:v>
                </c:pt>
                <c:pt idx="9">
                  <c:v>0.45445098718392801</c:v>
                </c:pt>
                <c:pt idx="10">
                  <c:v>0.76307585729130589</c:v>
                </c:pt>
                <c:pt idx="11">
                  <c:v>0.59217180464149599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9-4A59-BD93-ACABDE7B54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348736048"/>
        <c:axId val="171021936"/>
      </c:barChart>
      <c:catAx>
        <c:axId val="34873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200" b="0" i="0" u="none" strike="noStrike" kern="1200" baseline="0">
                <a:solidFill>
                  <a:schemeClr val="tx2">
                    <a:lumMod val="2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ctr"/>
        <c:lblOffset val="100"/>
        <c:noMultiLvlLbl val="0"/>
      </c:catAx>
      <c:valAx>
        <c:axId val="171021936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294412764161911"/>
          <c:y val="0.88766825044456898"/>
          <c:w val="0.36613496436049792"/>
          <c:h val="0.110791931761133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400" dirty="0">
                <a:latin typeface="Calibri Light" panose="020F0302020204030204" pitchFamily="34" charset="0"/>
                <a:cs typeface="Calibri Light" panose="020F0302020204030204" pitchFamily="34" charset="0"/>
              </a:rPr>
              <a:t>Típicamente, ¿con qué frecuencia realizas ejercicio o actividad física durante al menos 30 minutos?</a:t>
            </a:r>
            <a:endParaRPr lang="es-CL" sz="1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>
        <c:manualLayout>
          <c:layoutTarget val="inner"/>
          <c:xMode val="edge"/>
          <c:yMode val="edge"/>
          <c:x val="0.2437250291630213"/>
          <c:y val="0.22276104584733825"/>
          <c:w val="0.46393883056284629"/>
          <c:h val="0.56471185951834224"/>
        </c:manualLayout>
      </c:layout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3B7-4F7D-BBC4-5086159EAB57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3B7-4F7D-BBC4-5086159EAB5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3B7-4F7D-BBC4-5086159EAB5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3B7-4F7D-BBC4-5086159EAB5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4"/>
                <c:pt idx="0">
                  <c:v>Nunca</c:v>
                </c:pt>
                <c:pt idx="1">
                  <c:v>1 vez por semana</c:v>
                </c:pt>
                <c:pt idx="2">
                  <c:v>2 veces por semana</c:v>
                </c:pt>
                <c:pt idx="3">
                  <c:v>3 o más veces por semana</c:v>
                </c:pt>
              </c:strCache>
            </c:strRef>
          </c:cat>
          <c:val>
            <c:numRef>
              <c:f>Hoja1!$B$2:$B$5</c:f>
              <c:numCache>
                <c:formatCode>0%</c:formatCode>
                <c:ptCount val="4"/>
                <c:pt idx="0">
                  <c:v>0.375893697083725</c:v>
                </c:pt>
                <c:pt idx="1">
                  <c:v>0.25119002822201297</c:v>
                </c:pt>
                <c:pt idx="2">
                  <c:v>0.111933207902164</c:v>
                </c:pt>
                <c:pt idx="3">
                  <c:v>0.26098306679209798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3B7-4F7D-BBC4-5086159EA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46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800" b="0" i="0" u="none" strike="noStrike" baseline="0" dirty="0">
                <a:effectLst/>
              </a:rPr>
              <a:t>En una semana habitual, con qué frecuencia:</a:t>
            </a:r>
            <a:endParaRPr lang="es-C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0.15666901905434016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6-48AD-9110-AB5F9FC58C83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0.41766643142789933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6-48AD-9110-AB5F9FC58C83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0.27205363443895553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6-48AD-9110-AB5F9FC58C83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Desayunas, almuerzas y comes en horarios habituales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0.15361091507880498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6-48AD-9110-AB5F9FC58C8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Ningún día</c:v>
                </c:pt>
              </c:strCache>
            </c:strRef>
          </c:tx>
          <c:spPr>
            <a:solidFill>
              <a:srgbClr val="4DB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6.5741502998941548E-2</c:v>
                </c:pt>
                <c:pt idx="1">
                  <c:v>0.19204986475361638</c:v>
                </c:pt>
                <c:pt idx="2">
                  <c:v>0.19760056457304165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C0-4C34-8869-54A49A9EFCA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Algunos días</c:v>
                </c:pt>
              </c:strCache>
            </c:strRef>
          </c:tx>
          <c:spPr>
            <a:solidFill>
              <a:srgbClr val="F896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Hoja1!$C$2:$C$4</c:f>
              <c:numCache>
                <c:formatCode>0%</c:formatCode>
                <c:ptCount val="3"/>
                <c:pt idx="0">
                  <c:v>0.69163824532517937</c:v>
                </c:pt>
                <c:pt idx="1">
                  <c:v>0.50076443608138299</c:v>
                </c:pt>
                <c:pt idx="2">
                  <c:v>0.42695836273817928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C0-4C34-8869-54A49A9EFCA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La mayoría de los días</c:v>
                </c:pt>
              </c:strCache>
            </c:strRef>
          </c:tx>
          <c:spPr>
            <a:solidFill>
              <a:srgbClr val="F9414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Hoja1!$D$2:$D$4</c:f>
              <c:numCache>
                <c:formatCode>0%</c:formatCode>
                <c:ptCount val="3"/>
                <c:pt idx="0">
                  <c:v>0.20122309773021288</c:v>
                </c:pt>
                <c:pt idx="1">
                  <c:v>0.20686816417734918</c:v>
                </c:pt>
                <c:pt idx="2">
                  <c:v>0.23147494707127736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C0-4C34-8869-54A49A9EFCAF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Todos los días</c:v>
                </c:pt>
              </c:strCache>
            </c:strRef>
          </c:tx>
          <c:spPr>
            <a:solidFill>
              <a:srgbClr val="E63C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Consumes comidas rápidas, fritas, snacks o dulces</c:v>
                </c:pt>
                <c:pt idx="1">
                  <c:v>Consumes gaseosas o bebidas artificiales</c:v>
                </c:pt>
                <c:pt idx="2">
                  <c:v>Omites alguna de las comidas principales (desayuno, almuerzo y comida)</c:v>
                </c:pt>
              </c:strCache>
            </c:strRef>
          </c:cat>
          <c:val>
            <c:numRef>
              <c:f>Hoja1!$E$2:$E$4</c:f>
              <c:numCache>
                <c:formatCode>0%</c:formatCode>
                <c:ptCount val="3"/>
                <c:pt idx="0">
                  <c:v>4.1397153945666239E-2</c:v>
                </c:pt>
                <c:pt idx="1">
                  <c:v>0.10031753498765142</c:v>
                </c:pt>
                <c:pt idx="2">
                  <c:v>0.14396612561750177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6C0-4C34-8869-54A49A9EFCA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En un día habitual, ¿cuántos vasos de agua, té o juegos no azucarados ingieres?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Ninguno</c:v>
                </c:pt>
                <c:pt idx="1">
                  <c:v>Entre 1 y 3</c:v>
                </c:pt>
                <c:pt idx="2">
                  <c:v>Entre 4 y 8</c:v>
                </c:pt>
                <c:pt idx="3">
                  <c:v>Entre 9 y 12</c:v>
                </c:pt>
                <c:pt idx="4">
                  <c:v>Más de 12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3B-407A-ACC9-436A3ACF92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 dirty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Durante las últimas dos semanas, ¿con qué frecuencia has fumado cigarrillos, puros o pipas, o usado rapé o tabaco para mascar?</a:t>
            </a:r>
            <a:endParaRPr lang="en-U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Muy poco</c:v>
                </c:pt>
                <c:pt idx="2">
                  <c:v>Levemente</c:v>
                </c:pt>
                <c:pt idx="3">
                  <c:v>Moderadamente</c:v>
                </c:pt>
                <c:pt idx="4">
                  <c:v>Severamente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7.9684557438794726E-2</c:v>
                </c:pt>
                <c:pt idx="1">
                  <c:v>0.48999529190207158</c:v>
                </c:pt>
                <c:pt idx="2">
                  <c:v>0.314030131826742</c:v>
                </c:pt>
                <c:pt idx="3">
                  <c:v>8.9218455743879474E-2</c:v>
                </c:pt>
                <c:pt idx="4">
                  <c:v>2.7071563088512243E-2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49-411B-8080-77E3FB9FA8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8497199"/>
        <c:axId val="1168496367"/>
      </c:barChart>
      <c:catAx>
        <c:axId val="1168497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A8-48EF-B7C4-459A9335C2F6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A8-48EF-B7C4-459A9335C2F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4A8-48EF-B7C4-459A9335C2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4A8-48EF-B7C4-459A9335C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EC4-48CA-98A1-76B7FCF66FF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EC4-48CA-98A1-76B7FCF66FF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C4-48CA-98A1-76B7FCF66F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686-45DE-8517-CC98D23B3120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686-45DE-8517-CC98D23B3120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686-45DE-8517-CC98D23B3120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686-45DE-8517-CC98D23B3120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686-45DE-8517-CC98D23B3120}"/>
              </c:ext>
            </c:extLst>
          </c:dPt>
          <c:dPt>
            <c:idx val="5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686-45DE-8517-CC98D23B312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0.17</c:v>
                </c:pt>
                <c:pt idx="1">
                  <c:v>0.08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686-45DE-8517-CC98D23B31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7F-4FA5-88D8-4A6FD5A8E321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7F-4FA5-88D8-4A6FD5A8E32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0.54</c:v>
                </c:pt>
                <c:pt idx="1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7F-4FA5-88D8-4A6FD5A8E3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C4-4E70-8890-05BC5C5C96D1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5C4-4E70-8890-05BC5C5C96D1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5C4-4E70-8890-05BC5C5C96D1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5C4-4E70-8890-05BC5C5C96D1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5C4-4E70-8890-05BC5C5C96D1}"/>
              </c:ext>
            </c:extLst>
          </c:dPt>
          <c:dPt>
            <c:idx val="5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5C4-4E70-8890-05BC5C5C96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0.17</c:v>
                </c:pt>
                <c:pt idx="1">
                  <c:v>0.08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5C4-4E70-8890-05BC5C5C96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718-48B6-BB60-E178E6427BA2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718-48B6-BB60-E178E6427BA2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718-48B6-BB60-E178E6427BA2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718-48B6-BB60-E178E6427BA2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718-48B6-BB60-E178E6427BA2}"/>
              </c:ext>
            </c:extLst>
          </c:dPt>
          <c:dPt>
            <c:idx val="5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718-48B6-BB60-E178E6427BA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Reserva de hora psicológica</c:v>
                </c:pt>
                <c:pt idx="1">
                  <c:v>Inscripción en charlas de salud mental</c:v>
                </c:pt>
                <c:pt idx="2">
                  <c:v>Contenidos en salud mental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0.17</c:v>
                </c:pt>
                <c:pt idx="1">
                  <c:v>0.08</c:v>
                </c:pt>
                <c:pt idx="2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18-48B6-BB60-E178E6427B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2A8-43CD-8471-ACB30C339F5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2A8-43CD-8471-ACB30C339F5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2A8-43CD-8471-ACB30C339F5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Mucho / Bastante</c:v>
                </c:pt>
                <c:pt idx="1">
                  <c:v>Algo</c:v>
                </c:pt>
                <c:pt idx="2">
                  <c:v>Poco / Nada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0.41039290240811155</c:v>
                </c:pt>
                <c:pt idx="1">
                  <c:v>0.3</c:v>
                </c:pt>
                <c:pt idx="2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A8-43CD-8471-ACB30C339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BF-448B-897D-75484F757E2D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BF-448B-897D-75484F757E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0.17</c:v>
                </c:pt>
                <c:pt idx="1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BF-448B-897D-75484F757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FBA-42A9-A113-0001A67B4741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FBA-42A9-A113-0001A67B474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FBA-42A9-A113-0001A67B47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Hoja1!$A$2:$A$4</c:f>
              <c:strCache>
                <c:ptCount val="3"/>
                <c:pt idx="0">
                  <c:v>Nada/Poco</c:v>
                </c:pt>
                <c:pt idx="1">
                  <c:v>Mucho/Bastante</c:v>
                </c:pt>
                <c:pt idx="2">
                  <c:v>Algo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0.31</c:v>
                </c:pt>
                <c:pt idx="1">
                  <c:v>0.33</c:v>
                </c:pt>
                <c:pt idx="2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BA-42A9-A113-0001A67B4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F8961E"/>
            </a:solidFill>
            <a:ln w="19050">
              <a:solidFill>
                <a:srgbClr val="F8961E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Pt>
            <c:idx val="2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64D-4A87-8D3A-6B57251F2291}"/>
              </c:ext>
            </c:extLst>
          </c:dPt>
          <c:dPt>
            <c:idx val="3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64D-4A87-8D3A-6B57251F2291}"/>
              </c:ext>
            </c:extLst>
          </c:dPt>
          <c:dPt>
            <c:idx val="4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64D-4A87-8D3A-6B57251F229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0</c:v>
                </c:pt>
                <c:pt idx="1">
                  <c:v>Entre 1 y 3</c:v>
                </c:pt>
                <c:pt idx="2">
                  <c:v>Entre 4 y 6</c:v>
                </c:pt>
                <c:pt idx="3">
                  <c:v>Entre 7 y 9</c:v>
                </c:pt>
                <c:pt idx="4">
                  <c:v>10 o más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0.14581308622443201</c:v>
                </c:pt>
                <c:pt idx="1">
                  <c:v>0.1</c:v>
                </c:pt>
                <c:pt idx="2">
                  <c:v>0.2</c:v>
                </c:pt>
                <c:pt idx="3">
                  <c:v>0.2</c:v>
                </c:pt>
                <c:pt idx="4">
                  <c:v>0.35418691377556799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721395472"/>
        <c:axId val="1721401296"/>
      </c:barChart>
      <c:catAx>
        <c:axId val="1721395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401296"/>
        <c:crossesAt val="0"/>
        <c:auto val="1"/>
        <c:lblAlgn val="ctr"/>
        <c:lblOffset val="100"/>
        <c:noMultiLvlLbl val="0"/>
      </c:catAx>
      <c:valAx>
        <c:axId val="1721401296"/>
        <c:scaling>
          <c:orientation val="minMax"/>
          <c:max val="0.70000000000000007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721395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A4E-A6E9-33F79653000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27-4A4E-A6E9-33F79653000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D3-4286-BAA3-0777F2FDFF11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F26-498F-AC27-E91068B6FEC9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8F26-498F-AC27-E91068B6FE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7-4A4E-A6E9-33F796530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A8E-4E6B-A275-AFE965DF1784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A8E-4E6B-A275-AFE965DF17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A8E-4E6B-A275-AFE965DF178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8E-4E6B-A275-AFE965DF1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939-4F2A-95CB-0F8DDB7132DB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939-4F2A-95CB-0F8DDB7132DB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939-4F2A-95CB-0F8DDB7132DB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939-4F2A-95CB-0F8DDB7132DB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939-4F2A-95CB-0F8DDB7132DB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9939-4F2A-95CB-0F8DDB7132DB}"/>
              </c:ext>
            </c:extLst>
          </c:dPt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39-4F2A-95CB-0F8DDB713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45-4873-9662-817F7F4A1EE9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45-4873-9662-817F7F4A1EE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45-4873-9662-817F7F4A1EE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0.18</c:v>
                </c:pt>
                <c:pt idx="1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45-4873-9662-817F7F4A1E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FF-48A3-81F3-9E65F9719FF0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FF-48A3-81F3-9E65F9719FF0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FF-48A3-81F3-9E65F9719FF0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FF-48A3-81F3-9E65F9719FF0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5FF-48A3-81F3-9E65F9719FF0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5FF-48A3-81F3-9E65F9719FF0}"/>
              </c:ext>
            </c:extLst>
          </c:dPt>
          <c:cat>
            <c:strRef>
              <c:f>Hoja1!$A$2:$A$7</c:f>
              <c:strCache>
                <c:ptCount val="6"/>
                <c:pt idx="0">
                  <c:v>Poco tiempo</c:v>
                </c:pt>
                <c:pt idx="1">
                  <c:v>No creo ser bueno/a</c:v>
                </c:pt>
                <c:pt idx="2">
                  <c:v>Es para profesionales</c:v>
                </c:pt>
                <c:pt idx="3">
                  <c:v>No es importante</c:v>
                </c:pt>
                <c:pt idx="4">
                  <c:v>Falta información</c:v>
                </c:pt>
                <c:pt idx="5">
                  <c:v>Otra razón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0.54</c:v>
                </c:pt>
                <c:pt idx="1">
                  <c:v>0.19</c:v>
                </c:pt>
                <c:pt idx="2">
                  <c:v>0.12</c:v>
                </c:pt>
                <c:pt idx="3">
                  <c:v>0.04</c:v>
                </c:pt>
                <c:pt idx="4">
                  <c:v>0.04</c:v>
                </c:pt>
                <c:pt idx="5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5FF-48A3-81F3-9E65F9719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BA-46E6-83E3-4EED6412BEEC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BA-46E6-83E3-4EED6412BE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BA-46E6-83E3-4EED6412BE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00223A"/>
            </a:solidFill>
            <a:ln w="19050">
              <a:solidFill>
                <a:srgbClr val="00223A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DB0-4353-887C-C9753F839E53}"/>
              </c:ext>
            </c:extLst>
          </c:dPt>
          <c:dPt>
            <c:idx val="1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DB0-4353-887C-C9753F839E53}"/>
              </c:ext>
            </c:extLst>
          </c:dPt>
          <c:dPt>
            <c:idx val="2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DB0-4353-887C-C9753F839E53}"/>
              </c:ext>
            </c:extLst>
          </c:dPt>
          <c:dPt>
            <c:idx val="3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DB0-4353-887C-C9753F839E53}"/>
              </c:ext>
            </c:extLst>
          </c:dPt>
          <c:dPt>
            <c:idx val="4"/>
            <c:invertIfNegative val="0"/>
            <c:bubble3D val="0"/>
            <c:spPr>
              <a:solidFill>
                <a:srgbClr val="00223A"/>
              </a:solidFill>
              <a:ln w="19050">
                <a:solidFill>
                  <a:srgbClr val="00223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DB0-4353-887C-C9753F839E53}"/>
              </c:ext>
            </c:extLst>
          </c:dPt>
          <c:dPt>
            <c:idx val="5"/>
            <c:invertIfNegative val="0"/>
            <c:bubble3D val="0"/>
            <c:spPr>
              <a:solidFill>
                <a:srgbClr val="F8961E"/>
              </a:solidFill>
              <a:ln w="19050">
                <a:solidFill>
                  <a:srgbClr val="F8961E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DB0-4353-887C-C9753F839E5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Hoja1!$A$2:$A$4</c:f>
              <c:strCache>
                <c:ptCount val="3"/>
                <c:pt idx="0">
                  <c:v>Sí</c:v>
                </c:pt>
                <c:pt idx="1">
                  <c:v>No</c:v>
                </c:pt>
                <c:pt idx="2">
                  <c:v>No lo recuerdo</c:v>
                </c:pt>
              </c:strCache>
            </c:strRef>
          </c:cat>
          <c:val>
            <c:numRef>
              <c:f>Hoja1!$B$2:$B$4</c:f>
              <c:numCache>
                <c:formatCode>0%</c:formatCode>
                <c:ptCount val="3"/>
                <c:pt idx="0">
                  <c:v>0.3</c:v>
                </c:pt>
                <c:pt idx="1">
                  <c:v>0.1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DB0-4353-887C-C9753F839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F6-4377-80DE-CCB974E0DABA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F6-4377-80DE-CCB974E0DAB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F6-4377-80DE-CCB974E0DA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2F6-4377-80DE-CCB974E0DA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29-42DF-8843-B4B247B6A00A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29-42DF-8843-B4B247B6A00A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29-42DF-8843-B4B247B6A00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29-42DF-8843-B4B247B6A00A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29-42DF-8843-B4B247B6A00A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29-42DF-8843-B4B247B6A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CD3-4690-A67F-BB20356C8E03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CD3-4690-A67F-BB20356C8E0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0.11</c:v>
                </c:pt>
                <c:pt idx="1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D3-4690-A67F-BB20356C8E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7ED-4FB5-BDCB-501FF8949BB8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7ED-4FB5-BDCB-501FF8949BB8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7ED-4FB5-BDCB-501FF8949BB8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7ED-4FB5-BDCB-501FF8949BB8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7ED-4FB5-BDCB-501FF8949BB8}"/>
              </c:ext>
            </c:extLst>
          </c:dPt>
          <c:cat>
            <c:strRef>
              <c:f>Hoja1!$A$2:$A$6</c:f>
              <c:strCache>
                <c:ptCount val="5"/>
                <c:pt idx="0">
                  <c:v>Muy insatisfecho/a</c:v>
                </c:pt>
                <c:pt idx="1">
                  <c:v>Insatisfecho/a</c:v>
                </c:pt>
                <c:pt idx="2">
                  <c:v>Neutro</c:v>
                </c:pt>
                <c:pt idx="3">
                  <c:v>Satisfecho/a</c:v>
                </c:pt>
                <c:pt idx="4">
                  <c:v>Muy satisfecho/a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0.11</c:v>
                </c:pt>
                <c:pt idx="1">
                  <c:v>0.1</c:v>
                </c:pt>
                <c:pt idx="2">
                  <c:v>0.27</c:v>
                </c:pt>
                <c:pt idx="3">
                  <c:v>0.28000000000000003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7ED-4FB5-BDCB-501FF8949B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E9-480B-8A33-449EDF440EB2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E9-480B-8A33-449EDF440EB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E9-480B-8A33-449EDF440E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E9-480B-8A33-449EDF440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A1A-4574-B37D-5284DC7AFB9E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A-4E0A-B33A-396F6E997B3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0.44581308622443216</c:v>
                </c:pt>
                <c:pt idx="1">
                  <c:v>0.55418691377556784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AA-4E0A-B33A-396F6E997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204-4B8C-BC80-5AE178D3274D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204-4B8C-BC80-5AE178D3274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204-4B8C-BC80-5AE178D3274D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204-4B8C-BC80-5AE178D3274D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204-4B8C-BC80-5AE178D327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0.05</c:v>
                </c:pt>
                <c:pt idx="1">
                  <c:v>0.15</c:v>
                </c:pt>
                <c:pt idx="2">
                  <c:v>0.1</c:v>
                </c:pt>
                <c:pt idx="3">
                  <c:v>0.4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4-4B8C-BC80-5AE178D32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dPt>
            <c:idx val="0"/>
            <c:bubble3D val="0"/>
            <c:spPr>
              <a:solidFill>
                <a:srgbClr val="F8961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B11-4829-8A78-0593EE82B441}"/>
              </c:ext>
            </c:extLst>
          </c:dPt>
          <c:dPt>
            <c:idx val="1"/>
            <c:bubble3D val="0"/>
            <c:spPr>
              <a:solidFill>
                <a:srgbClr val="00223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B11-4829-8A78-0593EE82B4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0.08</c:v>
                </c:pt>
                <c:pt idx="1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11-4829-8A78-0593EE82B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ED7D3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B8-4E2A-857D-056B328CD435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ln w="19050">
                <a:solidFill>
                  <a:srgbClr val="ED7D3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B8-4E2A-857D-056B328CD43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 w="19050">
                <a:solidFill>
                  <a:srgbClr val="FFC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B8-4E2A-857D-056B328CD435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7B8-4E2A-857D-056B328CD435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 w="19050">
                <a:solidFill>
                  <a:srgbClr val="92D05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7B8-4E2A-857D-056B328CD4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Nada</c:v>
                </c:pt>
                <c:pt idx="1">
                  <c:v>Poco</c:v>
                </c:pt>
                <c:pt idx="2">
                  <c:v>Algo</c:v>
                </c:pt>
                <c:pt idx="3">
                  <c:v>Bastante</c:v>
                </c:pt>
                <c:pt idx="4">
                  <c:v>Mucho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0.06</c:v>
                </c:pt>
                <c:pt idx="1">
                  <c:v>0.12</c:v>
                </c:pt>
                <c:pt idx="2">
                  <c:v>0.36</c:v>
                </c:pt>
                <c:pt idx="3">
                  <c:v>0.33</c:v>
                </c:pt>
                <c:pt idx="4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7B8-4E2A-857D-056B328CD4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1237856"/>
        <c:axId val="121251584"/>
      </c:barChart>
      <c:valAx>
        <c:axId val="121251584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37856"/>
        <c:crosses val="autoZero"/>
        <c:crossBetween val="between"/>
        <c:majorUnit val="0.1"/>
      </c:valAx>
      <c:catAx>
        <c:axId val="121237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1212515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Hoja1!$C$1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B3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Hoja1!$B$2:$B$6</c:f>
              <c:strCache>
                <c:ptCount val="5"/>
                <c:pt idx="0">
                  <c:v>Sí, de algún familiar</c:v>
                </c:pt>
                <c:pt idx="1">
                  <c:v>Sí, de su padre/madre</c:v>
                </c:pt>
                <c:pt idx="2">
                  <c:v>Sí, una institución de cuidados (sala cuna, jardín, guardería, escuela, etc.)</c:v>
                </c:pt>
                <c:pt idx="3">
                  <c:v>Sí, pago para servicios de cuidado en casa (servicio doméstico, enfermera, etc.)</c:v>
                </c:pt>
                <c:pt idx="4">
                  <c:v>No cuento con apoyo</c:v>
                </c:pt>
              </c:strCache>
            </c:strRef>
          </c:cat>
          <c:val>
            <c:numRef>
              <c:f>Hoja1!$C$2:$C$6</c:f>
              <c:numCache>
                <c:formatCode>0%</c:formatCode>
                <c:ptCount val="5"/>
                <c:pt idx="0">
                  <c:v>0.40291852452371302</c:v>
                </c:pt>
                <c:pt idx="1">
                  <c:v>0.28820429671665992</c:v>
                </c:pt>
                <c:pt idx="2">
                  <c:v>9.0393190109444674E-2</c:v>
                </c:pt>
                <c:pt idx="3">
                  <c:v>2.3510336441021483E-2</c:v>
                </c:pt>
                <c:pt idx="4">
                  <c:v>0.19497365220916094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FC-41B1-B0DF-3CE75BDE0E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20259648"/>
        <c:axId val="620260896"/>
      </c:barChart>
      <c:catAx>
        <c:axId val="6202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620260896"/>
        <c:crosses val="autoZero"/>
        <c:auto val="1"/>
        <c:lblAlgn val="ctr"/>
        <c:lblOffset val="100"/>
        <c:noMultiLvlLbl val="0"/>
      </c:catAx>
      <c:valAx>
        <c:axId val="6202608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620259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No, ninguna.</c:v>
                </c:pt>
                <c:pt idx="1">
                  <c:v>Sí, hijo/a(s).</c:v>
                </c:pt>
                <c:pt idx="2">
                  <c:v>Sí, hermano/a ó sobrino/a.</c:v>
                </c:pt>
                <c:pt idx="3">
                  <c:v>Sí, adulto/a mayor.</c:v>
                </c:pt>
                <c:pt idx="4">
                  <c:v>Sí, persona enferma o con alguna discapacidad.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0.72121143632048823</c:v>
                </c:pt>
                <c:pt idx="1">
                  <c:v>0.17312690699514069</c:v>
                </c:pt>
                <c:pt idx="2">
                  <c:v>4.9610125437902587E-2</c:v>
                </c:pt>
                <c:pt idx="3">
                  <c:v>3.4806192790145782E-2</c:v>
                </c:pt>
                <c:pt idx="4">
                  <c:v>2.1245338456322749E-2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E1-4D98-AC8D-109C4D59EB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Trabajo de jornada completa todos los días</c:v>
                </c:pt>
                <c:pt idx="1">
                  <c:v>Media jornada todos los días</c:v>
                </c:pt>
                <c:pt idx="2">
                  <c:v>Trabajo solo algunos días a la semana</c:v>
                </c:pt>
                <c:pt idx="3">
                  <c:v>Solo fines de semana</c:v>
                </c:pt>
                <c:pt idx="4">
                  <c:v>No trabajo ningún día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0.16770256526161148</c:v>
                </c:pt>
                <c:pt idx="1">
                  <c:v>5.3678381738049494E-2</c:v>
                </c:pt>
                <c:pt idx="2">
                  <c:v>0.15640185331675896</c:v>
                </c:pt>
                <c:pt idx="3">
                  <c:v>0.15459373940558255</c:v>
                </c:pt>
                <c:pt idx="4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2F-42A3-99D9-16F3AF4C1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Hoja1!$B$2:$B$3</c:f>
              <c:numCache>
                <c:formatCode>0%</c:formatCode>
                <c:ptCount val="2"/>
                <c:pt idx="0">
                  <c:v>8.4190303989151311E-2</c:v>
                </c:pt>
                <c:pt idx="1">
                  <c:v>0.21403548423550683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7F-4E94-9983-DF8A5470D36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Hoja1!$C$2:$C$3</c:f>
              <c:numCache>
                <c:formatCode>0%</c:formatCode>
                <c:ptCount val="2"/>
                <c:pt idx="0">
                  <c:v>0.22443213922477115</c:v>
                </c:pt>
                <c:pt idx="1">
                  <c:v>0.36975929483557463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7F-4E94-9983-DF8A5470D36B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Hoja1!$D$2:$D$3</c:f>
              <c:numCache>
                <c:formatCode>0%</c:formatCode>
                <c:ptCount val="2"/>
                <c:pt idx="0">
                  <c:v>0.50265566730704037</c:v>
                </c:pt>
                <c:pt idx="1">
                  <c:v>0.30794440049723132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7F-4E94-9983-DF8A5470D36B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Hoja1!$A$2:$A$3</c:f>
              <c:strCache>
                <c:ptCount val="2"/>
                <c:pt idx="0">
                  <c:v>En Duoc UC, cuento con un espacio adecuado para estudiar o hacer mis trabajos</c:v>
                </c:pt>
                <c:pt idx="1">
                  <c:v>En mi casa, cuento con un espacio adecuado para estudiar o hacer mis trabajos</c:v>
                </c:pt>
              </c:strCache>
            </c:strRef>
          </c:cat>
          <c:val>
            <c:numRef>
              <c:f>Hoja1!$E$2:$E$3</c:f>
              <c:numCache>
                <c:formatCode>0%</c:formatCode>
                <c:ptCount val="2"/>
                <c:pt idx="0">
                  <c:v>0.18872188947903717</c:v>
                </c:pt>
                <c:pt idx="1">
                  <c:v>0.10826082043168719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17F-4E94-9983-DF8A5470D36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Muy en desacuerdo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Hoja1!$B$2:$B$2</c:f>
              <c:numCache>
                <c:formatCode>0%</c:formatCode>
                <c:ptCount val="1"/>
                <c:pt idx="0">
                  <c:v>0.272437563566504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2B-410E-86F3-9D18CDF6263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En desacuerdo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Hoja1!$C$2:$C$2</c:f>
              <c:numCache>
                <c:formatCode>0%</c:formatCode>
                <c:ptCount val="1"/>
                <c:pt idx="0">
                  <c:v>0.26340829472256799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2B-410E-86F3-9D18CDF6263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De acuerdo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Hoja1!$D$2:$D$2</c:f>
              <c:numCache>
                <c:formatCode>0%</c:formatCode>
                <c:ptCount val="1"/>
                <c:pt idx="0">
                  <c:v>0.31090518702678299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2B-410E-86F3-9D18CDF62639}"/>
            </c:ext>
          </c:extLst>
        </c:ser>
        <c:ser>
          <c:idx val="3"/>
          <c:order val="3"/>
          <c:tx>
            <c:strRef>
              <c:f>Hoja1!$E$1</c:f>
              <c:strCache>
                <c:ptCount val="1"/>
                <c:pt idx="0">
                  <c:v>Muy de acuerdo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Hoja1!$A$2:$A$2</c:f>
              <c:strCache>
                <c:ptCount val="1"/>
                <c:pt idx="0">
                  <c:v>Necesito apoyo y/o capacitación para utilizar las plataformas o herramientas tecnológicas requeridas en mi carrera (softwares, plataforma estudiantil, programas, etc.)</c:v>
                </c:pt>
              </c:strCache>
            </c:strRef>
          </c:cat>
          <c:val>
            <c:numRef>
              <c:f>Hoja1!$E$2:$E$2</c:f>
              <c:numCache>
                <c:formatCode>0%</c:formatCode>
                <c:ptCount val="1"/>
                <c:pt idx="0">
                  <c:v>0.15324895468414501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2B-410E-86F3-9D18CDF6263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48736048"/>
        <c:axId val="171021936"/>
      </c:barChart>
      <c:catAx>
        <c:axId val="3487360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1"/>
          <a:lstStyle/>
          <a:p>
            <a:pPr>
              <a:defRPr sz="14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71021936"/>
        <c:crosses val="autoZero"/>
        <c:auto val="1"/>
        <c:lblAlgn val="l"/>
        <c:lblOffset val="100"/>
        <c:noMultiLvlLbl val="0"/>
      </c:catAx>
      <c:valAx>
        <c:axId val="171021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34873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56565A"/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rgbClr val="56565A"/>
          </a:solidFill>
          <a:latin typeface="Calibri Light" panose="020F0302020204030204" pitchFamily="34" charset="0"/>
          <a:cs typeface="Calibri Light" panose="020F0302020204030204" pitchFamily="34" charset="0"/>
        </a:defRPr>
      </a:pPr>
      <a:endParaRPr lang="es-CL"/>
    </a:p>
  </c:txPr>
  <c:externalData r:id="rId3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0022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Otros espacios cercanos a sede (plazas, malls, etc.)</c:v>
                </c:pt>
                <c:pt idx="1">
                  <c:v>Áreas verdes</c:v>
                </c:pt>
                <c:pt idx="2">
                  <c:v>Espacios deportivos</c:v>
                </c:pt>
                <c:pt idx="3">
                  <c:v>Punto estudiantil</c:v>
                </c:pt>
                <c:pt idx="4">
                  <c:v>Biblioteca</c:v>
                </c:pt>
                <c:pt idx="5">
                  <c:v>Casino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0.353678381738049</c:v>
                </c:pt>
                <c:pt idx="1">
                  <c:v>0.16770256526161148</c:v>
                </c:pt>
                <c:pt idx="2">
                  <c:v>0.25</c:v>
                </c:pt>
                <c:pt idx="3">
                  <c:v>0.15640185331675896</c:v>
                </c:pt>
                <c:pt idx="4">
                  <c:v>0.15459373940558255</c:v>
                </c:pt>
                <c:pt idx="5">
                  <c:v>0.4676234602779975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0-4BC8-94AF-26ED2092A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b="0" i="0" u="none" strike="noStrike" baseline="0"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¿Espacios que más utilizas en tu sede de Duoc UC?</a:t>
            </a:r>
            <a:endParaRPr lang="en-US" sz="1600">
              <a:latin typeface="Calibri Light" panose="020F0302020204030204" pitchFamily="34" charset="0"/>
              <a:cs typeface="Calibri Light" panose="020F03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+mn-ea"/>
              <a:cs typeface="Calibri Light" panose="020F03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F8961E"/>
            </a:solidFill>
            <a:ln>
              <a:solidFill>
                <a:srgbClr val="F8961E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Portal VIVO Duoc</c:v>
                </c:pt>
                <c:pt idx="1">
                  <c:v>AVA (Ambiente virtual de aprendizaje)</c:v>
                </c:pt>
                <c:pt idx="2">
                  <c:v>Correo institucional</c:v>
                </c:pt>
                <c:pt idx="3">
                  <c:v>Portal de acceso a clases</c:v>
                </c:pt>
                <c:pt idx="4">
                  <c:v>No utilizo mucho los espacios Duoc UC</c:v>
                </c:pt>
              </c:strCache>
            </c:strRef>
          </c:cat>
          <c:val>
            <c:numRef>
              <c:f>Hoja1!$B$2:$B$6</c:f>
              <c:numCache>
                <c:formatCode>0%</c:formatCode>
                <c:ptCount val="5"/>
                <c:pt idx="0">
                  <c:v>6.7702565261611003E-2</c:v>
                </c:pt>
                <c:pt idx="1">
                  <c:v>5.3678381738049494E-2</c:v>
                </c:pt>
                <c:pt idx="2">
                  <c:v>0.22</c:v>
                </c:pt>
                <c:pt idx="3">
                  <c:v>5.6401853316759003E-2</c:v>
                </c:pt>
                <c:pt idx="4">
                  <c:v>0.66762346027799802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0A-4FEA-85F2-90A49D5B6A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68497199"/>
        <c:axId val="1168496367"/>
      </c:barChart>
      <c:catAx>
        <c:axId val="1168497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6367"/>
        <c:crosses val="autoZero"/>
        <c:auto val="1"/>
        <c:lblAlgn val="ctr"/>
        <c:lblOffset val="100"/>
        <c:noMultiLvlLbl val="0"/>
      </c:catAx>
      <c:valAx>
        <c:axId val="1168496367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endParaRPr lang="es-CL"/>
          </a:p>
        </c:txPr>
        <c:crossAx val="1168497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9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608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88" name="Google Shape;28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761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33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064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36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27" name="Google Shape;327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5938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4826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901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405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3" name="Google Shape;51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43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0" name="Google Shape;540;p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17221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99530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4569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9" name="Google Shape;589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4985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5" name="Google Shape;60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75181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86890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9" name="Google Shape;789;p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3318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3944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2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70" name="Google Shape;370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14890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2607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69655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0141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47620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660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52760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74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82489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35835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98168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597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0182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67369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3187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348" name="Google Shape;34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3166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59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7" name="Google Shape;977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60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52873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4" name="Google Shape;1044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62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6" name="Google Shape;1066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67" name="Google Shape;1067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63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64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9" name="Google Shape;1089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90" name="Google Shape;1090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65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6" name="Google Shape;1076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7" name="Google Shape;1077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98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1"/>
          <p:cNvSpPr/>
          <p:nvPr/>
        </p:nvSpPr>
        <p:spPr>
          <a:xfrm>
            <a:off x="336644" y="1265614"/>
            <a:ext cx="11518711" cy="3944202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19;p111" descr="Tesorería General de la República (Chile) - Wikipedia, la enciclopedia libre"/>
          <p:cNvSpPr/>
          <p:nvPr/>
        </p:nvSpPr>
        <p:spPr>
          <a:xfrm flipH="1">
            <a:off x="460375" y="-180665"/>
            <a:ext cx="341002" cy="341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11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0977" y="368941"/>
            <a:ext cx="1714378" cy="42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2D9C4BF-0687-46AD-B39A-6837DF05B3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1365" y="95795"/>
            <a:ext cx="2904565" cy="96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  <a:defRPr sz="3400" b="1" cap="small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2"/>
          <p:cNvSpPr txBox="1">
            <a:spLocks noGrp="1"/>
          </p:cNvSpPr>
          <p:nvPr>
            <p:ph type="body" idx="1"/>
          </p:nvPr>
        </p:nvSpPr>
        <p:spPr>
          <a:xfrm>
            <a:off x="491319" y="1825625"/>
            <a:ext cx="11250112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A434C"/>
              </a:buClr>
              <a:buSzPts val="2000"/>
              <a:buChar char="•"/>
              <a:defRPr sz="2000">
                <a:solidFill>
                  <a:srgbClr val="3A434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12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492874"/>
            <a:ext cx="808563" cy="1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4655F7-05A0-442D-A5FC-983F51D08A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28165" y="6410387"/>
            <a:ext cx="1156447" cy="3862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3"/>
          <p:cNvSpPr/>
          <p:nvPr/>
        </p:nvSpPr>
        <p:spPr>
          <a:xfrm>
            <a:off x="341193" y="2006221"/>
            <a:ext cx="11518711" cy="2879678"/>
          </a:xfrm>
          <a:prstGeom prst="rect">
            <a:avLst/>
          </a:prstGeom>
          <a:solidFill>
            <a:srgbClr val="0022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oogle Shape;25;p112" descr="Logotipo&#10;&#10;Descripción generada automáticamente">
            <a:extLst>
              <a:ext uri="{FF2B5EF4-FFF2-40B4-BE49-F238E27FC236}">
                <a16:creationId xmlns:a16="http://schemas.microsoft.com/office/drawing/2014/main" id="{F7800445-CEF5-4F97-A48B-9608A8DFD04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91319" y="6378858"/>
            <a:ext cx="926601" cy="22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54E2D06-B1BD-4EB9-A44D-B8D10B152C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1238" y="6230240"/>
            <a:ext cx="1572495" cy="52526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hart" Target="../charts/char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hart" Target="../charts/char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hart" Target="../charts/chart3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hart" Target="../charts/chart4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0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chart" Target="../charts/chart55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4.xml"/><Relationship Id="rId5" Type="http://schemas.openxmlformats.org/officeDocument/2006/relationships/chart" Target="../charts/chart53.xml"/><Relationship Id="rId4" Type="http://schemas.openxmlformats.org/officeDocument/2006/relationships/image" Target="../media/image3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9.xml"/><Relationship Id="rId3" Type="http://schemas.openxmlformats.org/officeDocument/2006/relationships/chart" Target="../charts/chart56.xml"/><Relationship Id="rId7" Type="http://schemas.openxmlformats.org/officeDocument/2006/relationships/chart" Target="../charts/chart58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7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1.xml"/><Relationship Id="rId7" Type="http://schemas.openxmlformats.org/officeDocument/2006/relationships/chart" Target="../charts/chart63.xml"/><Relationship Id="rId2" Type="http://schemas.openxmlformats.org/officeDocument/2006/relationships/chart" Target="../charts/chart6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4.xml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hart" Target="../charts/chart66.xml"/><Relationship Id="rId4" Type="http://schemas.openxmlformats.org/officeDocument/2006/relationships/chart" Target="../charts/chart65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0.xml"/><Relationship Id="rId3" Type="http://schemas.openxmlformats.org/officeDocument/2006/relationships/chart" Target="../charts/chart67.xml"/><Relationship Id="rId7" Type="http://schemas.openxmlformats.org/officeDocument/2006/relationships/chart" Target="../charts/chart69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8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hart" Target="../charts/chart7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2.xml"/><Relationship Id="rId4" Type="http://schemas.openxmlformats.org/officeDocument/2006/relationships/image" Target="../media/image34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3.xml"/><Relationship Id="rId7" Type="http://schemas.openxmlformats.org/officeDocument/2006/relationships/chart" Target="../charts/chart75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4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9.xml"/><Relationship Id="rId3" Type="http://schemas.openxmlformats.org/officeDocument/2006/relationships/chart" Target="../charts/chart76.xml"/><Relationship Id="rId7" Type="http://schemas.openxmlformats.org/officeDocument/2006/relationships/chart" Target="../charts/chart78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7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0.xml"/><Relationship Id="rId7" Type="http://schemas.openxmlformats.org/officeDocument/2006/relationships/chart" Target="../charts/chart82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6.xml"/><Relationship Id="rId3" Type="http://schemas.openxmlformats.org/officeDocument/2006/relationships/chart" Target="../charts/chart83.xml"/><Relationship Id="rId7" Type="http://schemas.openxmlformats.org/officeDocument/2006/relationships/chart" Target="../charts/chart85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4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7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9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0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2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endParaRPr sz="4400" dirty="0">
              <a:highlight>
                <a:srgbClr val="ED7D31"/>
              </a:highlight>
            </a:endParaRPr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  <p:sp>
        <p:nvSpPr>
          <p:cNvPr id="2" name="titulo">
            <a:extLst>
              <a:ext uri="{FF2B5EF4-FFF2-40B4-BE49-F238E27FC236}">
                <a16:creationId xmlns:a16="http://schemas.microsoft.com/office/drawing/2014/main" id="{9725100D-05BD-8D41-358D-0F7FFF195FB7}"/>
              </a:ext>
            </a:extLst>
          </p:cNvPr>
          <p:cNvSpPr txBox="1"/>
          <p:nvPr/>
        </p:nvSpPr>
        <p:spPr>
          <a:xfrm>
            <a:off x="2494459" y="3578705"/>
            <a:ext cx="72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/>
              <a:t>hols</a:t>
            </a:r>
            <a:endParaRPr lang="es-CL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Estructura de la presentación</a:t>
            </a:r>
            <a:endParaRPr dirty="0">
              <a:solidFill>
                <a:srgbClr val="E30613"/>
              </a:solidFill>
            </a:endParaRP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1D625237-B128-4B8B-9FB7-5B83A2FE3F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889607"/>
              </p:ext>
            </p:extLst>
          </p:nvPr>
        </p:nvGraphicFramePr>
        <p:xfrm>
          <a:off x="489884" y="1523074"/>
          <a:ext cx="7966362" cy="29667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532009">
                  <a:extLst>
                    <a:ext uri="{9D8B030D-6E8A-4147-A177-3AD203B41FA5}">
                      <a16:colId xmlns:a16="http://schemas.microsoft.com/office/drawing/2014/main" val="2167040499"/>
                    </a:ext>
                  </a:extLst>
                </a:gridCol>
                <a:gridCol w="1434353">
                  <a:extLst>
                    <a:ext uri="{9D8B030D-6E8A-4147-A177-3AD203B41FA5}">
                      <a16:colId xmlns:a16="http://schemas.microsoft.com/office/drawing/2014/main" val="7981596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Lámina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Introducción al estudio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5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riegos de salud mental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518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</a:t>
                      </a: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eje bienestar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49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descriptivos: experiencia emocional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4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Resultados eje iniciativas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06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Conclusiones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153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s-MX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Anexos: otros datos de interés</a:t>
                      </a:r>
                    </a:p>
                  </a:txBody>
                  <a:tcPr marL="108536" marR="108536" marT="54268" marB="5426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600" b="0" i="0" u="none" strike="noStrike" cap="none" dirty="0">
                          <a:solidFill>
                            <a:srgbClr val="3F3F3F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3143621"/>
                  </a:ext>
                </a:extLst>
              </a:tr>
            </a:tbl>
          </a:graphicData>
        </a:graphic>
      </p:graphicFrame>
      <p:pic>
        <p:nvPicPr>
          <p:cNvPr id="6" name="Gráfico 5" descr="Corazón con pulso con relleno sólido">
            <a:extLst>
              <a:ext uri="{FF2B5EF4-FFF2-40B4-BE49-F238E27FC236}">
                <a16:creationId xmlns:a16="http://schemas.microsoft.com/office/drawing/2014/main" id="{2A98E4D6-A245-40EF-911C-78CB010AB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6227" y="1523074"/>
            <a:ext cx="914400" cy="914400"/>
          </a:xfrm>
          <a:prstGeom prst="rect">
            <a:avLst/>
          </a:prstGeom>
        </p:spPr>
      </p:pic>
      <p:pic>
        <p:nvPicPr>
          <p:cNvPr id="9" name="Gráfico 8" descr="Cabeza con engranajes con relleno sólido">
            <a:extLst>
              <a:ext uri="{FF2B5EF4-FFF2-40B4-BE49-F238E27FC236}">
                <a16:creationId xmlns:a16="http://schemas.microsoft.com/office/drawing/2014/main" id="{3A2789FA-E0C8-41E1-A2BB-EEAF69177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6227" y="2920074"/>
            <a:ext cx="914400" cy="914400"/>
          </a:xfrm>
          <a:prstGeom prst="rect">
            <a:avLst/>
          </a:prstGeom>
        </p:spPr>
      </p:pic>
      <p:pic>
        <p:nvPicPr>
          <p:cNvPr id="13" name="Gráfico 12" descr="Cerebro con relleno sólido">
            <a:extLst>
              <a:ext uri="{FF2B5EF4-FFF2-40B4-BE49-F238E27FC236}">
                <a16:creationId xmlns:a16="http://schemas.microsoft.com/office/drawing/2014/main" id="{83EDAE06-759D-4EDD-81D6-5B9486D7A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9900" y="43170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8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Introducción al estudio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50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491319" y="15628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es-CL" dirty="0">
                <a:solidFill>
                  <a:srgbClr val="3F3F3F"/>
                </a:solidFill>
              </a:rPr>
              <a:t>Propósito</a:t>
            </a:r>
            <a:endParaRPr dirty="0">
              <a:solidFill>
                <a:srgbClr val="E30613"/>
              </a:solidFill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491319" y="1358019"/>
            <a:ext cx="1123395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El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propósito de este estudio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fue conocer la opinión de alumnas y alumnos pertenecientes a Duoc UC, en dimensiones relativas a su bienestar emocional y salud mental, de modo de diseñar una estrategia articulada para </a:t>
            </a:r>
            <a:r>
              <a:rPr lang="es-CL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reforzar, ampliar y focalizar </a:t>
            </a:r>
            <a:r>
              <a:rPr lang="es-CL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los apoyos que Duoc UC entrega a sus estudiantes. 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marR="0" lvl="0" indent="-107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endParaRPr sz="1000" dirty="0">
              <a:solidFill>
                <a:srgbClr val="3F3F3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285750" lvl="0" indent="-285750" algn="just">
              <a:lnSpc>
                <a:spcPct val="150000"/>
              </a:lnSpc>
              <a:buClr>
                <a:srgbClr val="3F3F3F"/>
              </a:buClr>
              <a:buSzPts val="1600"/>
              <a:buFont typeface="Noto Sans Symbols"/>
              <a:buChar char="✔"/>
            </a:pPr>
            <a:r>
              <a:rPr lang="es-ES" sz="1600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 el fin de que los resultados del estudio puedan ser utilizados para informar una arquitectura básica de intervención, los </a:t>
            </a:r>
            <a:r>
              <a:rPr lang="es-ES" sz="1600" b="1" dirty="0">
                <a:solidFill>
                  <a:srgbClr val="3F3F3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hallazgos se presentarán…</a:t>
            </a:r>
            <a:endParaRPr lang="es-ES" sz="16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275DAC-21B3-40F5-9C39-9C87B7DBBE12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Ficha técnica</a:t>
            </a:r>
            <a:endParaRPr dirty="0"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1"/>
          </p:nvPr>
        </p:nvSpPr>
        <p:spPr>
          <a:xfrm>
            <a:off x="491319" y="1377582"/>
            <a:ext cx="11250112" cy="4906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90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Estudio de carácter censal. Toda la población de estudiantes fue invitada a participar. 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Universo total: 97.239 estudiantes.</a:t>
            </a: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lang="es-CL"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Estudiantes considerados como casos válidos para análisis: 18.540 (corresponden a un 19% del universo total de estudiantes).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A434C"/>
              </a:buClr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Trabajo de campo: encuestas aplicadas entre 29 de septiembre y el 13 de octubre, modalidad online.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Todas las evaluaciones se realizaron mediante </a:t>
            </a:r>
            <a:r>
              <a:rPr lang="es-CL" sz="1600" dirty="0" err="1">
                <a:solidFill>
                  <a:srgbClr val="3F3F3F"/>
                </a:solidFill>
              </a:rPr>
              <a:t>auto-reportes</a:t>
            </a:r>
            <a:r>
              <a:rPr lang="es-CL" sz="1600" dirty="0">
                <a:solidFill>
                  <a:srgbClr val="3F3F3F"/>
                </a:solidFill>
              </a:rPr>
              <a:t>. Se prefirieron instrumentos con propiedades psicométricas conocidas para la población chilena. </a:t>
            </a:r>
            <a:endParaRPr sz="1600" dirty="0">
              <a:solidFill>
                <a:srgbClr val="3F3F3F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>
              <a:solidFill>
                <a:srgbClr val="3F3F3F"/>
              </a:solidFill>
            </a:endParaRPr>
          </a:p>
          <a:p>
            <a:pPr marL="2286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s-CL" sz="1600" dirty="0">
                <a:solidFill>
                  <a:srgbClr val="3F3F3F"/>
                </a:solidFill>
              </a:rPr>
              <a:t>La estructura de medición de trastornos de salud mental fue adaptativa y personalizada.</a:t>
            </a:r>
            <a:endParaRPr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B99EFC-346B-44E8-8D1B-0EA4EA7775A1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Batería de evaluación</a:t>
            </a:r>
            <a:endParaRPr dirty="0"/>
          </a:p>
        </p:txBody>
      </p:sp>
      <p:graphicFrame>
        <p:nvGraphicFramePr>
          <p:cNvPr id="4" name="Google Shape;171;p7">
            <a:extLst>
              <a:ext uri="{FF2B5EF4-FFF2-40B4-BE49-F238E27FC236}">
                <a16:creationId xmlns:a16="http://schemas.microsoft.com/office/drawing/2014/main" id="{14F403E0-CA25-4E3F-8543-8AF0AD9830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227739"/>
              </p:ext>
            </p:extLst>
          </p:nvPr>
        </p:nvGraphicFramePr>
        <p:xfrm>
          <a:off x="491319" y="1320256"/>
          <a:ext cx="10998851" cy="4643170"/>
        </p:xfrm>
        <a:graphic>
          <a:graphicData uri="http://schemas.openxmlformats.org/drawingml/2006/table">
            <a:tbl>
              <a:tblPr firstRow="1" bandRow="1">
                <a:noFill/>
                <a:tableStyleId>{991015D7-D160-4A9F-BB4E-07FA0D646497}</a:tableStyleId>
              </a:tblPr>
              <a:tblGrid>
                <a:gridCol w="27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</a:t>
                      </a:r>
                      <a:endParaRPr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strike="noStrike" cap="small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¿Qué evalúa?</a:t>
                      </a:r>
                      <a:endParaRPr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riesgos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DSM-5	</a:t>
                      </a: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(S</a:t>
                      </a: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creening de síntomas)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ED-15	(Screening de síntomas asociados a trastornos de conducta alimentaria)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PSS4 	(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</a:t>
                      </a: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strés percibido</a:t>
                      </a: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PHQ9	(Profundización en depresión)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Arial"/>
                        </a:rPr>
                        <a:t>GAD7	(Profundización en ansiedad)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LPFS-BF 2.0	(Profundización en trastornos en el funcionamiento de la personalidad)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CAST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CUPIT	(Profundización en consumo de marihuana)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AUDIT	(Profundización en consumo de alcohol)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C-SSRS	(Profundización en ideación suicida)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Otros	Estresores / Exigencia carga académica / Estrategias de afrontamiento / Procrastinación</a:t>
                      </a:r>
                      <a:endParaRPr lang="es-CL" sz="14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recursos</a:t>
                      </a: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de salud mental</a:t>
                      </a:r>
                      <a:endParaRPr sz="1600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PERMA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Apoyo percibido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Flow </a:t>
                      </a:r>
                      <a:r>
                        <a:rPr lang="es-CL" sz="1400" b="0" i="0" u="none" strike="noStrike" cap="none" dirty="0" err="1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states</a:t>
                      </a:r>
                      <a:endParaRPr lang="es-CL"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Estilo de vida saludable (Actividad física, Alimentación, Ingesta de líquidos)</a:t>
                      </a:r>
                      <a:endParaRPr lang="es-CL"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9822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variables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contextuales</a:t>
                      </a:r>
                      <a:endParaRPr sz="1600" b="1" dirty="0">
                        <a:latin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Personas al cuidado / Situación de empleo / Condiciones para la actividad académica / Necesidad y acceso de tratamiento en salud mental / Lugar, tipo y barreras de acceso a tratamiento / Condición de salud física crónica </a:t>
                      </a:r>
                      <a:endParaRPr lang="es-MX"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600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Eje </a:t>
                      </a:r>
                      <a:r>
                        <a:rPr lang="es-MX" sz="1600" b="1" dirty="0"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iniciativas</a:t>
                      </a: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400" b="0" i="0" u="none" strike="noStrike" cap="none" dirty="0">
                          <a:solidFill>
                            <a:schemeClr val="dk1"/>
                          </a:solidFill>
                          <a:latin typeface="Calibri Light" panose="020F0302020204030204" pitchFamily="34" charset="0"/>
                          <a:ea typeface="Calibri"/>
                          <a:cs typeface="Calibri Light" panose="020F0302020204030204" pitchFamily="34" charset="0"/>
                          <a:sym typeface="Calibri"/>
                        </a:rPr>
                        <a:t>APP Vivo / Embajadores de la Salud Mental / Atenciones psicológicas / Bienestar Integral en Movimiento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Calibri Light" panose="020F0302020204030204" pitchFamily="34" charset="0"/>
                        <a:ea typeface="Calibri"/>
                        <a:cs typeface="Calibri Light" panose="020F0302020204030204" pitchFamily="34" charset="0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ender_pie_chart"/>
          <p:cNvGraphicFramePr/>
          <p:nvPr>
            <p:extLst>
              <p:ext uri="{D42A27DB-BD31-4B8C-83A1-F6EECF244321}">
                <p14:modId xmlns:p14="http://schemas.microsoft.com/office/powerpoint/2010/main" val="754648177"/>
              </p:ext>
            </p:extLst>
          </p:nvPr>
        </p:nvGraphicFramePr>
        <p:xfrm>
          <a:off x="804568" y="1448937"/>
          <a:ext cx="3025342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92" name="student_day_pie_chart"/>
          <p:cNvGraphicFramePr/>
          <p:nvPr>
            <p:extLst>
              <p:ext uri="{D42A27DB-BD31-4B8C-83A1-F6EECF244321}">
                <p14:modId xmlns:p14="http://schemas.microsoft.com/office/powerpoint/2010/main" val="1917769894"/>
              </p:ext>
            </p:extLst>
          </p:nvPr>
        </p:nvGraphicFramePr>
        <p:xfrm>
          <a:off x="4692496" y="1448937"/>
          <a:ext cx="2807007" cy="2552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93" name="student_type_pie_chart"/>
          <p:cNvGraphicFramePr/>
          <p:nvPr>
            <p:extLst>
              <p:ext uri="{D42A27DB-BD31-4B8C-83A1-F6EECF244321}">
                <p14:modId xmlns:p14="http://schemas.microsoft.com/office/powerpoint/2010/main" val="1065254295"/>
              </p:ext>
            </p:extLst>
          </p:nvPr>
        </p:nvGraphicFramePr>
        <p:xfrm>
          <a:off x="8146936" y="1448937"/>
          <a:ext cx="2807007" cy="3010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Google Shape;290;p18">
            <a:extLst>
              <a:ext uri="{FF2B5EF4-FFF2-40B4-BE49-F238E27FC236}">
                <a16:creationId xmlns:a16="http://schemas.microsoft.com/office/drawing/2014/main" id="{D8B6C4D8-860D-4C0F-A2E1-5BBE129F0A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814" y="260953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Caracterización de participantes</a:t>
            </a:r>
            <a:br>
              <a:rPr lang="es-CL" dirty="0"/>
            </a:br>
            <a:endParaRPr sz="1400" dirty="0"/>
          </a:p>
        </p:txBody>
      </p:sp>
      <p:graphicFrame>
        <p:nvGraphicFramePr>
          <p:cNvPr id="6" name="escuelas_bar_chart">
            <a:extLst>
              <a:ext uri="{FF2B5EF4-FFF2-40B4-BE49-F238E27FC236}">
                <a16:creationId xmlns:a16="http://schemas.microsoft.com/office/drawing/2014/main" id="{6942C506-3ACE-4394-A174-51E28CA92A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8141452"/>
              </p:ext>
            </p:extLst>
          </p:nvPr>
        </p:nvGraphicFramePr>
        <p:xfrm>
          <a:off x="1781534" y="4446900"/>
          <a:ext cx="8628929" cy="2012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otal_participantes">
            <a:extLst>
              <a:ext uri="{FF2B5EF4-FFF2-40B4-BE49-F238E27FC236}">
                <a16:creationId xmlns:a16="http://schemas.microsoft.com/office/drawing/2014/main" id="{36913A01-5885-1D87-BBB9-21ADFF52ED79}"/>
              </a:ext>
            </a:extLst>
          </p:cNvPr>
          <p:cNvSpPr txBox="1"/>
          <p:nvPr/>
        </p:nvSpPr>
        <p:spPr>
          <a:xfrm>
            <a:off x="455814" y="1141160"/>
            <a:ext cx="20874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CASOS VÁLIDOS (N=</a:t>
            </a:r>
            <a:r>
              <a:rPr lang="es-CL" sz="1300" b="1" dirty="0">
                <a:highlight>
                  <a:srgbClr val="ED7D31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&lt;3.500&gt;</a:t>
            </a:r>
            <a:r>
              <a:rPr lang="es-CL" sz="13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3" name="subtitulo_sede_1">
            <a:extLst>
              <a:ext uri="{FF2B5EF4-FFF2-40B4-BE49-F238E27FC236}">
                <a16:creationId xmlns:a16="http://schemas.microsoft.com/office/drawing/2014/main" id="{7432E39A-5656-9D31-0E4E-B6D21E4A9D00}"/>
              </a:ext>
            </a:extLst>
          </p:cNvPr>
          <p:cNvSpPr txBox="1"/>
          <p:nvPr/>
        </p:nvSpPr>
        <p:spPr>
          <a:xfrm>
            <a:off x="455814" y="696061"/>
            <a:ext cx="80070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estrés y afrontamiento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nivel_estres_categorias"/>
          <p:cNvGraphicFramePr/>
          <p:nvPr>
            <p:extLst>
              <p:ext uri="{D42A27DB-BD31-4B8C-83A1-F6EECF244321}">
                <p14:modId xmlns:p14="http://schemas.microsoft.com/office/powerpoint/2010/main" val="4051923325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29" name="nivel_estres_sedes"/>
          <p:cNvGraphicFramePr/>
          <p:nvPr>
            <p:extLst>
              <p:ext uri="{D42A27DB-BD31-4B8C-83A1-F6EECF244321}">
                <p14:modId xmlns:p14="http://schemas.microsoft.com/office/powerpoint/2010/main" val="991752797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437;p33">
            <a:extLst>
              <a:ext uri="{FF2B5EF4-FFF2-40B4-BE49-F238E27FC236}">
                <a16:creationId xmlns:a16="http://schemas.microsoft.com/office/drawing/2014/main" id="{0BFC570E-2A22-DF4E-8EBD-0FE30D76288A}"/>
              </a:ext>
            </a:extLst>
          </p:cNvPr>
          <p:cNvSpPr txBox="1"/>
          <p:nvPr/>
        </p:nvSpPr>
        <p:spPr>
          <a:xfrm>
            <a:off x="547568" y="4791492"/>
            <a:ext cx="2872503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 el promedio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estrés percibido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de los/as estudiantes, considerando un 100% como un nivel de estrés extremo e intolerable.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F98F07F-704E-4675-B717-3F5937AE6D80}"/>
              </a:ext>
            </a:extLst>
          </p:cNvPr>
          <p:cNvSpPr/>
          <p:nvPr/>
        </p:nvSpPr>
        <p:spPr>
          <a:xfrm>
            <a:off x="547568" y="1413773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427;p32">
            <a:extLst>
              <a:ext uri="{FF2B5EF4-FFF2-40B4-BE49-F238E27FC236}">
                <a16:creationId xmlns:a16="http://schemas.microsoft.com/office/drawing/2014/main" id="{AE7F0244-B695-4145-B4BF-C54DBCD1DBF1}"/>
              </a:ext>
            </a:extLst>
          </p:cNvPr>
          <p:cNvSpPr/>
          <p:nvPr/>
        </p:nvSpPr>
        <p:spPr>
          <a:xfrm>
            <a:off x="547568" y="350367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42%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nivel_estres_promedio_2025">
            <a:extLst>
              <a:ext uri="{FF2B5EF4-FFF2-40B4-BE49-F238E27FC236}">
                <a16:creationId xmlns:a16="http://schemas.microsoft.com/office/drawing/2014/main" id="{E1C77E2B-5B74-4EFF-879C-02D40C622499}"/>
              </a:ext>
            </a:extLst>
          </p:cNvPr>
          <p:cNvSpPr/>
          <p:nvPr/>
        </p:nvSpPr>
        <p:spPr>
          <a:xfrm>
            <a:off x="1254201" y="2106829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28%</a:t>
            </a:r>
          </a:p>
        </p:txBody>
      </p:sp>
      <p:sp>
        <p:nvSpPr>
          <p:cNvPr id="12" name="Google Shape;426;p32">
            <a:extLst>
              <a:ext uri="{FF2B5EF4-FFF2-40B4-BE49-F238E27FC236}">
                <a16:creationId xmlns:a16="http://schemas.microsoft.com/office/drawing/2014/main" id="{69B5F223-E143-413D-816B-165F1C054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estrés percibido </a:t>
            </a:r>
            <a:br>
              <a:rPr lang="es-CL" dirty="0"/>
            </a:br>
            <a:endParaRPr dirty="0">
              <a:highlight>
                <a:srgbClr val="ED7D31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846BA5-CAFC-4355-89A9-2FBD92AA0E00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" name="nivel_estres_promedio_2022">
            <a:extLst>
              <a:ext uri="{FF2B5EF4-FFF2-40B4-BE49-F238E27FC236}">
                <a16:creationId xmlns:a16="http://schemas.microsoft.com/office/drawing/2014/main" id="{A06B0CC8-D126-141D-E233-67A43529C1DB}"/>
              </a:ext>
            </a:extLst>
          </p:cNvPr>
          <p:cNvSpPr txBox="1"/>
          <p:nvPr/>
        </p:nvSpPr>
        <p:spPr>
          <a:xfrm>
            <a:off x="568230" y="1502305"/>
            <a:ext cx="102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  <p:sp>
        <p:nvSpPr>
          <p:cNvPr id="2" name="subtitulo_sede_2">
            <a:extLst>
              <a:ext uri="{FF2B5EF4-FFF2-40B4-BE49-F238E27FC236}">
                <a16:creationId xmlns:a16="http://schemas.microsoft.com/office/drawing/2014/main" id="{EF201363-D24B-B65C-7030-5008F41E1BFC}"/>
              </a:ext>
            </a:extLst>
          </p:cNvPr>
          <p:cNvSpPr txBox="1"/>
          <p:nvPr/>
        </p:nvSpPr>
        <p:spPr>
          <a:xfrm>
            <a:off x="491318" y="556280"/>
            <a:ext cx="8158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300698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Sexo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genero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0564924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92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14316" y="396587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</a:t>
            </a:r>
            <a:br>
              <a:rPr lang="es-CL" dirty="0"/>
            </a:br>
            <a:r>
              <a:rPr lang="es-ES" sz="2200" b="0" dirty="0"/>
              <a:t>¿Cuáles de las siguientes situaciones presentan un problema que te afecte actualmente? </a:t>
            </a:r>
            <a:br>
              <a:rPr lang="es-ES" sz="2200" b="0" dirty="0"/>
            </a:br>
            <a:r>
              <a:rPr lang="es-ES" sz="2200" i="1" dirty="0"/>
              <a:t>Resultados por Jornada</a:t>
            </a:r>
            <a:br>
              <a:rPr lang="es-ES" sz="2200" b="0" dirty="0"/>
            </a:br>
            <a:endParaRPr sz="2200" b="0" dirty="0"/>
          </a:p>
        </p:txBody>
      </p:sp>
      <p:graphicFrame>
        <p:nvGraphicFramePr>
          <p:cNvPr id="4" name="estresores_por_jornada">
            <a:extLst>
              <a:ext uri="{FF2B5EF4-FFF2-40B4-BE49-F238E27FC236}">
                <a16:creationId xmlns:a16="http://schemas.microsoft.com/office/drawing/2014/main" id="{8103CFB3-65F2-4BDB-99D2-9B8B1658FE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6082379"/>
              </p:ext>
            </p:extLst>
          </p:nvPr>
        </p:nvGraphicFramePr>
        <p:xfrm>
          <a:off x="1116106" y="1380199"/>
          <a:ext cx="9959788" cy="5332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oogle Shape;316;p21">
            <a:extLst>
              <a:ext uri="{FF2B5EF4-FFF2-40B4-BE49-F238E27FC236}">
                <a16:creationId xmlns:a16="http://schemas.microsoft.com/office/drawing/2014/main" id="{A1290AF1-4DD3-4575-9164-E1B6CD0704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3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CL" sz="2000" b="0" dirty="0"/>
              <a:t>Entre quienes reportaron como estresor “Carga académica exigente”</a:t>
            </a:r>
            <a:endParaRPr sz="2900" b="0" dirty="0"/>
          </a:p>
        </p:txBody>
      </p:sp>
      <p:graphicFrame>
        <p:nvGraphicFramePr>
          <p:cNvPr id="322" name="exigencia_academica"/>
          <p:cNvGraphicFramePr/>
          <p:nvPr>
            <p:extLst>
              <p:ext uri="{D42A27DB-BD31-4B8C-83A1-F6EECF244321}">
                <p14:modId xmlns:p14="http://schemas.microsoft.com/office/powerpoint/2010/main" val="3293328782"/>
              </p:ext>
            </p:extLst>
          </p:nvPr>
        </p:nvGraphicFramePr>
        <p:xfrm>
          <a:off x="2174875" y="1762125"/>
          <a:ext cx="8128000" cy="4185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nota_exigencia">
            <a:extLst>
              <a:ext uri="{FF2B5EF4-FFF2-40B4-BE49-F238E27FC236}">
                <a16:creationId xmlns:a16="http://schemas.microsoft.com/office/drawing/2014/main" id="{043A6CF9-AD15-3764-DD0C-9D4C1DB95FF9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"/>
          <p:cNvSpPr txBox="1">
            <a:spLocks noGrp="1"/>
          </p:cNvSpPr>
          <p:nvPr>
            <p:ph type="title"/>
          </p:nvPr>
        </p:nvSpPr>
        <p:spPr>
          <a:xfrm>
            <a:off x="491317" y="56543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s-CL" dirty="0"/>
              <a:t>Estresores – Exigencia carga académica</a:t>
            </a:r>
            <a:br>
              <a:rPr lang="es-CL" dirty="0"/>
            </a:br>
            <a:r>
              <a:rPr lang="es-ES" sz="2000" b="0" i="1" dirty="0"/>
              <a:t>¿Cuáles de las siguientes razones explican que la carga académica te resulte exigente?</a:t>
            </a:r>
            <a:br>
              <a:rPr lang="es-ES" sz="2000" b="0" i="1" dirty="0"/>
            </a:br>
            <a:r>
              <a:rPr lang="es-CL" sz="2000" b="0" dirty="0"/>
              <a:t>Entre quienes reportaron como estresor “Carga académica exigente”</a:t>
            </a:r>
            <a:br>
              <a:rPr lang="es-CL" sz="2000" b="0" dirty="0"/>
            </a:br>
            <a:r>
              <a:rPr lang="es-ES" sz="2000" i="1" dirty="0"/>
              <a:t>Resultados por tipo de alumno</a:t>
            </a:r>
            <a:br>
              <a:rPr lang="es-ES" sz="2000" b="0" dirty="0"/>
            </a:br>
            <a:endParaRPr sz="2900" b="0" dirty="0"/>
          </a:p>
        </p:txBody>
      </p:sp>
      <p:graphicFrame>
        <p:nvGraphicFramePr>
          <p:cNvPr id="322" name="exigencia_academica_inicio"/>
          <p:cNvGraphicFramePr/>
          <p:nvPr>
            <p:extLst>
              <p:ext uri="{D42A27DB-BD31-4B8C-83A1-F6EECF244321}">
                <p14:modId xmlns:p14="http://schemas.microsoft.com/office/powerpoint/2010/main" val="1015113294"/>
              </p:ext>
            </p:extLst>
          </p:nvPr>
        </p:nvGraphicFramePr>
        <p:xfrm>
          <a:off x="323679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23" name="Google Shape;32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43601" y="119748"/>
            <a:ext cx="714159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exigencia_academica_continuidad"/>
          <p:cNvGraphicFramePr/>
          <p:nvPr>
            <p:extLst>
              <p:ext uri="{D42A27DB-BD31-4B8C-83A1-F6EECF244321}">
                <p14:modId xmlns:p14="http://schemas.microsoft.com/office/powerpoint/2010/main" val="2679661815"/>
              </p:ext>
            </p:extLst>
          </p:nvPr>
        </p:nvGraphicFramePr>
        <p:xfrm>
          <a:off x="4407782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exigencia_academica_admision_especial"/>
          <p:cNvGraphicFramePr/>
          <p:nvPr>
            <p:extLst>
              <p:ext uri="{D42A27DB-BD31-4B8C-83A1-F6EECF244321}">
                <p14:modId xmlns:p14="http://schemas.microsoft.com/office/powerpoint/2010/main" val="96872000"/>
              </p:ext>
            </p:extLst>
          </p:nvPr>
        </p:nvGraphicFramePr>
        <p:xfrm>
          <a:off x="8202108" y="1838324"/>
          <a:ext cx="3806361" cy="42271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7377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Estresores 2022 - 2025</a:t>
            </a:r>
            <a:endParaRPr dirty="0"/>
          </a:p>
        </p:txBody>
      </p:sp>
      <p:pic>
        <p:nvPicPr>
          <p:cNvPr id="316" name="Google Shape;31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01374" y="203202"/>
            <a:ext cx="916771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65A6203E-2A5D-4C3D-B26F-5319B49B28AB}"/>
              </a:ext>
            </a:extLst>
          </p:cNvPr>
          <p:cNvSpPr/>
          <p:nvPr/>
        </p:nvSpPr>
        <p:spPr>
          <a:xfrm>
            <a:off x="394097" y="1834804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7AEECA03-7141-449B-8B7C-8C9A8AFFCBEF}"/>
              </a:ext>
            </a:extLst>
          </p:cNvPr>
          <p:cNvSpPr/>
          <p:nvPr/>
        </p:nvSpPr>
        <p:spPr>
          <a:xfrm>
            <a:off x="394097" y="4401138"/>
            <a:ext cx="2160000" cy="863601"/>
          </a:xfrm>
          <a:prstGeom prst="roundRect">
            <a:avLst>
              <a:gd name="adj" fmla="val 16667"/>
            </a:avLst>
          </a:prstGeom>
          <a:solidFill>
            <a:srgbClr val="00223A"/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2025</a:t>
            </a:r>
            <a:endParaRPr sz="2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estresores_top5_2022">
            <a:extLst>
              <a:ext uri="{FF2B5EF4-FFF2-40B4-BE49-F238E27FC236}">
                <a16:creationId xmlns:a16="http://schemas.microsoft.com/office/drawing/2014/main" id="{7276983A-D890-6BC2-1B0F-5548D9401D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7247215"/>
              </p:ext>
            </p:extLst>
          </p:nvPr>
        </p:nvGraphicFramePr>
        <p:xfrm>
          <a:off x="2533127" y="1390650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estresores_top5_2025">
            <a:extLst>
              <a:ext uri="{FF2B5EF4-FFF2-40B4-BE49-F238E27FC236}">
                <a16:creationId xmlns:a16="http://schemas.microsoft.com/office/drawing/2014/main" id="{B1829AC6-DC8F-36EF-1BCC-B19CCBEB84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2241873"/>
              </p:ext>
            </p:extLst>
          </p:nvPr>
        </p:nvGraphicFramePr>
        <p:xfrm>
          <a:off x="2533126" y="3943133"/>
          <a:ext cx="9597481" cy="2108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afrontamiento_estres"/>
          <p:cNvGraphicFramePr/>
          <p:nvPr>
            <p:extLst>
              <p:ext uri="{D42A27DB-BD31-4B8C-83A1-F6EECF244321}">
                <p14:modId xmlns:p14="http://schemas.microsoft.com/office/powerpoint/2010/main" val="1636270500"/>
              </p:ext>
            </p:extLst>
          </p:nvPr>
        </p:nvGraphicFramePr>
        <p:xfrm>
          <a:off x="1171575" y="1797228"/>
          <a:ext cx="6572248" cy="3909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0" name="Google Shape;330;p23"/>
          <p:cNvSpPr txBox="1">
            <a:spLocks noGrp="1"/>
          </p:cNvSpPr>
          <p:nvPr>
            <p:ph type="title"/>
          </p:nvPr>
        </p:nvSpPr>
        <p:spPr>
          <a:xfrm>
            <a:off x="491319" y="365126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2800"/>
              <a:buFont typeface="Calibri"/>
              <a:buNone/>
            </a:pPr>
            <a:r>
              <a:rPr lang="es-CL" sz="2800" dirty="0"/>
              <a:t>Estrategias de afrontamiento  </a:t>
            </a:r>
            <a:endParaRPr dirty="0"/>
          </a:p>
        </p:txBody>
      </p:sp>
      <p:sp>
        <p:nvSpPr>
          <p:cNvPr id="332" name="Google Shape;332;p23"/>
          <p:cNvSpPr txBox="1"/>
          <p:nvPr/>
        </p:nvSpPr>
        <p:spPr>
          <a:xfrm>
            <a:off x="866775" y="1150938"/>
            <a:ext cx="984885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Respecto a las situaciones que señalaste que representaban un problema para ti, y selecciona qué has hecho al respecto:</a:t>
            </a:r>
            <a:endParaRPr sz="18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8284260" y="4307321"/>
            <a:ext cx="415688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sz="3400" b="1" cap="small" dirty="0">
                <a:solidFill>
                  <a:srgbClr val="3A434C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Procrastinación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336" name="procrastinacion"/>
          <p:cNvGraphicFramePr/>
          <p:nvPr>
            <p:extLst>
              <p:ext uri="{D42A27DB-BD31-4B8C-83A1-F6EECF244321}">
                <p14:modId xmlns:p14="http://schemas.microsoft.com/office/powerpoint/2010/main" val="521360375"/>
              </p:ext>
            </p:extLst>
          </p:nvPr>
        </p:nvGraphicFramePr>
        <p:xfrm>
          <a:off x="7266589" y="5211223"/>
          <a:ext cx="5542497" cy="144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37" name="Google Shape;337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91887" y="210455"/>
            <a:ext cx="579947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 dirty="0">
                <a:solidFill>
                  <a:srgbClr val="3F3F3F"/>
                </a:solidFill>
              </a:rPr>
              <a:t>Condición de salud crónica</a:t>
            </a:r>
            <a:endParaRPr sz="3200" dirty="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193447" y="1711886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¿Tienes actualmente alguna condición médica de </a:t>
            </a:r>
            <a:r>
              <a:rPr lang="es-MX" sz="1600" b="1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larga duración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, diagnosticada por un profesional de salud?</a:t>
            </a:r>
          </a:p>
          <a:p>
            <a:pPr algn="ctr"/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</p:txBody>
      </p:sp>
      <p:graphicFrame>
        <p:nvGraphicFramePr>
          <p:cNvPr id="353" name="salud_cronica1"/>
          <p:cNvGraphicFramePr/>
          <p:nvPr>
            <p:extLst>
              <p:ext uri="{D42A27DB-BD31-4B8C-83A1-F6EECF244321}">
                <p14:modId xmlns:p14="http://schemas.microsoft.com/office/powerpoint/2010/main" val="1226774993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¿Te encuentras actualmente en tratamiento médico o bajo control por esta(s) condición(es)?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salud_cronica2"/>
          <p:cNvGraphicFramePr/>
          <p:nvPr>
            <p:extLst>
              <p:ext uri="{D42A27DB-BD31-4B8C-83A1-F6EECF244321}">
                <p14:modId xmlns:p14="http://schemas.microsoft.com/office/powerpoint/2010/main" val="2026343489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antidad_salfis1">
            <a:extLst>
              <a:ext uri="{FF2B5EF4-FFF2-40B4-BE49-F238E27FC236}">
                <a16:creationId xmlns:a16="http://schemas.microsoft.com/office/drawing/2014/main" id="{04A490B3-5449-7620-0CCB-915C57BEB288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la primera pregunta incluye un total de XXXX respuestas.</a:t>
            </a:r>
          </a:p>
        </p:txBody>
      </p:sp>
    </p:spTree>
    <p:extLst>
      <p:ext uri="{BB962C8B-B14F-4D97-AF65-F5344CB8AC3E}">
        <p14:creationId xmlns:p14="http://schemas.microsoft.com/office/powerpoint/2010/main" val="391977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tamizaje en salud mental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51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 txBox="1"/>
          <p:nvPr/>
        </p:nvSpPr>
        <p:spPr>
          <a:xfrm>
            <a:off x="910207" y="393263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promoción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(Sin 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Salud mental </a:t>
            </a:r>
            <a:br>
              <a:rPr lang="es-CL" dirty="0"/>
            </a:br>
            <a:endParaRPr dirty="0">
              <a:highlight>
                <a:srgbClr val="ED7D31"/>
              </a:highlight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964248-D28D-3787-5950-E0B0AC662034}"/>
              </a:ext>
            </a:extLst>
          </p:cNvPr>
          <p:cNvCxnSpPr>
            <a:cxnSpLocks/>
          </p:cNvCxnSpPr>
          <p:nvPr/>
        </p:nvCxnSpPr>
        <p:spPr>
          <a:xfrm>
            <a:off x="4034018" y="1067778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4542365" y="3932630"/>
            <a:ext cx="30476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403;p30">
            <a:extLst>
              <a:ext uri="{FF2B5EF4-FFF2-40B4-BE49-F238E27FC236}">
                <a16:creationId xmlns:a16="http://schemas.microsoft.com/office/drawing/2014/main" id="{C1D92253-5D76-44AD-8A9F-32F07363DA4F}"/>
              </a:ext>
            </a:extLst>
          </p:cNvPr>
          <p:cNvSpPr txBox="1"/>
          <p:nvPr/>
        </p:nvSpPr>
        <p:spPr>
          <a:xfrm>
            <a:off x="8882143" y="3932630"/>
            <a:ext cx="2340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clínico)</a:t>
            </a:r>
            <a:endParaRPr sz="16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FC82B94-E2E9-4995-A9B7-10744F0F0732}"/>
              </a:ext>
            </a:extLst>
          </p:cNvPr>
          <p:cNvCxnSpPr>
            <a:cxnSpLocks/>
          </p:cNvCxnSpPr>
          <p:nvPr/>
        </p:nvCxnSpPr>
        <p:spPr>
          <a:xfrm>
            <a:off x="7992529" y="1065495"/>
            <a:ext cx="0" cy="57342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73;p4">
            <a:extLst>
              <a:ext uri="{FF2B5EF4-FFF2-40B4-BE49-F238E27FC236}">
                <a16:creationId xmlns:a16="http://schemas.microsoft.com/office/drawing/2014/main" id="{77C2DFC7-3377-4B6C-9E33-41F089C0521F}"/>
              </a:ext>
            </a:extLst>
          </p:cNvPr>
          <p:cNvSpPr txBox="1"/>
          <p:nvPr/>
        </p:nvSpPr>
        <p:spPr>
          <a:xfrm>
            <a:off x="640207" y="4738396"/>
            <a:ext cx="2880000" cy="1169511"/>
          </a:xfrm>
          <a:prstGeom prst="rect">
            <a:avLst/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hábitos saludables que protegen su salud mental e incrementan su bienestar.</a:t>
            </a:r>
            <a:endParaRPr lang="es-MX"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74;p4">
            <a:extLst>
              <a:ext uri="{FF2B5EF4-FFF2-40B4-BE49-F238E27FC236}">
                <a16:creationId xmlns:a16="http://schemas.microsoft.com/office/drawing/2014/main" id="{F2D37AC4-D137-4709-BDD7-709B29A578BF}"/>
              </a:ext>
            </a:extLst>
          </p:cNvPr>
          <p:cNvSpPr txBox="1"/>
          <p:nvPr/>
        </p:nvSpPr>
        <p:spPr>
          <a:xfrm>
            <a:off x="4656000" y="4738396"/>
            <a:ext cx="2880000" cy="1169511"/>
          </a:xfrm>
          <a:prstGeom prst="rect">
            <a:avLst/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rgbClr val="00233B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que están en riesgo de desarrollar enfermedades mentales, a quienes ofrecer herramientas y/o tratamiento temprano para evitar niveles mayores de malestar.</a:t>
            </a:r>
            <a:endParaRPr sz="1400" dirty="0">
              <a:solidFill>
                <a:srgbClr val="00233B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75;p4">
            <a:extLst>
              <a:ext uri="{FF2B5EF4-FFF2-40B4-BE49-F238E27FC236}">
                <a16:creationId xmlns:a16="http://schemas.microsoft.com/office/drawing/2014/main" id="{67B75A04-E16B-4D29-B0AB-D56411377E48}"/>
              </a:ext>
            </a:extLst>
          </p:cNvPr>
          <p:cNvSpPr txBox="1"/>
          <p:nvPr/>
        </p:nvSpPr>
        <p:spPr>
          <a:xfrm>
            <a:off x="8612143" y="4738396"/>
            <a:ext cx="2880000" cy="1169511"/>
          </a:xfrm>
          <a:prstGeom prst="rect">
            <a:avLst/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Estudiantes con trastornos mentales consolidados, a quienes derivar a tratamientos específicos.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bg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5ED8990D-6D15-4512-A8BA-6B38358B3DEE}"/>
              </a:ext>
            </a:extLst>
          </p:cNvPr>
          <p:cNvSpPr/>
          <p:nvPr/>
        </p:nvSpPr>
        <p:spPr>
          <a:xfrm>
            <a:off x="232314" y="28189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rupo_verde">
            <a:extLst>
              <a:ext uri="{FF2B5EF4-FFF2-40B4-BE49-F238E27FC236}">
                <a16:creationId xmlns:a16="http://schemas.microsoft.com/office/drawing/2014/main" id="{FEF456F3-55B8-43A0-8425-3A813AAF667E}"/>
              </a:ext>
            </a:extLst>
          </p:cNvPr>
          <p:cNvSpPr/>
          <p:nvPr/>
        </p:nvSpPr>
        <p:spPr>
          <a:xfrm>
            <a:off x="1000207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1" name="Google Shape;427;p32">
            <a:extLst>
              <a:ext uri="{FF2B5EF4-FFF2-40B4-BE49-F238E27FC236}">
                <a16:creationId xmlns:a16="http://schemas.microsoft.com/office/drawing/2014/main" id="{6C156002-DFAC-4DE9-94BB-03D495FF9F8F}"/>
              </a:ext>
            </a:extLst>
          </p:cNvPr>
          <p:cNvSpPr/>
          <p:nvPr/>
        </p:nvSpPr>
        <p:spPr>
          <a:xfrm>
            <a:off x="4261816" y="28189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41%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4" name="Google Shape;427;p32">
            <a:extLst>
              <a:ext uri="{FF2B5EF4-FFF2-40B4-BE49-F238E27FC236}">
                <a16:creationId xmlns:a16="http://schemas.microsoft.com/office/drawing/2014/main" id="{D8225C96-C80C-4645-B82F-258438F97008}"/>
              </a:ext>
            </a:extLst>
          </p:cNvPr>
          <p:cNvSpPr/>
          <p:nvPr/>
        </p:nvSpPr>
        <p:spPr>
          <a:xfrm>
            <a:off x="8220326" y="28189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5" name="grupo_rojo">
            <a:extLst>
              <a:ext uri="{FF2B5EF4-FFF2-40B4-BE49-F238E27FC236}">
                <a16:creationId xmlns:a16="http://schemas.microsoft.com/office/drawing/2014/main" id="{EF0FF216-FF5A-4597-9949-B85C42BA9D27}"/>
              </a:ext>
            </a:extLst>
          </p:cNvPr>
          <p:cNvSpPr/>
          <p:nvPr/>
        </p:nvSpPr>
        <p:spPr>
          <a:xfrm>
            <a:off x="8972143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Google Shape;427;p32">
            <a:extLst>
              <a:ext uri="{FF2B5EF4-FFF2-40B4-BE49-F238E27FC236}">
                <a16:creationId xmlns:a16="http://schemas.microsoft.com/office/drawing/2014/main" id="{114591AB-8AA4-4E58-B8C4-3EAA78ECD9FD}"/>
              </a:ext>
            </a:extLst>
          </p:cNvPr>
          <p:cNvSpPr/>
          <p:nvPr/>
        </p:nvSpPr>
        <p:spPr>
          <a:xfrm>
            <a:off x="129219" y="1009630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6980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3" name="grupo_verde_2022">
            <a:extLst>
              <a:ext uri="{FF2B5EF4-FFF2-40B4-BE49-F238E27FC236}">
                <a16:creationId xmlns:a16="http://schemas.microsoft.com/office/drawing/2014/main" id="{E1056AC6-8AA3-4428-965D-871845A47022}"/>
              </a:ext>
            </a:extLst>
          </p:cNvPr>
          <p:cNvSpPr txBox="1"/>
          <p:nvPr/>
        </p:nvSpPr>
        <p:spPr>
          <a:xfrm>
            <a:off x="252986" y="1133653"/>
            <a:ext cx="774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rgbClr val="FFFFFF"/>
                </a:solidFill>
                <a:latin typeface="Calibri Light"/>
              </a:rPr>
              <a:t>2</a:t>
            </a:r>
            <a:r>
              <a:rPr sz="2500" b="1" dirty="0">
                <a:solidFill>
                  <a:srgbClr val="FFFFFF"/>
                </a:solidFill>
                <a:latin typeface="Calibri Light"/>
              </a:rPr>
              <a:t>%</a:t>
            </a:r>
            <a:endParaRPr lang="es-CL" dirty="0"/>
          </a:p>
        </p:txBody>
      </p:sp>
      <p:sp>
        <p:nvSpPr>
          <p:cNvPr id="26" name="Google Shape;427;p32">
            <a:extLst>
              <a:ext uri="{FF2B5EF4-FFF2-40B4-BE49-F238E27FC236}">
                <a16:creationId xmlns:a16="http://schemas.microsoft.com/office/drawing/2014/main" id="{B6761F7A-3300-47BB-89D4-A67387183D38}"/>
              </a:ext>
            </a:extLst>
          </p:cNvPr>
          <p:cNvSpPr/>
          <p:nvPr/>
        </p:nvSpPr>
        <p:spPr>
          <a:xfrm>
            <a:off x="4171815" y="1009630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8961E">
              <a:alpha val="69804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7" name="grupo_amarillo_2022">
            <a:extLst>
              <a:ext uri="{FF2B5EF4-FFF2-40B4-BE49-F238E27FC236}">
                <a16:creationId xmlns:a16="http://schemas.microsoft.com/office/drawing/2014/main" id="{93E18724-71C4-48DC-8A2A-3A6BF25E4D9A}"/>
              </a:ext>
            </a:extLst>
          </p:cNvPr>
          <p:cNvSpPr txBox="1"/>
          <p:nvPr/>
        </p:nvSpPr>
        <p:spPr>
          <a:xfrm>
            <a:off x="4295582" y="1133653"/>
            <a:ext cx="774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rgbClr val="FFFFFF"/>
                </a:solidFill>
                <a:latin typeface="Calibri Light"/>
              </a:rPr>
              <a:t>16</a:t>
            </a:r>
            <a:r>
              <a:rPr sz="2500" b="1" dirty="0">
                <a:solidFill>
                  <a:srgbClr val="FFFFFF"/>
                </a:solidFill>
                <a:latin typeface="Calibri Light"/>
              </a:rPr>
              <a:t>%</a:t>
            </a:r>
            <a:endParaRPr lang="es-CL" dirty="0"/>
          </a:p>
        </p:txBody>
      </p:sp>
      <p:sp>
        <p:nvSpPr>
          <p:cNvPr id="28" name="Google Shape;427;p32">
            <a:extLst>
              <a:ext uri="{FF2B5EF4-FFF2-40B4-BE49-F238E27FC236}">
                <a16:creationId xmlns:a16="http://schemas.microsoft.com/office/drawing/2014/main" id="{CD4A1CFE-1F0B-4160-B2C7-87225E57D6E8}"/>
              </a:ext>
            </a:extLst>
          </p:cNvPr>
          <p:cNvSpPr/>
          <p:nvPr/>
        </p:nvSpPr>
        <p:spPr>
          <a:xfrm>
            <a:off x="8280105" y="100753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9" name="grupo_rojo_2022">
            <a:extLst>
              <a:ext uri="{FF2B5EF4-FFF2-40B4-BE49-F238E27FC236}">
                <a16:creationId xmlns:a16="http://schemas.microsoft.com/office/drawing/2014/main" id="{E2BEF93F-684B-49D8-BC7A-63C994B83045}"/>
              </a:ext>
            </a:extLst>
          </p:cNvPr>
          <p:cNvSpPr txBox="1"/>
          <p:nvPr/>
        </p:nvSpPr>
        <p:spPr>
          <a:xfrm>
            <a:off x="8403872" y="1131561"/>
            <a:ext cx="77444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500" b="1" dirty="0">
                <a:solidFill>
                  <a:srgbClr val="FFFFFF"/>
                </a:solidFill>
                <a:latin typeface="Calibri Light"/>
              </a:rPr>
              <a:t>78</a:t>
            </a:r>
            <a:r>
              <a:rPr sz="2500" b="1" dirty="0">
                <a:solidFill>
                  <a:srgbClr val="FFFFFF"/>
                </a:solidFill>
                <a:latin typeface="Calibri Light"/>
              </a:rPr>
              <a:t>%</a:t>
            </a:r>
            <a:endParaRPr lang="es-CL" dirty="0"/>
          </a:p>
        </p:txBody>
      </p:sp>
      <p:sp>
        <p:nvSpPr>
          <p:cNvPr id="36" name="grupo_amarillo">
            <a:extLst>
              <a:ext uri="{FF2B5EF4-FFF2-40B4-BE49-F238E27FC236}">
                <a16:creationId xmlns:a16="http://schemas.microsoft.com/office/drawing/2014/main" id="{272CFA96-F381-44E3-817C-B71D9B68B855}"/>
              </a:ext>
            </a:extLst>
          </p:cNvPr>
          <p:cNvSpPr/>
          <p:nvPr/>
        </p:nvSpPr>
        <p:spPr>
          <a:xfrm>
            <a:off x="4986175" y="1534848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40%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btitulo_sede_3">
            <a:extLst>
              <a:ext uri="{FF2B5EF4-FFF2-40B4-BE49-F238E27FC236}">
                <a16:creationId xmlns:a16="http://schemas.microsoft.com/office/drawing/2014/main" id="{98FBAD21-9B01-F43C-66AE-58CA7BC72313}"/>
              </a:ext>
            </a:extLst>
          </p:cNvPr>
          <p:cNvSpPr txBox="1"/>
          <p:nvPr/>
        </p:nvSpPr>
        <p:spPr>
          <a:xfrm>
            <a:off x="491319" y="485953"/>
            <a:ext cx="7644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89771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1"/>
          <p:cNvSpPr txBox="1"/>
          <p:nvPr/>
        </p:nvSpPr>
        <p:spPr>
          <a:xfrm>
            <a:off x="1370550" y="5264728"/>
            <a:ext cx="290365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</p:txBody>
      </p:sp>
      <p:sp>
        <p:nvSpPr>
          <p:cNvPr id="7" name="Google Shape;709;p61">
            <a:extLst>
              <a:ext uri="{FF2B5EF4-FFF2-40B4-BE49-F238E27FC236}">
                <a16:creationId xmlns:a16="http://schemas.microsoft.com/office/drawing/2014/main" id="{CFBB7022-5025-4774-9097-87E08A9ED1BC}"/>
              </a:ext>
            </a:extLst>
          </p:cNvPr>
          <p:cNvSpPr txBox="1"/>
          <p:nvPr/>
        </p:nvSpPr>
        <p:spPr>
          <a:xfrm>
            <a:off x="7144266" y="5264728"/>
            <a:ext cx="307743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manejo clínico</a:t>
            </a: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278DEE9B-EF82-4385-BBD8-F835392E6A43}"/>
              </a:ext>
            </a:extLst>
          </p:cNvPr>
          <p:cNvSpPr/>
          <p:nvPr/>
        </p:nvSpPr>
        <p:spPr>
          <a:xfrm>
            <a:off x="1370550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F99F33">
              <a:alpha val="74902"/>
            </a:srgbClr>
          </a:solidFill>
          <a:ln>
            <a:solidFill>
              <a:srgbClr val="F8961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427;p32">
            <a:extLst>
              <a:ext uri="{FF2B5EF4-FFF2-40B4-BE49-F238E27FC236}">
                <a16:creationId xmlns:a16="http://schemas.microsoft.com/office/drawing/2014/main" id="{E4BBEDEC-DACD-4977-AEA8-4A383D6E5C04}"/>
              </a:ext>
            </a:extLst>
          </p:cNvPr>
          <p:cNvSpPr/>
          <p:nvPr/>
        </p:nvSpPr>
        <p:spPr>
          <a:xfrm>
            <a:off x="7144265" y="18404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A7149F2F-3959-4BE5-B5A1-F52D2C0700BF}"/>
              </a:ext>
            </a:extLst>
          </p:cNvPr>
          <p:cNvSpPr/>
          <p:nvPr/>
        </p:nvSpPr>
        <p:spPr>
          <a:xfrm>
            <a:off x="1361332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factor_carga_enfermedad_amarillo">
            <a:extLst>
              <a:ext uri="{FF2B5EF4-FFF2-40B4-BE49-F238E27FC236}">
                <a16:creationId xmlns:a16="http://schemas.microsoft.com/office/drawing/2014/main" id="{7B5B5C0D-75DE-4F83-AEF3-2FEEC3539725}"/>
              </a:ext>
            </a:extLst>
          </p:cNvPr>
          <p:cNvSpPr/>
          <p:nvPr/>
        </p:nvSpPr>
        <p:spPr>
          <a:xfrm>
            <a:off x="2114204" y="250579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35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E881DA4D-0805-4103-921B-42A54A025554}"/>
              </a:ext>
            </a:extLst>
          </p:cNvPr>
          <p:cNvSpPr/>
          <p:nvPr/>
        </p:nvSpPr>
        <p:spPr>
          <a:xfrm>
            <a:off x="7144265" y="387773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>
                <a:alpha val="74902"/>
              </a:srgbClr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41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4" name="factor_carga_enfermedad_rojo">
            <a:extLst>
              <a:ext uri="{FF2B5EF4-FFF2-40B4-BE49-F238E27FC236}">
                <a16:creationId xmlns:a16="http://schemas.microsoft.com/office/drawing/2014/main" id="{62BF6CA2-8D08-4657-9F6A-94C1E608C434}"/>
              </a:ext>
            </a:extLst>
          </p:cNvPr>
          <p:cNvSpPr/>
          <p:nvPr/>
        </p:nvSpPr>
        <p:spPr>
          <a:xfrm>
            <a:off x="7848618" y="2505790"/>
            <a:ext cx="2373086" cy="1585231"/>
          </a:xfrm>
          <a:prstGeom prst="roundRect">
            <a:avLst>
              <a:gd name="adj" fmla="val 16667"/>
            </a:avLst>
          </a:prstGeom>
          <a:solidFill>
            <a:srgbClr val="E63C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78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706;p61">
            <a:extLst>
              <a:ext uri="{FF2B5EF4-FFF2-40B4-BE49-F238E27FC236}">
                <a16:creationId xmlns:a16="http://schemas.microsoft.com/office/drawing/2014/main" id="{FBF518B0-26C9-49C0-B02A-2F3AE066DD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Factor carga de enfermedad </a:t>
            </a:r>
            <a:br>
              <a:rPr lang="es-CL" dirty="0"/>
            </a:br>
            <a:endParaRPr dirty="0">
              <a:highlight>
                <a:srgbClr val="ED7D31"/>
              </a:highlight>
            </a:endParaRPr>
          </a:p>
        </p:txBody>
      </p:sp>
      <p:sp>
        <p:nvSpPr>
          <p:cNvPr id="2" name="factor_carga_enfermedad_amarillo_2022">
            <a:extLst>
              <a:ext uri="{FF2B5EF4-FFF2-40B4-BE49-F238E27FC236}">
                <a16:creationId xmlns:a16="http://schemas.microsoft.com/office/drawing/2014/main" id="{C3D9FB1E-718F-0814-8C8D-BCF071778D7D}"/>
              </a:ext>
            </a:extLst>
          </p:cNvPr>
          <p:cNvSpPr txBox="1"/>
          <p:nvPr/>
        </p:nvSpPr>
        <p:spPr>
          <a:xfrm>
            <a:off x="1548882" y="1920034"/>
            <a:ext cx="69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</a:t>
            </a:r>
          </a:p>
        </p:txBody>
      </p:sp>
      <p:sp>
        <p:nvSpPr>
          <p:cNvPr id="3" name="factor_carga_enfermedad_rojo_2022">
            <a:extLst>
              <a:ext uri="{FF2B5EF4-FFF2-40B4-BE49-F238E27FC236}">
                <a16:creationId xmlns:a16="http://schemas.microsoft.com/office/drawing/2014/main" id="{E42E9E22-4934-F712-FD74-FAE97FE706AB}"/>
              </a:ext>
            </a:extLst>
          </p:cNvPr>
          <p:cNvSpPr txBox="1"/>
          <p:nvPr/>
        </p:nvSpPr>
        <p:spPr>
          <a:xfrm>
            <a:off x="7305355" y="1920034"/>
            <a:ext cx="69979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5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</a:t>
            </a:r>
          </a:p>
        </p:txBody>
      </p:sp>
      <p:sp>
        <p:nvSpPr>
          <p:cNvPr id="4" name="subtitulo_sede_4">
            <a:extLst>
              <a:ext uri="{FF2B5EF4-FFF2-40B4-BE49-F238E27FC236}">
                <a16:creationId xmlns:a16="http://schemas.microsoft.com/office/drawing/2014/main" id="{8C3B7C6A-3BC9-35E1-3D92-34EC0F6A2B2E}"/>
              </a:ext>
            </a:extLst>
          </p:cNvPr>
          <p:cNvSpPr txBox="1"/>
          <p:nvPr/>
        </p:nvSpPr>
        <p:spPr>
          <a:xfrm>
            <a:off x="491319" y="510833"/>
            <a:ext cx="9730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s-CL" dirty="0"/>
              <a:t>Patologías recurrentes grupo prevención indicada</a:t>
            </a:r>
            <a:br>
              <a:rPr lang="es-CL" dirty="0"/>
            </a:br>
            <a:endParaRPr dirty="0"/>
          </a:p>
        </p:txBody>
      </p:sp>
      <p:sp>
        <p:nvSpPr>
          <p:cNvPr id="10" name="Google Shape;403;p30">
            <a:extLst>
              <a:ext uri="{FF2B5EF4-FFF2-40B4-BE49-F238E27FC236}">
                <a16:creationId xmlns:a16="http://schemas.microsoft.com/office/drawing/2014/main" id="{3CADC61E-B837-4622-B1A8-A9CA0F188F3D}"/>
              </a:ext>
            </a:extLst>
          </p:cNvPr>
          <p:cNvSpPr txBox="1"/>
          <p:nvPr/>
        </p:nvSpPr>
        <p:spPr>
          <a:xfrm>
            <a:off x="924236" y="4491748"/>
            <a:ext cx="2160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Grupo prevención indicada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(Malestar subumbral)</a:t>
            </a:r>
          </a:p>
        </p:txBody>
      </p:sp>
      <p:graphicFrame>
        <p:nvGraphicFramePr>
          <p:cNvPr id="7" name="porcentaje_grupo_amarillo_por_condicion">
            <a:extLst>
              <a:ext uri="{FF2B5EF4-FFF2-40B4-BE49-F238E27FC236}">
                <a16:creationId xmlns:a16="http://schemas.microsoft.com/office/drawing/2014/main" id="{821BA694-5827-4102-A728-8465761A6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1998684"/>
              </p:ext>
            </p:extLst>
          </p:nvPr>
        </p:nvGraphicFramePr>
        <p:xfrm>
          <a:off x="5107874" y="1755681"/>
          <a:ext cx="5703562" cy="359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60AEDF74-82D5-429A-8A30-C40130D060CF}"/>
              </a:ext>
            </a:extLst>
          </p:cNvPr>
          <p:cNvSpPr/>
          <p:nvPr/>
        </p:nvSpPr>
        <p:spPr>
          <a:xfrm>
            <a:off x="207092" y="3383551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41%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rupo_amarillo2">
            <a:extLst>
              <a:ext uri="{FF2B5EF4-FFF2-40B4-BE49-F238E27FC236}">
                <a16:creationId xmlns:a16="http://schemas.microsoft.com/office/drawing/2014/main" id="{9DFD5993-C6AD-4FFD-A892-A0ABB143CC67}"/>
              </a:ext>
            </a:extLst>
          </p:cNvPr>
          <p:cNvSpPr/>
          <p:nvPr/>
        </p:nvSpPr>
        <p:spPr>
          <a:xfrm>
            <a:off x="924236" y="196886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F896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btitulo_sede_5">
            <a:extLst>
              <a:ext uri="{FF2B5EF4-FFF2-40B4-BE49-F238E27FC236}">
                <a16:creationId xmlns:a16="http://schemas.microsoft.com/office/drawing/2014/main" id="{52344772-0143-C362-E252-79D161AEA144}"/>
              </a:ext>
            </a:extLst>
          </p:cNvPr>
          <p:cNvSpPr txBox="1"/>
          <p:nvPr/>
        </p:nvSpPr>
        <p:spPr>
          <a:xfrm>
            <a:off x="491319" y="510833"/>
            <a:ext cx="9091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407071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Episodio depresión – Grupo manejo clínico </a:t>
            </a:r>
            <a:br>
              <a:rPr lang="es-CL" dirty="0"/>
            </a:br>
            <a:endParaRPr dirty="0">
              <a:highlight>
                <a:srgbClr val="ED7D31"/>
              </a:highlight>
            </a:endParaRPr>
          </a:p>
        </p:txBody>
      </p:sp>
      <p:graphicFrame>
        <p:nvGraphicFramePr>
          <p:cNvPr id="11" name="depresion_manejo_clinico">
            <a:extLst>
              <a:ext uri="{FF2B5EF4-FFF2-40B4-BE49-F238E27FC236}">
                <a16:creationId xmlns:a16="http://schemas.microsoft.com/office/drawing/2014/main" id="{32DB777E-5F6D-4887-A02A-EF3DB4D183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2929751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depresion_manejo_clinico_sede">
            <a:extLst>
              <a:ext uri="{FF2B5EF4-FFF2-40B4-BE49-F238E27FC236}">
                <a16:creationId xmlns:a16="http://schemas.microsoft.com/office/drawing/2014/main" id="{2F230533-EF09-4709-A9B1-DC06B8421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7211669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CuadroTexto 16">
            <a:extLst>
              <a:ext uri="{FF2B5EF4-FFF2-40B4-BE49-F238E27FC236}">
                <a16:creationId xmlns:a16="http://schemas.microsoft.com/office/drawing/2014/main" id="{E12BAEC0-FF49-421C-A2D3-FC2DB45DED78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517;p43">
            <a:extLst>
              <a:ext uri="{FF2B5EF4-FFF2-40B4-BE49-F238E27FC236}">
                <a16:creationId xmlns:a16="http://schemas.microsoft.com/office/drawing/2014/main" id="{7CC3E360-F14F-4FD9-BFC8-5DF3024A120F}"/>
              </a:ext>
            </a:extLst>
          </p:cNvPr>
          <p:cNvSpPr txBox="1"/>
          <p:nvPr/>
        </p:nvSpPr>
        <p:spPr>
          <a:xfrm>
            <a:off x="383365" y="4993185"/>
            <a:ext cx="276098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depresión.</a:t>
            </a:r>
          </a:p>
        </p:txBody>
      </p:sp>
      <p:sp>
        <p:nvSpPr>
          <p:cNvPr id="19" name="Google Shape;427;p32">
            <a:extLst>
              <a:ext uri="{FF2B5EF4-FFF2-40B4-BE49-F238E27FC236}">
                <a16:creationId xmlns:a16="http://schemas.microsoft.com/office/drawing/2014/main" id="{62250836-6706-4638-8133-C248F19592DA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427;p32">
            <a:extLst>
              <a:ext uri="{FF2B5EF4-FFF2-40B4-BE49-F238E27FC236}">
                <a16:creationId xmlns:a16="http://schemas.microsoft.com/office/drawing/2014/main" id="{7B5086DA-61A0-45EA-A3F8-7CBE25F23BF0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41%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1" name="depresion_manejo_clinico_global">
            <a:extLst>
              <a:ext uri="{FF2B5EF4-FFF2-40B4-BE49-F238E27FC236}">
                <a16:creationId xmlns:a16="http://schemas.microsoft.com/office/drawing/2014/main" id="{96680CBF-F040-4C17-BCA6-018CE268DCEA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depresion_2022">
            <a:extLst>
              <a:ext uri="{FF2B5EF4-FFF2-40B4-BE49-F238E27FC236}">
                <a16:creationId xmlns:a16="http://schemas.microsoft.com/office/drawing/2014/main" id="{ACB277D7-04A0-10D5-75A6-E289BC8E7310}"/>
              </a:ext>
            </a:extLst>
          </p:cNvPr>
          <p:cNvSpPr txBox="1"/>
          <p:nvPr/>
        </p:nvSpPr>
        <p:spPr>
          <a:xfrm>
            <a:off x="507132" y="1624860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  <p:sp>
        <p:nvSpPr>
          <p:cNvPr id="3" name="subtitulo_sede_6">
            <a:extLst>
              <a:ext uri="{FF2B5EF4-FFF2-40B4-BE49-F238E27FC236}">
                <a16:creationId xmlns:a16="http://schemas.microsoft.com/office/drawing/2014/main" id="{6737F175-447B-59C1-B5A9-E660E09E7FE3}"/>
              </a:ext>
            </a:extLst>
          </p:cNvPr>
          <p:cNvSpPr txBox="1"/>
          <p:nvPr/>
        </p:nvSpPr>
        <p:spPr>
          <a:xfrm>
            <a:off x="491319" y="510833"/>
            <a:ext cx="852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11479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5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ansiedad generalizada – Grupo manejo clínico</a:t>
            </a:r>
            <a:br>
              <a:rPr lang="es-CL" dirty="0"/>
            </a:br>
            <a:endParaRPr dirty="0">
              <a:highlight>
                <a:srgbClr val="ED7D31"/>
              </a:highlight>
            </a:endParaRPr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2C60A221-C930-4D48-B68D-439E8C79D62E}"/>
              </a:ext>
            </a:extLst>
          </p:cNvPr>
          <p:cNvSpPr txBox="1"/>
          <p:nvPr/>
        </p:nvSpPr>
        <p:spPr>
          <a:xfrm>
            <a:off x="383365" y="4953447"/>
            <a:ext cx="2765425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ansiedad generalizada.</a:t>
            </a:r>
          </a:p>
        </p:txBody>
      </p:sp>
      <p:sp>
        <p:nvSpPr>
          <p:cNvPr id="13" name="Google Shape;427;p32">
            <a:extLst>
              <a:ext uri="{FF2B5EF4-FFF2-40B4-BE49-F238E27FC236}">
                <a16:creationId xmlns:a16="http://schemas.microsoft.com/office/drawing/2014/main" id="{6401D9CD-4423-4DD2-93FB-EC82D94C6354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427;p32">
            <a:extLst>
              <a:ext uri="{FF2B5EF4-FFF2-40B4-BE49-F238E27FC236}">
                <a16:creationId xmlns:a16="http://schemas.microsoft.com/office/drawing/2014/main" id="{9A3FDEF7-98D1-43B0-A439-95E6247BEF0B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31%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ansiedad_manejo_clinico_global">
            <a:extLst>
              <a:ext uri="{FF2B5EF4-FFF2-40B4-BE49-F238E27FC236}">
                <a16:creationId xmlns:a16="http://schemas.microsoft.com/office/drawing/2014/main" id="{F60A510E-AE61-4B0B-9CE1-E609FC5027BE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ansiedad_manejo_clinico">
            <a:extLst>
              <a:ext uri="{FF2B5EF4-FFF2-40B4-BE49-F238E27FC236}">
                <a16:creationId xmlns:a16="http://schemas.microsoft.com/office/drawing/2014/main" id="{E1F412EC-BC91-4753-94FD-86D0C79080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9824385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ansiedad_manejo_clinico_sede">
            <a:extLst>
              <a:ext uri="{FF2B5EF4-FFF2-40B4-BE49-F238E27FC236}">
                <a16:creationId xmlns:a16="http://schemas.microsoft.com/office/drawing/2014/main" id="{522233EC-50D7-4D6A-97B4-C6815B81D8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62979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AAAB7E3C-8033-4341-ADF0-8D078DE7F8B4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ansiedad_2022">
            <a:extLst>
              <a:ext uri="{FF2B5EF4-FFF2-40B4-BE49-F238E27FC236}">
                <a16:creationId xmlns:a16="http://schemas.microsoft.com/office/drawing/2014/main" id="{425F11EE-0ADF-001B-74DD-0F75590938AF}"/>
              </a:ext>
            </a:extLst>
          </p:cNvPr>
          <p:cNvSpPr txBox="1"/>
          <p:nvPr/>
        </p:nvSpPr>
        <p:spPr>
          <a:xfrm>
            <a:off x="507132" y="1624860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  <p:sp>
        <p:nvSpPr>
          <p:cNvPr id="3" name="subtitulo_sede_7">
            <a:extLst>
              <a:ext uri="{FF2B5EF4-FFF2-40B4-BE49-F238E27FC236}">
                <a16:creationId xmlns:a16="http://schemas.microsoft.com/office/drawing/2014/main" id="{566932B8-DCDD-8F90-CE8B-CC0C56FE0382}"/>
              </a:ext>
            </a:extLst>
          </p:cNvPr>
          <p:cNvSpPr txBox="1"/>
          <p:nvPr/>
        </p:nvSpPr>
        <p:spPr>
          <a:xfrm>
            <a:off x="491319" y="519457"/>
            <a:ext cx="8979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60265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Trastorno de la personalidad – Grupo manejo clínico </a:t>
            </a:r>
            <a:br>
              <a:rPr lang="es-CL" dirty="0"/>
            </a:br>
            <a:endParaRPr dirty="0"/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AAF2B077-D465-4664-A199-9628C809AD07}"/>
              </a:ext>
            </a:extLst>
          </p:cNvPr>
          <p:cNvSpPr txBox="1"/>
          <p:nvPr/>
        </p:nvSpPr>
        <p:spPr>
          <a:xfrm>
            <a:off x="383367" y="5019548"/>
            <a:ext cx="27654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trastorno de la personalidad.</a:t>
            </a:r>
          </a:p>
        </p:txBody>
      </p:sp>
      <p:sp>
        <p:nvSpPr>
          <p:cNvPr id="15" name="Google Shape;427;p32">
            <a:extLst>
              <a:ext uri="{FF2B5EF4-FFF2-40B4-BE49-F238E27FC236}">
                <a16:creationId xmlns:a16="http://schemas.microsoft.com/office/drawing/2014/main" id="{9504AEDE-B8BC-407F-8F3A-E77D4D2F2E5C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91C29EDE-5A7C-4090-BB4F-7E72E5348518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personalidad_manejo_clinico_global">
            <a:extLst>
              <a:ext uri="{FF2B5EF4-FFF2-40B4-BE49-F238E27FC236}">
                <a16:creationId xmlns:a16="http://schemas.microsoft.com/office/drawing/2014/main" id="{D37E7F32-B0EF-409C-84A0-8064C4FB584D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3" name="personalidad_manejo_clinico">
            <a:extLst>
              <a:ext uri="{FF2B5EF4-FFF2-40B4-BE49-F238E27FC236}">
                <a16:creationId xmlns:a16="http://schemas.microsoft.com/office/drawing/2014/main" id="{55853E2D-B6A7-4962-89EB-6DBE616C0B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380633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personalidad_manejo_clinico_sede">
            <a:extLst>
              <a:ext uri="{FF2B5EF4-FFF2-40B4-BE49-F238E27FC236}">
                <a16:creationId xmlns:a16="http://schemas.microsoft.com/office/drawing/2014/main" id="{706AFDD2-4AAA-4018-9A60-2CB91C38D0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337345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4358A24E-2202-49EB-B414-375B60B264A3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personalidad_2022">
            <a:extLst>
              <a:ext uri="{FF2B5EF4-FFF2-40B4-BE49-F238E27FC236}">
                <a16:creationId xmlns:a16="http://schemas.microsoft.com/office/drawing/2014/main" id="{9209C9A0-8B16-A345-58B9-4627FFC05D57}"/>
              </a:ext>
            </a:extLst>
          </p:cNvPr>
          <p:cNvSpPr txBox="1"/>
          <p:nvPr/>
        </p:nvSpPr>
        <p:spPr>
          <a:xfrm>
            <a:off x="507132" y="1631929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  <p:sp>
        <p:nvSpPr>
          <p:cNvPr id="3" name="subtitulo_sede_8">
            <a:extLst>
              <a:ext uri="{FF2B5EF4-FFF2-40B4-BE49-F238E27FC236}">
                <a16:creationId xmlns:a16="http://schemas.microsoft.com/office/drawing/2014/main" id="{7205DED6-9750-CBC4-5704-99AFE4BC9CA0}"/>
              </a:ext>
            </a:extLst>
          </p:cNvPr>
          <p:cNvSpPr txBox="1"/>
          <p:nvPr/>
        </p:nvSpPr>
        <p:spPr>
          <a:xfrm>
            <a:off x="491319" y="520725"/>
            <a:ext cx="9007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1106764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</a:t>
            </a:r>
            <a:br>
              <a:rPr lang="es-CL" dirty="0"/>
            </a:br>
            <a:endParaRPr dirty="0"/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383365" y="5015219"/>
            <a:ext cx="276542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 de marihuana.</a:t>
            </a:r>
          </a:p>
        </p:txBody>
      </p:sp>
      <p:sp>
        <p:nvSpPr>
          <p:cNvPr id="18" name="Google Shape;427;p32">
            <a:extLst>
              <a:ext uri="{FF2B5EF4-FFF2-40B4-BE49-F238E27FC236}">
                <a16:creationId xmlns:a16="http://schemas.microsoft.com/office/drawing/2014/main" id="{2E7EEC50-188A-46F9-898B-0909BE13B39D}"/>
              </a:ext>
            </a:extLst>
          </p:cNvPr>
          <p:cNvSpPr/>
          <p:nvPr/>
        </p:nvSpPr>
        <p:spPr>
          <a:xfrm>
            <a:off x="383365" y="3872741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12%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9" name="marihuana_manejo_clinico_global">
            <a:extLst>
              <a:ext uri="{FF2B5EF4-FFF2-40B4-BE49-F238E27FC236}">
                <a16:creationId xmlns:a16="http://schemas.microsoft.com/office/drawing/2014/main" id="{79C5C734-A0F8-430C-ABC5-D69E0EA1E8A7}"/>
              </a:ext>
            </a:extLst>
          </p:cNvPr>
          <p:cNvSpPr/>
          <p:nvPr/>
        </p:nvSpPr>
        <p:spPr>
          <a:xfrm>
            <a:off x="988793" y="2353484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marihuana_manejo_clinico">
            <a:extLst>
              <a:ext uri="{FF2B5EF4-FFF2-40B4-BE49-F238E27FC236}">
                <a16:creationId xmlns:a16="http://schemas.microsoft.com/office/drawing/2014/main" id="{6ECE6361-8EBB-41A9-B69B-4304F3B099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5305224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marihuana_manejo_clinico_sede">
            <a:extLst>
              <a:ext uri="{FF2B5EF4-FFF2-40B4-BE49-F238E27FC236}">
                <a16:creationId xmlns:a16="http://schemas.microsoft.com/office/drawing/2014/main" id="{D02FEDE5-9797-4215-800A-5E7DE3BDFC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336934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5B59BE5A-65D8-477E-BA2E-1F3EB6CC6679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btitulo_sede_9">
            <a:extLst>
              <a:ext uri="{FF2B5EF4-FFF2-40B4-BE49-F238E27FC236}">
                <a16:creationId xmlns:a16="http://schemas.microsoft.com/office/drawing/2014/main" id="{FF54D934-7A81-BE92-6D9C-2A78E9F19BD0}"/>
              </a:ext>
            </a:extLst>
          </p:cNvPr>
          <p:cNvSpPr txBox="1"/>
          <p:nvPr/>
        </p:nvSpPr>
        <p:spPr>
          <a:xfrm>
            <a:off x="491319" y="521439"/>
            <a:ext cx="8829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53446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9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marihuana – Grupo manejo clínico </a:t>
            </a:r>
            <a:br>
              <a:rPr lang="es-CL" dirty="0"/>
            </a:br>
            <a:endParaRPr dirty="0"/>
          </a:p>
        </p:txBody>
      </p:sp>
      <p:sp>
        <p:nvSpPr>
          <p:cNvPr id="17" name="Google Shape;517;p43">
            <a:extLst>
              <a:ext uri="{FF2B5EF4-FFF2-40B4-BE49-F238E27FC236}">
                <a16:creationId xmlns:a16="http://schemas.microsoft.com/office/drawing/2014/main" id="{27419DD5-BAD0-4F44-86FB-0BACCAD1132E}"/>
              </a:ext>
            </a:extLst>
          </p:cNvPr>
          <p:cNvSpPr txBox="1"/>
          <p:nvPr/>
        </p:nvSpPr>
        <p:spPr>
          <a:xfrm>
            <a:off x="4423974" y="4871243"/>
            <a:ext cx="275202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Porcentaje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uso problemático</a:t>
            </a:r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a la pregunta “</a:t>
            </a:r>
            <a:r>
              <a:rPr lang="es-MX" sz="1600" i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¿Cuántos días has consumido marihuana en los últimos 12 meses?”</a:t>
            </a:r>
          </a:p>
        </p:txBody>
      </p:sp>
      <p:sp>
        <p:nvSpPr>
          <p:cNvPr id="6" name="Google Shape;427;p32">
            <a:extLst>
              <a:ext uri="{FF2B5EF4-FFF2-40B4-BE49-F238E27FC236}">
                <a16:creationId xmlns:a16="http://schemas.microsoft.com/office/drawing/2014/main" id="{9E2487C7-8E98-46E2-AFBB-59DE13BF8AD2}"/>
              </a:ext>
            </a:extLst>
          </p:cNvPr>
          <p:cNvSpPr/>
          <p:nvPr/>
        </p:nvSpPr>
        <p:spPr>
          <a:xfrm>
            <a:off x="4423974" y="1467850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7%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427;p32">
            <a:extLst>
              <a:ext uri="{FF2B5EF4-FFF2-40B4-BE49-F238E27FC236}">
                <a16:creationId xmlns:a16="http://schemas.microsoft.com/office/drawing/2014/main" id="{5ECC2C11-C82F-4545-B3F7-F71EF489FDF2}"/>
              </a:ext>
            </a:extLst>
          </p:cNvPr>
          <p:cNvSpPr/>
          <p:nvPr/>
        </p:nvSpPr>
        <p:spPr>
          <a:xfrm>
            <a:off x="4423974" y="3749058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9%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cupit_marihuana_porcentaje">
            <a:extLst>
              <a:ext uri="{FF2B5EF4-FFF2-40B4-BE49-F238E27FC236}">
                <a16:creationId xmlns:a16="http://schemas.microsoft.com/office/drawing/2014/main" id="{17FB4BAE-955F-4D3F-97F6-F764F8A12E77}"/>
              </a:ext>
            </a:extLst>
          </p:cNvPr>
          <p:cNvSpPr/>
          <p:nvPr/>
        </p:nvSpPr>
        <p:spPr>
          <a:xfrm>
            <a:off x="5016000" y="2265476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18%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btitulo_sede_10">
            <a:extLst>
              <a:ext uri="{FF2B5EF4-FFF2-40B4-BE49-F238E27FC236}">
                <a16:creationId xmlns:a16="http://schemas.microsoft.com/office/drawing/2014/main" id="{C8F2ECE6-4470-EBDB-2464-9985729154F2}"/>
              </a:ext>
            </a:extLst>
          </p:cNvPr>
          <p:cNvSpPr txBox="1"/>
          <p:nvPr/>
        </p:nvSpPr>
        <p:spPr>
          <a:xfrm>
            <a:off x="491319" y="510833"/>
            <a:ext cx="9623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57741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0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problemático de alcohol – Grupo manejo clínico </a:t>
            </a:r>
            <a:br>
              <a:rPr lang="es-CL" dirty="0"/>
            </a:br>
            <a:endParaRPr dirty="0"/>
          </a:p>
        </p:txBody>
      </p:sp>
      <p:sp>
        <p:nvSpPr>
          <p:cNvPr id="16" name="Google Shape;517;p43">
            <a:extLst>
              <a:ext uri="{FF2B5EF4-FFF2-40B4-BE49-F238E27FC236}">
                <a16:creationId xmlns:a16="http://schemas.microsoft.com/office/drawing/2014/main" id="{5E47208B-1A02-43B7-917E-B6EE6D7C6A64}"/>
              </a:ext>
            </a:extLst>
          </p:cNvPr>
          <p:cNvSpPr txBox="1"/>
          <p:nvPr/>
        </p:nvSpPr>
        <p:spPr>
          <a:xfrm>
            <a:off x="383365" y="4909380"/>
            <a:ext cx="276542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 sintomatología clínica de 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consumo problemático de alcohol.</a:t>
            </a:r>
          </a:p>
        </p:txBody>
      </p:sp>
      <p:sp>
        <p:nvSpPr>
          <p:cNvPr id="17" name="Google Shape;427;p32">
            <a:extLst>
              <a:ext uri="{FF2B5EF4-FFF2-40B4-BE49-F238E27FC236}">
                <a16:creationId xmlns:a16="http://schemas.microsoft.com/office/drawing/2014/main" id="{A6273159-492D-4FEF-BA47-093EE5DDC8EE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</a:p>
        </p:txBody>
      </p:sp>
      <p:sp>
        <p:nvSpPr>
          <p:cNvPr id="19" name="Google Shape;427;p32">
            <a:extLst>
              <a:ext uri="{FF2B5EF4-FFF2-40B4-BE49-F238E27FC236}">
                <a16:creationId xmlns:a16="http://schemas.microsoft.com/office/drawing/2014/main" id="{5E6E7F85-4314-42AE-86EE-66A5A6BDCCAF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alcohol_manejo_clinico_global">
            <a:extLst>
              <a:ext uri="{FF2B5EF4-FFF2-40B4-BE49-F238E27FC236}">
                <a16:creationId xmlns:a16="http://schemas.microsoft.com/office/drawing/2014/main" id="{455E91CB-00A8-4E00-B09D-34E6257AF885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alcohol_manejo_clinico">
            <a:extLst>
              <a:ext uri="{FF2B5EF4-FFF2-40B4-BE49-F238E27FC236}">
                <a16:creationId xmlns:a16="http://schemas.microsoft.com/office/drawing/2014/main" id="{E7394C9B-DF09-45A5-BA9F-D0A4E54BF5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5048003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lcohol_manejo_clinico_sede">
            <a:extLst>
              <a:ext uri="{FF2B5EF4-FFF2-40B4-BE49-F238E27FC236}">
                <a16:creationId xmlns:a16="http://schemas.microsoft.com/office/drawing/2014/main" id="{575C2B6B-C320-4247-AC0A-C1027AB796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878592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8688E62B-47E6-44EB-AB0C-517B6AE508A7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alcohol_2022">
            <a:extLst>
              <a:ext uri="{FF2B5EF4-FFF2-40B4-BE49-F238E27FC236}">
                <a16:creationId xmlns:a16="http://schemas.microsoft.com/office/drawing/2014/main" id="{F623F14C-56D5-FD08-53F7-82069A17951C}"/>
              </a:ext>
            </a:extLst>
          </p:cNvPr>
          <p:cNvSpPr txBox="1"/>
          <p:nvPr/>
        </p:nvSpPr>
        <p:spPr>
          <a:xfrm>
            <a:off x="507132" y="1624860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  <p:sp>
        <p:nvSpPr>
          <p:cNvPr id="3" name="subtitulo_sede_11">
            <a:extLst>
              <a:ext uri="{FF2B5EF4-FFF2-40B4-BE49-F238E27FC236}">
                <a16:creationId xmlns:a16="http://schemas.microsoft.com/office/drawing/2014/main" id="{B6331EF4-4BEB-B6F3-D177-9C69EB833279}"/>
              </a:ext>
            </a:extLst>
          </p:cNvPr>
          <p:cNvSpPr txBox="1"/>
          <p:nvPr/>
        </p:nvSpPr>
        <p:spPr>
          <a:xfrm>
            <a:off x="491319" y="510833"/>
            <a:ext cx="8624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31459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br>
              <a:rPr lang="es-CL" dirty="0"/>
            </a:br>
            <a:endParaRPr dirty="0"/>
          </a:p>
        </p:txBody>
      </p:sp>
      <p:sp>
        <p:nvSpPr>
          <p:cNvPr id="15" name="Google Shape;517;p43">
            <a:extLst>
              <a:ext uri="{FF2B5EF4-FFF2-40B4-BE49-F238E27FC236}">
                <a16:creationId xmlns:a16="http://schemas.microsoft.com/office/drawing/2014/main" id="{343DADBB-CAEF-4CEC-9C41-586E2F79E8E1}"/>
              </a:ext>
            </a:extLst>
          </p:cNvPr>
          <p:cNvSpPr txBox="1"/>
          <p:nvPr/>
        </p:nvSpPr>
        <p:spPr>
          <a:xfrm>
            <a:off x="383365" y="4860056"/>
            <a:ext cx="27654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MX" sz="16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estudiantes que participaron en el estudio, presentan</a:t>
            </a:r>
            <a:r>
              <a:rPr lang="es-MX" sz="1600" b="1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ideación suicida.</a:t>
            </a:r>
          </a:p>
        </p:txBody>
      </p:sp>
      <p:sp>
        <p:nvSpPr>
          <p:cNvPr id="20" name="Google Shape;427;p32">
            <a:extLst>
              <a:ext uri="{FF2B5EF4-FFF2-40B4-BE49-F238E27FC236}">
                <a16:creationId xmlns:a16="http://schemas.microsoft.com/office/drawing/2014/main" id="{66B0504A-CEEF-4272-8ADF-BE5932DC89A7}"/>
              </a:ext>
            </a:extLst>
          </p:cNvPr>
          <p:cNvSpPr/>
          <p:nvPr/>
        </p:nvSpPr>
        <p:spPr>
          <a:xfrm>
            <a:off x="387805" y="1533824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E53C3E">
              <a:alpha val="74902"/>
            </a:srgbClr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1" name="Google Shape;427;p32">
            <a:extLst>
              <a:ext uri="{FF2B5EF4-FFF2-40B4-BE49-F238E27FC236}">
                <a16:creationId xmlns:a16="http://schemas.microsoft.com/office/drawing/2014/main" id="{BB46647C-336E-4679-976C-CE745168431E}"/>
              </a:ext>
            </a:extLst>
          </p:cNvPr>
          <p:cNvSpPr/>
          <p:nvPr/>
        </p:nvSpPr>
        <p:spPr>
          <a:xfrm>
            <a:off x="383365" y="3850707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43%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" name="ideacion_suicida_manejo_clinico_global">
            <a:extLst>
              <a:ext uri="{FF2B5EF4-FFF2-40B4-BE49-F238E27FC236}">
                <a16:creationId xmlns:a16="http://schemas.microsoft.com/office/drawing/2014/main" id="{65B616DF-E82C-4720-9380-C8021258BAA5}"/>
              </a:ext>
            </a:extLst>
          </p:cNvPr>
          <p:cNvSpPr/>
          <p:nvPr/>
        </p:nvSpPr>
        <p:spPr>
          <a:xfrm>
            <a:off x="988793" y="2331450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E53C3E"/>
          </a:solidFill>
          <a:ln>
            <a:solidFill>
              <a:srgbClr val="E53C3E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32%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suicidio_manejo_clinico">
            <a:extLst>
              <a:ext uri="{FF2B5EF4-FFF2-40B4-BE49-F238E27FC236}">
                <a16:creationId xmlns:a16="http://schemas.microsoft.com/office/drawing/2014/main" id="{60E56B3A-ACF8-47F1-B818-3540328DDB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3093679"/>
              </p:ext>
            </p:extLst>
          </p:nvPr>
        </p:nvGraphicFramePr>
        <p:xfrm>
          <a:off x="4132613" y="796926"/>
          <a:ext cx="8059387" cy="2814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suicidio_manejo_clinico_sede">
            <a:extLst>
              <a:ext uri="{FF2B5EF4-FFF2-40B4-BE49-F238E27FC236}">
                <a16:creationId xmlns:a16="http://schemas.microsoft.com/office/drawing/2014/main" id="{0F2E4919-DA60-4D30-9AD0-EB3FF4F20A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5695474"/>
              </p:ext>
            </p:extLst>
          </p:nvPr>
        </p:nvGraphicFramePr>
        <p:xfrm>
          <a:off x="3788229" y="3690256"/>
          <a:ext cx="8403771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4748D032-E545-4C21-8732-58532EA5C20A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respuestas_suicidio">
            <a:extLst>
              <a:ext uri="{FF2B5EF4-FFF2-40B4-BE49-F238E27FC236}">
                <a16:creationId xmlns:a16="http://schemas.microsoft.com/office/drawing/2014/main" id="{8448BCEB-784E-46D2-9975-6C2A46A5F344}"/>
              </a:ext>
            </a:extLst>
          </p:cNvPr>
          <p:cNvSpPr txBox="1"/>
          <p:nvPr/>
        </p:nvSpPr>
        <p:spPr>
          <a:xfrm>
            <a:off x="383364" y="5936778"/>
            <a:ext cx="276542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200" b="0" dirty="0">
                <a:solidFill>
                  <a:srgbClr val="525252"/>
                </a:solidFill>
                <a:latin typeface="Calibri Light"/>
              </a:rPr>
              <a:t>Nota: </a:t>
            </a:r>
            <a:r>
              <a:rPr lang="es-MX" sz="1200" dirty="0">
                <a:solidFill>
                  <a:srgbClr val="525252"/>
                </a:solidFill>
                <a:latin typeface="Calibri Light"/>
              </a:rPr>
              <a:t>esta sección incluye un total de 12460 respuestas.</a:t>
            </a:r>
            <a:endParaRPr sz="1200" b="0" dirty="0">
              <a:solidFill>
                <a:srgbClr val="525252"/>
              </a:solidFill>
              <a:latin typeface="Calibri Light"/>
            </a:endParaRPr>
          </a:p>
        </p:txBody>
      </p:sp>
      <p:sp>
        <p:nvSpPr>
          <p:cNvPr id="2" name="suicidio_2022">
            <a:extLst>
              <a:ext uri="{FF2B5EF4-FFF2-40B4-BE49-F238E27FC236}">
                <a16:creationId xmlns:a16="http://schemas.microsoft.com/office/drawing/2014/main" id="{5ED9C096-3849-8CDF-E055-1DD8B5B6B08B}"/>
              </a:ext>
            </a:extLst>
          </p:cNvPr>
          <p:cNvSpPr txBox="1"/>
          <p:nvPr/>
        </p:nvSpPr>
        <p:spPr>
          <a:xfrm>
            <a:off x="507132" y="1624860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  <p:sp>
        <p:nvSpPr>
          <p:cNvPr id="3" name="subtitulo_sede_12">
            <a:extLst>
              <a:ext uri="{FF2B5EF4-FFF2-40B4-BE49-F238E27FC236}">
                <a16:creationId xmlns:a16="http://schemas.microsoft.com/office/drawing/2014/main" id="{0A086703-E3B1-A36D-CC60-B2F75A841293}"/>
              </a:ext>
            </a:extLst>
          </p:cNvPr>
          <p:cNvSpPr txBox="1"/>
          <p:nvPr/>
        </p:nvSpPr>
        <p:spPr>
          <a:xfrm>
            <a:off x="491319" y="519457"/>
            <a:ext cx="8811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¿Se te han ocurrido pensamientos de que sería mejor estar muerto/a o de hacerte daño de alguna manera?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1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421396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Google Shape;354;p25">
            <a:extLst>
              <a:ext uri="{FF2B5EF4-FFF2-40B4-BE49-F238E27FC236}">
                <a16:creationId xmlns:a16="http://schemas.microsoft.com/office/drawing/2014/main" id="{0A5FACBF-8CFB-4AFD-868E-DD4F809A0D5D}"/>
              </a:ext>
            </a:extLst>
          </p:cNvPr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deseado estar muerto/a o poder dormir y no despertar? (i1)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ideacion_suicida_2_pie_chart">
            <a:extLst>
              <a:ext uri="{FF2B5EF4-FFF2-40B4-BE49-F238E27FC236}">
                <a16:creationId xmlns:a16="http://schemas.microsoft.com/office/drawing/2014/main" id="{4B9F7D73-BE70-43F4-A9F7-4B70B1ED42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320658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9" name="Google Shape;352;p25">
            <a:extLst>
              <a:ext uri="{FF2B5EF4-FFF2-40B4-BE49-F238E27FC236}">
                <a16:creationId xmlns:a16="http://schemas.microsoft.com/office/drawing/2014/main" id="{866AC697-A7E5-4C46-9845-DCD8666FDE7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  <p:sp>
        <p:nvSpPr>
          <p:cNvPr id="12" name="Google Shape;791;p68">
            <a:extLst>
              <a:ext uri="{FF2B5EF4-FFF2-40B4-BE49-F238E27FC236}">
                <a16:creationId xmlns:a16="http://schemas.microsoft.com/office/drawing/2014/main" id="{B45D8E25-AC67-4D8D-BFCF-FC6499233F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</a:t>
            </a:r>
            <a:br>
              <a:rPr lang="es-CL" dirty="0"/>
            </a:br>
            <a:endParaRPr dirty="0"/>
          </a:p>
        </p:txBody>
      </p:sp>
      <p:sp>
        <p:nvSpPr>
          <p:cNvPr id="2" name="subtitulo_sede_13">
            <a:extLst>
              <a:ext uri="{FF2B5EF4-FFF2-40B4-BE49-F238E27FC236}">
                <a16:creationId xmlns:a16="http://schemas.microsoft.com/office/drawing/2014/main" id="{13E07C6D-79CD-8B19-8BDB-E5FE116C15A6}"/>
              </a:ext>
            </a:extLst>
          </p:cNvPr>
          <p:cNvSpPr txBox="1"/>
          <p:nvPr/>
        </p:nvSpPr>
        <p:spPr>
          <a:xfrm>
            <a:off x="491319" y="510833"/>
            <a:ext cx="8988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6162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Ideación suicida – Grupo manejo clínico </a:t>
            </a:r>
            <a:br>
              <a:rPr lang="es-CL" dirty="0"/>
            </a:br>
            <a:endParaRPr dirty="0"/>
          </a:p>
        </p:txBody>
      </p:sp>
      <p:sp>
        <p:nvSpPr>
          <p:cNvPr id="3" name="Google Shape;352;p25">
            <a:extLst>
              <a:ext uri="{FF2B5EF4-FFF2-40B4-BE49-F238E27FC236}">
                <a16:creationId xmlns:a16="http://schemas.microsoft.com/office/drawing/2014/main" id="{326B51B7-1C22-48BA-9610-950AB69B0192}"/>
              </a:ext>
            </a:extLst>
          </p:cNvPr>
          <p:cNvSpPr txBox="1"/>
          <p:nvPr/>
        </p:nvSpPr>
        <p:spPr>
          <a:xfrm>
            <a:off x="-182011" y="1361403"/>
            <a:ext cx="43864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tenido realmente la idea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 suicidarte? (i2)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4" name="ideacion_suicida_3_pie_chart">
            <a:extLst>
              <a:ext uri="{FF2B5EF4-FFF2-40B4-BE49-F238E27FC236}">
                <a16:creationId xmlns:a16="http://schemas.microsoft.com/office/drawing/2014/main" id="{7E792B05-8C97-42DA-A3B2-18772792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399139"/>
              </p:ext>
            </p:extLst>
          </p:nvPr>
        </p:nvGraphicFramePr>
        <p:xfrm>
          <a:off x="-1039907" y="1872529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oogle Shape;356;p25">
            <a:extLst>
              <a:ext uri="{FF2B5EF4-FFF2-40B4-BE49-F238E27FC236}">
                <a16:creationId xmlns:a16="http://schemas.microsoft.com/office/drawing/2014/main" id="{32929CF0-35EC-4BA8-9267-A7C6D83372E9}"/>
              </a:ext>
            </a:extLst>
          </p:cNvPr>
          <p:cNvSpPr/>
          <p:nvPr/>
        </p:nvSpPr>
        <p:spPr>
          <a:xfrm>
            <a:off x="3474409" y="281762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57;p25">
            <a:extLst>
              <a:ext uri="{FF2B5EF4-FFF2-40B4-BE49-F238E27FC236}">
                <a16:creationId xmlns:a16="http://schemas.microsoft.com/office/drawing/2014/main" id="{E2A3606E-CAF5-4A94-A4A4-6C19F21D87D0}"/>
              </a:ext>
            </a:extLst>
          </p:cNvPr>
          <p:cNvSpPr txBox="1"/>
          <p:nvPr/>
        </p:nvSpPr>
        <p:spPr>
          <a:xfrm>
            <a:off x="2886277" y="3573526"/>
            <a:ext cx="31595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0" name="Google Shape;352;p25">
            <a:extLst>
              <a:ext uri="{FF2B5EF4-FFF2-40B4-BE49-F238E27FC236}">
                <a16:creationId xmlns:a16="http://schemas.microsoft.com/office/drawing/2014/main" id="{9E05397D-284D-4B8B-984E-159DDDDA70F9}"/>
              </a:ext>
            </a:extLst>
          </p:cNvPr>
          <p:cNvSpPr txBox="1"/>
          <p:nvPr/>
        </p:nvSpPr>
        <p:spPr>
          <a:xfrm>
            <a:off x="3474409" y="5508691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¿Alguna vez has hecho algo, comenzado a hacer algo o te has preparado para hacer algo para terminar tu vida? (i6)</a:t>
            </a:r>
            <a:endParaRPr lang="es-MX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1" name="ideacion_suicida_5_pie_chart">
            <a:extLst>
              <a:ext uri="{FF2B5EF4-FFF2-40B4-BE49-F238E27FC236}">
                <a16:creationId xmlns:a16="http://schemas.microsoft.com/office/drawing/2014/main" id="{A0DFB884-61B2-4090-806B-51B9E01CE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5205643"/>
              </p:ext>
            </p:extLst>
          </p:nvPr>
        </p:nvGraphicFramePr>
        <p:xfrm>
          <a:off x="7920846" y="4753194"/>
          <a:ext cx="3643625" cy="2104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Google Shape;352;p25">
            <a:extLst>
              <a:ext uri="{FF2B5EF4-FFF2-40B4-BE49-F238E27FC236}">
                <a16:creationId xmlns:a16="http://schemas.microsoft.com/office/drawing/2014/main" id="{C0EADD7D-E426-4F32-956A-5B89C71EE33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Nota: a quienes se les despliega instrumento de profundización, contestan obligatoriamente i1, i2 e i6.</a:t>
            </a:r>
          </a:p>
        </p:txBody>
      </p:sp>
      <p:graphicFrame>
        <p:nvGraphicFramePr>
          <p:cNvPr id="2" name="ideacion_suicida_4_bar_chart">
            <a:extLst>
              <a:ext uri="{FF2B5EF4-FFF2-40B4-BE49-F238E27FC236}">
                <a16:creationId xmlns:a16="http://schemas.microsoft.com/office/drawing/2014/main" id="{D524D3FF-0B5D-F4BC-EAAB-C8FAD27AF7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1785555"/>
              </p:ext>
            </p:extLst>
          </p:nvPr>
        </p:nvGraphicFramePr>
        <p:xfrm>
          <a:off x="6346822" y="1333717"/>
          <a:ext cx="5548086" cy="322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subtitulo_sede_14">
            <a:extLst>
              <a:ext uri="{FF2B5EF4-FFF2-40B4-BE49-F238E27FC236}">
                <a16:creationId xmlns:a16="http://schemas.microsoft.com/office/drawing/2014/main" id="{E2B99E1B-36C4-1237-BA95-AE5889205B06}"/>
              </a:ext>
            </a:extLst>
          </p:cNvPr>
          <p:cNvSpPr txBox="1"/>
          <p:nvPr/>
        </p:nvSpPr>
        <p:spPr>
          <a:xfrm>
            <a:off x="491319" y="511734"/>
            <a:ext cx="90445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33625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riegos de salud mental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endParaRPr lang="es-CL" sz="4000" b="1" cap="small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3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Sub eje búsqueda de ayuda</a:t>
            </a:r>
            <a:endParaRPr sz="3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 los últimos dos meses, ¿has necesitado algún tipo de apoyo o tratamiento en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nectto_pie_chart"/>
          <p:cNvGraphicFramePr/>
          <p:nvPr>
            <p:extLst>
              <p:ext uri="{D42A27DB-BD31-4B8C-83A1-F6EECF244321}">
                <p14:modId xmlns:p14="http://schemas.microsoft.com/office/powerpoint/2010/main" val="373567043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</a:t>
            </a: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Pudiste acceder al tratamiento que necesitabas</a:t>
            </a: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acctto_pie_chart"/>
          <p:cNvGraphicFramePr/>
          <p:nvPr>
            <p:extLst>
              <p:ext uri="{D42A27DB-BD31-4B8C-83A1-F6EECF244321}">
                <p14:modId xmlns:p14="http://schemas.microsoft.com/office/powerpoint/2010/main" val="2583939412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6" name="Google Shape;356;p25"/>
          <p:cNvSpPr/>
          <p:nvPr/>
        </p:nvSpPr>
        <p:spPr>
          <a:xfrm>
            <a:off x="4627349" y="434458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2712356" y="5081137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necesidad y acceso a tratamiento</a:t>
            </a:r>
            <a:endParaRPr sz="3200">
              <a:solidFill>
                <a:srgbClr val="0070C0"/>
              </a:solidFill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701860"/>
            <a:ext cx="554808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¿Dónde accediste al tratamiento? 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lugtto_pie_chart"/>
          <p:cNvGraphicFramePr/>
          <p:nvPr>
            <p:extLst>
              <p:ext uri="{D42A27DB-BD31-4B8C-83A1-F6EECF244321}">
                <p14:modId xmlns:p14="http://schemas.microsoft.com/office/powerpoint/2010/main" val="3072353584"/>
              </p:ext>
            </p:extLst>
          </p:nvPr>
        </p:nvGraphicFramePr>
        <p:xfrm>
          <a:off x="0" y="2225080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022685" y="2715408"/>
            <a:ext cx="55480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tipo de tratamiento obtuviste?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tiptto_pie_chart"/>
          <p:cNvGraphicFramePr/>
          <p:nvPr>
            <p:extLst>
              <p:ext uri="{D42A27DB-BD31-4B8C-83A1-F6EECF244321}">
                <p14:modId xmlns:p14="http://schemas.microsoft.com/office/powerpoint/2010/main" val="3765639340"/>
              </p:ext>
            </p:extLst>
          </p:nvPr>
        </p:nvGraphicFramePr>
        <p:xfrm>
          <a:off x="6053528" y="3140317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741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 txBox="1">
            <a:spLocks noGrp="1"/>
          </p:cNvSpPr>
          <p:nvPr>
            <p:ph type="title"/>
          </p:nvPr>
        </p:nvSpPr>
        <p:spPr>
          <a:xfrm>
            <a:off x="491319" y="214997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Percepción de barreras de acceso a tratamiento</a:t>
            </a:r>
            <a:endParaRPr sz="3200">
              <a:solidFill>
                <a:srgbClr val="0070C0"/>
              </a:solidFill>
            </a:endParaRPr>
          </a:p>
        </p:txBody>
      </p:sp>
      <p:graphicFrame>
        <p:nvGraphicFramePr>
          <p:cNvPr id="373" name="barreras_acceso_tratamiento"/>
          <p:cNvGraphicFramePr/>
          <p:nvPr>
            <p:extLst>
              <p:ext uri="{D42A27DB-BD31-4B8C-83A1-F6EECF244321}">
                <p14:modId xmlns:p14="http://schemas.microsoft.com/office/powerpoint/2010/main" val="2913619810"/>
              </p:ext>
            </p:extLst>
          </p:nvPr>
        </p:nvGraphicFramePr>
        <p:xfrm>
          <a:off x="491319" y="1338944"/>
          <a:ext cx="11225724" cy="4457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4" name="Google Shape;374;p26"/>
          <p:cNvSpPr txBox="1"/>
          <p:nvPr/>
        </p:nvSpPr>
        <p:spPr>
          <a:xfrm>
            <a:off x="2058452" y="6504523"/>
            <a:ext cx="850502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*Entre aquellos que mencionaron no haber tenido acceso a algún apoyo o tratamiento de salud mental.</a:t>
            </a:r>
            <a:endParaRPr dirty="0"/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39476" y="190198"/>
            <a:ext cx="857143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733269E-93A7-E828-46C8-5215B9D79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334" y="5864487"/>
            <a:ext cx="3371850" cy="36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bienestar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8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6" name="nivel_bienestar_sede"/>
          <p:cNvGraphicFramePr/>
          <p:nvPr>
            <p:extLst>
              <p:ext uri="{D42A27DB-BD31-4B8C-83A1-F6EECF244321}">
                <p14:modId xmlns:p14="http://schemas.microsoft.com/office/powerpoint/2010/main" val="324400624"/>
              </p:ext>
            </p:extLst>
          </p:nvPr>
        </p:nvGraphicFramePr>
        <p:xfrm>
          <a:off x="3537857" y="3663937"/>
          <a:ext cx="8298165" cy="292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" name="nivel_bienestar"/>
          <p:cNvGraphicFramePr/>
          <p:nvPr>
            <p:extLst>
              <p:ext uri="{D42A27DB-BD31-4B8C-83A1-F6EECF244321}">
                <p14:modId xmlns:p14="http://schemas.microsoft.com/office/powerpoint/2010/main" val="3925866870"/>
              </p:ext>
            </p:extLst>
          </p:nvPr>
        </p:nvGraphicFramePr>
        <p:xfrm>
          <a:off x="3708022" y="819066"/>
          <a:ext cx="8128000" cy="29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Google Shape;418;p31"/>
          <p:cNvSpPr txBox="1"/>
          <p:nvPr/>
        </p:nvSpPr>
        <p:spPr>
          <a:xfrm>
            <a:off x="321370" y="4690834"/>
            <a:ext cx="2724402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Es el </a:t>
            </a:r>
            <a:r>
              <a:rPr lang="es-CL" sz="1600" b="1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nivel de bienestar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 para los estudiantes que participaron </a:t>
            </a:r>
            <a:r>
              <a:rPr lang="es-CL" sz="160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en el estudio (de un máximo de </a:t>
            </a:r>
            <a:r>
              <a:rPr lang="es-CL" sz="1600" dirty="0">
                <a:solidFill>
                  <a:schemeClr val="dk1"/>
                </a:solidFill>
                <a:latin typeface="Calibri Light"/>
                <a:ea typeface="Calibri"/>
                <a:cs typeface="Calibri Light"/>
                <a:sym typeface="Calibri"/>
              </a:rPr>
              <a:t>7 puntos)  .</a:t>
            </a:r>
            <a:endParaRPr lang="es-CL" sz="1600" dirty="0">
              <a:solidFill>
                <a:schemeClr val="dk1"/>
              </a:solidFill>
              <a:latin typeface="Calibri Light"/>
              <a:ea typeface="Calibri"/>
              <a:cs typeface="Calibri Light"/>
            </a:endParaRPr>
          </a:p>
        </p:txBody>
      </p:sp>
      <p:sp>
        <p:nvSpPr>
          <p:cNvPr id="8" name="Google Shape;427;p32">
            <a:extLst>
              <a:ext uri="{FF2B5EF4-FFF2-40B4-BE49-F238E27FC236}">
                <a16:creationId xmlns:a16="http://schemas.microsoft.com/office/drawing/2014/main" id="{842259C6-A8AD-4051-AF5D-227E700CD252}"/>
              </a:ext>
            </a:extLst>
          </p:cNvPr>
          <p:cNvSpPr/>
          <p:nvPr/>
        </p:nvSpPr>
        <p:spPr>
          <a:xfrm>
            <a:off x="321370" y="1382356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55B296">
              <a:alpha val="74902"/>
            </a:srgbClr>
          </a:solidFill>
          <a:ln>
            <a:solidFill>
              <a:srgbClr val="55B29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2022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1" name="Google Shape;427;p32">
            <a:extLst>
              <a:ext uri="{FF2B5EF4-FFF2-40B4-BE49-F238E27FC236}">
                <a16:creationId xmlns:a16="http://schemas.microsoft.com/office/drawing/2014/main" id="{40DF7B16-764D-4914-823B-140AA1ACE6EB}"/>
              </a:ext>
            </a:extLst>
          </p:cNvPr>
          <p:cNvSpPr/>
          <p:nvPr/>
        </p:nvSpPr>
        <p:spPr>
          <a:xfrm>
            <a:off x="326077" y="3582629"/>
            <a:ext cx="1021976" cy="863600"/>
          </a:xfrm>
          <a:prstGeom prst="roundRect">
            <a:avLst>
              <a:gd name="adj" fmla="val 16667"/>
            </a:avLst>
          </a:prstGeom>
          <a:solidFill>
            <a:srgbClr val="00223A">
              <a:alpha val="74902"/>
            </a:srgbClr>
          </a:solidFill>
          <a:ln>
            <a:solidFill>
              <a:srgbClr val="00223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4.4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Duoc UC</a:t>
            </a:r>
            <a:endParaRPr sz="15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2" name="nivel_bienestar_global">
            <a:extLst>
              <a:ext uri="{FF2B5EF4-FFF2-40B4-BE49-F238E27FC236}">
                <a16:creationId xmlns:a16="http://schemas.microsoft.com/office/drawing/2014/main" id="{C4A0C148-5530-45DA-B12D-9F270320538C}"/>
              </a:ext>
            </a:extLst>
          </p:cNvPr>
          <p:cNvSpPr/>
          <p:nvPr/>
        </p:nvSpPr>
        <p:spPr>
          <a:xfrm>
            <a:off x="885772" y="2121677"/>
            <a:ext cx="2160000" cy="1585231"/>
          </a:xfrm>
          <a:prstGeom prst="roundRect">
            <a:avLst>
              <a:gd name="adj" fmla="val 16667"/>
            </a:avLst>
          </a:prstGeom>
          <a:solidFill>
            <a:srgbClr val="55B2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5,6</a:t>
            </a:r>
            <a:endParaRPr sz="6000" b="1" dirty="0">
              <a:solidFill>
                <a:schemeClr val="lt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415;p31">
            <a:extLst>
              <a:ext uri="{FF2B5EF4-FFF2-40B4-BE49-F238E27FC236}">
                <a16:creationId xmlns:a16="http://schemas.microsoft.com/office/drawing/2014/main" id="{D24AD569-2FB3-446B-A318-E1ED33C6B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Nivel de bienestar </a:t>
            </a:r>
            <a:br>
              <a:rPr lang="es-CL" dirty="0"/>
            </a:br>
            <a:endParaRPr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18D1D37-D88C-4A64-AEFC-CEDDF835BAF2}"/>
              </a:ext>
            </a:extLst>
          </p:cNvPr>
          <p:cNvSpPr txBox="1"/>
          <p:nvPr/>
        </p:nvSpPr>
        <p:spPr>
          <a:xfrm>
            <a:off x="9018493" y="510833"/>
            <a:ext cx="2294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s-MX" sz="14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Escuelas de esta Sede</a:t>
            </a:r>
            <a:endParaRPr lang="es-MX" sz="1400" b="1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bienestar_global_2022">
            <a:extLst>
              <a:ext uri="{FF2B5EF4-FFF2-40B4-BE49-F238E27FC236}">
                <a16:creationId xmlns:a16="http://schemas.microsoft.com/office/drawing/2014/main" id="{4130EEBA-2F1B-88A5-1EC6-1B41FCD82875}"/>
              </a:ext>
            </a:extLst>
          </p:cNvPr>
          <p:cNvSpPr txBox="1"/>
          <p:nvPr/>
        </p:nvSpPr>
        <p:spPr>
          <a:xfrm>
            <a:off x="445137" y="1475826"/>
            <a:ext cx="774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CL" dirty="0"/>
          </a:p>
        </p:txBody>
      </p:sp>
      <p:sp>
        <p:nvSpPr>
          <p:cNvPr id="3" name="subtitulo_sede_15">
            <a:extLst>
              <a:ext uri="{FF2B5EF4-FFF2-40B4-BE49-F238E27FC236}">
                <a16:creationId xmlns:a16="http://schemas.microsoft.com/office/drawing/2014/main" id="{30C431AD-AA9A-0CA5-2ABB-985E47FE0691}"/>
              </a:ext>
            </a:extLst>
          </p:cNvPr>
          <p:cNvSpPr txBox="1"/>
          <p:nvPr/>
        </p:nvSpPr>
        <p:spPr>
          <a:xfrm>
            <a:off x="491319" y="522198"/>
            <a:ext cx="888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 = Positive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positiva)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Engagement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(Entusiasmo)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Relationships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(Relaciones)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Meaning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(Significado)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Accomplishment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(Logro)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perma_2022_2025_chart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657858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Google Shape;435;p33">
            <a:extLst>
              <a:ext uri="{FF2B5EF4-FFF2-40B4-BE49-F238E27FC236}">
                <a16:creationId xmlns:a16="http://schemas.microsoft.com/office/drawing/2014/main" id="{071D9B4B-C6CE-498E-90EA-3A040313E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br>
              <a:rPr lang="es-CL" dirty="0"/>
            </a:br>
            <a:endParaRPr dirty="0"/>
          </a:p>
        </p:txBody>
      </p:sp>
      <p:sp>
        <p:nvSpPr>
          <p:cNvPr id="2" name="subtitulo_sede_16">
            <a:extLst>
              <a:ext uri="{FF2B5EF4-FFF2-40B4-BE49-F238E27FC236}">
                <a16:creationId xmlns:a16="http://schemas.microsoft.com/office/drawing/2014/main" id="{7D24AF77-ED14-BAE7-01BE-8C7347BAF20B}"/>
              </a:ext>
            </a:extLst>
          </p:cNvPr>
          <p:cNvSpPr txBox="1"/>
          <p:nvPr/>
        </p:nvSpPr>
        <p:spPr>
          <a:xfrm>
            <a:off x="491319" y="559707"/>
            <a:ext cx="103975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3"/>
          <p:cNvSpPr txBox="1"/>
          <p:nvPr/>
        </p:nvSpPr>
        <p:spPr>
          <a:xfrm>
            <a:off x="658805" y="2403619"/>
            <a:ext cx="4490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 = Negative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emotion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(Emoción negativa)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Health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(Salud)</a:t>
            </a:r>
            <a:endParaRPr lang="es-CL" sz="18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 = </a:t>
            </a:r>
            <a:r>
              <a:rPr lang="es-CL" sz="1800" dirty="0" err="1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Loneliness</a:t>
            </a:r>
            <a:r>
              <a:rPr lang="es-CL" sz="18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 (Soledad)</a:t>
            </a:r>
          </a:p>
        </p:txBody>
      </p:sp>
      <p:pic>
        <p:nvPicPr>
          <p:cNvPr id="5" name="Google Shape;344;p24">
            <a:extLst>
              <a:ext uri="{FF2B5EF4-FFF2-40B4-BE49-F238E27FC236}">
                <a16:creationId xmlns:a16="http://schemas.microsoft.com/office/drawing/2014/main" id="{C5A4A206-492B-4093-A96C-B421A5A9FA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nhl_2022_2025_chart">
            <a:extLst>
              <a:ext uri="{FF2B5EF4-FFF2-40B4-BE49-F238E27FC236}">
                <a16:creationId xmlns:a16="http://schemas.microsoft.com/office/drawing/2014/main" id="{11CED9D8-F5B6-42A2-AEE8-EB8C32855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6901713"/>
              </p:ext>
            </p:extLst>
          </p:nvPr>
        </p:nvGraphicFramePr>
        <p:xfrm>
          <a:off x="5149405" y="1365898"/>
          <a:ext cx="6040811" cy="42908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Google Shape;435;p33">
            <a:extLst>
              <a:ext uri="{FF2B5EF4-FFF2-40B4-BE49-F238E27FC236}">
                <a16:creationId xmlns:a16="http://schemas.microsoft.com/office/drawing/2014/main" id="{6BF527FE-6E38-4A6D-9CE1-BC61825FBC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 err="1"/>
              <a:t>Perma</a:t>
            </a:r>
            <a:br>
              <a:rPr lang="es-CL" dirty="0"/>
            </a:br>
            <a:endParaRPr dirty="0"/>
          </a:p>
        </p:txBody>
      </p:sp>
      <p:sp>
        <p:nvSpPr>
          <p:cNvPr id="2" name="subtitulo_sede_17">
            <a:extLst>
              <a:ext uri="{FF2B5EF4-FFF2-40B4-BE49-F238E27FC236}">
                <a16:creationId xmlns:a16="http://schemas.microsoft.com/office/drawing/2014/main" id="{90257D73-034D-73DA-5D85-6347BBA16972}"/>
              </a:ext>
            </a:extLst>
          </p:cNvPr>
          <p:cNvSpPr txBox="1"/>
          <p:nvPr/>
        </p:nvSpPr>
        <p:spPr>
          <a:xfrm>
            <a:off x="491319" y="559707"/>
            <a:ext cx="10490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177497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apoyo_percibido"/>
          <p:cNvGraphicFramePr/>
          <p:nvPr>
            <p:extLst>
              <p:ext uri="{D42A27DB-BD31-4B8C-83A1-F6EECF244321}">
                <p14:modId xmlns:p14="http://schemas.microsoft.com/office/powerpoint/2010/main" val="2820759998"/>
              </p:ext>
            </p:extLst>
          </p:nvPr>
        </p:nvGraphicFramePr>
        <p:xfrm>
          <a:off x="981247" y="1547253"/>
          <a:ext cx="10659431" cy="4406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42;p24">
            <a:extLst>
              <a:ext uri="{FF2B5EF4-FFF2-40B4-BE49-F238E27FC236}">
                <a16:creationId xmlns:a16="http://schemas.microsoft.com/office/drawing/2014/main" id="{AF5EA647-66B2-4356-BC63-7907C23BC2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Apoyo percibido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18">
            <a:extLst>
              <a:ext uri="{FF2B5EF4-FFF2-40B4-BE49-F238E27FC236}">
                <a16:creationId xmlns:a16="http://schemas.microsoft.com/office/drawing/2014/main" id="{4ED1272D-153F-7C5C-759D-AFF0356363ED}"/>
              </a:ext>
            </a:extLst>
          </p:cNvPr>
          <p:cNvSpPr txBox="1"/>
          <p:nvPr/>
        </p:nvSpPr>
        <p:spPr>
          <a:xfrm>
            <a:off x="491319" y="559707"/>
            <a:ext cx="105732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AFAAC6B-B4AE-4649-881A-F216154540BE}"/>
              </a:ext>
            </a:extLst>
          </p:cNvPr>
          <p:cNvSpPr/>
          <p:nvPr/>
        </p:nvSpPr>
        <p:spPr>
          <a:xfrm>
            <a:off x="3842551" y="4957200"/>
            <a:ext cx="45796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buClr>
                <a:srgbClr val="3F3F3F"/>
              </a:buClr>
              <a:buSzPts val="1600"/>
            </a:pPr>
            <a:r>
              <a:rPr lang="es-MX" sz="2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Apreciación positiva total de estados de inmersión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DDE6B7A8-6B45-4F4D-A905-E693E5A21E61}"/>
              </a:ext>
            </a:extLst>
          </p:cNvPr>
          <p:cNvSpPr/>
          <p:nvPr/>
        </p:nvSpPr>
        <p:spPr>
          <a:xfrm>
            <a:off x="4888800" y="2084400"/>
            <a:ext cx="2520000" cy="2520000"/>
          </a:xfrm>
          <a:prstGeom prst="ellipse">
            <a:avLst/>
          </a:prstGeom>
          <a:noFill/>
          <a:ln w="57150">
            <a:solidFill>
              <a:srgbClr val="27B6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s-CL" sz="6600" b="1" dirty="0">
              <a:solidFill>
                <a:schemeClr val="tx1"/>
              </a:solidFill>
            </a:endParaRPr>
          </a:p>
        </p:txBody>
      </p:sp>
      <p:pic>
        <p:nvPicPr>
          <p:cNvPr id="7" name="Picture 4" descr="https://o.remove.bg/downloads/a2fe74ba-119e-4176-840d-2e2a91317f11/image-removebg-preview.png">
            <a:extLst>
              <a:ext uri="{FF2B5EF4-FFF2-40B4-BE49-F238E27FC236}">
                <a16:creationId xmlns:a16="http://schemas.microsoft.com/office/drawing/2014/main" id="{CDF56695-D92C-4F9C-9B2A-16F4B11BA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1" y="4240530"/>
            <a:ext cx="1935196" cy="193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low_positivo">
            <a:extLst>
              <a:ext uri="{FF2B5EF4-FFF2-40B4-BE49-F238E27FC236}">
                <a16:creationId xmlns:a16="http://schemas.microsoft.com/office/drawing/2014/main" id="{FC13E964-DD1E-4C3A-869E-802D0783EA58}"/>
              </a:ext>
            </a:extLst>
          </p:cNvPr>
          <p:cNvSpPr txBox="1">
            <a:spLocks/>
          </p:cNvSpPr>
          <p:nvPr/>
        </p:nvSpPr>
        <p:spPr>
          <a:xfrm>
            <a:off x="4870800" y="2959200"/>
            <a:ext cx="2552351" cy="7634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/>
              <a:t>72%</a:t>
            </a:r>
          </a:p>
        </p:txBody>
      </p:sp>
      <p:sp>
        <p:nvSpPr>
          <p:cNvPr id="10" name="Google Shape;342;p24">
            <a:extLst>
              <a:ext uri="{FF2B5EF4-FFF2-40B4-BE49-F238E27FC236}">
                <a16:creationId xmlns:a16="http://schemas.microsoft.com/office/drawing/2014/main" id="{83B07EC5-B6B9-4D25-B86B-EE93B9FB9B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19">
            <a:extLst>
              <a:ext uri="{FF2B5EF4-FFF2-40B4-BE49-F238E27FC236}">
                <a16:creationId xmlns:a16="http://schemas.microsoft.com/office/drawing/2014/main" id="{CA761814-7AD4-7505-40DA-37371E7645AE}"/>
              </a:ext>
            </a:extLst>
          </p:cNvPr>
          <p:cNvSpPr txBox="1"/>
          <p:nvPr/>
        </p:nvSpPr>
        <p:spPr>
          <a:xfrm>
            <a:off x="491319" y="559707"/>
            <a:ext cx="10472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4072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8537" y="109707"/>
            <a:ext cx="878108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flow_states">
            <a:extLst>
              <a:ext uri="{FF2B5EF4-FFF2-40B4-BE49-F238E27FC236}">
                <a16:creationId xmlns:a16="http://schemas.microsoft.com/office/drawing/2014/main" id="{FC54E293-B2B7-448C-AA1C-9F85ED19D9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941428"/>
              </p:ext>
            </p:extLst>
          </p:nvPr>
        </p:nvGraphicFramePr>
        <p:xfrm>
          <a:off x="-1762024" y="1283027"/>
          <a:ext cx="13790737" cy="5216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5D964812-2EFF-4587-B3D9-60CE9FB2FA87}"/>
              </a:ext>
            </a:extLst>
          </p:cNvPr>
          <p:cNvSpPr txBox="1">
            <a:spLocks/>
          </p:cNvSpPr>
          <p:nvPr/>
        </p:nvSpPr>
        <p:spPr>
          <a:xfrm>
            <a:off x="5994827" y="6499878"/>
            <a:ext cx="6455708" cy="282677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1070" kern="1200" dirty="0" smtClean="0">
                <a:solidFill>
                  <a:srgbClr val="7F7F7F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dirty="0">
                <a:sym typeface="Calibri"/>
              </a:rPr>
              <a:t>* La suma de los porcentajes podría no totalizar 100% por la aproximación de decimales</a:t>
            </a:r>
            <a:endParaRPr lang="es-ES" sz="1100" dirty="0">
              <a:solidFill>
                <a:srgbClr val="7F7F7F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Google Shape;342;p24">
            <a:extLst>
              <a:ext uri="{FF2B5EF4-FFF2-40B4-BE49-F238E27FC236}">
                <a16:creationId xmlns:a16="http://schemas.microsoft.com/office/drawing/2014/main" id="{2EC45107-D7B3-4775-9F2D-0CC8A4E0D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Flow </a:t>
            </a:r>
            <a:r>
              <a:rPr lang="es-CL" dirty="0" err="1"/>
              <a:t>states</a:t>
            </a:r>
            <a:r>
              <a:rPr lang="es-CL" dirty="0"/>
              <a:t> – Estados de inmersión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0">
            <a:extLst>
              <a:ext uri="{FF2B5EF4-FFF2-40B4-BE49-F238E27FC236}">
                <a16:creationId xmlns:a16="http://schemas.microsoft.com/office/drawing/2014/main" id="{350B1EDB-25FF-EFC9-8DAE-CA0F4AB02C0B}"/>
              </a:ext>
            </a:extLst>
          </p:cNvPr>
          <p:cNvSpPr txBox="1"/>
          <p:nvPr/>
        </p:nvSpPr>
        <p:spPr>
          <a:xfrm>
            <a:off x="491319" y="559707"/>
            <a:ext cx="10416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4283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Google Shape;1135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89743" y="204482"/>
            <a:ext cx="534146" cy="90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actividad_fisica_pie_chart">
            <a:extLst>
              <a:ext uri="{FF2B5EF4-FFF2-40B4-BE49-F238E27FC236}">
                <a16:creationId xmlns:a16="http://schemas.microsoft.com/office/drawing/2014/main" id="{94A38310-71C6-4207-916A-109C05A68E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867194"/>
              </p:ext>
            </p:extLst>
          </p:nvPr>
        </p:nvGraphicFramePr>
        <p:xfrm>
          <a:off x="3854075" y="1327178"/>
          <a:ext cx="4913775" cy="450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Google Shape;1127;p101">
            <a:extLst>
              <a:ext uri="{FF2B5EF4-FFF2-40B4-BE49-F238E27FC236}">
                <a16:creationId xmlns:a16="http://schemas.microsoft.com/office/drawing/2014/main" id="{87F58611-C6AC-4248-AB7A-87F2AA1A4C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Actividad física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1">
            <a:extLst>
              <a:ext uri="{FF2B5EF4-FFF2-40B4-BE49-F238E27FC236}">
                <a16:creationId xmlns:a16="http://schemas.microsoft.com/office/drawing/2014/main" id="{D94697DC-D464-4945-6E67-553B7829C5FA}"/>
              </a:ext>
            </a:extLst>
          </p:cNvPr>
          <p:cNvSpPr txBox="1"/>
          <p:nvPr/>
        </p:nvSpPr>
        <p:spPr>
          <a:xfrm>
            <a:off x="491319" y="510833"/>
            <a:ext cx="10453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1" name="alimentacion3"/>
          <p:cNvGraphicFramePr/>
          <p:nvPr>
            <p:extLst>
              <p:ext uri="{D42A27DB-BD31-4B8C-83A1-F6EECF244321}">
                <p14:modId xmlns:p14="http://schemas.microsoft.com/office/powerpoint/2010/main" val="1324017129"/>
              </p:ext>
            </p:extLst>
          </p:nvPr>
        </p:nvGraphicFramePr>
        <p:xfrm>
          <a:off x="190837" y="1069864"/>
          <a:ext cx="11724937" cy="2005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42" name="Google Shape;1142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764" y="169864"/>
            <a:ext cx="1062259" cy="7852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102"/>
          <p:cNvSpPr/>
          <p:nvPr/>
        </p:nvSpPr>
        <p:spPr>
          <a:xfrm>
            <a:off x="190837" y="1605303"/>
            <a:ext cx="11565734" cy="819397"/>
          </a:xfrm>
          <a:prstGeom prst="rect">
            <a:avLst/>
          </a:prstGeom>
          <a:noFill/>
          <a:ln w="38100" cap="flat" cmpd="sng">
            <a:solidFill>
              <a:srgbClr val="55B29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102"/>
          <p:cNvSpPr/>
          <p:nvPr/>
        </p:nvSpPr>
        <p:spPr>
          <a:xfrm>
            <a:off x="190837" y="3074874"/>
            <a:ext cx="11565734" cy="36412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alimentacion"/>
          <p:cNvGraphicFramePr/>
          <p:nvPr>
            <p:extLst>
              <p:ext uri="{D42A27DB-BD31-4B8C-83A1-F6EECF244321}">
                <p14:modId xmlns:p14="http://schemas.microsoft.com/office/powerpoint/2010/main" val="2020691735"/>
              </p:ext>
            </p:extLst>
          </p:nvPr>
        </p:nvGraphicFramePr>
        <p:xfrm>
          <a:off x="254879" y="3074873"/>
          <a:ext cx="11682242" cy="3348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Google Shape;1140;p102">
            <a:extLst>
              <a:ext uri="{FF2B5EF4-FFF2-40B4-BE49-F238E27FC236}">
                <a16:creationId xmlns:a16="http://schemas.microsoft.com/office/drawing/2014/main" id="{48E81FF2-E6AF-44F3-924A-2CE338F95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Alimentación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2">
            <a:extLst>
              <a:ext uri="{FF2B5EF4-FFF2-40B4-BE49-F238E27FC236}">
                <a16:creationId xmlns:a16="http://schemas.microsoft.com/office/drawing/2014/main" id="{77871AE0-4C11-ECD8-AA83-3E8B76B0BA55}"/>
              </a:ext>
            </a:extLst>
          </p:cNvPr>
          <p:cNvSpPr txBox="1"/>
          <p:nvPr/>
        </p:nvSpPr>
        <p:spPr>
          <a:xfrm>
            <a:off x="491319" y="566304"/>
            <a:ext cx="10108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19370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8" name="ingesta_liquidos"/>
          <p:cNvGraphicFramePr/>
          <p:nvPr>
            <p:extLst>
              <p:ext uri="{D42A27DB-BD31-4B8C-83A1-F6EECF244321}">
                <p14:modId xmlns:p14="http://schemas.microsoft.com/office/powerpoint/2010/main" val="2607730199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169" name="Google Shape;1169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6150" y="119748"/>
            <a:ext cx="903030" cy="9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66;p105">
            <a:extLst>
              <a:ext uri="{FF2B5EF4-FFF2-40B4-BE49-F238E27FC236}">
                <a16:creationId xmlns:a16="http://schemas.microsoft.com/office/drawing/2014/main" id="{363B33E6-1BD5-4DFC-A74B-FAF503375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Ingesta de líquidos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3">
            <a:extLst>
              <a:ext uri="{FF2B5EF4-FFF2-40B4-BE49-F238E27FC236}">
                <a16:creationId xmlns:a16="http://schemas.microsoft.com/office/drawing/2014/main" id="{64AA00C9-57BF-4265-7673-70AB15E77F57}"/>
              </a:ext>
            </a:extLst>
          </p:cNvPr>
          <p:cNvSpPr txBox="1"/>
          <p:nvPr/>
        </p:nvSpPr>
        <p:spPr>
          <a:xfrm>
            <a:off x="491319" y="569748"/>
            <a:ext cx="103601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aquismo">
            <a:extLst>
              <a:ext uri="{FF2B5EF4-FFF2-40B4-BE49-F238E27FC236}">
                <a16:creationId xmlns:a16="http://schemas.microsoft.com/office/drawing/2014/main" id="{5BBC86A8-A241-4C94-B947-C736276A19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437235"/>
              </p:ext>
            </p:extLst>
          </p:nvPr>
        </p:nvGraphicFramePr>
        <p:xfrm>
          <a:off x="3652837" y="1474104"/>
          <a:ext cx="488632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2" descr="A black and white image of a cigarette&#10;&#10;AI-generated content may be incorrect.">
            <a:extLst>
              <a:ext uri="{FF2B5EF4-FFF2-40B4-BE49-F238E27FC236}">
                <a16:creationId xmlns:a16="http://schemas.microsoft.com/office/drawing/2014/main" id="{4EE0938B-A1F5-E213-9763-4E9C39809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0650" y="97004"/>
            <a:ext cx="969044" cy="928939"/>
          </a:xfrm>
          <a:prstGeom prst="rect">
            <a:avLst/>
          </a:prstGeom>
          <a:ln>
            <a:noFill/>
          </a:ln>
        </p:spPr>
      </p:pic>
      <p:sp>
        <p:nvSpPr>
          <p:cNvPr id="7" name="Google Shape;1166;p105">
            <a:extLst>
              <a:ext uri="{FF2B5EF4-FFF2-40B4-BE49-F238E27FC236}">
                <a16:creationId xmlns:a16="http://schemas.microsoft.com/office/drawing/2014/main" id="{7DE9A140-B882-4B62-B79B-786500A11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Ingesta de líquidos 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4">
            <a:extLst>
              <a:ext uri="{FF2B5EF4-FFF2-40B4-BE49-F238E27FC236}">
                <a16:creationId xmlns:a16="http://schemas.microsoft.com/office/drawing/2014/main" id="{6AB9E7CB-95F6-C2EE-EFA2-AC44E6CB5CE7}"/>
              </a:ext>
            </a:extLst>
          </p:cNvPr>
          <p:cNvSpPr txBox="1"/>
          <p:nvPr/>
        </p:nvSpPr>
        <p:spPr>
          <a:xfrm>
            <a:off x="491319" y="561473"/>
            <a:ext cx="1036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80674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Experiencia emocional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3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wordcloud_global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639" y="1801198"/>
            <a:ext cx="6464721" cy="401689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166;p105">
            <a:extLst>
              <a:ext uri="{FF2B5EF4-FFF2-40B4-BE49-F238E27FC236}">
                <a16:creationId xmlns:a16="http://schemas.microsoft.com/office/drawing/2014/main" id="{6CDCEF04-7A66-4E4F-B329-1A3A0AD1F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¿Cómo es la experiencia emocional de las y los estudiantes?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5">
            <a:extLst>
              <a:ext uri="{FF2B5EF4-FFF2-40B4-BE49-F238E27FC236}">
                <a16:creationId xmlns:a16="http://schemas.microsoft.com/office/drawing/2014/main" id="{0C16F351-3B22-5579-EC9C-D2A1FFB70067}"/>
              </a:ext>
            </a:extLst>
          </p:cNvPr>
          <p:cNvSpPr txBox="1"/>
          <p:nvPr/>
        </p:nvSpPr>
        <p:spPr>
          <a:xfrm>
            <a:off x="491319" y="510833"/>
            <a:ext cx="9501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wordcloud_mujeres" descr="Text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319" y="2436074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6"/>
          <p:cNvSpPr txBox="1"/>
          <p:nvPr/>
        </p:nvSpPr>
        <p:spPr>
          <a:xfrm>
            <a:off x="2464422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Mujeres</a:t>
            </a:r>
            <a:endParaRPr sz="2000" dirty="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277" name="wordcloud_hombres" descr="Text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0330" y="2436073"/>
            <a:ext cx="5139389" cy="3094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6"/>
          <p:cNvSpPr txBox="1"/>
          <p:nvPr/>
        </p:nvSpPr>
        <p:spPr>
          <a:xfrm>
            <a:off x="8534397" y="1630198"/>
            <a:ext cx="119318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Hombres</a:t>
            </a:r>
            <a:endParaRPr sz="2000">
              <a:solidFill>
                <a:schemeClr val="dk1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7" name="Google Shape;1166;p105">
            <a:extLst>
              <a:ext uri="{FF2B5EF4-FFF2-40B4-BE49-F238E27FC236}">
                <a16:creationId xmlns:a16="http://schemas.microsoft.com/office/drawing/2014/main" id="{23F4B626-10C5-487D-9F8C-EDB1179848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¿Cómo es la experiencia emocional de las y los estudiantes?</a:t>
            </a:r>
            <a:br>
              <a:rPr lang="es-CL" dirty="0"/>
            </a:br>
            <a:endParaRPr dirty="0"/>
          </a:p>
        </p:txBody>
      </p:sp>
      <p:sp>
        <p:nvSpPr>
          <p:cNvPr id="2" name="subtitulo_sede_26">
            <a:extLst>
              <a:ext uri="{FF2B5EF4-FFF2-40B4-BE49-F238E27FC236}">
                <a16:creationId xmlns:a16="http://schemas.microsoft.com/office/drawing/2014/main" id="{25A2A2A6-506A-6440-6513-3DE2DE99E777}"/>
              </a:ext>
            </a:extLst>
          </p:cNvPr>
          <p:cNvSpPr txBox="1"/>
          <p:nvPr/>
        </p:nvSpPr>
        <p:spPr>
          <a:xfrm>
            <a:off x="491319" y="510833"/>
            <a:ext cx="9846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Resultados eje iniciativas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4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el uso de la APP Vivo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5" name="porcentaje_app_vivo3">
            <a:extLst>
              <a:ext uri="{FF2B5EF4-FFF2-40B4-BE49-F238E27FC236}">
                <a16:creationId xmlns:a16="http://schemas.microsoft.com/office/drawing/2014/main" id="{BD9444E5-5C53-4BF1-95A4-B2945CDECC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251065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81F1EA2A-3BE3-4AB9-8D36-30141931D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App Vivo</a:t>
            </a:r>
            <a:br>
              <a:rPr lang="es-CL" dirty="0"/>
            </a:br>
            <a:endParaRPr dirty="0"/>
          </a:p>
        </p:txBody>
      </p:sp>
      <p:sp>
        <p:nvSpPr>
          <p:cNvPr id="17" name="Google Shape;352;p25">
            <a:extLst>
              <a:ext uri="{FF2B5EF4-FFF2-40B4-BE49-F238E27FC236}">
                <a16:creationId xmlns:a16="http://schemas.microsoft.com/office/drawing/2014/main" id="{9E6284DD-F3CF-4C26-AC99-FC14D38C05E5}"/>
              </a:ext>
            </a:extLst>
          </p:cNvPr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porcentaje_app_vivo1">
            <a:extLst>
              <a:ext uri="{FF2B5EF4-FFF2-40B4-BE49-F238E27FC236}">
                <a16:creationId xmlns:a16="http://schemas.microsoft.com/office/drawing/2014/main" id="{FF30A85B-C107-4491-94FD-3A1583725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3402515"/>
              </p:ext>
            </p:extLst>
          </p:nvPr>
        </p:nvGraphicFramePr>
        <p:xfrm>
          <a:off x="467920" y="1881934"/>
          <a:ext cx="4673343" cy="2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Google Shape;356;p25">
            <a:extLst>
              <a:ext uri="{FF2B5EF4-FFF2-40B4-BE49-F238E27FC236}">
                <a16:creationId xmlns:a16="http://schemas.microsoft.com/office/drawing/2014/main" id="{3EABC85F-30A0-41B2-9B9F-F91AA9F65510}"/>
              </a:ext>
            </a:extLst>
          </p:cNvPr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57;p25">
            <a:extLst>
              <a:ext uri="{FF2B5EF4-FFF2-40B4-BE49-F238E27FC236}">
                <a16:creationId xmlns:a16="http://schemas.microsoft.com/office/drawing/2014/main" id="{49D8A003-3F12-4C68-9474-2A66325134C6}"/>
              </a:ext>
            </a:extLst>
          </p:cNvPr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respuestas_appvivo">
            <a:extLst>
              <a:ext uri="{FF2B5EF4-FFF2-40B4-BE49-F238E27FC236}">
                <a16:creationId xmlns:a16="http://schemas.microsoft.com/office/drawing/2014/main" id="{EBB1B67D-3C61-4669-AB83-031845671B4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14" name="Google Shape;354;p25">
            <a:extLst>
              <a:ext uri="{FF2B5EF4-FFF2-40B4-BE49-F238E27FC236}">
                <a16:creationId xmlns:a16="http://schemas.microsoft.com/office/drawing/2014/main" id="{9FD59EA4-83D0-4F4A-BC39-903A884ABF78}"/>
              </a:ext>
            </a:extLst>
          </p:cNvPr>
          <p:cNvSpPr txBox="1"/>
          <p:nvPr/>
        </p:nvSpPr>
        <p:spPr>
          <a:xfrm>
            <a:off x="7730253" y="1126512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23" name="porcentaje_app_vivo2">
            <a:extLst>
              <a:ext uri="{FF2B5EF4-FFF2-40B4-BE49-F238E27FC236}">
                <a16:creationId xmlns:a16="http://schemas.microsoft.com/office/drawing/2014/main" id="{20ED4B83-93D7-43FF-968A-D0FD627EA4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4892790"/>
              </p:ext>
            </p:extLst>
          </p:nvPr>
        </p:nvGraphicFramePr>
        <p:xfrm>
          <a:off x="7997184" y="172731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subtitulo_sede_27">
            <a:extLst>
              <a:ext uri="{FF2B5EF4-FFF2-40B4-BE49-F238E27FC236}">
                <a16:creationId xmlns:a16="http://schemas.microsoft.com/office/drawing/2014/main" id="{AE9DBC88-0D99-292C-6252-B893FCEBE01B}"/>
              </a:ext>
            </a:extLst>
          </p:cNvPr>
          <p:cNvSpPr txBox="1"/>
          <p:nvPr/>
        </p:nvSpPr>
        <p:spPr>
          <a:xfrm>
            <a:off x="491319" y="506392"/>
            <a:ext cx="9600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52198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64865" y="1324321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¿Conoces la APP Vivo Duoc UC (de recursos de apoyo a la salud mental)?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porcentaje_app_vivo1.2"/>
          <p:cNvGraphicFramePr/>
          <p:nvPr>
            <p:extLst>
              <p:ext uri="{D42A27DB-BD31-4B8C-83A1-F6EECF244321}">
                <p14:modId xmlns:p14="http://schemas.microsoft.com/office/powerpoint/2010/main" val="1371170993"/>
              </p:ext>
            </p:extLst>
          </p:nvPr>
        </p:nvGraphicFramePr>
        <p:xfrm>
          <a:off x="467920" y="1881934"/>
          <a:ext cx="4673343" cy="2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579239" y="99592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utilizado uno o más de los siguientes recursos de la APP Vivo?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3" name="Gráfico 2" descr="Smartphone con relleno sólido">
            <a:extLst>
              <a:ext uri="{FF2B5EF4-FFF2-40B4-BE49-F238E27FC236}">
                <a16:creationId xmlns:a16="http://schemas.microsoft.com/office/drawing/2014/main" id="{A3AD8259-4015-4012-946D-A7609DEF0C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1373" y="218299"/>
            <a:ext cx="802335" cy="802335"/>
          </a:xfrm>
          <a:prstGeom prst="rect">
            <a:avLst/>
          </a:prstGeom>
        </p:spPr>
      </p:pic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81F1EA2A-3BE3-4AB9-8D36-30141931D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App Vivo</a:t>
            </a:r>
            <a:br>
              <a:rPr lang="es-CL" dirty="0"/>
            </a:br>
            <a:endParaRPr dirty="0"/>
          </a:p>
        </p:txBody>
      </p:sp>
      <p:graphicFrame>
        <p:nvGraphicFramePr>
          <p:cNvPr id="17" name="Google Shape;353;p25">
            <a:extLst>
              <a:ext uri="{FF2B5EF4-FFF2-40B4-BE49-F238E27FC236}">
                <a16:creationId xmlns:a16="http://schemas.microsoft.com/office/drawing/2014/main" id="{AE2DBC35-3DD1-4BB2-9B66-9F25BEFEE3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958076"/>
              </p:ext>
            </p:extLst>
          </p:nvPr>
        </p:nvGraphicFramePr>
        <p:xfrm>
          <a:off x="1150215" y="4742568"/>
          <a:ext cx="3308752" cy="1764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93619E9F-5414-4BDD-BFC1-5B68CE951266}"/>
              </a:ext>
            </a:extLst>
          </p:cNvPr>
          <p:cNvSpPr txBox="1"/>
          <p:nvPr/>
        </p:nvSpPr>
        <p:spPr>
          <a:xfrm>
            <a:off x="1130870" y="5003354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AA13B26-9B0E-4158-88E4-CBCCDB073A51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352;p25">
            <a:extLst>
              <a:ext uri="{FF2B5EF4-FFF2-40B4-BE49-F238E27FC236}">
                <a16:creationId xmlns:a16="http://schemas.microsoft.com/office/drawing/2014/main" id="{3A3D0701-FB71-4FD4-960E-5A4BD237DFA0}"/>
              </a:ext>
            </a:extLst>
          </p:cNvPr>
          <p:cNvSpPr txBox="1"/>
          <p:nvPr/>
        </p:nvSpPr>
        <p:spPr>
          <a:xfrm>
            <a:off x="6811238" y="5188602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6" name="porcentaje_app_vivo2.2">
            <a:extLst>
              <a:ext uri="{FF2B5EF4-FFF2-40B4-BE49-F238E27FC236}">
                <a16:creationId xmlns:a16="http://schemas.microsoft.com/office/drawing/2014/main" id="{9D4457B5-50B0-440A-8FD3-B6FB228455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4167799"/>
              </p:ext>
            </p:extLst>
          </p:nvPr>
        </p:nvGraphicFramePr>
        <p:xfrm>
          <a:off x="7997184" y="172731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7" name="Google Shape;355;p25">
            <a:extLst>
              <a:ext uri="{FF2B5EF4-FFF2-40B4-BE49-F238E27FC236}">
                <a16:creationId xmlns:a16="http://schemas.microsoft.com/office/drawing/2014/main" id="{AAEB9857-C0C8-4BF4-1685-DE8BB68FF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391515"/>
              </p:ext>
            </p:extLst>
          </p:nvPr>
        </p:nvGraphicFramePr>
        <p:xfrm>
          <a:off x="8122041" y="4927714"/>
          <a:ext cx="3443374" cy="1714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" name="subtitulo_sede_28">
            <a:extLst>
              <a:ext uri="{FF2B5EF4-FFF2-40B4-BE49-F238E27FC236}">
                <a16:creationId xmlns:a16="http://schemas.microsoft.com/office/drawing/2014/main" id="{011D304E-EE7D-AC33-C6B7-33CA0FB89C41}"/>
              </a:ext>
            </a:extLst>
          </p:cNvPr>
          <p:cNvSpPr txBox="1"/>
          <p:nvPr/>
        </p:nvSpPr>
        <p:spPr>
          <a:xfrm>
            <a:off x="491319" y="506392"/>
            <a:ext cx="1040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73372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mbajador_salud_mental1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9941366"/>
              </p:ext>
            </p:extLst>
          </p:nvPr>
        </p:nvGraphicFramePr>
        <p:xfrm>
          <a:off x="729130" y="1885301"/>
          <a:ext cx="4673344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embajador_salud_mental2">
            <a:extLst>
              <a:ext uri="{FF2B5EF4-FFF2-40B4-BE49-F238E27FC236}">
                <a16:creationId xmlns:a16="http://schemas.microsoft.com/office/drawing/2014/main" id="{37ACE16A-3504-4F03-B475-BC352B0B3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4176736"/>
              </p:ext>
            </p:extLst>
          </p:nvPr>
        </p:nvGraphicFramePr>
        <p:xfrm>
          <a:off x="7321047" y="1885300"/>
          <a:ext cx="4673343" cy="25968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3" name="Google Shape;1166;p105">
            <a:extLst>
              <a:ext uri="{FF2B5EF4-FFF2-40B4-BE49-F238E27FC236}">
                <a16:creationId xmlns:a16="http://schemas.microsoft.com/office/drawing/2014/main" id="{58336576-4581-4055-838A-8EAD873CF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endParaRPr dirty="0"/>
          </a:p>
        </p:txBody>
      </p:sp>
      <p:sp>
        <p:nvSpPr>
          <p:cNvPr id="11" name="Google Shape;356;p25">
            <a:extLst>
              <a:ext uri="{FF2B5EF4-FFF2-40B4-BE49-F238E27FC236}">
                <a16:creationId xmlns:a16="http://schemas.microsoft.com/office/drawing/2014/main" id="{CD6D3C51-9F12-4283-9CAE-437D75340909}"/>
              </a:ext>
            </a:extLst>
          </p:cNvPr>
          <p:cNvSpPr/>
          <p:nvPr/>
        </p:nvSpPr>
        <p:spPr>
          <a:xfrm>
            <a:off x="5104369" y="2960416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57;p25">
            <a:extLst>
              <a:ext uri="{FF2B5EF4-FFF2-40B4-BE49-F238E27FC236}">
                <a16:creationId xmlns:a16="http://schemas.microsoft.com/office/drawing/2014/main" id="{2C274E48-7748-4E56-BBA2-34DA5DF137E5}"/>
              </a:ext>
            </a:extLst>
          </p:cNvPr>
          <p:cNvSpPr txBox="1"/>
          <p:nvPr/>
        </p:nvSpPr>
        <p:spPr>
          <a:xfrm>
            <a:off x="3189376" y="3696965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5" name="Google Shape;352;p25">
            <a:extLst>
              <a:ext uri="{FF2B5EF4-FFF2-40B4-BE49-F238E27FC236}">
                <a16:creationId xmlns:a16="http://schemas.microsoft.com/office/drawing/2014/main" id="{0F0D1413-C7CE-448D-BEA1-F40A30DDD02E}"/>
              </a:ext>
            </a:extLst>
          </p:cNvPr>
          <p:cNvSpPr txBox="1"/>
          <p:nvPr/>
        </p:nvSpPr>
        <p:spPr>
          <a:xfrm>
            <a:off x="1130870" y="5003354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6" name="Google Shape;352;p25">
            <a:extLst>
              <a:ext uri="{FF2B5EF4-FFF2-40B4-BE49-F238E27FC236}">
                <a16:creationId xmlns:a16="http://schemas.microsoft.com/office/drawing/2014/main" id="{6B6DE4BB-110B-4337-8CB3-F316FDE8740C}"/>
              </a:ext>
            </a:extLst>
          </p:cNvPr>
          <p:cNvSpPr txBox="1"/>
          <p:nvPr/>
        </p:nvSpPr>
        <p:spPr>
          <a:xfrm>
            <a:off x="7894563" y="500498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27B0D5C-050E-4739-A87D-0CA99E6A6C01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Google Shape;353;p25">
            <a:extLst>
              <a:ext uri="{FF2B5EF4-FFF2-40B4-BE49-F238E27FC236}">
                <a16:creationId xmlns:a16="http://schemas.microsoft.com/office/drawing/2014/main" id="{4C8B3B4D-17EF-44B9-8A88-A8EE620C9D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2115371"/>
              </p:ext>
            </p:extLst>
          </p:nvPr>
        </p:nvGraphicFramePr>
        <p:xfrm>
          <a:off x="1976854" y="4749138"/>
          <a:ext cx="2085664" cy="1769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0" name="Google Shape;355;p25">
            <a:extLst>
              <a:ext uri="{FF2B5EF4-FFF2-40B4-BE49-F238E27FC236}">
                <a16:creationId xmlns:a16="http://schemas.microsoft.com/office/drawing/2014/main" id="{9C97FFB2-6F97-441D-B667-9065D3DA93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155700"/>
              </p:ext>
            </p:extLst>
          </p:nvPr>
        </p:nvGraphicFramePr>
        <p:xfrm>
          <a:off x="8118898" y="4738546"/>
          <a:ext cx="3317610" cy="1791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respuestas_embajador1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946603" y="1418295"/>
            <a:ext cx="425030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¿Eres un Embajador/a del Bienestar y la Salud Mental en tu sede?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6" name="respuestas_embajador2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945670" y="1121971"/>
            <a:ext cx="365031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¿En qué medida el curso de embajadores ha aportado a tu bienestar y salud mental? N = XXX</a:t>
            </a:r>
            <a:endParaRPr lang="es-MX"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" name="subtitulo_sede_29">
            <a:extLst>
              <a:ext uri="{FF2B5EF4-FFF2-40B4-BE49-F238E27FC236}">
                <a16:creationId xmlns:a16="http://schemas.microsoft.com/office/drawing/2014/main" id="{EAD98983-C978-2D31-1280-F79C1E4A6538}"/>
              </a:ext>
            </a:extLst>
          </p:cNvPr>
          <p:cNvSpPr txBox="1"/>
          <p:nvPr/>
        </p:nvSpPr>
        <p:spPr>
          <a:xfrm>
            <a:off x="491319" y="510833"/>
            <a:ext cx="103135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4754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1392" y="1582659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Desde que eres Embajador/a, ¿a cuántas personas has podido apoyar en tu rol de Embajador/a del Bienestar y la Salud Mental?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embajador_salud_mental3"/>
          <p:cNvGraphicFramePr/>
          <p:nvPr>
            <p:extLst>
              <p:ext uri="{D42A27DB-BD31-4B8C-83A1-F6EECF244321}">
                <p14:modId xmlns:p14="http://schemas.microsoft.com/office/powerpoint/2010/main" val="3831353962"/>
              </p:ext>
            </p:extLst>
          </p:nvPr>
        </p:nvGraphicFramePr>
        <p:xfrm>
          <a:off x="617165" y="2304740"/>
          <a:ext cx="4770584" cy="2700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6912319" y="43278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Pensando en cuando te formaste como Embajador/a, ¿qué tan satisfecho/a te encuentras con lo aprendido en el curso?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5" name="embajador_salud_mental4"/>
          <p:cNvGraphicFramePr/>
          <p:nvPr>
            <p:extLst>
              <p:ext uri="{D42A27DB-BD31-4B8C-83A1-F6EECF244321}">
                <p14:modId xmlns:p14="http://schemas.microsoft.com/office/powerpoint/2010/main" val="2906378821"/>
              </p:ext>
            </p:extLst>
          </p:nvPr>
        </p:nvGraphicFramePr>
        <p:xfrm>
          <a:off x="6748312" y="1331770"/>
          <a:ext cx="4673343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5946485" y="5604291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este curso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4" name="embajador_salud_mental5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1593331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4E48A228-AF66-4C10-A18A-3D08EBB8F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endParaRPr dirty="0"/>
          </a:p>
        </p:txBody>
      </p:sp>
      <p:sp>
        <p:nvSpPr>
          <p:cNvPr id="2" name="respuestas_embajador3">
            <a:extLst>
              <a:ext uri="{FF2B5EF4-FFF2-40B4-BE49-F238E27FC236}">
                <a16:creationId xmlns:a16="http://schemas.microsoft.com/office/drawing/2014/main" id="{A4A13437-5D72-3A80-8331-40438FF2D18E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3" name="subtitulo_sede_30">
            <a:extLst>
              <a:ext uri="{FF2B5EF4-FFF2-40B4-BE49-F238E27FC236}">
                <a16:creationId xmlns:a16="http://schemas.microsoft.com/office/drawing/2014/main" id="{1A758D07-9E8F-FB04-F7C4-37765A232855}"/>
              </a:ext>
            </a:extLst>
          </p:cNvPr>
          <p:cNvSpPr txBox="1"/>
          <p:nvPr/>
        </p:nvSpPr>
        <p:spPr>
          <a:xfrm>
            <a:off x="491319" y="510833"/>
            <a:ext cx="9203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3162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graphicFrame>
        <p:nvGraphicFramePr>
          <p:cNvPr id="14" name="embajador_salud_mental6">
            <a:extLst>
              <a:ext uri="{FF2B5EF4-FFF2-40B4-BE49-F238E27FC236}">
                <a16:creationId xmlns:a16="http://schemas.microsoft.com/office/drawing/2014/main" id="{83DF4F8F-2F7D-48B6-A524-9C0F8C3386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4941141"/>
              </p:ext>
            </p:extLst>
          </p:nvPr>
        </p:nvGraphicFramePr>
        <p:xfrm>
          <a:off x="2075741" y="1894496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5" name="Gráfico 14" descr="Maestro con relleno sólido">
            <a:extLst>
              <a:ext uri="{FF2B5EF4-FFF2-40B4-BE49-F238E27FC236}">
                <a16:creationId xmlns:a16="http://schemas.microsoft.com/office/drawing/2014/main" id="{C0BF5ED7-C501-452A-A57E-5168D36516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sp>
        <p:nvSpPr>
          <p:cNvPr id="12" name="Google Shape;357;p25">
            <a:extLst>
              <a:ext uri="{FF2B5EF4-FFF2-40B4-BE49-F238E27FC236}">
                <a16:creationId xmlns:a16="http://schemas.microsoft.com/office/drawing/2014/main" id="{6FB4132F-D76E-4E3E-8E23-53EAC608586D}"/>
              </a:ext>
            </a:extLst>
          </p:cNvPr>
          <p:cNvSpPr txBox="1"/>
          <p:nvPr/>
        </p:nvSpPr>
        <p:spPr>
          <a:xfrm>
            <a:off x="2335484" y="1279709"/>
            <a:ext cx="310178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NO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ser Embajadores/as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7" name="Google Shape;357;p25">
            <a:extLst>
              <a:ext uri="{FF2B5EF4-FFF2-40B4-BE49-F238E27FC236}">
                <a16:creationId xmlns:a16="http://schemas.microsoft.com/office/drawing/2014/main" id="{4EA7B50B-DE97-4456-B5F5-73463E06EFDE}"/>
              </a:ext>
            </a:extLst>
          </p:cNvPr>
          <p:cNvSpPr txBox="1"/>
          <p:nvPr/>
        </p:nvSpPr>
        <p:spPr>
          <a:xfrm>
            <a:off x="4207240" y="4128784"/>
            <a:ext cx="30008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</a:t>
            </a:r>
            <a:r>
              <a:rPr lang="es-CL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NO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18" name="embajador_salud_mental7">
            <a:extLst>
              <a:ext uri="{FF2B5EF4-FFF2-40B4-BE49-F238E27FC236}">
                <a16:creationId xmlns:a16="http://schemas.microsoft.com/office/drawing/2014/main" id="{6290A1D2-8902-43E5-8B1F-E6BE8BE885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342230"/>
              </p:ext>
            </p:extLst>
          </p:nvPr>
        </p:nvGraphicFramePr>
        <p:xfrm>
          <a:off x="7260562" y="1545008"/>
          <a:ext cx="3864253" cy="2621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Google Shape;1166;p105">
            <a:extLst>
              <a:ext uri="{FF2B5EF4-FFF2-40B4-BE49-F238E27FC236}">
                <a16:creationId xmlns:a16="http://schemas.microsoft.com/office/drawing/2014/main" id="{F937248A-F5C0-47A0-B025-E8B55537A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endParaRPr dirty="0"/>
          </a:p>
        </p:txBody>
      </p:sp>
      <p:sp>
        <p:nvSpPr>
          <p:cNvPr id="21" name="Google Shape;356;p25">
            <a:extLst>
              <a:ext uri="{FF2B5EF4-FFF2-40B4-BE49-F238E27FC236}">
                <a16:creationId xmlns:a16="http://schemas.microsoft.com/office/drawing/2014/main" id="{6AE62054-D3C7-4E73-AD00-5E3D54C75F28}"/>
              </a:ext>
            </a:extLst>
          </p:cNvPr>
          <p:cNvSpPr/>
          <p:nvPr/>
        </p:nvSpPr>
        <p:spPr>
          <a:xfrm>
            <a:off x="4716025" y="3458709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356;p25">
            <a:extLst>
              <a:ext uri="{FF2B5EF4-FFF2-40B4-BE49-F238E27FC236}">
                <a16:creationId xmlns:a16="http://schemas.microsoft.com/office/drawing/2014/main" id="{5DAFBBE3-A19E-4504-90B3-CFED33DE2AAD}"/>
              </a:ext>
            </a:extLst>
          </p:cNvPr>
          <p:cNvSpPr/>
          <p:nvPr/>
        </p:nvSpPr>
        <p:spPr>
          <a:xfrm>
            <a:off x="491319" y="1160598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52;p25">
            <a:extLst>
              <a:ext uri="{FF2B5EF4-FFF2-40B4-BE49-F238E27FC236}">
                <a16:creationId xmlns:a16="http://schemas.microsoft.com/office/drawing/2014/main" id="{492327DD-A30F-49F0-94FA-6BB8942C3089}"/>
              </a:ext>
            </a:extLst>
          </p:cNvPr>
          <p:cNvSpPr txBox="1"/>
          <p:nvPr/>
        </p:nvSpPr>
        <p:spPr>
          <a:xfrm>
            <a:off x="1649848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4" name="Google Shape;352;p25">
            <a:extLst>
              <a:ext uri="{FF2B5EF4-FFF2-40B4-BE49-F238E27FC236}">
                <a16:creationId xmlns:a16="http://schemas.microsoft.com/office/drawing/2014/main" id="{0D161AEB-BB1C-4313-8DDB-A94EDD79EAE4}"/>
              </a:ext>
            </a:extLst>
          </p:cNvPr>
          <p:cNvSpPr txBox="1"/>
          <p:nvPr/>
        </p:nvSpPr>
        <p:spPr>
          <a:xfrm>
            <a:off x="6340853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82C77F0-7323-4CDC-914B-6D802F581D19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oogle Shape;355;p25">
            <a:extLst>
              <a:ext uri="{FF2B5EF4-FFF2-40B4-BE49-F238E27FC236}">
                <a16:creationId xmlns:a16="http://schemas.microsoft.com/office/drawing/2014/main" id="{C5358BFB-BE76-4DE4-B7A6-8D393F695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1193098"/>
              </p:ext>
            </p:extLst>
          </p:nvPr>
        </p:nvGraphicFramePr>
        <p:xfrm>
          <a:off x="2160494" y="4692407"/>
          <a:ext cx="3489674" cy="1733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7" name="Google Shape;355;p25">
            <a:extLst>
              <a:ext uri="{FF2B5EF4-FFF2-40B4-BE49-F238E27FC236}">
                <a16:creationId xmlns:a16="http://schemas.microsoft.com/office/drawing/2014/main" id="{FAC80F1D-CA6D-4D0F-8D9A-D27B1CE7F6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102858"/>
              </p:ext>
            </p:extLst>
          </p:nvPr>
        </p:nvGraphicFramePr>
        <p:xfrm>
          <a:off x="7730366" y="4835711"/>
          <a:ext cx="2924643" cy="1967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" name="respuestas_embajador5">
            <a:extLst>
              <a:ext uri="{FF2B5EF4-FFF2-40B4-BE49-F238E27FC236}">
                <a16:creationId xmlns:a16="http://schemas.microsoft.com/office/drawing/2014/main" id="{DE84A2A7-D4BF-0BFC-D278-CCEA72CA9DB2}"/>
              </a:ext>
            </a:extLst>
          </p:cNvPr>
          <p:cNvSpPr txBox="1"/>
          <p:nvPr/>
        </p:nvSpPr>
        <p:spPr>
          <a:xfrm>
            <a:off x="6986129" y="742391"/>
            <a:ext cx="442552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¿Cuál de las siguientes alternativas representa la razón por la que no te interesaría ser Embajador/a?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" name="respuestas_embajador4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175826" y="2197934"/>
            <a:ext cx="2954156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Con la información que acabas de leer sobre el programa, ¿te interesaría ser un Embajador/a del Bienestar y la Salud Mental?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4" name="subtitulo_sede_31">
            <a:extLst>
              <a:ext uri="{FF2B5EF4-FFF2-40B4-BE49-F238E27FC236}">
                <a16:creationId xmlns:a16="http://schemas.microsoft.com/office/drawing/2014/main" id="{7B470C1E-3D6D-DE1A-058E-D127B1A08FA5}"/>
              </a:ext>
            </a:extLst>
          </p:cNvPr>
          <p:cNvSpPr txBox="1"/>
          <p:nvPr/>
        </p:nvSpPr>
        <p:spPr>
          <a:xfrm>
            <a:off x="491319" y="515361"/>
            <a:ext cx="974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19753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mbajador_salud_mental8">
            <a:extLst>
              <a:ext uri="{FF2B5EF4-FFF2-40B4-BE49-F238E27FC236}">
                <a16:creationId xmlns:a16="http://schemas.microsoft.com/office/drawing/2014/main" id="{AC2D723C-4DB5-442F-B75B-B5F5C5C1B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485267"/>
              </p:ext>
            </p:extLst>
          </p:nvPr>
        </p:nvGraphicFramePr>
        <p:xfrm>
          <a:off x="61392" y="2457143"/>
          <a:ext cx="5486400" cy="3052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Google Shape;357;p25">
            <a:extLst>
              <a:ext uri="{FF2B5EF4-FFF2-40B4-BE49-F238E27FC236}">
                <a16:creationId xmlns:a16="http://schemas.microsoft.com/office/drawing/2014/main" id="{3DA4C849-6E7F-482C-BF9F-A3328D3FBF00}"/>
              </a:ext>
            </a:extLst>
          </p:cNvPr>
          <p:cNvSpPr txBox="1"/>
          <p:nvPr/>
        </p:nvSpPr>
        <p:spPr>
          <a:xfrm>
            <a:off x="3234786" y="4491518"/>
            <a:ext cx="55480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12" name="Gráfico 11" descr="Maestro con relleno sólido">
            <a:extLst>
              <a:ext uri="{FF2B5EF4-FFF2-40B4-BE49-F238E27FC236}">
                <a16:creationId xmlns:a16="http://schemas.microsoft.com/office/drawing/2014/main" id="{CDAB06D9-1ED0-4835-81FB-8E9909DE8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4815" y="211636"/>
            <a:ext cx="788893" cy="788893"/>
          </a:xfrm>
          <a:prstGeom prst="rect">
            <a:avLst/>
          </a:prstGeom>
        </p:spPr>
      </p:pic>
      <p:graphicFrame>
        <p:nvGraphicFramePr>
          <p:cNvPr id="10" name="embajador_salud_mental9">
            <a:extLst>
              <a:ext uri="{FF2B5EF4-FFF2-40B4-BE49-F238E27FC236}">
                <a16:creationId xmlns:a16="http://schemas.microsoft.com/office/drawing/2014/main" id="{7A0475B1-3D5E-4E26-B0B5-02AB009CF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3191589"/>
              </p:ext>
            </p:extLst>
          </p:nvPr>
        </p:nvGraphicFramePr>
        <p:xfrm>
          <a:off x="7846169" y="3368785"/>
          <a:ext cx="3461735" cy="2531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Google Shape;1166;p105">
            <a:extLst>
              <a:ext uri="{FF2B5EF4-FFF2-40B4-BE49-F238E27FC236}">
                <a16:creationId xmlns:a16="http://schemas.microsoft.com/office/drawing/2014/main" id="{CD388D02-30E2-40B5-8A2C-E2726505B6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Embajadores de la salud mental</a:t>
            </a:r>
            <a:br>
              <a:rPr lang="es-CL" dirty="0"/>
            </a:br>
            <a:endParaRPr dirty="0"/>
          </a:p>
        </p:txBody>
      </p:sp>
      <p:sp>
        <p:nvSpPr>
          <p:cNvPr id="14" name="Google Shape;356;p25">
            <a:extLst>
              <a:ext uri="{FF2B5EF4-FFF2-40B4-BE49-F238E27FC236}">
                <a16:creationId xmlns:a16="http://schemas.microsoft.com/office/drawing/2014/main" id="{32D9BE5A-1EE3-4271-8384-83D1F5EDD3C3}"/>
              </a:ext>
            </a:extLst>
          </p:cNvPr>
          <p:cNvSpPr/>
          <p:nvPr/>
        </p:nvSpPr>
        <p:spPr>
          <a:xfrm>
            <a:off x="5017198" y="3817944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spuestas_embajador6">
            <a:extLst>
              <a:ext uri="{FF2B5EF4-FFF2-40B4-BE49-F238E27FC236}">
                <a16:creationId xmlns:a16="http://schemas.microsoft.com/office/drawing/2014/main" id="{2E56C581-1558-470F-99EE-A5203AFEE9DE}"/>
              </a:ext>
            </a:extLst>
          </p:cNvPr>
          <p:cNvSpPr txBox="1"/>
          <p:nvPr/>
        </p:nvSpPr>
        <p:spPr>
          <a:xfrm>
            <a:off x="360115" y="1541017"/>
            <a:ext cx="554808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¿En algún momento has buscado o recibido apoyo, orientación o información sobre bienestar y salud mental a través de alguien de la comunidad Duoc UC? (N=XXX)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6" name="respuestas_embajador7">
            <a:extLst>
              <a:ext uri="{FF2B5EF4-FFF2-40B4-BE49-F238E27FC236}">
                <a16:creationId xmlns:a16="http://schemas.microsoft.com/office/drawing/2014/main" id="{B60CEC6B-0A92-467C-9B01-CBB762D01254}"/>
              </a:ext>
            </a:extLst>
          </p:cNvPr>
          <p:cNvSpPr txBox="1"/>
          <p:nvPr/>
        </p:nvSpPr>
        <p:spPr>
          <a:xfrm>
            <a:off x="7579238" y="2377499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MX" sz="16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¿Recuerdas si esa persona era un Embajador/a del Bienestar y la Salud Mental? (N=XXX)</a:t>
            </a:r>
          </a:p>
        </p:txBody>
      </p:sp>
      <p:sp>
        <p:nvSpPr>
          <p:cNvPr id="2" name="subtitulo_sede_32">
            <a:extLst>
              <a:ext uri="{FF2B5EF4-FFF2-40B4-BE49-F238E27FC236}">
                <a16:creationId xmlns:a16="http://schemas.microsoft.com/office/drawing/2014/main" id="{702D3589-9AA6-8073-3FBB-B937DDE649DE}"/>
              </a:ext>
            </a:extLst>
          </p:cNvPr>
          <p:cNvSpPr txBox="1"/>
          <p:nvPr/>
        </p:nvSpPr>
        <p:spPr>
          <a:xfrm>
            <a:off x="491319" y="510833"/>
            <a:ext cx="10276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319101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atencion_psicologica1"/>
          <p:cNvGraphicFramePr/>
          <p:nvPr>
            <p:extLst>
              <p:ext uri="{D42A27DB-BD31-4B8C-83A1-F6EECF244321}">
                <p14:modId xmlns:p14="http://schemas.microsoft.com/office/powerpoint/2010/main" val="1201347984"/>
              </p:ext>
            </p:extLst>
          </p:nvPr>
        </p:nvGraphicFramePr>
        <p:xfrm>
          <a:off x="66908" y="1899015"/>
          <a:ext cx="4537152" cy="237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082033" y="55587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096000" y="527761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a un compañero/a usar las atenciones psicológicas del programa de salud mental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atencion_psicologica2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773025"/>
              </p:ext>
            </p:extLst>
          </p:nvPr>
        </p:nvGraphicFramePr>
        <p:xfrm>
          <a:off x="7275749" y="1382524"/>
          <a:ext cx="3708208" cy="220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atencion_psicologica3">
            <a:extLst>
              <a:ext uri="{FF2B5EF4-FFF2-40B4-BE49-F238E27FC236}">
                <a16:creationId xmlns:a16="http://schemas.microsoft.com/office/drawing/2014/main" id="{8A1D3D71-A9C2-4366-A645-81B3965CD5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925626"/>
              </p:ext>
            </p:extLst>
          </p:nvPr>
        </p:nvGraphicFramePr>
        <p:xfrm>
          <a:off x="8910117" y="4731755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15975AA8-8B35-4E72-8B45-3EECC250B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Atenciones psicológicas</a:t>
            </a:r>
            <a:br>
              <a:rPr lang="es-CL" dirty="0"/>
            </a:br>
            <a:endParaRPr dirty="0"/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1F504C8F-5402-420F-A72E-AE97B21203D3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C34F0682-1116-4648-B189-2754548351E7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spuestas_atencion_psiscologica1">
            <a:extLst>
              <a:ext uri="{FF2B5EF4-FFF2-40B4-BE49-F238E27FC236}">
                <a16:creationId xmlns:a16="http://schemas.microsoft.com/office/drawing/2014/main" id="{16827883-AC1D-5336-C1CF-C3F6007F0923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3" name="subtitulo_sede_33">
            <a:extLst>
              <a:ext uri="{FF2B5EF4-FFF2-40B4-BE49-F238E27FC236}">
                <a16:creationId xmlns:a16="http://schemas.microsoft.com/office/drawing/2014/main" id="{64A3B0ED-C921-991C-0B82-B85F40014535}"/>
              </a:ext>
            </a:extLst>
          </p:cNvPr>
          <p:cNvSpPr txBox="1"/>
          <p:nvPr/>
        </p:nvSpPr>
        <p:spPr>
          <a:xfrm>
            <a:off x="491319" y="513376"/>
            <a:ext cx="9949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44712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-136175" y="1375795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recibido atención psicológica en el programa de salud mental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atencion_psicologica1.2"/>
          <p:cNvGraphicFramePr/>
          <p:nvPr>
            <p:extLst>
              <p:ext uri="{D42A27DB-BD31-4B8C-83A1-F6EECF244321}">
                <p14:modId xmlns:p14="http://schemas.microsoft.com/office/powerpoint/2010/main" val="2869779027"/>
              </p:ext>
            </p:extLst>
          </p:nvPr>
        </p:nvGraphicFramePr>
        <p:xfrm>
          <a:off x="66908" y="1899015"/>
          <a:ext cx="4537152" cy="2375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082033" y="55587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¿Qué tan satisfecho/a te encuentras con las atenciones que has recibido?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357" name="Google Shape;357;p25"/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6" name="Gráfico 5" descr="Cerebro en la cabeza con relleno sólido">
            <a:extLst>
              <a:ext uri="{FF2B5EF4-FFF2-40B4-BE49-F238E27FC236}">
                <a16:creationId xmlns:a16="http://schemas.microsoft.com/office/drawing/2014/main" id="{DBC26442-7E3B-44F6-BDA3-1BA5CCB59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7256" y="190682"/>
            <a:ext cx="796452" cy="796452"/>
          </a:xfrm>
          <a:prstGeom prst="rect">
            <a:avLst/>
          </a:prstGeom>
        </p:spPr>
      </p:pic>
      <p:graphicFrame>
        <p:nvGraphicFramePr>
          <p:cNvPr id="15" name="atencion_psicologica2.2">
            <a:extLst>
              <a:ext uri="{FF2B5EF4-FFF2-40B4-BE49-F238E27FC236}">
                <a16:creationId xmlns:a16="http://schemas.microsoft.com/office/drawing/2014/main" id="{63C467E0-9AA7-46E5-A81A-0DA2603FED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1624280"/>
              </p:ext>
            </p:extLst>
          </p:nvPr>
        </p:nvGraphicFramePr>
        <p:xfrm>
          <a:off x="7275749" y="1382524"/>
          <a:ext cx="3708208" cy="220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Google Shape;1166;p105">
            <a:extLst>
              <a:ext uri="{FF2B5EF4-FFF2-40B4-BE49-F238E27FC236}">
                <a16:creationId xmlns:a16="http://schemas.microsoft.com/office/drawing/2014/main" id="{15975AA8-8B35-4E72-8B45-3EECC250B3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Atenciones psicológicas</a:t>
            </a:r>
            <a:br>
              <a:rPr lang="es-CL" dirty="0"/>
            </a:br>
            <a:endParaRPr dirty="0"/>
          </a:p>
        </p:txBody>
      </p:sp>
      <p:sp>
        <p:nvSpPr>
          <p:cNvPr id="18" name="Google Shape;356;p25">
            <a:extLst>
              <a:ext uri="{FF2B5EF4-FFF2-40B4-BE49-F238E27FC236}">
                <a16:creationId xmlns:a16="http://schemas.microsoft.com/office/drawing/2014/main" id="{1AB794E5-99AA-4876-ABAE-AE075418D092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52;p25">
            <a:extLst>
              <a:ext uri="{FF2B5EF4-FFF2-40B4-BE49-F238E27FC236}">
                <a16:creationId xmlns:a16="http://schemas.microsoft.com/office/drawing/2014/main" id="{F5CCC014-3044-4811-B468-79A540AD495B}"/>
              </a:ext>
            </a:extLst>
          </p:cNvPr>
          <p:cNvSpPr txBox="1"/>
          <p:nvPr/>
        </p:nvSpPr>
        <p:spPr>
          <a:xfrm>
            <a:off x="358931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2;p25">
            <a:extLst>
              <a:ext uri="{FF2B5EF4-FFF2-40B4-BE49-F238E27FC236}">
                <a16:creationId xmlns:a16="http://schemas.microsoft.com/office/drawing/2014/main" id="{3D6B688C-AFF7-4F1C-A3C6-AF0AD46B9D0A}"/>
              </a:ext>
            </a:extLst>
          </p:cNvPr>
          <p:cNvSpPr txBox="1"/>
          <p:nvPr/>
        </p:nvSpPr>
        <p:spPr>
          <a:xfrm>
            <a:off x="6340853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884AF2A-463A-42A3-885E-912198129046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Google Shape;353;p25">
            <a:extLst>
              <a:ext uri="{FF2B5EF4-FFF2-40B4-BE49-F238E27FC236}">
                <a16:creationId xmlns:a16="http://schemas.microsoft.com/office/drawing/2014/main" id="{E85088EC-0911-4A23-9E57-8D4F5AA8E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3402064"/>
              </p:ext>
            </p:extLst>
          </p:nvPr>
        </p:nvGraphicFramePr>
        <p:xfrm>
          <a:off x="805128" y="4706003"/>
          <a:ext cx="3060712" cy="1724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3" name="Google Shape;355;p25">
            <a:extLst>
              <a:ext uri="{FF2B5EF4-FFF2-40B4-BE49-F238E27FC236}">
                <a16:creationId xmlns:a16="http://schemas.microsoft.com/office/drawing/2014/main" id="{C5CF8870-4FBF-4C5A-832B-8D21631425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9775062"/>
              </p:ext>
            </p:extLst>
          </p:nvPr>
        </p:nvGraphicFramePr>
        <p:xfrm>
          <a:off x="7697483" y="4913195"/>
          <a:ext cx="2864739" cy="1856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" name="respuestas_atencion_psiscologica1.2">
            <a:extLst>
              <a:ext uri="{FF2B5EF4-FFF2-40B4-BE49-F238E27FC236}">
                <a16:creationId xmlns:a16="http://schemas.microsoft.com/office/drawing/2014/main" id="{F62D5DBE-5E17-7639-73A1-513927A11744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3" name="subtitulo_sede_34">
            <a:extLst>
              <a:ext uri="{FF2B5EF4-FFF2-40B4-BE49-F238E27FC236}">
                <a16:creationId xmlns:a16="http://schemas.microsoft.com/office/drawing/2014/main" id="{961B190E-E804-4C0E-7A8B-70B76C5BE75D}"/>
              </a:ext>
            </a:extLst>
          </p:cNvPr>
          <p:cNvSpPr txBox="1"/>
          <p:nvPr/>
        </p:nvSpPr>
        <p:spPr>
          <a:xfrm>
            <a:off x="491319" y="510833"/>
            <a:ext cx="97443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6305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394238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atencion_psicologica4"/>
          <p:cNvGraphicFramePr/>
          <p:nvPr>
            <p:extLst>
              <p:ext uri="{D42A27DB-BD31-4B8C-83A1-F6EECF244321}">
                <p14:modId xmlns:p14="http://schemas.microsoft.com/office/powerpoint/2010/main" val="2920198693"/>
              </p:ext>
            </p:extLst>
          </p:nvPr>
        </p:nvGraphicFramePr>
        <p:xfrm>
          <a:off x="656337" y="1945242"/>
          <a:ext cx="4642357" cy="2544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3421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sp>
        <p:nvSpPr>
          <p:cNvPr id="13" name="Google Shape;354;p25">
            <a:extLst>
              <a:ext uri="{FF2B5EF4-FFF2-40B4-BE49-F238E27FC236}">
                <a16:creationId xmlns:a16="http://schemas.microsoft.com/office/drawing/2014/main" id="{A6CE897F-3EE9-4809-86CA-43423642C230}"/>
              </a:ext>
            </a:extLst>
          </p:cNvPr>
          <p:cNvSpPr txBox="1"/>
          <p:nvPr/>
        </p:nvSpPr>
        <p:spPr>
          <a:xfrm>
            <a:off x="6155799" y="5416397"/>
            <a:ext cx="399559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¿Recomendarías estos talleres o intervenciones a un compañero/a de Duoc UC?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atencion_psicologica5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007228"/>
              </p:ext>
            </p:extLst>
          </p:nvPr>
        </p:nvGraphicFramePr>
        <p:xfrm>
          <a:off x="7602750" y="1182640"/>
          <a:ext cx="3180331" cy="227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atencion_psicologica6">
            <a:extLst>
              <a:ext uri="{FF2B5EF4-FFF2-40B4-BE49-F238E27FC236}">
                <a16:creationId xmlns:a16="http://schemas.microsoft.com/office/drawing/2014/main" id="{2C55B24B-8049-42C6-8E5E-F7DDDD8A90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070861"/>
              </p:ext>
            </p:extLst>
          </p:nvPr>
        </p:nvGraphicFramePr>
        <p:xfrm>
          <a:off x="8910117" y="4935319"/>
          <a:ext cx="3671609" cy="19226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Google Shape;1166;p105">
            <a:extLst>
              <a:ext uri="{FF2B5EF4-FFF2-40B4-BE49-F238E27FC236}">
                <a16:creationId xmlns:a16="http://schemas.microsoft.com/office/drawing/2014/main" id="{E0D85A0A-B621-4505-827C-EE6CB846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Bienestar integral en movimiento</a:t>
            </a:r>
            <a:br>
              <a:rPr lang="es-CL" dirty="0"/>
            </a:br>
            <a:endParaRPr dirty="0"/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4A611494-B016-48FB-AB56-900374D4304C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6F2454E1-3D58-477A-A58E-676ACC161149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spuestas_bienestar_integral">
            <a:extLst>
              <a:ext uri="{FF2B5EF4-FFF2-40B4-BE49-F238E27FC236}">
                <a16:creationId xmlns:a16="http://schemas.microsoft.com/office/drawing/2014/main" id="{2C979893-2FC8-9979-25CD-135C216D2471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3" name="subtitulo_sede_35">
            <a:extLst>
              <a:ext uri="{FF2B5EF4-FFF2-40B4-BE49-F238E27FC236}">
                <a16:creationId xmlns:a16="http://schemas.microsoft.com/office/drawing/2014/main" id="{0498358D-6D5D-744F-B0C5-0EE821349862}"/>
              </a:ext>
            </a:extLst>
          </p:cNvPr>
          <p:cNvSpPr txBox="1"/>
          <p:nvPr/>
        </p:nvSpPr>
        <p:spPr>
          <a:xfrm>
            <a:off x="491319" y="510833"/>
            <a:ext cx="966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22505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5"/>
          <p:cNvSpPr txBox="1"/>
          <p:nvPr/>
        </p:nvSpPr>
        <p:spPr>
          <a:xfrm>
            <a:off x="5751560" y="4666434"/>
            <a:ext cx="38985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203473" y="1394238"/>
            <a:ext cx="554808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¿Has participado de los talleres y/o intervenciones en sala de bienestar integral en movimiento?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graphicFrame>
        <p:nvGraphicFramePr>
          <p:cNvPr id="353" name="atencion_psicologica4.2"/>
          <p:cNvGraphicFramePr/>
          <p:nvPr>
            <p:extLst>
              <p:ext uri="{D42A27DB-BD31-4B8C-83A1-F6EECF244321}">
                <p14:modId xmlns:p14="http://schemas.microsoft.com/office/powerpoint/2010/main" val="931789514"/>
              </p:ext>
            </p:extLst>
          </p:nvPr>
        </p:nvGraphicFramePr>
        <p:xfrm>
          <a:off x="656337" y="1945242"/>
          <a:ext cx="4642357" cy="2544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4" name="Google Shape;354;p25"/>
          <p:cNvSpPr txBox="1"/>
          <p:nvPr/>
        </p:nvSpPr>
        <p:spPr>
          <a:xfrm>
            <a:off x="7195118" y="342180"/>
            <a:ext cx="399559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¿En qué medida estos talleres o intervenciones han aportado a tu bienestar?</a:t>
            </a:r>
          </a:p>
        </p:txBody>
      </p:sp>
      <p:pic>
        <p:nvPicPr>
          <p:cNvPr id="4" name="Gráfico 3" descr="Corazón con pulso con relleno sólido">
            <a:extLst>
              <a:ext uri="{FF2B5EF4-FFF2-40B4-BE49-F238E27FC236}">
                <a16:creationId xmlns:a16="http://schemas.microsoft.com/office/drawing/2014/main" id="{A755F92F-F1CB-41A6-8BA9-C571CB7AF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52067" y="171541"/>
            <a:ext cx="817188" cy="817188"/>
          </a:xfrm>
          <a:prstGeom prst="rect">
            <a:avLst/>
          </a:prstGeom>
        </p:spPr>
      </p:pic>
      <p:graphicFrame>
        <p:nvGraphicFramePr>
          <p:cNvPr id="16" name="atencion_psicologica5.2">
            <a:extLst>
              <a:ext uri="{FF2B5EF4-FFF2-40B4-BE49-F238E27FC236}">
                <a16:creationId xmlns:a16="http://schemas.microsoft.com/office/drawing/2014/main" id="{E083B0BE-F40A-4DA8-99A8-1BB1A5FE0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4986411"/>
              </p:ext>
            </p:extLst>
          </p:nvPr>
        </p:nvGraphicFramePr>
        <p:xfrm>
          <a:off x="7602750" y="1182640"/>
          <a:ext cx="3180331" cy="2275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Google Shape;1166;p105">
            <a:extLst>
              <a:ext uri="{FF2B5EF4-FFF2-40B4-BE49-F238E27FC236}">
                <a16:creationId xmlns:a16="http://schemas.microsoft.com/office/drawing/2014/main" id="{E0D85A0A-B621-4505-827C-EE6CB846F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MX" dirty="0"/>
              <a:t>Bienestar integral en movimiento</a:t>
            </a:r>
            <a:br>
              <a:rPr lang="es-CL" dirty="0"/>
            </a:br>
            <a:endParaRPr dirty="0"/>
          </a:p>
        </p:txBody>
      </p:sp>
      <p:sp>
        <p:nvSpPr>
          <p:cNvPr id="19" name="Google Shape;357;p25">
            <a:extLst>
              <a:ext uri="{FF2B5EF4-FFF2-40B4-BE49-F238E27FC236}">
                <a16:creationId xmlns:a16="http://schemas.microsoft.com/office/drawing/2014/main" id="{43FF10AA-68F9-48C7-8975-E9792419C325}"/>
              </a:ext>
            </a:extLst>
          </p:cNvPr>
          <p:cNvSpPr txBox="1"/>
          <p:nvPr/>
        </p:nvSpPr>
        <p:spPr>
          <a:xfrm>
            <a:off x="4006978" y="3963707"/>
            <a:ext cx="3421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Entre quienes respondieron que SÍ</a:t>
            </a:r>
            <a:endParaRPr sz="14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0" name="Google Shape;356;p25">
            <a:extLst>
              <a:ext uri="{FF2B5EF4-FFF2-40B4-BE49-F238E27FC236}">
                <a16:creationId xmlns:a16="http://schemas.microsoft.com/office/drawing/2014/main" id="{545B56EA-2D02-48EE-8DA2-90FDB325D299}"/>
              </a:ext>
            </a:extLst>
          </p:cNvPr>
          <p:cNvSpPr/>
          <p:nvPr/>
        </p:nvSpPr>
        <p:spPr>
          <a:xfrm>
            <a:off x="4633299" y="3193970"/>
            <a:ext cx="1983262" cy="66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223A"/>
          </a:solidFill>
          <a:ln w="12700" cap="flat" cmpd="sng">
            <a:solidFill>
              <a:srgbClr val="00223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52;p25">
            <a:extLst>
              <a:ext uri="{FF2B5EF4-FFF2-40B4-BE49-F238E27FC236}">
                <a16:creationId xmlns:a16="http://schemas.microsoft.com/office/drawing/2014/main" id="{91ADCDBE-335F-43E0-B423-CDE023DBD647}"/>
              </a:ext>
            </a:extLst>
          </p:cNvPr>
          <p:cNvSpPr txBox="1"/>
          <p:nvPr/>
        </p:nvSpPr>
        <p:spPr>
          <a:xfrm>
            <a:off x="819111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22" name="Google Shape;352;p25">
            <a:extLst>
              <a:ext uri="{FF2B5EF4-FFF2-40B4-BE49-F238E27FC236}">
                <a16:creationId xmlns:a16="http://schemas.microsoft.com/office/drawing/2014/main" id="{2A2D1B36-C373-4105-A669-2B58B1A1762F}"/>
              </a:ext>
            </a:extLst>
          </p:cNvPr>
          <p:cNvSpPr txBox="1"/>
          <p:nvPr/>
        </p:nvSpPr>
        <p:spPr>
          <a:xfrm>
            <a:off x="6340853" y="5263048"/>
            <a:ext cx="118526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Resultado Duoc UC</a:t>
            </a:r>
            <a:endParaRPr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06F6188-7108-418F-AC1C-5F3CAA079EBC}"/>
              </a:ext>
            </a:extLst>
          </p:cNvPr>
          <p:cNvCxnSpPr>
            <a:cxnSpLocks/>
          </p:cNvCxnSpPr>
          <p:nvPr/>
        </p:nvCxnSpPr>
        <p:spPr>
          <a:xfrm>
            <a:off x="519083" y="4669373"/>
            <a:ext cx="11153834" cy="0"/>
          </a:xfrm>
          <a:prstGeom prst="line">
            <a:avLst/>
          </a:prstGeom>
          <a:ln w="34925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Google Shape;353;p25">
            <a:extLst>
              <a:ext uri="{FF2B5EF4-FFF2-40B4-BE49-F238E27FC236}">
                <a16:creationId xmlns:a16="http://schemas.microsoft.com/office/drawing/2014/main" id="{7FE7F71B-58CF-4FDE-B3DF-F188578828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841957"/>
              </p:ext>
            </p:extLst>
          </p:nvPr>
        </p:nvGraphicFramePr>
        <p:xfrm>
          <a:off x="1462203" y="4835711"/>
          <a:ext cx="3030623" cy="1722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5" name="Google Shape;355;p25">
            <a:extLst>
              <a:ext uri="{FF2B5EF4-FFF2-40B4-BE49-F238E27FC236}">
                <a16:creationId xmlns:a16="http://schemas.microsoft.com/office/drawing/2014/main" id="{CFC08E5C-D26B-4F74-8E0C-0C000ADAAA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3556002"/>
              </p:ext>
            </p:extLst>
          </p:nvPr>
        </p:nvGraphicFramePr>
        <p:xfrm>
          <a:off x="7720007" y="4865746"/>
          <a:ext cx="2945815" cy="2029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" name="respuestas_bienestar_integral1.2">
            <a:extLst>
              <a:ext uri="{FF2B5EF4-FFF2-40B4-BE49-F238E27FC236}">
                <a16:creationId xmlns:a16="http://schemas.microsoft.com/office/drawing/2014/main" id="{35F89B47-793C-C5A0-6F4F-0AABA5FB7DC2}"/>
              </a:ext>
            </a:extLst>
          </p:cNvPr>
          <p:cNvSpPr txBox="1"/>
          <p:nvPr/>
        </p:nvSpPr>
        <p:spPr>
          <a:xfrm>
            <a:off x="2335484" y="6492874"/>
            <a:ext cx="6744347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sección incluye un total de XXX respuestas.</a:t>
            </a:r>
          </a:p>
        </p:txBody>
      </p:sp>
      <p:sp>
        <p:nvSpPr>
          <p:cNvPr id="3" name="subtitulo_sede_36">
            <a:extLst>
              <a:ext uri="{FF2B5EF4-FFF2-40B4-BE49-F238E27FC236}">
                <a16:creationId xmlns:a16="http://schemas.microsoft.com/office/drawing/2014/main" id="{54C77F52-0720-2D03-BA73-3518C7FDEC6F}"/>
              </a:ext>
            </a:extLst>
          </p:cNvPr>
          <p:cNvSpPr txBox="1"/>
          <p:nvPr/>
        </p:nvSpPr>
        <p:spPr>
          <a:xfrm>
            <a:off x="491319" y="510833"/>
            <a:ext cx="10174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25522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2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Conclusiones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5"/>
          <p:cNvSpPr txBox="1">
            <a:spLocks noGrp="1"/>
          </p:cNvSpPr>
          <p:nvPr>
            <p:ph type="title"/>
          </p:nvPr>
        </p:nvSpPr>
        <p:spPr>
          <a:xfrm>
            <a:off x="491319" y="210715"/>
            <a:ext cx="1163928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alibri"/>
              <a:buNone/>
            </a:pPr>
            <a:r>
              <a:rPr lang="es-CL" sz="3200">
                <a:solidFill>
                  <a:srgbClr val="3F3F3F"/>
                </a:solidFill>
              </a:rPr>
              <a:t>Conclusiones</a:t>
            </a:r>
            <a:endParaRPr sz="3200">
              <a:solidFill>
                <a:srgbClr val="E30613"/>
              </a:solidFill>
            </a:endParaRPr>
          </a:p>
        </p:txBody>
      </p:sp>
      <p:sp>
        <p:nvSpPr>
          <p:cNvPr id="981" name="Google Shape;981;p85"/>
          <p:cNvSpPr txBox="1">
            <a:spLocks noGrp="1"/>
          </p:cNvSpPr>
          <p:nvPr>
            <p:ph type="body" idx="1"/>
          </p:nvPr>
        </p:nvSpPr>
        <p:spPr>
          <a:xfrm>
            <a:off x="491319" y="1288472"/>
            <a:ext cx="11250112" cy="495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2897" lvl="0" indent="-285750" algn="just">
              <a:lnSpc>
                <a:spcPct val="150000"/>
              </a:lnSpc>
              <a:buClr>
                <a:schemeClr val="dk1"/>
              </a:buClr>
              <a:buSzPct val="105555"/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3F3F3F"/>
                </a:solidFill>
              </a:rPr>
              <a:t>XXX</a:t>
            </a:r>
            <a:endParaRPr lang="es-ES" sz="1800" dirty="0">
              <a:solidFill>
                <a:srgbClr val="3F3F3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00FDE6-70C2-4D7B-A270-DE0D8F289D64}"/>
              </a:ext>
            </a:extLst>
          </p:cNvPr>
          <p:cNvSpPr txBox="1"/>
          <p:nvPr/>
        </p:nvSpPr>
        <p:spPr>
          <a:xfrm>
            <a:off x="9278471" y="365125"/>
            <a:ext cx="1532963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Texto por redactar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>
            <a:spLocks noGrp="1"/>
          </p:cNvSpPr>
          <p:nvPr>
            <p:ph type="ctrTitle"/>
          </p:nvPr>
        </p:nvSpPr>
        <p:spPr>
          <a:xfrm>
            <a:off x="336645" y="2377934"/>
            <a:ext cx="11518709" cy="210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s-CL" sz="5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Radiografía del Bienestar y la Salud Mental 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r>
              <a:rPr lang="es-CL" sz="4400" b="1" cap="small" dirty="0">
                <a:solidFill>
                  <a:schemeClr val="lt1"/>
                </a:solidFill>
                <a:sym typeface="Calibri"/>
              </a:rPr>
              <a:t>2025</a:t>
            </a: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br>
              <a:rPr lang="es-CL" sz="4400" b="1" cap="small" dirty="0">
                <a:solidFill>
                  <a:schemeClr val="lt1"/>
                </a:solidFill>
                <a:sym typeface="Calibri"/>
              </a:rPr>
            </a:br>
            <a:endParaRPr sz="4400" dirty="0">
              <a:highlight>
                <a:srgbClr val="ED7D31"/>
              </a:highlight>
            </a:endParaRPr>
          </a:p>
        </p:txBody>
      </p:sp>
      <p:sp>
        <p:nvSpPr>
          <p:cNvPr id="50" name="Google Shape;50;p1" descr="Francisco Urdinez @ PUC Chile - Portfolio de curso de master China-Am.Latina"/>
          <p:cNvSpPr/>
          <p:nvPr/>
        </p:nvSpPr>
        <p:spPr>
          <a:xfrm>
            <a:off x="155574" y="-144463"/>
            <a:ext cx="1836779" cy="183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 descr="Francisco Urdinez @ PUC Chile - Portfolio de curso de master China-Am.Latina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E343CB-8787-4608-975F-885D0F5E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45" y="5116057"/>
            <a:ext cx="2008093" cy="112829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75435ED-B307-42EA-9874-9FCE3BFE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38" y="5116056"/>
            <a:ext cx="1922034" cy="11282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D393B4-F575-4F80-BEE5-ADDE360B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027" y="5107231"/>
            <a:ext cx="1824526" cy="11371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9009F9-0C94-40D2-AFFE-9A5B3B21D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773" y="5116054"/>
            <a:ext cx="2014813" cy="11282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562DBC-C7EE-421E-915C-CB124164B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8724" y="5116055"/>
            <a:ext cx="2033630" cy="112829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1B5CE52-3FF0-47FC-BB74-A93CAF11E4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026"/>
          <a:stretch/>
        </p:blipFill>
        <p:spPr>
          <a:xfrm>
            <a:off x="9923929" y="5096181"/>
            <a:ext cx="1931425" cy="1142642"/>
          </a:xfrm>
          <a:prstGeom prst="rect">
            <a:avLst/>
          </a:prstGeom>
        </p:spPr>
      </p:pic>
      <p:sp>
        <p:nvSpPr>
          <p:cNvPr id="2" name="titulo2">
            <a:extLst>
              <a:ext uri="{FF2B5EF4-FFF2-40B4-BE49-F238E27FC236}">
                <a16:creationId xmlns:a16="http://schemas.microsoft.com/office/drawing/2014/main" id="{9F8D3F1C-8222-B311-8E3F-931EAB96E675}"/>
              </a:ext>
            </a:extLst>
          </p:cNvPr>
          <p:cNvSpPr txBox="1"/>
          <p:nvPr/>
        </p:nvSpPr>
        <p:spPr>
          <a:xfrm>
            <a:off x="2494459" y="3578705"/>
            <a:ext cx="720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/>
              <a:t>hols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5496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/>
        </p:nvSpPr>
        <p:spPr>
          <a:xfrm>
            <a:off x="354843" y="2006221"/>
            <a:ext cx="11505061" cy="289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s-CL" sz="4000" b="1" cap="small" dirty="0">
                <a:solidFill>
                  <a:schemeClr val="lt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Anexos: otros datos de interés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93"/>
          <p:cNvSpPr txBox="1">
            <a:spLocks noGrp="1"/>
          </p:cNvSpPr>
          <p:nvPr>
            <p:ph type="title"/>
          </p:nvPr>
        </p:nvSpPr>
        <p:spPr>
          <a:xfrm>
            <a:off x="490538" y="232921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Personas al cuidado </a:t>
            </a:r>
            <a:br>
              <a:rPr lang="es-CL" dirty="0"/>
            </a:br>
            <a:endParaRPr dirty="0"/>
          </a:p>
        </p:txBody>
      </p:sp>
      <p:graphicFrame>
        <p:nvGraphicFramePr>
          <p:cNvPr id="2" name="personas_cuidado2">
            <a:extLst>
              <a:ext uri="{FF2B5EF4-FFF2-40B4-BE49-F238E27FC236}">
                <a16:creationId xmlns:a16="http://schemas.microsoft.com/office/drawing/2014/main" id="{45CC6D22-B037-4EB1-CF00-2F9E08E4AF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869483"/>
              </p:ext>
            </p:extLst>
          </p:nvPr>
        </p:nvGraphicFramePr>
        <p:xfrm>
          <a:off x="6188527" y="1799112"/>
          <a:ext cx="5872973" cy="3465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personas_cuidado1">
            <a:extLst>
              <a:ext uri="{FF2B5EF4-FFF2-40B4-BE49-F238E27FC236}">
                <a16:creationId xmlns:a16="http://schemas.microsoft.com/office/drawing/2014/main" id="{7053BC17-BF49-8B6F-7F4F-A85CE86274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3879263"/>
              </p:ext>
            </p:extLst>
          </p:nvPr>
        </p:nvGraphicFramePr>
        <p:xfrm>
          <a:off x="583845" y="1253156"/>
          <a:ext cx="4998357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Google Shape;1071;p93">
            <a:extLst>
              <a:ext uri="{FF2B5EF4-FFF2-40B4-BE49-F238E27FC236}">
                <a16:creationId xmlns:a16="http://schemas.microsoft.com/office/drawing/2014/main" id="{6E7770BE-5806-92CA-ADB1-DC760FA50006}"/>
              </a:ext>
            </a:extLst>
          </p:cNvPr>
          <p:cNvSpPr/>
          <p:nvPr/>
        </p:nvSpPr>
        <p:spPr>
          <a:xfrm>
            <a:off x="2878716" y="1704032"/>
            <a:ext cx="2324101" cy="2914650"/>
          </a:xfrm>
          <a:prstGeom prst="rightBracket">
            <a:avLst>
              <a:gd name="adj" fmla="val 8333"/>
            </a:avLst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1072;p93">
            <a:extLst>
              <a:ext uri="{FF2B5EF4-FFF2-40B4-BE49-F238E27FC236}">
                <a16:creationId xmlns:a16="http://schemas.microsoft.com/office/drawing/2014/main" id="{440A9793-0C1B-B7E7-F532-9C0226126629}"/>
              </a:ext>
            </a:extLst>
          </p:cNvPr>
          <p:cNvCxnSpPr/>
          <p:nvPr/>
        </p:nvCxnSpPr>
        <p:spPr>
          <a:xfrm>
            <a:off x="5219699" y="3237387"/>
            <a:ext cx="1142999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" name="respuestas_personas_cuidado2">
            <a:extLst>
              <a:ext uri="{FF2B5EF4-FFF2-40B4-BE49-F238E27FC236}">
                <a16:creationId xmlns:a16="http://schemas.microsoft.com/office/drawing/2014/main" id="{A916BF86-6258-CB99-1420-07B311E1D6C5}"/>
              </a:ext>
            </a:extLst>
          </p:cNvPr>
          <p:cNvSpPr txBox="1"/>
          <p:nvPr/>
        </p:nvSpPr>
        <p:spPr>
          <a:xfrm>
            <a:off x="7147533" y="1119297"/>
            <a:ext cx="395496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rgbClr val="595959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¿Cuentas con apoyo para el cuidado de esa(s) persona(s) mientras estudias? N = XXX</a:t>
            </a:r>
            <a:endParaRPr sz="1600" dirty="0">
              <a:solidFill>
                <a:srgbClr val="595959"/>
              </a:solidFill>
              <a:latin typeface="Calibri Light" panose="020F0302020204030204" pitchFamily="34" charset="0"/>
              <a:ea typeface="Calibri"/>
              <a:cs typeface="Calibri Light" panose="020F0302020204030204" pitchFamily="34" charset="0"/>
              <a:sym typeface="Calibri"/>
            </a:endParaRPr>
          </a:p>
        </p:txBody>
      </p:sp>
      <p:sp>
        <p:nvSpPr>
          <p:cNvPr id="8" name="respuestas_personas_cuidado1">
            <a:extLst>
              <a:ext uri="{FF2B5EF4-FFF2-40B4-BE49-F238E27FC236}">
                <a16:creationId xmlns:a16="http://schemas.microsoft.com/office/drawing/2014/main" id="{F8045403-15A0-392F-2C35-B1293A678809}"/>
              </a:ext>
            </a:extLst>
          </p:cNvPr>
          <p:cNvSpPr txBox="1"/>
          <p:nvPr/>
        </p:nvSpPr>
        <p:spPr>
          <a:xfrm>
            <a:off x="929042" y="1096521"/>
            <a:ext cx="4290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sz="1600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¿Tienes a alguna persona a tu cuidado? N = XXX</a:t>
            </a:r>
            <a:endParaRPr lang="en-US" sz="1600" kern="1200" dirty="0">
              <a:solidFill>
                <a:srgbClr val="000000">
                  <a:lumMod val="65000"/>
                  <a:lumOff val="35000"/>
                </a:srgb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subtitulo_sede_37">
            <a:extLst>
              <a:ext uri="{FF2B5EF4-FFF2-40B4-BE49-F238E27FC236}">
                <a16:creationId xmlns:a16="http://schemas.microsoft.com/office/drawing/2014/main" id="{B1A7ACAE-CC12-5DFD-0B10-6085A6BBFB21}"/>
              </a:ext>
            </a:extLst>
          </p:cNvPr>
          <p:cNvSpPr txBox="1"/>
          <p:nvPr/>
        </p:nvSpPr>
        <p:spPr>
          <a:xfrm>
            <a:off x="490538" y="519787"/>
            <a:ext cx="105195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4"/>
          <p:cNvSpPr txBox="1">
            <a:spLocks noGrp="1"/>
          </p:cNvSpPr>
          <p:nvPr>
            <p:ph type="title"/>
          </p:nvPr>
        </p:nvSpPr>
        <p:spPr>
          <a:xfrm>
            <a:off x="490538" y="232921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Situación de empleo</a:t>
            </a:r>
            <a:br>
              <a:rPr lang="es-CL" dirty="0"/>
            </a:br>
            <a:endParaRPr dirty="0"/>
          </a:p>
        </p:txBody>
      </p:sp>
      <p:graphicFrame>
        <p:nvGraphicFramePr>
          <p:cNvPr id="2" name="situacion_empleo">
            <a:extLst>
              <a:ext uri="{FF2B5EF4-FFF2-40B4-BE49-F238E27FC236}">
                <a16:creationId xmlns:a16="http://schemas.microsoft.com/office/drawing/2014/main" id="{EA336466-0C12-E922-AB66-8B1706D8F9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1859299"/>
              </p:ext>
            </p:extLst>
          </p:nvPr>
        </p:nvGraphicFramePr>
        <p:xfrm>
          <a:off x="2393949" y="1667264"/>
          <a:ext cx="7559676" cy="45571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respuestas_empleo">
            <a:extLst>
              <a:ext uri="{FF2B5EF4-FFF2-40B4-BE49-F238E27FC236}">
                <a16:creationId xmlns:a16="http://schemas.microsoft.com/office/drawing/2014/main" id="{6B1966AE-843B-B3B0-7B6A-BE09EEC8F6C3}"/>
              </a:ext>
            </a:extLst>
          </p:cNvPr>
          <p:cNvSpPr txBox="1"/>
          <p:nvPr/>
        </p:nvSpPr>
        <p:spPr>
          <a:xfrm>
            <a:off x="4064619" y="976798"/>
            <a:ext cx="421833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6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¿Cuál de estas situaciones refleja de mejor forma</a:t>
            </a:r>
          </a:p>
          <a:p>
            <a:pPr algn="ctr">
              <a:defRPr sz="160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tu trabajo actual? N = XXX</a:t>
            </a:r>
            <a:endParaRPr lang="en-US" kern="1200" dirty="0">
              <a:solidFill>
                <a:srgbClr val="000000">
                  <a:lumMod val="65000"/>
                  <a:lumOff val="35000"/>
                </a:srgb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s-CL" dirty="0"/>
          </a:p>
        </p:txBody>
      </p:sp>
      <p:sp>
        <p:nvSpPr>
          <p:cNvPr id="4" name="subtitulo_sede_38">
            <a:extLst>
              <a:ext uri="{FF2B5EF4-FFF2-40B4-BE49-F238E27FC236}">
                <a16:creationId xmlns:a16="http://schemas.microsoft.com/office/drawing/2014/main" id="{D9848EC9-FF7B-E04D-E039-330F2D6B21BD}"/>
              </a:ext>
            </a:extLst>
          </p:cNvPr>
          <p:cNvSpPr txBox="1"/>
          <p:nvPr/>
        </p:nvSpPr>
        <p:spPr>
          <a:xfrm>
            <a:off x="490538" y="510832"/>
            <a:ext cx="10538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093;p96">
            <a:extLst>
              <a:ext uri="{FF2B5EF4-FFF2-40B4-BE49-F238E27FC236}">
                <a16:creationId xmlns:a16="http://schemas.microsoft.com/office/drawing/2014/main" id="{8F835B6A-3AC9-48F0-A3C8-3A94D382A1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1319" y="232922"/>
            <a:ext cx="11639289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Condiciones para la actividad académica</a:t>
            </a:r>
            <a:br>
              <a:rPr lang="es-CL" dirty="0"/>
            </a:br>
            <a:endParaRPr dirty="0"/>
          </a:p>
        </p:txBody>
      </p:sp>
      <p:graphicFrame>
        <p:nvGraphicFramePr>
          <p:cNvPr id="2" name="condicion_academica1">
            <a:extLst>
              <a:ext uri="{FF2B5EF4-FFF2-40B4-BE49-F238E27FC236}">
                <a16:creationId xmlns:a16="http://schemas.microsoft.com/office/drawing/2014/main" id="{084F3148-CF3C-9791-C963-7CE78A1BF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331121"/>
              </p:ext>
            </p:extLst>
          </p:nvPr>
        </p:nvGraphicFramePr>
        <p:xfrm>
          <a:off x="654424" y="1512446"/>
          <a:ext cx="11120225" cy="312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ondicion_academica2">
            <a:extLst>
              <a:ext uri="{FF2B5EF4-FFF2-40B4-BE49-F238E27FC236}">
                <a16:creationId xmlns:a16="http://schemas.microsoft.com/office/drawing/2014/main" id="{DC91BC97-91E2-AFD0-F1C5-CB60EA70F2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8852112"/>
              </p:ext>
            </p:extLst>
          </p:nvPr>
        </p:nvGraphicFramePr>
        <p:xfrm>
          <a:off x="491320" y="4634459"/>
          <a:ext cx="11283329" cy="1703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espuestas_condicion_academica">
            <a:extLst>
              <a:ext uri="{FF2B5EF4-FFF2-40B4-BE49-F238E27FC236}">
                <a16:creationId xmlns:a16="http://schemas.microsoft.com/office/drawing/2014/main" id="{7FED75AF-9773-7C7E-583A-30F57844FAFB}"/>
              </a:ext>
            </a:extLst>
          </p:cNvPr>
          <p:cNvSpPr txBox="1"/>
          <p:nvPr/>
        </p:nvSpPr>
        <p:spPr>
          <a:xfrm>
            <a:off x="2611375" y="1028975"/>
            <a:ext cx="73991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600" b="0" i="0" u="none" strike="noStrike" kern="1200" spc="0" baseline="0">
                <a:solidFill>
                  <a:srgbClr val="56565A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pPr>
            <a:r>
              <a:rPr lang="es-ES" kern="1200" dirty="0">
                <a:solidFill>
                  <a:srgbClr val="56565A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 acuerdo a las condiciones que tienes para desarrollar tus actividades académicas, ¿cuán de acuerdo estás con las siguientes afirmaciones? N = XXX</a:t>
            </a:r>
            <a:endParaRPr lang="es-CL" kern="1200" dirty="0">
              <a:solidFill>
                <a:srgbClr val="56565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ubtitulo_sede_39">
            <a:extLst>
              <a:ext uri="{FF2B5EF4-FFF2-40B4-BE49-F238E27FC236}">
                <a16:creationId xmlns:a16="http://schemas.microsoft.com/office/drawing/2014/main" id="{6CDA2F88-3442-FC85-BBB6-3956D2172C3A}"/>
              </a:ext>
            </a:extLst>
          </p:cNvPr>
          <p:cNvSpPr txBox="1"/>
          <p:nvPr/>
        </p:nvSpPr>
        <p:spPr>
          <a:xfrm>
            <a:off x="491319" y="507659"/>
            <a:ext cx="10948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80;p94">
            <a:extLst>
              <a:ext uri="{FF2B5EF4-FFF2-40B4-BE49-F238E27FC236}">
                <a16:creationId xmlns:a16="http://schemas.microsoft.com/office/drawing/2014/main" id="{B2889568-1C99-402A-9FB4-3E63EB16D1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0538" y="232921"/>
            <a:ext cx="11639550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434C"/>
              </a:buClr>
              <a:buSzPts val="3400"/>
              <a:buFont typeface="Calibri"/>
              <a:buNone/>
            </a:pPr>
            <a:r>
              <a:rPr lang="es-CL" dirty="0"/>
              <a:t>Uso de espacios sedes Duoc UC</a:t>
            </a:r>
            <a:br>
              <a:rPr lang="es-CL" dirty="0"/>
            </a:br>
            <a:endParaRPr dirty="0"/>
          </a:p>
        </p:txBody>
      </p:sp>
      <p:graphicFrame>
        <p:nvGraphicFramePr>
          <p:cNvPr id="3" name="espacio_sede1">
            <a:extLst>
              <a:ext uri="{FF2B5EF4-FFF2-40B4-BE49-F238E27FC236}">
                <a16:creationId xmlns:a16="http://schemas.microsoft.com/office/drawing/2014/main" id="{B3F08A21-202A-342E-846B-FCBA1477A5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259496"/>
              </p:ext>
            </p:extLst>
          </p:nvPr>
        </p:nvGraphicFramePr>
        <p:xfrm>
          <a:off x="394446" y="1703294"/>
          <a:ext cx="5915867" cy="4185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espacio_sede2">
            <a:extLst>
              <a:ext uri="{FF2B5EF4-FFF2-40B4-BE49-F238E27FC236}">
                <a16:creationId xmlns:a16="http://schemas.microsoft.com/office/drawing/2014/main" id="{8E7619FE-2D12-B76A-9E8A-5861AFA232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034955"/>
              </p:ext>
            </p:extLst>
          </p:nvPr>
        </p:nvGraphicFramePr>
        <p:xfrm>
          <a:off x="6310312" y="1650066"/>
          <a:ext cx="5715783" cy="42391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CD89C3CE-24EE-A134-CD72-C95E0500B5CD}"/>
              </a:ext>
            </a:extLst>
          </p:cNvPr>
          <p:cNvSpPr txBox="1"/>
          <p:nvPr/>
        </p:nvSpPr>
        <p:spPr>
          <a:xfrm>
            <a:off x="1838604" y="122032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Espacios presenciales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A981A4-6BD7-B18B-57FC-18AE9E015DED}"/>
              </a:ext>
            </a:extLst>
          </p:cNvPr>
          <p:cNvSpPr txBox="1"/>
          <p:nvPr/>
        </p:nvSpPr>
        <p:spPr>
          <a:xfrm>
            <a:off x="7870173" y="1199491"/>
            <a:ext cx="24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800" b="1" kern="1200" dirty="0">
                <a:solidFill>
                  <a:srgbClr val="000000">
                    <a:lumMod val="65000"/>
                    <a:lumOff val="35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Espacios online</a:t>
            </a:r>
          </a:p>
        </p:txBody>
      </p:sp>
      <p:sp>
        <p:nvSpPr>
          <p:cNvPr id="11" name="respuestas_espacios_sedes">
            <a:extLst>
              <a:ext uri="{FF2B5EF4-FFF2-40B4-BE49-F238E27FC236}">
                <a16:creationId xmlns:a16="http://schemas.microsoft.com/office/drawing/2014/main" id="{3BB7810F-1EA2-BF59-BA50-BA282E963052}"/>
              </a:ext>
            </a:extLst>
          </p:cNvPr>
          <p:cNvSpPr txBox="1"/>
          <p:nvPr/>
        </p:nvSpPr>
        <p:spPr>
          <a:xfrm>
            <a:off x="2335484" y="6442796"/>
            <a:ext cx="8017912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MX" sz="1200" dirty="0">
                <a:solidFill>
                  <a:srgbClr val="595959"/>
                </a:solidFill>
                <a:latin typeface="Calibri Light"/>
                <a:ea typeface="Calibri"/>
                <a:cs typeface="Calibri Light"/>
                <a:sym typeface="Calibri"/>
              </a:rPr>
              <a:t>Nota: esta pregunta incluye un total de XXXX respuestas y se desplegó solo a quienes habían profundizado en ideación suicida.</a:t>
            </a:r>
          </a:p>
        </p:txBody>
      </p:sp>
      <p:sp>
        <p:nvSpPr>
          <p:cNvPr id="2" name="subtitulo_sede_40">
            <a:extLst>
              <a:ext uri="{FF2B5EF4-FFF2-40B4-BE49-F238E27FC236}">
                <a16:creationId xmlns:a16="http://schemas.microsoft.com/office/drawing/2014/main" id="{618451EE-70F1-9690-6A53-BCCE55AC6AA2}"/>
              </a:ext>
            </a:extLst>
          </p:cNvPr>
          <p:cNvSpPr txBox="1"/>
          <p:nvPr/>
        </p:nvSpPr>
        <p:spPr>
          <a:xfrm>
            <a:off x="490538" y="510832"/>
            <a:ext cx="11535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Hola</a:t>
            </a:r>
          </a:p>
        </p:txBody>
      </p:sp>
    </p:spTree>
    <p:extLst>
      <p:ext uri="{BB962C8B-B14F-4D97-AF65-F5344CB8AC3E}">
        <p14:creationId xmlns:p14="http://schemas.microsoft.com/office/powerpoint/2010/main" val="276390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2657</Words>
  <Application>Microsoft Office PowerPoint</Application>
  <PresentationFormat>Panorámica</PresentationFormat>
  <Paragraphs>459</Paragraphs>
  <Slides>66</Slides>
  <Notes>64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Noto Sans Symbols</vt:lpstr>
      <vt:lpstr>Tema de Office</vt:lpstr>
      <vt:lpstr> Radiografía del Bienestar y la Salud Mental  2025  </vt:lpstr>
      <vt:lpstr>Estructura de la presentación</vt:lpstr>
      <vt:lpstr>Presentación de PowerPoint</vt:lpstr>
      <vt:lpstr>Propósito</vt:lpstr>
      <vt:lpstr>Ficha técnica</vt:lpstr>
      <vt:lpstr>Batería de evaluación</vt:lpstr>
      <vt:lpstr>Caracterización de participantes </vt:lpstr>
      <vt:lpstr>Presentación de PowerPoint</vt:lpstr>
      <vt:lpstr>Nivel de estrés percibido  </vt:lpstr>
      <vt:lpstr>Estresores ¿Cuáles de las siguientes situaciones presentan un problema que te afecte actualmente?  Resultados por Sexo </vt:lpstr>
      <vt:lpstr>Estresores ¿Cuáles de las siguientes situaciones presentan un problema que te afecte actualmente?  Resultados por Jornada </vt:lpstr>
      <vt:lpstr>Estresores – Exigencia carga académica Entre quienes reportaron como estresor “Carga académica exigente”</vt:lpstr>
      <vt:lpstr>Estresores – Exigencia carga académica ¿Cuáles de las siguientes razones explican que la carga académica te resulte exigente? Entre quienes reportaron como estresor “Carga académica exigente” Resultados por tipo de alumno </vt:lpstr>
      <vt:lpstr>Estresores 2022 - 2025</vt:lpstr>
      <vt:lpstr>Estrategias de afrontamiento  </vt:lpstr>
      <vt:lpstr>Condición de salud crónica</vt:lpstr>
      <vt:lpstr>Presentación de PowerPoint</vt:lpstr>
      <vt:lpstr>Salud mental  </vt:lpstr>
      <vt:lpstr>Factor carga de enfermedad  </vt:lpstr>
      <vt:lpstr>Patologías recurrentes grupo prevención indicada </vt:lpstr>
      <vt:lpstr>Episodio depresión – Grupo manejo clínico  </vt:lpstr>
      <vt:lpstr>Trastorno de ansiedad generalizada – Grupo manejo clínico </vt:lpstr>
      <vt:lpstr>Trastorno de la personalidad – Grupo manejo clínico  </vt:lpstr>
      <vt:lpstr>Uso problemático de marihuana – Grupo manejo clínico </vt:lpstr>
      <vt:lpstr>Uso problemático de marihuana – Grupo manejo clínico  </vt:lpstr>
      <vt:lpstr>Uso problemático de alcohol – Grupo manejo clínico  </vt:lpstr>
      <vt:lpstr>Ideación suicida – Grupo manejo clínico </vt:lpstr>
      <vt:lpstr>Ideación suicida – Grupo manejo clínico </vt:lpstr>
      <vt:lpstr>Ideación suicida – Grupo manejo clínico  </vt:lpstr>
      <vt:lpstr>Presentación de PowerPoint</vt:lpstr>
      <vt:lpstr>Percepción de necesidad y acceso a tratamiento</vt:lpstr>
      <vt:lpstr>Percepción de necesidad y acceso a tratamiento</vt:lpstr>
      <vt:lpstr>Percepción de barreras de acceso a tratamiento</vt:lpstr>
      <vt:lpstr>Presentación de PowerPoint</vt:lpstr>
      <vt:lpstr>Nivel de bienestar  </vt:lpstr>
      <vt:lpstr>Perma </vt:lpstr>
      <vt:lpstr>Perma </vt:lpstr>
      <vt:lpstr>Apoyo percibido  </vt:lpstr>
      <vt:lpstr>Flow states – Estados de inmersión  </vt:lpstr>
      <vt:lpstr>Flow states – Estados de inmersión  </vt:lpstr>
      <vt:lpstr>Actividad física  </vt:lpstr>
      <vt:lpstr>Alimentación  </vt:lpstr>
      <vt:lpstr>Ingesta de líquidos  </vt:lpstr>
      <vt:lpstr>Ingesta de líquidos  </vt:lpstr>
      <vt:lpstr>Presentación de PowerPoint</vt:lpstr>
      <vt:lpstr>¿Cómo es la experiencia emocional de las y los estudiantes? </vt:lpstr>
      <vt:lpstr>¿Cómo es la experiencia emocional de las y los estudiantes? </vt:lpstr>
      <vt:lpstr>Presentación de PowerPoint</vt:lpstr>
      <vt:lpstr>App Vivo </vt:lpstr>
      <vt:lpstr>App Vivo </vt:lpstr>
      <vt:lpstr>Embajadores de la salud mental </vt:lpstr>
      <vt:lpstr>Embajadores de la salud mental </vt:lpstr>
      <vt:lpstr>Embajadores de la salud mental </vt:lpstr>
      <vt:lpstr>Embajadores de la salud mental </vt:lpstr>
      <vt:lpstr>Atenciones psicológicas </vt:lpstr>
      <vt:lpstr>Atenciones psicológicas </vt:lpstr>
      <vt:lpstr>Bienestar integral en movimiento </vt:lpstr>
      <vt:lpstr>Bienestar integral en movimiento </vt:lpstr>
      <vt:lpstr>Presentación de PowerPoint</vt:lpstr>
      <vt:lpstr>Conclusiones</vt:lpstr>
      <vt:lpstr> Radiografía del Bienestar y la Salud Mental  2025  </vt:lpstr>
      <vt:lpstr>Presentación de PowerPoint</vt:lpstr>
      <vt:lpstr>Personas al cuidado  </vt:lpstr>
      <vt:lpstr>Situación de empleo </vt:lpstr>
      <vt:lpstr>Condiciones para la actividad académica </vt:lpstr>
      <vt:lpstr>Uso de espacios sedes Duoc UC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Radiografía del Bienestar 2025 Duoc UC</dc:title>
  <dc:creator>Felipe Zapata</dc:creator>
  <cp:lastModifiedBy>Sebastián Eduardo Valenzuela Garrido</cp:lastModifiedBy>
  <cp:revision>444</cp:revision>
  <dcterms:created xsi:type="dcterms:W3CDTF">2021-01-18T15:18:56Z</dcterms:created>
  <dcterms:modified xsi:type="dcterms:W3CDTF">2025-11-15T15:44:49Z</dcterms:modified>
</cp:coreProperties>
</file>